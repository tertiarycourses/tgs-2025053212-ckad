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5984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COURSE SLIDES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 panose="020B0604020202020204"/>
              </a:rPr>
              <a:t>Certified Kubernetes Application Developer (CKAD)</a:t>
            </a:r>
            <a:endParaRPr sz="44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WSQ Course Code: TGS-2025053212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 panose="020B0604020202020204"/>
              </a:rPr>
              <a:t>Conducted by Tertiary Infotech Academy Pte Ltd  ·  UEN 201200696W</a:t>
            </a:r>
            <a:endParaRPr sz="14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Version 5.0  ·  27 July 2026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636885" cy="223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 panose="020B0604020202020204"/>
              </a:rPr>
              <a:t>© 2026 Tertiary Infotech Academy Pte Ltd. All rights reserved.  ·  www.tertiarycourses.com.sg</a:t>
            </a:r>
            <a:endParaRPr sz="1000" b="0">
              <a:solidFill>
                <a:srgbClr val="5B6372"/>
              </a:solidFill>
              <a:latin typeface="Arial" panose="020B0604020202020204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TRAQOM · SSG DIGITAL ATTENDANCE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Digital Attendance (Mandatory)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It is mandatory to take the AM, PM and Assessment digital attendance for WSQ-funded courses.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The trainer displays the digital attendance QR code from the SSG portal.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Scan the QR code with your phone camera and submit your attendance.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 minimum of 75% attendance is required for assessment and funding.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Minimum 75%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attendance required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YOUR TRAINER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About the Trainer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 panose="020B0604020202020204"/>
              </a:rPr>
              <a:t>[ Trainer Name ]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[ Title / Role ]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8288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Qualifications: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60920" y="21361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49240" y="27432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Expertise: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60920" y="30505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49240" y="36576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Experience: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60920" y="39649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49240" y="4572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Contact / Profile: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60920" y="48793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YOUR TRAINER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About the Trainer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 panose="020B0604020202020204"/>
              </a:rPr>
              <a:t>Mohan Pothula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Kubernetes &amp; Cloud-Native Trainer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783080"/>
            <a:ext cx="61106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Role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Principal Kubernetes &amp; DevOps trainer at Tertiary Infotech Academy.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9240" y="2697480"/>
            <a:ext cx="61106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Qualifications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· CKA · Docker Certified Associate · AWS Solutions Architect.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9240" y="3611880"/>
            <a:ext cx="61106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Expertise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Kubernetes · Docker · CI/CD · Cloud-native platform engineering.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49240" y="4526280"/>
            <a:ext cx="61106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Experience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20+ years across DBS Bank, SingTel, Mediacorp and SPH Media.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HOUSE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Ground Rules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Phones on silent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Set your phone to silent mode.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Participate actively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question is too small — ask freely.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Mutual respect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One conversation at a time.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Be punctual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Return from breaks on time.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Step out quietly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For calls or short breaks.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75% attendance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Required for funding eligibility.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SCHEDULE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Lesson Plan — 3½ Days, 8 hours/day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01368" y="1920240"/>
            <a:ext cx="39547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Day 1 · Domain 1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5948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Application Design &amp; Build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Container images &amp; multi-stage builds (Labs 1–2)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Pods, Jobs &amp; CronJobs (Labs 3–5)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Multi-container Pods &amp; Volumes (Labs 6–8)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8650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4253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0628" y="1920240"/>
            <a:ext cx="39547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Day 2 · Domain 2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60820" y="2651760"/>
            <a:ext cx="45948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Application Deployment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Deployments, ReplicaSets &amp; rollouts (Labs 9–10)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Blue/green &amp; canary (Labs 11–12)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Helm, Kustomize, Daemon/StatefulSet (Labs 13–15)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01368" y="4224527"/>
            <a:ext cx="39547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Day 3 · Domains 3 &amp; 4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4956047"/>
            <a:ext cx="45948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Observability + Config &amp; Security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Probes, logging, metrics, debug (Labs 16–20)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ConfigMaps, Secrets, SecurityContext (Labs 21–23)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ServiceAccounts, RBAC, Quotas (Labs 24–26)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8650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4253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0628" y="4224527"/>
            <a:ext cx="39547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Day 4 (½) · Domain 5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60820" y="4956047"/>
            <a:ext cx="45948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Services &amp; Networking + Assessment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Services &amp; Service DNS (Labs 27–28)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Ingress with TLS &amp; NetworkPolicy (Labs 29–30)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1:30 PM mock-exam practice, then final assessment from 2:00 PM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6089904"/>
            <a:ext cx="10652760" cy="260096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89904"/>
            <a:ext cx="10058400" cy="260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Daily timing:   </a:t>
            </a:r>
            <a:r>
              <a:rPr sz="1200" b="0">
                <a:solidFill>
                  <a:srgbClr val="161B26"/>
                </a:solidFill>
                <a:latin typeface="Arial" panose="020B0604020202020204"/>
              </a:rPr>
              <a:t>9:30am – 6:30pm   ·   1-hour lunch   ·   short tea breaks within each day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07360"/>
            <a:ext cx="42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 to the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97360"/>
            <a:ext cx="42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lms-tms.tertiaryinfotech.com in your browser.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58736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57360"/>
            <a:ext cx="42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 in with your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47360"/>
            <a:ext cx="42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Enter your registered email and tap Send OTP.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3736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407360"/>
            <a:ext cx="42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Key in the OTP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697360"/>
            <a:ext cx="42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Retrieve the one-time password from your inbox.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28736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57360"/>
            <a:ext cx="42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this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547360"/>
            <a:ext cx="42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Certified Kubernetes Application Developer (CKAD).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13736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107360"/>
            <a:ext cx="42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397360"/>
            <a:ext cx="42000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Slides, Learner Guide, Lesson Plan and lab files.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5137" y="1737360"/>
            <a:ext cx="3743325" cy="44805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457" y="2011680"/>
            <a:ext cx="3194685" cy="3931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WHAT YOU'LL ACHIEVE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Learning Outcomes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81912" y="1691640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LO1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Build and optimise container images with single- and multi-stage Dockerfiles.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777240" y="240487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1912" y="2404872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LO2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Create and manage Pods imperatively and declaratively with kubectl and --dry-run.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77240" y="311810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81912" y="3118104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LO3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Run batch workloads with Jobs and scheduled workloads with CronJobs.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77240" y="383133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81912" y="3831336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LO4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Design multi-container Pods using the sidecar and init-container patterns.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77240" y="454456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1912" y="4544568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LO5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Persist and share Pod data with emptyDir, tmpfs and hostPath volumes.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7240" y="52578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6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81912" y="5257800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LO6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Deploy, scale, observe, secure and network applications across the five CKAD domains.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ASSESSMENT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Briefing for 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Clear your space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Keep only approved materials on the table.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No recording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photos of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Work individually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discussion during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Use the LMS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The assessment is delivered online.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Open book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Slides, Learner Guide &amp; kubernetes.io are allowed.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Time's up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Submit when time is up.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the Assessment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731520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  ·  Digital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Scan the SSG QR</a:t>
            </a:r>
          </a:p>
        </p:txBody>
      </p:sp>
      <p:sp>
        <p:nvSpPr>
          <p:cNvPr id="10" name="Chevron 9"/>
          <p:cNvSpPr/>
          <p:nvPr/>
        </p:nvSpPr>
        <p:spPr>
          <a:xfrm>
            <a:off x="2807208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  · 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Rules, timing, open book</a:t>
            </a:r>
          </a:p>
        </p:txBody>
      </p:sp>
      <p:sp>
        <p:nvSpPr>
          <p:cNvPr id="13" name="Chevron 12"/>
          <p:cNvSpPr/>
          <p:nvPr/>
        </p:nvSpPr>
        <p:spPr>
          <a:xfrm>
            <a:off x="4882896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8696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  ·  WA (SAQ)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Written · 1 hour</a:t>
            </a:r>
          </a:p>
        </p:txBody>
      </p:sp>
      <p:sp>
        <p:nvSpPr>
          <p:cNvPr id="16" name="Chevron 15"/>
          <p:cNvSpPr/>
          <p:nvPr/>
        </p:nvSpPr>
        <p:spPr>
          <a:xfrm>
            <a:off x="6958584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4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  · 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Practical · 1 hour</a:t>
            </a:r>
          </a:p>
        </p:txBody>
      </p:sp>
      <p:sp>
        <p:nvSpPr>
          <p:cNvPr id="19" name="Chevron 18"/>
          <p:cNvSpPr/>
          <p:nvPr/>
        </p:nvSpPr>
        <p:spPr>
          <a:xfrm>
            <a:off x="9034272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  ·  Submit on 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Before time is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20440"/>
            <a:ext cx="109728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SIGN-OFF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Trainer 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Against the WSQ marking guide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 every K and A criterion.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4330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762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Result recorded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762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Competent / Not Yet Competent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entered on the LMS.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Learner signs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sign the Assessment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Summary Record.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6686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118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Assessor signs 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118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Trainer signs and submits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record to SSG.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852160"/>
            <a:ext cx="1097280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85216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Assessed as Competent  =  </a:t>
            </a:r>
            <a:r>
              <a:rPr sz="1100" b="0">
                <a:solidFill>
                  <a:srgbClr val="5B6372"/>
                </a:solidFill>
                <a:latin typeface="Arial"/>
              </a:rPr>
              <a:t>minimum 75% attendance  ·  pass the WA (SAQ)  ·  pass the Practical 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FINAL ASSESSMENT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 panose="020B0604020202020204"/>
              </a:rPr>
              <a:t>Final Assessment</a:t>
            </a:r>
            <a:endParaRPr sz="1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Written Assessment (SAQ) 1 hour  +  Practical Performance 1 hour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Mock-exam practice from 1:30 PM; final assessment from 2:00 PM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Covers all five CKAD domains and the hands-on labs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Open book — slides, Learner Guide &amp; kubernetes.io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Must be attempted for SSG funding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 panose="020B0604020202020204"/>
              </a:rPr>
              <a:t>Funding &amp; Competency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Minimum 75% attendance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Based on SSG digital attendance records.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Assessed as Competent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Pass the Written Assessment (SAQ) and the Practical Performance.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Mohan Pothula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Kubernetes &amp; Cloud-Native Trainer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7830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Kubernetes &amp; DevOps trainer at Tertiary Infotech Academy.</a:t>
            </a:r>
          </a:p>
        </p:txBody>
      </p:sp>
      <p:sp>
        <p:nvSpPr>
          <p:cNvPr id="15" name="Oval 14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9240" y="26974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Certified Kubernetes Application Developer (CKAD) · CKA · Docker Certified Associate · AWS Solutions Architect.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9240" y="36118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Expertise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Kubernetes · Docker · CI/CD · Cloud-native platform engineering.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49240" y="45262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20+ years across DBS Bank, SingTel, Mediacorp and SPH Media.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3½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1 · Domain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Application Design &amp; Build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Container images &amp; multi-stage builds (Labs 1–2)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Pods, Jobs &amp; CronJobs (Labs 3–5)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Multi-container Pods &amp; Volumes (Labs 6–8)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4253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062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2 · Domain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Application Deployment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Deployments, ReplicaSets &amp; rollouts (Labs 9–10)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Blue/green &amp; canary (Labs 11–12)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Helm, Kustomize, Daemon/StatefulSet (Labs 13–15)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3 · Domains 3 &amp;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Observability + Config &amp; Security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Probes, logging, metrics, debug (Labs 16–20)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ConfigMaps, Secrets, SecurityContext (Labs 21–23)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ServiceAccounts, RBAC, Quotas (Labs 24–26)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4253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062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4 (½) · Domain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082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Services &amp; Networking + Assessment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Services &amp; Service DNS (Labs 27–28)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Ingress with TLS &amp; NetworkPolicy (Labs 29–30)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1:00 PM mock-exam practice, then final assessment from 2:00 PM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6089904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89904"/>
            <a:ext cx="10058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Daily timing:   </a:t>
            </a:r>
            <a:r>
              <a:rPr sz="1200" b="0">
                <a:solidFill>
                  <a:srgbClr val="161B26"/>
                </a:solidFill>
                <a:latin typeface="Arial"/>
              </a:rPr>
              <a:t>9:00am – 6:00pm   ·   1-hour lunch   ·   short tea breaks within each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Written Assessment (SAQ) 1 hour  +  Practical Performance 1 hour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Mock-exam practice from 1:30 PM; final assessment from 2:00 PM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Covers all five CKAD domains and the hands-on labs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Open book — slides, Learner Guide &amp; kubernetes.io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Must be attempted for SSG funding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Funding &amp; Competency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Minimum 75% attendance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Based on SSG digital attendance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Assessed as Competent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Pass the Written Assessment (SAQ) and the Practical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Clear your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only approved materials on the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of the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individually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assessment is delivered online.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&amp; kubernetes.io are allowed.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Time's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" name="Rectangle 2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ICE-BREAKER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Let's Know Each Other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 panose="020B0604020202020204"/>
              </a:rPr>
              <a:t>Take a minute to introduce yourself to the class:</a:t>
            </a:r>
            <a:endParaRPr sz="15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63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72" y="2439984"/>
            <a:ext cx="386976" cy="386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246120"/>
            <a:ext cx="3002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Your role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33272" y="3657600"/>
            <a:ext cx="2855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Your name and organisation / role.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1960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8299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132" y="2439984"/>
            <a:ext cx="386976" cy="386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02480" y="3246120"/>
            <a:ext cx="3002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Your experience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75632" y="3657600"/>
            <a:ext cx="2855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Any experience with Docker, Kubernetes or the cloud.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6196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535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92" y="2439984"/>
            <a:ext cx="386976" cy="3869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44840" y="3246120"/>
            <a:ext cx="3002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Your goal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17992" y="3657600"/>
            <a:ext cx="2855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Whether you are targeting the CKAD exam or production skills.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WHAT YOU'LL ACHIEVE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Learning Outcomes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81912" y="1691640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LO1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Build and optimise container images with single- and multi-stage Dockerfiles.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777240" y="240487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1912" y="2404872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LO2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Create and manage Pods imperatively and declaratively with kubectl and --dry-run.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77240" y="311810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81912" y="3118104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LO3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Run batch workloads with Jobs and scheduled workloads with CronJobs.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77240" y="383133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81912" y="3831336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LO4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Design multi-container Pods using the sidecar and init-container patterns.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77240" y="454456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1912" y="4544568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LO5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Persist and share Pod data with emptyDir, tmpfs and hostPath volumes.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7240" y="52578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6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81912" y="5257800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LO6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Deploy, scale, observe, secure and network applications across the five CKAD domains.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DAY 1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Application Design and Build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Images · Pods · Jobs · CronJobs · Multi-container · Volumes  (CKAD Domain 1 — 20%)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01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OVERVIEW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Container Images?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An image is a read-only blueprint that packages your app with all its dependencies.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container is a running instance of an image — it starts in milliseconds.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Kubernetes never builds images; it pulls them from a registry by name:tag and runs them.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CKAD expects you to read, write and fix Dockerfiles under time pressure.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ONE INSTRUCTION = ONE LAYER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Anatomy of a Dockerfile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Base &amp; setup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FROM — pick a small, pinned base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WORKDIR — set the working dir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COPY / ADD — bring files in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Build steps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RUN — install dependencies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Each line = one cached layer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Order steps for cache reuse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Runtime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EXPOSE — document the port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ENV — runtime configuration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CMD / ENTRYPOINT — what runs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0" dirty="0"/>
              <a:t>Containerization</a:t>
            </a:r>
            <a:r>
              <a:rPr spc="-40" dirty="0"/>
              <a:t> </a:t>
            </a:r>
            <a:r>
              <a:rPr spc="-10" dirty="0"/>
              <a:t>Process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Building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publishing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image,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running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image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container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67" y="2289196"/>
            <a:ext cx="9723132" cy="35484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SHRINK THE IMAGE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Single-Stage vs Multi-Stage Builds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Single-stage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Multi-stage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One FROM — build + runtime together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Ships the whole toolchain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Large image (~800 MB for Go)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Bigger attack surface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Multiple FROM stages with AS &lt;name&gt;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COPY --from=builder copies only the binary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Tiny image (~8 MB, distroless)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 shell, no package manager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Rectangle 23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CONTAINER IMAGES · ONE DOCKERFILE, TWO STAGES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Build — Shrink the Image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4297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4078224" cy="2724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Stage 1 — builder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FROM golang:1.22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WORKDIR /src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COPY . 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RUN go build -o /server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Ships compiler + source + modules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5257800" y="2926080"/>
            <a:ext cx="1691640" cy="82296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92024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 panose="020B0604020202020204"/>
              </a:rPr>
              <a:t>COPY --from=builder</a:t>
            </a:r>
            <a:endParaRPr sz="11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74920" y="379476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only the binary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3232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2011680"/>
            <a:ext cx="4297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2121408"/>
            <a:ext cx="4078224" cy="2724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Stage 2 — runtime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FROM gcr.io/distroless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COPY --from=builder /server /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ENTRYPOINT ["/server"]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shell · no package manager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Just your binary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~800 MB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   final image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13232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07492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0B981"/>
                </a:solidFill>
                <a:latin typeface="Arial" panose="020B0604020202020204"/>
              </a:rPr>
              <a:t>~8 MB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   final image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Exam Objectives and Overview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Kubernetes Certification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Entry level certifications for beginners, hands-on certification for practitioners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Entry Level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Practitioner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Practitioner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 Curriculum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Each domain is broken up into subtopics (find the latest outline on GitHub)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Application Design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and Build —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40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Application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Deployment — 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956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Observability &amp;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Maintenance — 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Environment, Config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&amp; Security — 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40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Services and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Networking — 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6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Total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100%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 Domains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High-level topics and their weight that contribute to the total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Application Design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and Build —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40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Application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Deployment — 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956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Observability &amp;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Maintenance — 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Environment, Config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&amp; Security — 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40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Services and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Networking — 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6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Pass mark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66%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Intro to Kubernetes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Packages to get software to run reliably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 Libraries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Payment App  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Dependencies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Why use “Containers”?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Containers allow standardization, reduction of resource utilization, fault isolation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immutability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Benefits of using Containers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Standardization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Self-contained   Fault Isolation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Portable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Platform Agnostic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Reduction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(Resource Utilization)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Immutable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Lightweight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No Guest OS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Virtual Machines and Containers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Orchestration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DB   DB   DB   DB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   App   App   App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Docker Host   Docker Host   Docker Host   Docker Host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What is Kubernetes?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The founding of “κυβερνήτης”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Greek for “Helmsman”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Founded by Joe Beda, Brendan Burns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Craig McLuckie in Google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First announced to public in mid-2014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Version 1 released on July 2015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We call it k8s for short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Orchestration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Kubernetes became the market leader after mass support from the community and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from key market players in the cloud space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Docker Swarm   Kubernetes   Mesos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Kubernetes (k8s) - Key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Portable   Scalable   Highly 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Portable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Runs anywhere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40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Scalable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Scale on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956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Highly available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Self-healing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Declarative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Desired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40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Extensible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CRDs &amp; operators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6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Open source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CNCF governed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Using kubectl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Primary tool to interact with the Kubernetes clusters from the CLI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CLI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API Server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authN / authZ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etcd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cluster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Controllers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reconcile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Master Node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•   API Server (kube-apiserver): Orchestrating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operations within the cluster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Scheduler (kube-scheduler): Selects optimal node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to run pods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Controller Manager (kube-controller-manager):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Different controllers with different functions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Etcd: Stores data in key-value format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Worker Nodes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•   Kubelet: Primary agent that communicates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kube-apiserver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Kube-Proxy: Network proxy that enables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communication between every node and pod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Container Runtime (Docker): Software to run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containers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Workloads (Pods): Workloads are scheduled by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scheduler to run on worker nodes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Kubernetes Cluster A set of nodes grouped together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Imperative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"Execute Hazelcast and configure it using parameters"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hazelcast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--image=hazelcast/hazelcast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--restart=Never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--port=5701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--env="DNS_DOMAIN=cluster"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--labels="app=hazelcast,env=prod"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pod/hazelcast created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CONTAINER IMAGES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Build a Container Image with Docker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Container images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Write a Dockerfile from scratch, build a tagged image, run it locally and inspect its layers. CKAD expects you to read and write Dockerfiles confidently — you may be asked to fix a broken one or produce one under time pressure.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Write a Dockerfile, build and tag an image, run it, then inspect its layers with docker history.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FROM python:3.12-slim · » `EXPOSE` · docker build · docker run · docker history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https://killercoda.com/playgrounds/scenario/ubuntu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Build a Container Image with Docker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Write the Dockerfile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FROM python:3.12-slim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WORKDIR /app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COPY app.py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EXPOSE 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CMD ["python", "app.py"]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EXPOSE is documentation only — it does not publish the port. -p host:container is what actually opens it.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423824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Build and tag the image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" y="462229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62229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686299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build -t ckad/hello:1.0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images ckad/hello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Build a Container Image with Docker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Run and test the container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run -d --name hello -p 8080:8080 ckad/hello:1.0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http://localhost:8080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Inspect the image layers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history ckad/hello:1.0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rm -f hello &amp;&amp; docker rmi ckad/hello:1.0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Build a Container Image with Docker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curl http://localhost:8080 returns hello from CKAD 2026 lab 1, and docker history shows a distinct layer for each Dockerfile instruction.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CONTAINER IMAGES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Dockerfile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Container images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Separate the build stage from the runtime stage to produce images that are 10x smaller and contain no compiler toolchain. Multi-stage builds are a CKAD staple — you must be able to write one from scratch and explain why it shrinks the image.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Build a single-stage baseline, then a multi-stage image with COPY --from and distroless, and compare sizes.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FROM golang:1.22 · docker build · » Only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https://killercoda.com/playgrounds/scenario/ubuntu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Dockerfile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Single-stage baseline (large image)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FROM golang:1.22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WORKDIR /src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COPY main.go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RUN go mod init demo &amp;&amp; go build -o app main.go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CMD ["./app"]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Multi-stage Dockerfile (small image)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Stage 1: compile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FROM golang:1.22 AS builder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WORKDIR /src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COPY main.go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RUN go mod init demo &amp;&amp; CGO_ENABLED=0 go build -o /out/app main.go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Stage 2: runtime only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FROM gcr.io/distroless/static-debian12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COPY --from=builder /out/app /app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ENTRYPOINT ["/app"]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Dockerfile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Build both and compare sizes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build -f Dockerfile.single -t demo:single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build -f Dockerfile.multi  -t demo:multi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images | grep demo        # ~800MB  vs  ~8MB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Only the last FROM stage ends up in the final image. CGO_ENABLED=0 produces a static binary that runs in distroless/scratch — no shell, smaller attack surface.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Dockerfile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docker images | grep demo shows demo:multi roughly 100x smaller than demo:single, and demo:multi still serves hello from multi-stage build.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Certified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Application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Developer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(CKAD)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Kubernetes High-Level Architecture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Declarative 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•   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Lines and white spaces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delimiters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GENERATE → EDIT → APPLY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The CKAD kubectl Workflow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Generate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kubectl run / create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with --dry-run=client -o yaml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Scaffold a manifest fast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Edit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Redirect to a .yaml file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Tweak labels, image, command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Version-controllable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Apply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kubectl apply -f file.yaml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Idempotent &amp; repeatable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kubectl describe to verify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SET THESE ON EXAM DAY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Exam-Speed kubectl  (kubernetes.io quick reference)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alias k=kubectl  —  set this first; saves keystrokes on every command.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export do="--dry-run=client -o yaml"  —  scaffold any manifest without creating it.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source &lt;(kubectl completion bash); complete -o default -F __start_kubectl k  —  tab-completion.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kubectl get -o wide / -o yaml / -o jsonpath  ·  kubectl describe  ·  kubectl explain — inspect &amp; learn.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Pods and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Running and inspecting workload, organizing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Kubernetes cluster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Namespace: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733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Namespace: prod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26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Namespace: kube-system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Pod?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smallest, most basic deployable objects in Kubernetes.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Pod — shared network &amp;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Container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733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Container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26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Volume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Pod with Imperative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Declarative configurations are defined using YAML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run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imperative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API Server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validates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Scheduler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picks node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Kubelet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starts Pod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Pods - Declarative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Image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Downloads container image from registry upon Pod creation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 created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Container runtime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pulls image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Remote registry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docker.io / ECR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Local image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cache on node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Pod Life Cycle Phases Indicates operational status of Pod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Troubleshooting Pods and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Techniques for identifying the root cause of a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status &amp; restarts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40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describe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956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logs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stdout / stderr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logs -p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previous container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40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exec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shell into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6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events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cluster-wide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Retrieving High-Level Pod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Check the status of a Pod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-n t67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misbehaving-pod 0/1 ErrImagePull   0   2s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-n k31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Failed to pull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successful-pod   1/1 Running   0   5s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 image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Looks successful 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surface-level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Common Pod Error Statuses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Poorly-documented in Kubernetes docs, encountered often in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Status   Root Cause   Potential Fix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ImagePullBackOff or   Image could not be   Check correct image name, check that image name exists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ErrImagePull   pulled from   in registry, verify network access from node to registry,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registry.   ensure proper authentication.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CrashLoopBackOff   Application or   Check command executed in container, ensure that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command run in   image can properly execute (e.g., by creating a container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container crashes.   with Docker Engine).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CreateContainerConfigError   ConfigMap or   Check correct name of the configuration object, verify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Secret referenced   existence of the configuration object in the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by container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cannot be found.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Events of a Specific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Detailed event information can be found in Events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pod myapp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Events: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Type   Reason   Age   From   Message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----   ------   ----   ----   -------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Normal   Scheduled   &lt;unknown&gt;   default-scheduler Successfully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assigned default/secret-pod to minikube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Warning   FailedMount   3m15s   kubelet, minikube   Unable to attach or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mount volumes: unmounted volumes=[mysecret], unattached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volumes=[default-token-bf8rh mysecret]: timed out waiting for the condition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Warning   FailedMount   68s (x10 over 5m18s)   kubelet, minikube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MountVolume.SetUp failed for volume "mysecret" : secret "mysecret" not found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Events Across all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Lists events for all Pods in the given namespace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events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LAST SEEN TYPE REASON   OBJECT   MESSAGE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3m14s   Warning   BackOff   pod/custom-cmd   Back-off restarting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failed 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cronjob/google-ping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2s   Warning   FailedNeedsStart   Cannot determine if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job needs to be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started: too many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missed start time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(&gt; 100). Set or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decrease .spec.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startingDeadline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Seconds or check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clock skew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Container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Application failure may not necessarily surface on the Kubernetes-level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crash-loop-backoff.yaml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pod/incorrect-cmd-pod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incorrect-cmd-pod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READY   STATUS   RESTARTS   AGE 5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incorrect-cmd-pod   0/1   CrashLoopBackOff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3m20s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logs incorrect-cmd-pod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/bin/sh: unknown: not found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Opening an Interactive Shell to a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Allows for exploring container file system and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logs failing-pod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/bin/sh: can't create /root/tmp/curr-date.txt: nonexistent directory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exec failing-pod -it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# mkdir -p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~/tmp # cd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~/tmp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# 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total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-rw-r--r-- 1 root root 112 May 9 23:52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curr-date.txt # exit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Distroless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Some container images do not provide a shell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minimal-pod --image=k8s.gcr.io/pause:3.1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pod/minimal-pod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exec minimal-pod -it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OCI runtime exec failed: exec failed: container_linux.go:349: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Starting container process caused "exec: \"/bin/sh\": stat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/bin/sh: no such file or directory": unknown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command terminated with exit code 126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Debugging Using an Ephemeral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Using a disposable container for troubleshooting distroless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debug -it minimal-pod --image=busybox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Defaulting debug container name to debugger-jf98g.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If you don't see a command prompt, try pressing enter.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 # pwd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 # exit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Session ended, resume using 'kubectl attach minimal-pod -c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debugger-jf98g -i -t' command when the pod is running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You can create a copy of a container in a new Pod with --copy-to for more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complex debugging scenarios.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Copying a File from the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tar binary needs to exist in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exec -it nginx -n code-red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# tar cvf error-log.tar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/var/log/nginx/error.log # exit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cp code-red/nginx:error-log.tar error-log.tar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error-log.tar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File to be copied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Accessing Container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Renders logs produced by application or process running in a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logs hazelcast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May 25, 2020 3:36:26 PM com.hazelcast.core.LifecycleService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INFO: [10.1.0.46]:5701 [dev] [4.0.1] [10.1.0.46]:5701 is STARTED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You can stream the logs with the command line option -f. This option is helpful if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you want to see logs in real time.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You can still get back to the logs of the previous container by adding the -p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command line option in case the container crashes or is restarted.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Executing a Command in a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Interactive exploration of a container, or seeing the direct effect of a 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exec -it hazelcast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...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exec hazelcast -- env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DNS_DOMAIN=cluster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The command line option -it opens an interactive shell. This is useful if you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want to inspect the configuration of your application or debug the current state of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your application.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For direct execution of a command in the container simply append to --.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Temporary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Meant for experimentation, deleted after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busybox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--image=busybox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--rm   Removes Pod after executing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provided command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-it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--restart=Never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 wget 10.1.0.41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Connecting to 10.1.0.41:80 (10.1.0.41:80)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 "busybox" deleted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Declaring Environment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 zero to many key-value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spring-boot-app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bmuschko/spring-boot-app:1.5.3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env: spring-boot-app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  Typical naming conventions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SPRING_PROFILES_ACTIVE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value: prod   for keys are not enforced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VERSION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value: '1.5.3'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Declaring Command and Args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Assign or overwrite container entrypoint and arguments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spring-boot-app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bmuschko/spring-boot-app:1.5.3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spring-boot-app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command: ["/bin/sh"]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args: ["-c", "while true; do date; sleep 10; done"]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Deleting a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Graceful deletion of workload can take up to 30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delete pod hazelcast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pod "hazelcast" deleted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delete -f pod.yaml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pod "hazelcast" deleted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delete -f pod.yaml --now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pod "hazelcast" deleted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Namespace?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Organizes and isolates Kubernetes object that belong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An API construct to avoid naming collisions and represent a scope for object names.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 good use case for namespaces is to isolate the objects by team or responsibility.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default namespace hosts object that haven’t been assigned to an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explicit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Namespaces starting with the prefix kube- are not considered end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user-namespaces. They have been created by the Kubernetes system. You will not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have to interact with them as an application developer.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Reference a namespace with the command line option --namespace or -n.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Namespace with Imperative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"Organize objects in namespace called code-red"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namespace code-red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namespace/code-red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run nginx --image=nginx --restart=Never -n code-red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pod/nginx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pods -n code-red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nginx 1/1 Running 0   13s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Listing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Includes default, Kubernetes-internal, and custom namespaces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namespaces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STATUS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default   Active   157d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kube-node-leas   Active   157d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e kube-public   Active   157d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kube-system   Active   157d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Namespace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"Organize objects in namespace called code-red"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code-red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Deleting a Namespace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Cascade-deletes containing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delete namespace code-red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namespace "code-red" deleted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pods -n code-red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No resources found in code-red namespace.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PODS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Create and Manage Pods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3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Pods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The Pod is the smallest schedulable unit in Kubernetes. Create Pods imperatively, generate YAML with --dry-run, edit live manifests, and use the exam-critical $do alias that saves 30+ seconds per question.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Set exam-speed aliases, run Pods imperatively, scaffold YAML with $do, then apply and inspect.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alias k=kubectl · k run · k describe · » `--restart=Never`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Rectangle 23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Create and Manage Pods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Set exam-speed aliases (run these first on exam day)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alias k=kubectl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export do="--dry-run=client -o yaml"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Create a Pod imperatively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web --image=nginx:1.25 --port=80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web -o wide          # shows node and Pod 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Generate a manifest without creating it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web2 --image=nginx:1.25 --port=80 $do &gt; web2.yaml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web2.yaml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web2 --show-labels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Create and Manage Pods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Inspect a running Pod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pod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web -o jsonpath='{.status.podIP}'; echo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5 — Override the container command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sleeper --image=busybox --restart=Never -- sh -c 'sleep 3600'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delete pod web web2 sleeper --force --grace-period=0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--restart=Never creates a bare Pod (not a Deployment). Everything after -- becomes the container command. --force --grace-period=0 skips the 30s grace period.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Create and Manage Pods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pod web2 --show-labels shows the tier=frontend label, and the --dry-run=client -o yaml workflow produces a valid manifest you can apply.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RUN TO COMPLETION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Batch Workloads in Kubernetes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Job runs Pods until a set number of successful completions, then stops — it does not restart on success.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CronJob creates Jobs on a schedule using standard cron syntax (*/1 * * * * = every minute).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Job Pod templates must use restartPolicy: Never or OnFailure — never Always.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Trigger a CronJob now with: kubectl create job --from=cronjob/&lt;name&gt; &lt;job-name&gt;.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EXAM-TESTED EVERY SITTING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Key Fields to Memorise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Job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completions — successes needed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parallelism — Pods at once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backoffLimit — failures allowed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Job (timing)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activeDeadlineSeconds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Hard wall-clock ceiling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Overrides backoffLimit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CronJob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schedule + timeZone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concurrencyPolicy: Allow/Forbid/Replace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successful/failedJobsHistoryLimit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Jobs and CronJobs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One-time operations and scheduled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Job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 to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CronJob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schedule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executes work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Completion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or retry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Job?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Kubernetes primitive for executing a one-time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It runs a specific task until a specified number of completions has been reached.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actual work managed by a Job is still running inside of a Pod. Therefore, you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can think of a Job as a higher-level coordination instance for Pods executing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workload.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Upon completion of a Job and its Pods, Kubernetes does not automatically delete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 objects - they will stay until they’re explicitly deleted. Keeping those objects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helps with debugging the command run inside of the Pod and gives you a chance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inspect the logs.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Job Object Hierarchy A Job manages Pods to run the workload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Job with Imperative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"Increment a counter and render its value on the terminal"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job counter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--image=nginx:1.24.0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 /bin/sh -c 'counter=0; while [ $counter -lt 3 ]; do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counter=$((counter+1)); echo "$counter"; sleep 3; done;'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job.batch/counter created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Job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job-definition.yaml   pod-definition.yaml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batch/v1 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Job 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 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calculate-pod-job   name: calculate-pod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 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template: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spec:   - image: ubuntu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   name: calculate-pod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ubuntu   command: [‘expr’,’2’, ‘+’,’1’]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calculate-pod   restartPolicy: Never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command: [‘expr’,’2’, ‘+’,’1’]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restartPolicy: Never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a 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Job is completed when configured # of executions has been reached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jobs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COMPLETION   DURATION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   S   13s 13s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   0/1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jobs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COMPLETION   DURATION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   S   15s 19s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   1/1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counter-z6kd   0/1   Complete   0   51s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j   d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Pod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Workload can be inspected during and after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5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logs counter-z6kdj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Job Operation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Execution runtime behavior of workload can be fine-tuned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default behavior of a Job is to run the workload in a single Pod and expect one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successful completion (non-parallel Job).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attribute spec.completions controls the number of required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successful completion.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attribute spec.parallelism allows for executing the workload by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multiple pods in parallel.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Restart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Re-running workload if execution is unsuccessful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attribute spec.backoffLimit determines the number of retries a Job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attempts to successfully complete the workload until the executed command finishes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with an exit code 0. The default is 6, which means it will execute the workload 6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times before the Job is considered unsuccessful.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attribute spec.template.spec.restartPolicy needs to be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declared explicitly. The restart policy of a Job can only be OnFailure 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Never.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Restarting a Container on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Restart container if it exits with a non-zero exit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spec.template.spec.restartPolicy: OnFailure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Starting a New Pod on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policy does not restart the container upon a failure, it starts a new Pod.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spec.template.spec.restartPolicy: Never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JOBS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4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Batch workloads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Job runs Pods until a required number of successful completions is reached, then stops. CKAD tests completions, parallelism, backoffLimit and activeDeadlineSeconds in almost every sitting — you must write a Job manifest from memory.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one-shot Job, a parallel Job with completions, and explore backoffLimit and activeDeadlineSeconds.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apiVersion: batch/v1 · k apply · » `restartPolicy: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101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One-shot Job (imperative)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job hello --image=busybox -- echo "hello CKAD 2026"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-l job-name=hello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102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Parallel Job with multiple completions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batch/v1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Job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pi-parallel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completions: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parallelism: 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backoffLimit: 4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template: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restartPolicy: Never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name: 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image: perl:5.34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command: ["perl", "-Mbignum=bpi", "-wle", "print bpi(50)"]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103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Apply and watch completions climb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parallel.yaml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job pi-parallel -w        # COMPLETIONS ticks 0/5 → 5/5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restartPolicy: Never is mandatory in Job Pod templates. activeDeadlineSeconds is a hard wall-clock ceiling — it overrides backoffLimit.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104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CronJob?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Kubernetes primitive for executing workload periodically based a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CronJob is essentially a Job with similar characteristics.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schedule can be defined with a cron-expression you may already know from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Unix cron jobs.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CronJob Object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 CronJob manages Jobs which delegate the workload to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CronJob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spec.schedule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Job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created per tick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runs the task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CronJob with Imperative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"Render the current date on standard output every hour"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cronjob current-date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--schedule="* * * * *"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--image=nginx:1.24.0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 /bin/sh -c 'echo "Current date: $(date)"'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cronjob.batch/current-date created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CronJob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"Increment a counter and render its value on the terminal"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batch/v1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CronJob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counter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crontab expression used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schedule: "*/1 * * * *"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jobTemplate:   to run CronJob periodically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template: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restartPolicy: Never   Run in a new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args: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a CronJob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Keeps a history of failed and successful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cronjobs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SCHEDULE   SUSPEND   ACTIVE   LAST SCHEDULE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counter   */1 * * * *   False   0   26s   1h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jobs --watch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COMPLETIONS   DURATION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counter-1557334380   1/1   3s   2m24s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counter-1557334440   1/1   3s   84s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counter-1557334500   1/1   3s   24s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Configuring Retained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Being able to know what happened during workload execution retroactively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Even after completing a task in a Pod controlled by a CronJob, it will not be deleted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automatically. Keeping a historical record of Pods can be tremendously helpful for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troubleshooting failed workloads or inspecting the logs.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attribute spec.successfulJobsHistoryLimit configures the number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of successful executions. Defaults to 3 successful Jobs.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attribute spec.failedJobsHistoryLimitconfigures the number of failed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executions. Defaults to 1 failed Job.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CRONJOBS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5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Batch workloads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CronJob creates Jobs on a time-based schedule using standard cron syntax. CKAD tests concurrencyPolicy, timeZone, startingDeadlineSeconds, history limits, manual triggers and suspend/resume — these fields appear verbatim in exam questions.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CronJob imperatively and declaratively, suspend/resume it, then trigger it manually.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apiVersion: batch/v1 · k patch · » `concurrencyPolicy`: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a CronJob imperatively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cronjob date-printer --image=busybox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--schedule="*/1 * * * *" -- sh -c "date; echo from cronjob"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cronjob date-printer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Declarative CronJob with all key fields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batch/v1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CronJob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report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schedule: "*/2 * * * *"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timeZone: "Asia/Singapore"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concurrencyPolicy: Forbid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successfulJobsHistoryLimit: 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startingDeadlineSeconds: 30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jobTemplate: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template: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restartPolicy: OnFailure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- name: report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command: ["sh", "-c", "echo report at $(date)"]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Suspend, resume and trigger manually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cronjob report -p '{"spec":{"suspend":true}}'    # pause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cronjob report -p '{"spec":{"suspend":false}}'   # resume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job --from=cronjob/report report-manual           # run now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concurrencyPolicy: Allow (default) / Forbid / Replace. timeZone is a newer field — always set it. create job --from=cronjob/&lt;name&gt; runs the workload immediately.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5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cronjob report shows SUSPEND True after the patch, and k create job --from=cronjob/report report-manual produces an immediate one-off run.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POD DESIGN PATTERNS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More Than One Container?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Containers in a Pod share the network namespace and can share volumes (emptyDir is the usual glue).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Sidecar — a helper alongside the main app (log shipper, proxy) sharing a volume.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Init container — runs to completion before main containers (seed a volume, wait for a service).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Always target a specific container with kubectl logs -c &lt;name&gt; and kubectl exec -c &lt;name&gt;.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ONE POD, MANY ROLES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Patterns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Sidecar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Runs beside the main app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Shares an emptyDir volume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Log shipping / proxy / sync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Init container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Runs first, to completion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Pod shows Init:N/M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Seed volume · wait for DNS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Native sidecar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initContainer + restartPolicy: Always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Kubernetes 1.29+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Runs for the Pod's lifetime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70" dirty="0"/>
              <a:t>Sidecar</a:t>
            </a:r>
            <a:r>
              <a:rPr spc="-70" dirty="0"/>
              <a:t> </a:t>
            </a:r>
            <a:r>
              <a:rPr spc="80" dirty="0"/>
              <a:t>Pattern</a:t>
            </a:r>
            <a:endParaRPr spc="8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"Send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notification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error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log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contains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entries"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47" y="2375599"/>
            <a:ext cx="10244235" cy="31237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1900" y="6544708"/>
            <a:ext cx="274320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800" spc="-35" dirty="0">
                <a:latin typeface="Arial" panose="020B0604020202020204"/>
                <a:cs typeface="Arial" panose="020B0604020202020204"/>
              </a:rPr>
            </a:fld>
            <a:endParaRPr sz="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Adapter</a:t>
            </a:r>
            <a:r>
              <a:rPr spc="-90" dirty="0"/>
              <a:t> </a:t>
            </a:r>
            <a:r>
              <a:rPr spc="80" dirty="0"/>
              <a:t>Pattern</a:t>
            </a:r>
            <a:endParaRPr spc="8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"Transform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log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JSON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make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consumable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external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system"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796" y="2311667"/>
            <a:ext cx="9356332" cy="32352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1900" y="6544708"/>
            <a:ext cx="274320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800" spc="-35" dirty="0">
                <a:latin typeface="Arial" panose="020B0604020202020204"/>
                <a:cs typeface="Arial" panose="020B0604020202020204"/>
              </a:rPr>
            </a:fld>
            <a:endParaRPr sz="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Multi-Container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Defining and interacting with multiple containers, design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Pod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Main container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733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Sidecar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26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Shared volume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Multiple Containers in a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There are warranted use cases for wanting to run more than a single container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general guideline is to operate a microservice in a single container per Pod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which promotes a decentralized, decoupled, and distributed architecture.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Specific use cases call for running multiple containers per Pod. For example, you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may want to provide helper functionality that runs alongside the application. In other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cases, you may want to initialize your Pod by executing setup scripts, commands, 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any other kind of preconfiguration procedure before the application container should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start.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Design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Emerged from Pod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Init Container   Sidecar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Provide initialization logic concerns to be   ● The sidecars are not part of the main traffic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run before the main application even starts.   or API of the primary application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Example: Downloading a configuration files   operate asynchronously.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required by application.   ● Example: Watcher capabilities.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Adapter   Ambassador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Transforms the output produced by the   ● Provides a proxy for communicating with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application to make it consumable in the   external services to hide and/or abstract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format needed by another part of the   the complexity.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system.   ● Example: Rate-limiting functionality for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Example: Massaging log data.   HTTP(S) calls to an external service.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Init Container Life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Initialization logic before main application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Init container 1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runs to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Init container 2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runs to completion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Main container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an Init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Declared adjacent to main application containers with spec.initContainers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multi-container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initContainers: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Uses the same attributes as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init:3.2.1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app-initializer   main application containers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nginx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web-server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Pod with an Init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Init container execution renders in status column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init.yaml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pod/business-app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READY   RESTART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AGE   STATUS   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0/1 Init:0/1 0   2s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business-ap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business-ap   1/1   Runnin   0   8s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   g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More Than One Main Application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Add another container definition under spec.containers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multi-container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nginx:1.13.0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transformer:1.0.0   Defines a second 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helper   running alongside the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application container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Pod with Multiple Application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ready column indicates the number of started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multi-container.yaml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pod/multi-container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   READY   STATUS  RESTARTS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Running 0   2s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multi-container 2/2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"Send a notification of error log contains entries"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Sidecar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4869240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 container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writes 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480" y="2870000"/>
            <a:ext cx="4869240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Sidecar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ships log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Adapter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"Transform log data to JSON to make it consumable by external system"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Adapter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4869240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 container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raw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480" y="2870000"/>
            <a:ext cx="4869240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Adapter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normalises to JSON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Ambassador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"OAuth authentication handled by network communication proxy"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Ambassador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4869240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 container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480" y="2870000"/>
            <a:ext cx="4869240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Ambassador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proxies outbound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MULTI-CONTAINER PODS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Multi-Container Pods — Sidecar Pattern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6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Multi-container Pods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Containers in the same Pod share a network namespace and can share volumes. CKAD tests the sidecar pattern (a helper reads/writes a shared volume) and the native sidecar feature (Kubernetes 1.29+). You must exec into and read logs from each container.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Run a sidecar that tails a shared emptyDir log, read each container's logs, then build a native sidecar.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apiVersion: v1 · k logs · initContainers: · » With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Multi-Container Pods — Sidecar Pattern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Read logs from each container separately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app-with-sidecar -c app | head -5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app-with-sidecar -c log-shipper | head -5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-it app-with-sidecar -c app -- sh -c 'wc -l /var/log/app.log'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Native sidecar container (Kubernetes 1.29+)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initContainers: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log-collector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restartPolicy: Always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command: ["sh","-c","while true; do echo alive; sleep 5; done"]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19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With multiple containers in a Pod, always specify -c &lt;name&gt; for logs and exec. emptyDir is the standard glue volume between sidecar and main containers.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6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Multi-Container Pods — Sidecar Pattern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logs app-with-sidecar -c log-shipper shows the same lines app is writing, proving both containers share the emptyDir volume.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INIT CONTAINERS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Init Containers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7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Multi-container Pods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Init containers run in order, to completion, before any main container starts. Use them to seed shared volumes, wait for upstream services, or do one-time setup. CKAD asks you to write init containers and read Init:N/M Pod status correctly.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Seed an nginx web root with an init container, then add an init container that waits for a Service via DNS.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apiVersion: v1 · k exec · initContainers: · » The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Init Containers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Init container that seeds the web root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web-init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html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emptyDir: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initContainers: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seed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command: ["sh","-c","echo '&lt;h1&gt;Seeded by init&lt;/h1&gt;' &gt; /work/index.html"]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volumeMounts: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{name: html, mountPath: /work}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nginx:1.25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volumeMounts: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{name: html, mountPath: /usr/share/nginx/html}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Init Containers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Verify the seeded content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web-init -- cat /usr/share/nginx/html/index.html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59232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Init container that waits for a 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976372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7637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40380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initContainers: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wait-for-db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command: ["sh","-c","until nslookup db.default.svc.cluster.local; do sleep 2; done"]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The Pod stays in Init:0/1 until DNS resolves. Creating the db Service unblocks it. If an init container fails it is restarted per the Pod's restartPolicy.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7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Init Containers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exec web-init -- cat /usr/share/nginx/html/index.html returns the seeded heading, proving the init container populated the volume before nginx started.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POD-SCOPED STORAGE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 Types in Domain 1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emptyDir: {}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Created with the Pod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Shared by all containers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Deleted with the Pod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emptyDir: Memory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tmpfs — backed by RAM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Fast scratch space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Counts to memory limit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hostPath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Mounts a node directory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DaemonSets / node tools only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Security risk in multi-tenant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5" dirty="0"/>
              <a:t>Ephemeral</a:t>
            </a:r>
            <a:r>
              <a:rPr spc="-100" dirty="0"/>
              <a:t> </a:t>
            </a:r>
            <a:r>
              <a:rPr spc="114" dirty="0"/>
              <a:t>Volume</a:t>
            </a:r>
            <a:endParaRPr spc="114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Useful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sharing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between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containers,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caching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data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33" y="3040632"/>
            <a:ext cx="10287335" cy="21946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Persistent</a:t>
            </a:r>
            <a:r>
              <a:rPr spc="360" dirty="0"/>
              <a:t> </a:t>
            </a:r>
            <a:r>
              <a:rPr spc="114" dirty="0"/>
              <a:t>Volume</a:t>
            </a:r>
            <a:endParaRPr spc="114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Persist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outlives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Pod,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node,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cluster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restart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231" y="3467967"/>
            <a:ext cx="8841331" cy="1687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1900" y="6544708"/>
            <a:ext cx="281939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800" spc="-25" dirty="0">
                <a:latin typeface="Arial" panose="020B0604020202020204"/>
                <a:cs typeface="Arial" panose="020B0604020202020204"/>
              </a:rPr>
            </a:fld>
            <a:endParaRPr sz="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Volumes Ephemeral and persistent storage for Pods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Volume?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 directory, possibly with some data in it accessible to the containers in a Pod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Preferred way to store persistent data for docker containers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Volumes are managed by Docker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Isolated from the host file system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Pods are ephemeral Can be stopped or destroyed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How do you store the data?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Volume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Determines the medium that backs the Volume and its runtime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emptyDir   Empty directory in Pod with read/write access. Only persisted for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lifespan of a Pod.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hostPath   File or directory from the host node’s filesystem.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configMap, secret   Provides a way to inject configuration data.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nfs   An existing NFS (Network File System) share. Preserves data after Pod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restart.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persistentVolumeClaim   Claims a Persistent Volume.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Ephemeral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Ephemeral Volumes exist for the lifespan of a Pod. They are useful if you want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share data between multiple containers running in the Pod or caching of data.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an Ephemeral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Provide type and assign mount path per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my-container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logs-volume   Define Volume name and type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emptyDir: {}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nginx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volumeMounts: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my-container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Using a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You can shell into container and navigate to mount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-f pod-with-vol.yaml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pod/my-container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exec -it my-container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cd /var/logs   Mount path became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  accessible in 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pwd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/var/logs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touch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app-logs.txt # 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app-logs.txt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Persistent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Persist data that outlives a Pod, node, or cluster restart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PersistentVolume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cluster resource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PersistentVolumeClaim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mounts the claim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Static vs. Dynamic Provisioning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PersistentVolume object is created manually or automatically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Static Provisioning: Storage device needs to be created first.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PersistentVolume object references the storage device and needs to be created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manually.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Dynamic Provisioning: The PersistentVolumeClaim object references a storage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class. The PersistentVolume object is created automatically.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Storage Class: Object that knows how to provision a storage device with specific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performance requirements.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 PersistentVolume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 storage capacity, access mode, and host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spec.capacity.storage — 1Gi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spec.accessModes — ReadWriteOnce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spec.persistentVolumeReclaimPolicy — Retain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1860" y="45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spec.hostPath / nfs / csi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Access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Defines read/write capabilities of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ReadWriteOnce   Read-write access by a single node.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ReadOnlyMany   Read-only access by many nodes.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ReadWriteMany   Read-write access by many nodes.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ReadWriteOncePod   Read/write access mounted by a single Pod.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PersistentVolume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Summarized most important configuration and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-f db-pv.yaml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persistentvolume/db-pv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pv db-pv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CAPACITY ACCESS MODES   RECLAIM POLICY   STATUS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db-pv   1Gi   RWO   Retain   Available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object hasn’t been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consumed by a claim yet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 PersistentVolumeClaim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Will bind to a PersistentVolume based on resource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PersistentVolumeClaim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db-pvc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accessModes: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ReadWriteOnce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storage: 256Mi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storageClassName: ""   Assign an empty storage class name to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use a statically-created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PersistentVolume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PersistentVolumeClaim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Binds to PersistentVolume if requirements can be fulfilled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-f db-pvc.yaml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persistentvolumeclaim/db-pvc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created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STATUS VOLUME   CAPACITY   ACCESS MODES   STORAGECLASS   AGE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pvc db-pvc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db-pvc Bound   pvc   512m   RWO   7s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Binding to the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PersistentVolume object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was successful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Reclaim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What should happen to PersistentVolume when Claim is deleted?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Retain   Default. When PVC is deleted, PV is “released” and can be reclaimed.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Delete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Deletion removes PV and associated storage.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Recycle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Deprecated. Use dynamic binding instead.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Mounting a PersistentVolumeClaim in a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Use Volume type persistentVolumeClaim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app-consuming-pvc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app-storage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persistentVolumeClaim: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claimName: db-pvc   Reference the Volume by claim name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alpine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volumeMounts: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mountPath: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Assigning a StorageClass for Dynamic Provisioning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Creates PersistentVolume object automatically via storage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PersistentVolumeClaim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storage.k8s.io/v1   name: pvc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StorageClass 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   accessModes: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aws-ebs   - ReadWriteMany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provisioner: kubernetes.io/aws-ebs 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storage: 256Mi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storageClassName: aws-ebs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VOLUMES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Volumes — emptyDir and hostPath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8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Volumes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Containers are ephemeral — data written to the container filesystem is lost on restart. Volumes survive restarts and can be shared between containers. CKAD tests emptyDir, emptyDir.medium: Memory and hostPath, plus mounting strategies.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Share an emptyDir between two containers, mount a RAM-backed tmpfs volume, then mount a node directory with hostPath.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volumes: · » Volumes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159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Volumes — emptyDir and hostPath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emptyDir shared between two containers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3957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shared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emptyDir: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writer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command: ["sh","-c","echo hello-shared &gt; /data/msg.txt; sleep 3600"]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volumeMounts: [{name: shared, mountPath: /data}]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command: ["sh","-c","sleep 5; cat /data/msg.txt; sleep 3600"]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volumeMounts: [{name: shared, mountPath: /data}]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Volumes — emptyDir and hostPath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emptyDir backed by RAM (tmpfs)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fast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emptyDir: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medium: Memory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sizeLimit: 64Mi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hostPath: access files on the node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etc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hostPath: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path: /etc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type: Directory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2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Volumes are declared under spec.volumes and consumed via spec.containers[].volumeMounts. Avoid hostPath in multi-tenant clusters — it is a security risk; use it only for DaemonSets and node-level tools.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8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Volumes — emptyDir and hostPath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logs scratch -c reader prints hello-shared, proving the writer and reader containers share the same emptyDir volume.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DAY 2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Application Deployment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Deployments · Rollouts · Blue/Green &amp; Canary · Helm · Kustomize · Daemon/StatefulSet  (CKAD Domain 2 — 20%)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02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METADATA · KEY-VALUE PAIRS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Labels and Annotations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Labels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Annotations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Key-value pairs assigned to an object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Must follow naming conventions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Used to query and filter objects from the CLI or from other objects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Represents human-readable metadata for an object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Not meant for querying purposes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Reserved annotations can add runtime behaviour to objects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EXAMPLE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Example Labels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Three different Pods, each with multiple label key-value pairs: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Pod 1: tier=backend, env=prod, app=miracle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Pod 2: tier=frontend, env=dev, app=crawler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Pod 3: tier=frontend, env=staging, version=v2.1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Labels are set at creation time or added later with kubectl label.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Multiple labels on the same object create a unique identity for filtering.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KUBECTL LABEL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Assigning Labels with Imperative Approach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Assign multiple labels to a Pod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label pod nginx tier=backend env=prod app=miracle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pod/nginx labeled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List Pods with their labels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19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19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81527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...LABELS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nginx   ...tier=backend,env=prod,app=miracle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9273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Remove a label by appending '-' to its key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7481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7481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38827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label pod nginx tier-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pod/nginx labeled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Assigning Labels in a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Pod manifest with three label key-value pairs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pod1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tier: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env: prod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app: miracle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...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NAMING CONVENTIONS  (app.kubernetes.io/*)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Recommended Labels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Well-known label keys with the app.kubernetes.io prefix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app.kubernetes.io/name: wordpress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app.kubernetes.io/instance: wordpress-abcxzy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app.kubernetes.io/version: "4.9.4"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app.kubernetes.io/managed-by: helm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app.kubernetes.io/component: 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app.kubernetes.io/part-of: wordpress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SELECTORS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Selecting Labels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 label selector uses a set of criteria to query for Kubernetes objects.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Equality-based requirements — match objects with a specific key or key=value: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tier=frontend  (equal)  •  tier!=frontend  (not equal)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Set-based requirements — match objects where a key's value is in a set: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'tier in (frontend, backend)'  •  'version notin (v1)'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Multiple selectors are ANDed together.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KUBECTL -l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Label Selection from the CLI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Equality-based: Pods with tier=frontend AND env=dev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-l tier=frontend,env=dev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...LABELS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pod2    ...app=crawler,env=dev,tier=frontend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Key-only: Pods that have a 'version' label (any value)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-l version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...LABELS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pod3    ...app=crawler,env=staging,version=v2.1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Set-based with Boolean OR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62272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62272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26280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-l 'tier in (frontend,backend),env=dev'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SELECTORS IN MANIFESTS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Label Selection in YAML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 NetworkPolicy selects Pods via podSelector.matchLabels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NetworkPolicy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frontend-network-policy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matchLabels: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tier: frontend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...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EXAMPLE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Example Annotations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 Pod can carry any number of annotation key-value pairs: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commit: 866a8dc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author: 'Benjamin Muschko'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branch: 'bm/bugfix'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Unlike labels, annotation values are unrestricted in length.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Annotations are visible via kubectl describe and kubectl get -o yaml.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KUBECTL ANNOTATE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Assigning Annotations with Imperative Approach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Assign annotations to a Pod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annotate pod nginx commit='866a8dc' branch='bm/bugfix'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pod/nginx annotated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Inspect annotations via describe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19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19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81527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pods nginx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Annotations:  branch: bm/bugfix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commit: 866a8dc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9273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Remove an annotation by appending '-' to its key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7481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7481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38827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annotate pod nginx commit-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pod/nginx annotated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Assigning Annotations in a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Pod manifest with three annotation key-value pairs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pod1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annotations: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commit: 866a8dc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author: 'Benjamin Muschko'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branch: 'bm/bugfix'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...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RESERVED KEYS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Well-Known Annotations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Reserved annotations may influence runtime behaviour (e.g. Pod Security Standards)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367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Namespace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secured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annotations: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kubernetes.io/description: "Manages objects for business app."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pod-security.kubernetes.io/warn: "baseline"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PREP · KEY TAKEAWAYS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 Essentials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Labels are key-value pairs assigned to Kubernetes objects. Values must follow naming and length restrictions (max 63 chars, alphanumeric + separators).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Primitives such as Deployments, Services, and NetworkPolicies use label selection for filtering, querying, and routing.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Use annotations to provide human-readable metadata that cannot be queried. Some reserved annotations influence runtime behaviour (e.g. Pod Security Standards at namespace level).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Labels and Annotations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Label assignment and selection, providing meta information to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Labels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identifying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648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Selectors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query by label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Annotations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non-identifying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648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Reserved keys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app.kubernetes.io/*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Label?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Essential to querying, filtering and sorting Kubernetes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Key-value pairs assigned to Kubernetes objects with the imperative label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command or using the metadata.labels[] attribute.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Not meant for elaborate, multi-word descriptions of its functionality.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Kubernetes limits the length of a label to a maximum of 63 characters and a range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of allowed alphanumeric and separator characters.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Selecting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Label selector uses a set of criteria to query for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Label selector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app=payment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Matching objects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filtered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Controller / Service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acts on the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Assigning Labels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label command lets you add or remove one or many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label pod nginx tier=backend env=prod app=miracle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Declares three label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pod/nginx labeled   key-value pairs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--show-labels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... 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pod1 ... tier=backend,env=prod,app=miracle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Removes the label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label pod nginx tier-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pod/nginx labeled   with key tier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--show-labels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... 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pod1 ... env=prod,app=miracle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Recommended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Naming convention starts with app.kubernetes.io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apps/v1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app.kubernetes.io/name: wordpress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app.kubernetes.io/instance: wordpress-abcxzy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app.kubernetes.io/version: "4.9.4"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app.kubernetes.io/managed-by: helm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app.kubernetes.io/component: 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app.kubernetes.io/part-of: wordpress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Three different Pods with each three key-value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 A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app=web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tier=frontend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648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 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app=api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tier=backend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 C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app=db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tier=data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Label Selection from the CLI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You can specify equality-based and set-based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-l tier=frontend,env=dev --show-labels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Boolean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... LABELS   AND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pod2 ... app=crawler,env=dev,tier=frontend   expression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-l version --show-labels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Key-only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... LABELS   expression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pod3 ... app=crawler,env=staging,version=v2.1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-l 'tier in (frontend,backend),env=dev' --show-labels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... 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pod2 ... app=crawler,env=dev,tier=frontend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Set-based expression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follows Boolean OR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Label Selection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Certain objects provide label selection via their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networking.k8s.io/v1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NetworkPolicy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frontend-network-policy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podSelector: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Select Pods by labels that this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matchLabels: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tier: frontend   network policy should apply to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an Annotation?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Descriptive metadata without the ability to be queryable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Key-value pairs for providing descriptive, human-readable metadata assigned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Kubernetes objects with the imperative annotation command or using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metadata.annotations[] attribute.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Cannot be used for querying or selecting objects.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Make sure to put the value of an annotation into single- or double-quotes if 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contains special characters or spaces.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Example Annotations A Pod with three key-value pairs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Assigning Annotations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annotation command lets you add or remove one or many annotations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annotate pod nginx commit='866a8dc' branch='bm/bugfix'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Declares three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pod/nginx annotated   annotation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key-value pairs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pods my-pod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Annotations: branch: bm/bugfix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commit: 866a8dc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Removes the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annotate pod nginx commit-   annotation with key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pod/nginx annotated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commit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pods my-pod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Annotations:   branch: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bm/bugfix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Well-Known Annotations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Reserved annotations that may influence runtime treatment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secured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annotations: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kubernetes.io/description: "Manages objects for business app."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pod-security.kubernetes.io/warn: "baseline"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Enforces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Security Standards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at the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level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DESIRED STATE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Deployments?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bare Pod is not rescheduled if it dies — you need a controller to keep the desired count.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Deployment manages a ReplicaSet, which manages the Pods — a three-tier ownership chain.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scale changes the replica count; the ReplicaSet controller reconciles immediately.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Old ReplicaSets are kept for rollback (revisionHistoryLimit, default 10).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189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DEPLOYMENT → REPLICASET → POD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The Ownership Chain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Deployment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You declare desired state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replicas + Pod template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Owns one active ReplicaSet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ReplicaSet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Keeps N Pods running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Hash-suffixed name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Self-heals deleted Pods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Pod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The running workload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Recreated if it dies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Never edited directly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190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Deployments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Replicating and scaling workload, deployment strategies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Deployment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desired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maintains count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running replicas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Deployment?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Scaling and replication features for a set of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Controls a predefined number of Pods with the same configuration, so-called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replicas.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number of replicas can be scaled up or down to fulfill load requirements.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Updates to the replica configuration can be updated easily and is rolled out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automatically.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 Deployment that controls three replicas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Deployment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replicas: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  ·  Pod  ·  Pod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Deployment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Creates objects for the Deployment, ReplicaSet and Pod(s)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create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Manually Scaling a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"We measured performance under load. Scale up to exactly x number of Pods."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replicas: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scale --replicas=5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 adds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5 Pods running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Scaling a Deployment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Scaling objects for the Deployment, ReplicaSet and Pod(s)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Deployment updated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 resized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Pods converge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Listing Deployment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Listing objects for the Deployment, ReplicaSet and Pod(s)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deploy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40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956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pods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40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describe 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6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rollout status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Deployment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Creates an error if label selector and template labels do not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spec.selector.matchLabels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must equal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spec.template.metadata.labels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1860" y="45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mismatch → validation error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Deployment Template Attributes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Replica configuration is defined under spec.template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apps/v1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app: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replicas: 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selector: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matchLabels:   apiVersion:v1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tier: backend   Template spec attributes 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template:   metadata: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DEPLOYMENTS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Deployments and ReplicaSets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9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Deployments &amp; ReplicaSets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Deployment manages a ReplicaSet, which manages Pods. CKAD tests the full ownership chain, scaling, environment-variable injection and reading ReplicaSet history — required to debug failed rollouts.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Deployment imperatively, scale it, generate YAML, inject env vars, then read its ReplicaSet history.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scale · k set · » `kubectl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Deployments and ReplicaSets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a Deployment imperatively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--image=nginx:1.25 --replicas=3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deploy,rs,pod -l app=web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Scale up and down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deployment web --replicas=5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deployment web --replicas=2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Generate Deployment YAML and apply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api --image=httpd:2.4 --replicas=2 $do &gt; api.yaml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api.yaml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Deployments and ReplicaSets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Inject an env var and observe ReplicaSet history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set env deployment/api APP_COLOR=blue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rs -l app=api    # old RS 0/0/0, new RS 2/2/2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kubectl set env / set image mutate the Pod template and trigger a new ReplicaSet (a rolling update). Old ReplicaSets are kept for rollback — revisionHistoryLimit (default 10) controls how many.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9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Deployments and ReplicaSets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deploy,rs,pod -l app=web shows one Deployment owning one ReplicaSet owning the Pods, and k get rs -l app=api shows two ReplicaSets after the env change.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ZERO DOWNTIME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How a Rolling Update Works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set image mutates the Pod template — this creates a new ReplicaSet and starts a rollout.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maxSurge = extra Pods allowed above desired; maxUnavailable = Pods allowed down — together they tune speed vs availability.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rollout status watches progress; rollout history lists every revision.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rollout pause batches several changes into one ReplicaSet; rollout undo reverts instantly.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Roll Out and Roll Back 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"Look ma, shiny new features. Let’s deploy them to production!"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v1 running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set image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rollout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v2 rolling out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rollout undo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back to v1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Rolling Out a New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rollout history keeps track of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rollout history deployment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REVISION CHANGE-CAUSE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1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Changes the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set image deployment my-deploy nginx=nginx:1.19.2   assigned image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 image updated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for Pod template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rollout history deployment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REVISION CHANGE-CAUSE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1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2   &lt;none&gt;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Rolling Back to Previous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You can revert to any revision available in the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rollout undo deployment my-deploy --to-revision=1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 rolled back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rollout history deployment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REVISION   CHANGE-CAUSE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2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3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Kubernetes deduplicates a revision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if it points to the same changes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Setting a Change Cause for a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Tracked by annotation with key kubernetes.io/change-cause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rollout history deployment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REVISION CHANGE-CAUSE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2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3   &lt;none&gt;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annotate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What changed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kubernetes.io/change-cause="image updated to 1.16.1"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 annotated   with this revision?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rollout history deployment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REVISION CHANGE-CAUSE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2   &lt;none&gt;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Common Deployment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Choosing the right deployment procedure depends on the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Rolling Update: Release a new version on a rolling update fashion, one after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other.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Recreate: Terminate the old version and release the new one.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Blue/green: Release a new version alongside the old version then switch traffic.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Canary: Release a new version to a subset of users, then proceed to a full rollout.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Rolling Update Deployment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Secondary ReplicaSet is created with new version of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 v1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 pods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Scale up v2 / down v1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maxSurge · maxUnavailable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 v2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 pods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Rolling Update Declaratively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Rollout Status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What happens if there is an error?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ROLLING UPDATES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Rolling Updates and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10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Rolling Updates &amp; Rollback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Deployment performs zero-downtime upgrades by gradually replacing Pods one ReplicaSet at a time. CKAD tests maxSurge, maxUnavailable, rollout pause/resume, history inspection and rollback — often as a timed multi-step question.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Tune the rolling-update strategy, trigger an image update, inspect history, pause/resume, then roll back.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patch · k set · k rollout · » Pausing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214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Rolling Updates and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the initial Deployment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--image=nginx:1.24 --replicas=4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status deployment/web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Tune the rolling-update strategy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deployment web -p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'{"spec":{"strategy":{"rollingUpdate":{"maxSurge":1,"maxUnavailable":1}}}}'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Trigger an image update and watch the rollout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set image deployment/web nginx=nginx:1.25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status deployment/web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rs -l app=web        # old RS drains to 0, new RS ramps to 4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215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SAFE RELEASES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Beyond the Default Rollout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Blue/Green runs two complete versions; a Service selector switch flips 100% of traffic atomically.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Canary sends a small slice of traffic to the new version by running it at a low replica ratio.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Both are built from plain Deployments and Services using labels — no extra tooling for CKAD.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Rollback is instant: re-patch the selector (blue/green) or scale the canary back down.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216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Deployment Strategy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Recreate Deployment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Terminates all the running instances then recreate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All v1 Pods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terminated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Downtime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 pods running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All v2 Pods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created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Blue/Green Deployment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Deployment object with new version is created alongside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Blue — v1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live traffic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Green — v2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deployed idle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Switch Service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Green live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Canary Deployment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Two Deployment objects with different traffic distribution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Stable Deployment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90% traffic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Canary Deployment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10% traffic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Monitor metrics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Promote or roll 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BLUE/GREEN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Blue/Green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11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Blue/Green Deployment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Blue/Green keeps two complete copies of the app alive at once. A Service selector switch flips 100% of traffic from blue to green in one atomic operation — with instant rollback if anything breaks.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Deploy blue (live) and green (idle), smoke-test green, flip the Service selector, then roll back with one patch.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apply · GREEN_POD=$(k get · k patch · » Cutover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Blue/Green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Deploy blue (current production) behind a 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Deployment web-blue (labels app=web, version=blue) + Service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selector: {app: web, version: blue}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blue.yaml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app=web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Deploy green (next version, no live traffic yet)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Deployment web-green (labels app=web, version=green), nginx:1.25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green.yaml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app=web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Smoke-test green directly before cutover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GREEN_POD=$(k get pod -l version=green -o jsonpath='{.items[0].metadata.name}')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$GREEN_POD -- curl -sI localhost:80 | head -2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Blue/Green Deployment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Flip the Service to green (atomic cutover)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service web -p '{"spec":{"selector":{"app":"web","version":"green"}}}'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svc web | grep Selector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5 — Roll back instantly if needed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service web -p '{"spec":{"selector":{"app":"web","version":"blue"}}}'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680459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Cutover and rollback are both a single kubectl patch service selector update — atomic, milliseconds, no Pod churn. Blue stays running as an instant fallback.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11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Blue/Green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After the patch, k describe svc web | grep Selector shows version=green, and patching it back to version=blue restores the old version instantly.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CANARY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Canary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12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Canary Deployment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canary release sends a small fraction of live traffic to a new version while the bulk stays on stable. In Kubernetes the split is approximated by replica ratios behind one broad Service selector — no special tooling required.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Run a 9-replica stable and 1-replica canary behind one Service, verify the ~10% split, then promote.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apply · k run · k scale · » Traffic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Canary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Stable Deployment (90% of traffic)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Deployment web-stable: replicas 9, labels app=web,track=stable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Service web: selector {app: web}, port 5678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stable.yaml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Canary Deployment (10% of traffic)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Deployment web-canary: replicas 1, labels app=web,track=canary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canary.yaml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app=web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Verify the traffic split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probe --image=busybox --restart=Never -it --rm -- sh -c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'for i in $(seq 1 30); do wget -qO- web:5678; done | sort | uniq -c'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~27 stable, ~3 canary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Canary Deployment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Promote: scale up canary, retire stable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deployment web-canary --replicas=9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deployment web-stable --replicas=0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Traffic split is approximated by replica ratio (9:1 ≈ 90/10). Promotion is just kubectl scale on both Deployments — no Service change. For precise percentage splits use a service mesh (Istio/Linkerd) — beyond CKAD scope.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AUTOSCALING · HPA vs VPA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Types of Autoscalers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HPA — Horizontal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VPA — Vertical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Horizontal Pod Autoscaler (HPA)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Scales the number of Pod replicas based on CPU/memory thresholds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Standard Kubernetes feature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Uses the metrics-server component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Vertical Pod Autoscaler (VPA)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Scales CPU/memory allocation for existing Pods from historic metrics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Provided by cloud providers as an add-on or installed manually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Both autoscalers require metrics-server and resource requests/limits on Pods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HPA · CPU SCALING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Autoscaling a Deployment by CPU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HPA monitors average CPU utilisation across all running replicas.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Example: threshold = 80% CPU, current = 15% → no scale-out needed.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Example: threshold = 80% CPU, current = 95% → HPA adds replicas.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Scaling decisions respect minReplicas and maxReplicas bounds.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kubectl autoscale is the imperative shortcut to create an HPA.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HPA · KUBECTL GET HPA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Inspecting the Horizontal Pod Autoscaler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List HPAs — shows current utilisation vs threshold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hpa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REFERENCE               TARGETS    MINPODS  MAXPODS  REPLICAS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app-cache   Deployment/app-cache    15%/80%    3        5        3         2m14s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Describe for detailed events and scaling history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hpa app-cache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230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Creating a Horizontal Pod Autoscaler for a Deployment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231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Types of Autoscalers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Scaling decisions are made based 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Horizontal Pod Autoscaler (HPA): A standard feature of Kubernetes that scales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 number of Pod replicas based on CPU and memory thresholds.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Vertical Pod Autoscaler (VPA): Scales the CPU and memory allocation for existing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Pods based on historic metrics. Supported by a cloud provider as an add-on 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needs to be installed manually.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Both autoscalers use the metrics server. You need to install the component. A Pod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should also set the resource requests and limits.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Horizontal Pod Autoscaler (HPA)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Kubernetes primitive that reaches into metrics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Metrics Server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CPU /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HorizontalPodAutoscaler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target utilisation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Deployment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replica count adjusted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Autoscaling a Deployment by 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"Auto-scale based on average CPU utilization across all replicas."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autoscale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--cpu-percent=50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HPA object created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 scale 1..10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Horizontal Pod Autoscaler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Creates an error if label selector and template labels do not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autoscaling/v2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HorizontalPodAutoscaler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app-cache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scaleTargetRef: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apiVersion:   The scaling target,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apps/v1 kind: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Deployment name: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minReplicas: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app-cache 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maxReplicas: 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the Horizontal Pod Autoscaler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Use scale command or change spec.replicas attribute in live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hpa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REFERENCE   TARGET   MINPOD   MAXPOD   REPLICAS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app-cach   Deployment/app-cach   S   S 3   S 5   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e 2m14s   e   15%/80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%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Renders current resource utilization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and compares them with thresholds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PACKAGE &amp; RELEASE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Charts, Releases &amp; Revisions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chart is a bundle of templated YAML; a release is one deployed instance of a chart.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Workflow: repo add → install → upgrade → rollback → uninstall.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--set overrides values at install/upgrade; --reuse-values keeps prior overrides.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helm history tracks every revision; helm get manifest shows what was actually applied.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237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Helm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Deploying an application defined by a set of YAML manifests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Chart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templates +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helm install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renders manifests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Release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objects in cluster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Helm?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Package manager and templating engine for a set of manifests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artifact produced by the Helm executable is a so-called chart file bundling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manifests that comprise the API resources of an application.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Chart files can be distributed to a chart repository e.g. central chart repository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consumed from there (e.g., for running Grafana or PostgreSQL).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At runtime, it replaces placeholders in YAML template files with actual, end-user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defined values.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Finding a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Searches the Artifact Hub for a chart with a matching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helm search hub jenkins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URL   CHART   VERSION 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https://artifacthub.io/packages/helm/bitnami/jenkins   11.0.6   2.361.2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Installing a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You may have to add an external repository that hosts chart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helm repo add bitnami https://charts.bitnami.com/bitnami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"bitnami" has been added to your repositories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helm install jenkins bitnami/jenkins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CHART NAME: jenkins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CHART VERSION: 11.0.6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APP VERSION: 2.361.2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** Please be patient while the chart is being deployed **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Listing Installed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Information about chart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helm list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NAMESPACE   REVISION ...   STATUS   CHART   APP VERSION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jenkins default   1   deployed   jenkins-11.0.6   2.361.2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READY   STATUS   RESTARTS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pod/bitnami-jenkins-764b44cc99-twf6f   1/1   Running   0   7m34s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Standard Chart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Predefined directory structure with mandatory Chart.yaml and values.yaml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tree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├── Chart.yaml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├── templates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│ ├── web-app-pod-template.yaml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│ └── web-app-service-template.yaml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└── values.yaml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Chart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Describes the meta information of the chart (e.g., name and version)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Chart.yaml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1.0.0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version: 2.5.4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Values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Key-value pairs used at runtime to replace placeholders in the YAML manifests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values.yaml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db_host: mysql-service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db_user: root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db_password: password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service_port: 3000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Additional built-in objects are available for use.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Template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YAML manifest that can define placeholders using double curly braces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web-app-pod-template.yaml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bmuschko/web-app:1.0.1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env: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DB_HOST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value: {{ .Values.db_host }}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DB_USER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value: {{ .Values.db_user }}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Previewing Final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Replaces placeholders with actual values from values.yaml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helm template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# Source: Web Application/templates/web-app-pod-template.yaml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bmuschko/web-app:1.0.1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env: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DB_HOST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value: mysql-service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Installing a Chart from Local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Helpful for trying out the deployment before publishing the chart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helm install web-app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LAST DEPLOYED: Wed Apr 19 11:58:34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NAMESPACE: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default STATUS: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deployed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REVISION: 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TEST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  SUITE: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kubectl   None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get pods,services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READY   RESTARTS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STATUS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pod/web-app   1/1 Running   0   3m24s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Overriding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End user can tweak runtime behavior to personal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helm install --namespace custom --create-namespace --set service_port=9090 web-app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LAST DEPLOYED: Wed Apr 19 11:58:34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NAMESPACE: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custom STATUS: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REVISION: 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TEST SUITE: None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Providing a custom   Override values in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 (defaults to   values.yaml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default namespace)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Bundling the Template Files into a Chart Archive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Archive file is usually published to a chart repository for consumption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35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98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helm package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Successfully packaged chart and saved it to: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/Users/bmuschko/helm/web-app-2.5.4.tgz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web-app-2.5.4.tgz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HELM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Helm — Install, Upgrade,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13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Helm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Helm is the Kubernetes package manager. A chart is a bundle of templated YAML; a release is a deployed instance. CKAD tests install, upgrade, rollback, list and value overrides — all under exam time pressure.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Add a chart repo, install a release with overrides, inspect it, upgrade, roll back, then uninstall.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helm repo · helm install · helm get · helm upgrade · » `--reuse-values`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251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Helm — Install, Upgrade,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Add a chart repository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repo add bitnami https://charts.bitnami.com/bitnami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repo update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search repo bitnami/nginx | head -5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Install a release with value overrides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install web bitnami/nginx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--set service.type=ClusterIP --set replicaCount=2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list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Inspect the generated manifests and values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get manifest web | head -40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get values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252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Helm — Install, Upgrade, Rollback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Upgrade, then roll back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upgrade web bitnami/nginx --set replicaCount=4 --reuse-values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history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rollback web 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uninstall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--reuse-values preserves prior overrides while changing only the new one. helm history &lt;release&gt; tracks every revision; rollback creates a new revision rather than deleting history.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253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REUSE WITHOUT TEMPLATES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Base + Overlays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Kustomize reuses one base set of manifests and layers environment-specific changes on top.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namePrefix and commonLabels are applied to every resource in the overlay.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The images block overrides image tags without editing the base files; patches do strategic merges.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Built into kubectl: kubectl apply -k and kubectl kustomize — no extra binary required.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254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Kustomize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Template-free customization of application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base/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common manifests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overlays/dev · prod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patches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apply -k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rendered output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Kustomize?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Customizing application manifests without 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●   Writing manifests for application stacks is straightforward, however, deploying them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to different Kubernetes runtime environments with varying configuration gets tricky.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Instead of copying and modifying manifests per environment, you can 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kustomize to merge configuration change. Kustomize does not require using 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template engine or changing the original manifests.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Kustomize can be used as a subcommand/flag of kubectl or as 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separate executable.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Kustomize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Convenient manifest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Generating manifests from other sources. For example, creating a ConfigMap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populating its key-value pairs from a properties file.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Adding common configuration across multiple manifests. For example, adding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namespace and a set of labels for a Deployment and a Service.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Composing and customizing a collection of manifests. For example, setting resource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boundaries for multiple Deployments.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Basic Kustomize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Regular YAML manifests + a kustomization.yaml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└── base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├── deployment.yaml   apiVersion: apps/v1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├── kustomization.yaml   kind: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└── service.yaml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apiVersion: v1   apiVersion: kustomize.config.k8s.io/v1beta1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Service   kind: Kustomization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   ...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Kustomization File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Generate or transform other Kubernetes Resource Model (KRM)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kustomize.config.k8s.io/v1beta1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Kustomization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{pathOrUrl}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What existing resources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...   are to be customized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generators: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{pathOrUrl}   What new resources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...   should be created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transformers: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{pathOrUrl}   What to do to the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aforementioned resources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validators: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Kustomization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Merges labels into a set of 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kustomization.yaml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kustomize.config.k8s.io/v1beta1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Kustomization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labels:   Defines labels for all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layer: backend   processed resources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deployment.yaml   Declares resources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service.yaml   to be modified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Generating a Kustomize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Imperative command to create kustomization.yaml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cd base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ls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deployment.yaml service.yaml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kustomize create --resources=deployment.yaml,service.yaml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--labels=layer:backend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ls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deployment.yaml kustomization.yaml service.yaml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Building and Previewing a Set of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Applies the rules in kustomization.yaml and renders the result to the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kustomize build base   Alternatively, you can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v1   also use kubectl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Service   kustomize base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layer: backend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Applied 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apps/v1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Deployment   from rules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layer: backend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Managing the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Use the typical commands provided by kubectl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apply -k base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service/backend-service configured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deployment.apps/backend-deployment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deployments,services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READY   UP-TO-DATE   AVAILABLE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deployment.apps/backend-deployment   1/1   1   1   7s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TYPE   CLUSTER-IP   EXTERNAL-IP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service/backend-service   ClusterIP   10.107.228.58 &lt;none&gt;   ...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delete -k base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service "backend-service" deleted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 "backend-deployment" deleted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Environment Kustomize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Subdirectories contain environment-specific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├── base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│   ├── deployment.yaml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│   ├── kustomization.yaml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│   └── service.yaml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├── dev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│   ├── config.properties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│   └── kustomization.yaml   Create a dedicated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└── prod   directory + configuration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├── config.properties   per environment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└── kustomization.yaml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Production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Base configuration is merged with the configuration of an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prod/kustomization.yaml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apiVersion: kustomize.config.k8s.io/v1beta1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Kustomization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../base/ namespace: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prod namePrefix: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prod-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configMapGenerator: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backend-configmap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env: config.properties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replicas: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backend-deployment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count: 10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Merging Environment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Base configuration + environment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kustomize build prod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DB_USERNAME: prod-user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ConfigMap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prod-backend-configmap-7gbb88gbhc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namespace: prod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layer: backend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Kustomize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 good option for operators managing their own manifests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Native to kubectl: Kustomize does not necessarily require you to install additional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tooling.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DRY approach: Define a base configuration just once with the ability to reuse 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Environment-specific configuration will be added as an overlay.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Easy to learn: Does not require learning another template engine. You’ll use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standard YAML manifests to define resources.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Scalable variants: New configuration e.g. environments can be easily added.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KUSTOMIZE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14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Kustomize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Kustomize reuses a single base set of manifests and applies environment-specific overlays without templating. It is built into kubectl (-k). CKAD tests namePrefix, commonLabels, images and strategic-merge patches.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Build a base, add dev and prod overlays (prefix, labels, image tag, replica patch), preview, then apply.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resources: · kubectl kustomize · » `namePrefix`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268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Base kustomization (shared by all environments)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base/kustomization.yaml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deployment.yaml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service.yaml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Dev overlay (name prefix + common label)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17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overlays/dev/kustomization.yaml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../../base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namePrefix: dev-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commonLabels: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env: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269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Prod overlay (image bump + replica patch)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overlays/prod/kustomization.yaml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../../base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namePrefix: prod-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commonLabels: {env: prod}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images: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nginx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newTag: "1.26"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patches: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path: replica-patch.yaml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Preview, then apply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66344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66344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727448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kustomize overlays/prod | grep -E "name:|replicas:|image:"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-k overlays/dev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-k overlays/prod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270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namePrefix and commonLabels apply to every resource in the overlay. The images block overrides tags without editing base files. apply -k / kubectl kustomize are built into kubectl — no extra binary.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271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WHEN DEPLOYMENT ISN'T ENOUGH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Specialised Controllers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DaemonSet runs exactly one Pod per matching node — log collectors, CNI agents, node exporters.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StatefulSet gives Pods stable names (db-0, db-1) and ordered, graceful start/stop.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StatefulSet needs a headless Service (clusterIP: None) for per-Pod DNS.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Scale-down always removes the highest ordinal first; scale-up adds the next in order.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272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THREE WORKLOAD SHAPES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Pick the Right Controller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Deployment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Stateless, interchangeable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Any number of replicas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Rolling updates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DaemonSet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One Pod per node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Node-level agents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Scales with the cluster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StatefulSet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Stable identity + storage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Ordered start/stop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Databases, queues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273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" name="Rectangle 37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WORKLOAD CONTROLLERS · NODE-WIDE vs STABLE IDENTITY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 vs StatefulSet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DaemonSet — one Pod per node</a:t>
            </a:r>
            <a:endParaRPr sz="15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88720" y="25146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89864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node-1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566160" y="26243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62432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agent Pod</a:t>
            </a:r>
            <a:endParaRPr sz="12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188720" y="34290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81304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node-2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566160" y="35387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353872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agent Pod</a:t>
            </a:r>
            <a:endParaRPr sz="12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188720" y="43434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72744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node-3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566160" y="44531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8" y="445312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agent Pod</a:t>
            </a:r>
            <a:endParaRPr sz="12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75104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 panose="020B0604020202020204"/>
              </a:rPr>
              <a:t>StatefulSet — ordered, stable names</a:t>
            </a:r>
            <a:endParaRPr sz="15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543800" y="2468880"/>
            <a:ext cx="26060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8" y="2468880"/>
            <a:ext cx="23865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headless Service (db)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 panose="020B0604020202020204"/>
              </a:rPr>
              <a:t>clusterIP: None</a:t>
            </a:r>
            <a:endParaRPr sz="1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903720" y="3337560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8" y="3337560"/>
            <a:ext cx="36667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 panose="020B0604020202020204"/>
              </a:rPr>
              <a:t>db-0</a:t>
            </a:r>
            <a:endParaRPr sz="1300" b="1">
              <a:solidFill>
                <a:srgbClr val="127A3E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 panose="020B0604020202020204"/>
              </a:rPr>
              <a:t>db-0.db.svc.cluster.local</a:t>
            </a:r>
            <a:endParaRPr sz="9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903720" y="3995928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3995928"/>
            <a:ext cx="36667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 panose="020B0604020202020204"/>
              </a:rPr>
              <a:t>db-1</a:t>
            </a:r>
            <a:endParaRPr sz="1300" b="1">
              <a:solidFill>
                <a:srgbClr val="127A3E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 panose="020B0604020202020204"/>
              </a:rPr>
              <a:t>db-1.db.svc.cluster.local</a:t>
            </a:r>
            <a:endParaRPr sz="9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03720" y="4654296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4654296"/>
            <a:ext cx="36667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 panose="020B0604020202020204"/>
              </a:rPr>
              <a:t>db-2</a:t>
            </a:r>
            <a:endParaRPr sz="1300" b="1">
              <a:solidFill>
                <a:srgbClr val="127A3E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 panose="020B0604020202020204"/>
              </a:rPr>
              <a:t>db-2.db.svc.cluster.local</a:t>
            </a:r>
            <a:endParaRPr sz="9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63640" y="5102352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 panose="020B0604020202020204"/>
              </a:rPr>
              <a:t>created db-0→db-2 · deleted db-2→db-0</a:t>
            </a:r>
            <a:endParaRPr sz="10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DaemonSet =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one Pod per matching node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; StatefulSet =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stable identity + ordered start/stop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274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Exam Objectives and Overview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DaemonSet?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Resource that ensures exactly one (or more) copy of a Pod runs on every (or every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matching) Node in the cluster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Contrast with a Deployment, which runs N replicas spread across nodes as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scheduler sees fit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Log collectors (Fluentd, filebeat), metrics exporters (prometheus node exporter),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security scanners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Host-path volume managers, CNI plugins, CSI drivers, edge workloads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selector: must match the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 template’s 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template: same as for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Deployments—a Pod spec.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hostPath (common): mount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host filesystems into each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Deploy &amp; Verify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kubectl apply -f daemonset.yaml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35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98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●   kubectl get daemonset -n logging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kubectl get pods -n logging -o wide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kubectl rollout status daemonset/fluentd -n logging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If you add a new node, the DaemonSet controller automatically launches a new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on it; when you remove a node, its Pod is cleaned up.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StatefulSet?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Set of pods with stable unique identities and optional stable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Pods are created in ordinal order, from 0 up to N-1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Controller waits for Pod 0 to be running and ready before creating pod 1 etc.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Like Deployments, each Pod is scheduled by the kube-scheduler based on capacity,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taints, selectors, affinity, etc.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DAEMON/STATEFULSET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DaemonSets and StatefulSets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15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DaemonSets &amp; StatefulSets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DaemonSet runs exactly one Pod per matching node (log collectors, CNI agents). A StatefulSet gives Pods stable identities and ordered start/stop (databases). CKAD expects you to know when to use each and write the YAML.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Run a DaemonSet on every node, then a StatefulSet with a headless Service, stable DNS and ordered scaling.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apply · nslookup db-0.db.default.svc.cluster.local · » DaemonSet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281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DaemonSets and StatefulSets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DaemonSet on every node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DaemonSet node-agent, image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ds.yaml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ds,pods -l app=node-agent -o wide   # DESIRED = node count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Headless Service for the StatefulSet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Service db: clusterIP: None, selector app=db, port 5432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headless.yaml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StatefulSet with stable identities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StatefulSet db: serviceName db, replicas 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sts.yaml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status sts/db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app=db        # db-0 → db-1 → db-2 in order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282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15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DaemonSets and StatefulSets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pods -l app=db shows db-0, db-1, db-2 created in order, and nslookup db-0.db.default.svc.cluster.local resolves to a single Pod IP.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283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happens if we want to stop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 pod from getting deployed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certain nodes?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Taints &amp; Toleration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Taints marks a node as unschedulable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Toleration marks a tainted node as schedulable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Taint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NoSchedule → Pods without a matching toleration will never be scheduled there.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●   PreferNoSchedule → Kubernetes will try to avoid placing Pods there, but it’s not a hard requirement.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NoExecute → Existing Pods without the toleration are evicted, and new ones won’t be scheduled.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kubectl taint nodes node-name key=value:taint-effect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kubectl taint nodes node1 app=purple:NoSchedule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happens if we want a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to only go to a specific node?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nodeSelector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simple label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648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Node affinity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expressive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Taints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node repels pods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648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Tolerations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pod accepts taint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Node Affinity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apiVersion: v1   ●   Large or Medium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kind: Pod   ●   Not Small?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myapp-pod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image: nginx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nodeSelector: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size: Large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Node Affinity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requiredDuringSchedulingIgnoredDuringExecution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preferredDuringSchedulingIgnoredDuringExecution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DuringScheduling   DuringExecution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Type1   Required   Ignored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Type2   Preferred   Ignored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DAY 3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Observability + Config &amp; Security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Probes · Logging · Metrics · Debug · ConfigMaps · Secrets · SecurityContext · RBAC  (CKAD Domains 3 &amp; 4 — 40%)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03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290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DOMAIN 3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Observability &amp; Maintenance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Probes · logging · metrics · debugging · API versions (15%)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291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CONTAINER HEALTH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Three Probes, Three Jobs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livenessProbe — restarts the container when it has hung or deadlocked.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readinessProbe — removes the Pod from Service endpoints until it can serve traffic (no restart).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startupProbe — gives slow apps time to boot; it blocks the other two until it succeeds.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Each probe uses one handler: httpGet, tcpSocket or exec — pick by what the container exposes.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292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5" dirty="0"/>
              <a:t>Readiness</a:t>
            </a:r>
            <a:r>
              <a:rPr spc="-85" dirty="0"/>
              <a:t> </a:t>
            </a:r>
            <a:r>
              <a:rPr spc="-10" dirty="0"/>
              <a:t>Probe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"Is</a:t>
            </a:r>
            <a:r>
              <a:rPr sz="1600" b="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ready</a:t>
            </a:r>
            <a:r>
              <a:rPr sz="1600" b="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handle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requests?"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67" y="2639147"/>
            <a:ext cx="10189732" cy="27631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Liveness</a:t>
            </a:r>
            <a:r>
              <a:rPr spc="-100" dirty="0"/>
              <a:t> </a:t>
            </a:r>
            <a:r>
              <a:rPr spc="-10" dirty="0"/>
              <a:t>Probe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"Does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still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function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without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errors?"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545" y="2375600"/>
            <a:ext cx="8321379" cy="3521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5" dirty="0"/>
              <a:t>Startup</a:t>
            </a:r>
            <a:r>
              <a:rPr spc="-95" dirty="0"/>
              <a:t> </a:t>
            </a:r>
            <a:r>
              <a:rPr spc="-10" dirty="0"/>
              <a:t>Probe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"Legacy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2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need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longer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start.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Hold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off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liveness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probing."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67" y="2723533"/>
            <a:ext cx="9990201" cy="24587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Recap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Probe?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Detection and potential correction of application runtime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You can configure a container with health probes to execute a periodic mini-process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that checks for certain conditions.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Verification methods include running a custom command, sending a HTTP GET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request, or opening a TCP socket connection. Pick the method most conducive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your application.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verification method defined by a probe is executed by the kubelet.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Readiness Probe "Is application ready to handle requests?"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Liveness Probe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"Does the application still function without errors?"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Liveness probe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periodic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Failure threshold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exceeded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Kubelet restarts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the container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Startup Probe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"Legacy application may need longer to start. Hold off on liveness probing."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Startup probe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slow-starting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Succeeds once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Liveness &amp; readiness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take over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Health Verification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Any verification method can be used by any of the probe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Method   Option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Custom Command   exec.command   Executes a command inside of the container e.g. a cat command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and checks its exit code. Kubernetes considers an zero exit code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to be successful. A non-zero exit code indicates an error.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HTTP GET Request   httpGet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Sends an HTTP GET request to an endpoint exposed by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application. A HTTP response code in the range of 200 and 399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indicates success. Any other response code is regarded as an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error.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TCP socket connection   tcpSocket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Tries to open a TCP socket connection to a port. If the connection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could be established, the probing attempt was successful.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inability to connect is accounted for as an error.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gRPC   grpc   The application implements the GRPC Health Checking Protocol.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Health Check Attributes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Any verification method can be used by any of the probe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Default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Attribute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initialDelaySeconds   0   Delay in seconds until first check is executed.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periodSeconds   10   Interval for executing a check (e.g., every 20 seconds).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timeoutSeconds   1   Maximum number of seconds until the check operation times out.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successThreshold   1   Number of successful check attempts until probe is considered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successful after a failure.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failureThreshold   3   Number of failures for check attempts before probe is marked failed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and takes action.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terminationGracePeriod   30   Grace period before forcing a container to stop upon failure.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Seconds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 Readiness Probe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HTTP probes are very helpful for web applications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readinessProbe: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image: eshop:4.6.3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httpGet: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Successful if HTTP status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path: /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code is between 200 and 399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port: 8080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 Liveness Probe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Querying an event log with a custom 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livenessProbe: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image: eshop:4.6.3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exec: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Does the file get updated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command:   periodically by the application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test `find /tmp/heartbeat.txt -mmin -1`   process?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initialDelaySeconds: 10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 Startup Probe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Opening a TCP socket connection exposed by the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startup-pod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httpd:2.4.46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startupProbe: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http-server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tcpSocket:   Tries to open a TCP socket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port: 80   connection to a port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initialDelaySeconds: 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periodSeconds: 15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livenessProbe: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Using a Named 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Referencing a port by assigned name in multiple probes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ports: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name: http-port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containerPort: 8080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readinessProbe: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httpGet: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path: /healthz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port: http-port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livenessProbe: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httpGet: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path: /healthz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port: http-port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PROBES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Liveness, Readiness &amp; Startup Probes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16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Probes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Kubernetes uses three probes to manage health: livenessProbe restarts a failed container, readinessProbe removes it from Service endpoints, startupProbe gives slow apps time to boot. CKAD tests all three handlers (httpGet, tcpSocket, exec) and timing.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Add HTTP readiness+liveness probes, trigger a liveness restart, add a TCP probe, then a startupProbe with exec.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readinessProbe: · k exec · startupProbe: · » Three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307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Liveness, Readiness &amp; Startup Probes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HTTP liveness + readiness probe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readinessProbe: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httpGet: {path: /, port: 80}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initialDelaySeconds: 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periodSeconds: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livenessProbe: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httpGet: {path: /, port: 80}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initialDelaySeconds: 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periodSeconds: 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failureThreshold: 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0919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Trigger a liveness failure (watch RESTARTS climb)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4759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4759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5399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web-probes -- rm /usr/share/nginx/html/index.html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sleep 35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web-probes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308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Liveness, Readiness &amp; Startup Probes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TCP socket probe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readinessProbe: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tcpSocket: {port: 6379}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periodSeconds: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startupProbe for slow-starting apps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startupProbe: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exec: {command: ["cat", "/tmp/ready"]}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failureThreshold: 30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periodSeconds: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Three handlers — httpGet, tcpSocket, exec. readinessProbe failure removes the Pod from Service endpoints without restarting it; livenessProbe failure restarts the container; startupProbe blocks the other two until the app is initialised.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309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OBSERVABILITY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Reading Container Logs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Logs are whatever the container writes to stdout/stderr; the kubelet captures and serves them.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--tail=N for recent lines; -f to stream live (like tail -f).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--previous reads the prior terminated container — the key to diagnosing CrashLoopBackOff.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-c &lt;container&gt; selects one container; -l &lt;selector&gt; aggregates logs across matching Pods.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" name="Rectangle 2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LOGGING · stdout/stderr → kubelet → kubectl logs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Where Logs Come From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70048"/>
            <a:ext cx="2843784" cy="1627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Pod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app + sidecar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write to stdout/stderr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84048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4942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 panose="020B0604020202020204"/>
              </a:rPr>
              <a:t>captured</a:t>
            </a:r>
            <a:endParaRPr sz="10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56032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670048"/>
            <a:ext cx="2843784" cy="1627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Node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container runtime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/var/log/pods/…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763524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24942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 panose="020B0604020202020204"/>
              </a:rPr>
              <a:t>kubelet serves</a:t>
            </a:r>
            <a:endParaRPr sz="10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6676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56032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670048"/>
            <a:ext cx="2843784" cy="1627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kubectl logs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-c &lt;name&gt; · -l &lt;sel&gt;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--previous · -f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Logs are whatever the container prints to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stdout/stderr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. Use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--previous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 for a crashed container.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Logging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Read recent lines and follow a live stream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noisy --tail=10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-f noisy &amp;        # -f streams like tail -f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kill %1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Retrieve logs from a crashed container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crasher --previous | head -5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Multi-container Pod logs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6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6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8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multi -c app | head -3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multi -c sidecar | head -3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multi --all-containers=true --prefix=true | head -8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Logging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Aggregate logs across a Deployment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deployment/fleet --tail=3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-l app=fleet --prefix=true --tail=2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--tail=N for recent lines, -f to stream, --previous for crash loops, -c &lt;name&gt; for a specific container, -l &lt;selector&gt; to aggregate matching Pods. --prefix=true labels each line with [pod/container].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17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Logging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logs crasher --previous shows the message printed before the crash, and k logs -l app=fleet --prefix=true interleaves lines from all three Pods.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MEASURE IT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 Usage at a Glance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top shows live CPU and memory for nodes and Pods — it requires metrics-server.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metrics-server scrapes each kubelet's cAdvisor and serves the aggregated Metrics API.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Sort with --sort-by=cpu / --sort-by=memory; span all namespaces with -A.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On Killercoda's self-signed certs, patch the Deployment with --kubelet-insecure-tls.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Retrieving, inspecting, and using resource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Kubelet / cAdvisor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node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Metrics Server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aggregates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top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pods &amp; nodes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METRICS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top and Metrics Server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18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Metrics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kubectl top shows real-time CPU and memory for nodes and Pods. It requires the metrics-server add-on. CKAD tests installing metrics-server, reading node/Pod metrics, and sorting by resource usage.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Install metrics-server, read node metrics, generate CPU load, then sort Pod metrics by CPU and memory.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kubectl apply · k top · k run · » `kubectl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top and Metrics Server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Install metrics-server (and trust kubelet certs on Killercoda)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-f https://github.com/kubernetes-sigs/metrics-server/releases/latest/download/components.yaml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patch -n kube-system deployment metrics-server --type=json -p='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[{"op":"add","path":"/spec/template/spec/containers/0/args/-","value":"--kubelet-insecure-tls"}]'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until kubectl top node 2&gt;/dev/null; do sleep 5; done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Top nodes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top node        # CPU cores/% and memory bytes/% per node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Generate load, then top Pods sorted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20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cpu-burner --image=busybox -- sh -c 'while true; do :; done'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sleep 30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top pod --sort-by=cpu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top pod --sort-by=memory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top pod -A --sort-by=cpu | head -10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top and Metrics Server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kubectl top needs metrics-server running. --kubelet-insecure-tls is required on Killercoda's self-signed certs. cpu-burner should top the CPU sort; -A spans all namespaces.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18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top and Metrics Server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After ~30s, k top node reports CPU/memory and k top pod --sort-by=cpu lists cpu-burner at the top of the usage ranking.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320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DEBUGGING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Debugging Pods and Events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19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Debugging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CKAD regularly includes broken workloads you must diagnose and fix under time pressure. Identify and resolve ImagePullBackOff, CrashLoopBackOff and OOMKilled, and use kubectl debug for live triage.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Diagnose three classic failures with describe/logs/events, then inject an ephemeral debug container.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describe · k get · » ImagePullBackOff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321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Debugging Pods and Events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Cluster-wide events + ephemeral debug container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events -A --sort-by=.lastTimestamp | tail -20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events --field-selector type=Warning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debug crash -it --image=busybox --target=crash -- sh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ImagePullBackOff → wrong image/tag. CrashLoopBackOff → use logs --previous. OOMKilled → raise the memory limit. kubectl debug injects an ephemeral container sharing the target's namespaces — vital for distroless images with no shell.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322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19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Debugging Pods and Events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describe reveals the correct failure reason for each Pod (ImagePullBackOff, CrashLoopBackOff, OOMKilled), and k debug opens a shell inside the running Pod.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323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API Deprecations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Kubernetes release cycle, API deprecations and removals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Alpha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v1alpha1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Beta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v1beta1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Stable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Deprecated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removed later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Deprecation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Some APIs will be deprecated and eventually removed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Kubernetes project releases 3 versions per year (see release cadence).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With each release, an API can become deprecated which means that is scheduled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for removal or replacement. You can find more information about the details in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Kubernetes Deprecation Policy.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use of a deprecated API renders a warning message when creating the object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that uses 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Deprecated API Migration Guide shows a list of deprecated APIs and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scheduled releases that will remove support for the API.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Listing Available API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kubectl can discover API version useable in manifests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api-versions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admissionregistration.k8s.io/v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1 apiextensions.k8s.io/v1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apiregistration.k8s.io/v1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apps/v1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authentication.k8s.io/v1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authorization.k8s.io/v1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autoscaling/v1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autoscaling/v2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Deprecated HPA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API was deprecated with Kubernetes 1.23+, to be removed with 1.26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autoscaling/v2beta2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HorizontalPodAutoscaler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php-apache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scaleTargetRef: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apiVersion: apps/v1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php-apache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minReplicas: 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maxReplicas: 10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Deprecated HPA API Warning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kubectl renders a warning message, but creates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hpa.yaml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Warning: autoscaling/v2beta2 HorizontalPodAutoscaler is deprecated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 v1.23+, unavailable in v1.26+; use autoscaling/v2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HorizontalPodAutoscaler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Removed ClusterRole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Uses removed API with Kubernetes version 1.22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rbac.authorization.k8s.io/v1beta1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ClusterRole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pod-reader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rules: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- apiGroups: [""]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 ["pods"]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verbs: ["get", "watch", "list"]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Removed ClusterRole API Error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kubectl renders an error message, as API does not exist anymore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clusterrole.yaml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error: resource mapping not found for name: "pod-reader" namespace: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"" from "clusterrole.yaml": no matches for kind "ClusterRole" in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version "rbac.authorization.k8s.io/v1beta1"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Using the ClusterRole API Replacement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Usage of replacement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rbac.authorization.k8s.io/v1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ClusterRole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pod-reader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rules: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- apiGroups: [""]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 ["pods"]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verbs: ["get", "watch", "list"]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API VERSIONS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Deprecations &amp; kubectl explain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20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API Deprecations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The Kubernetes API evolves — old versions are deprecated and removed. CKAD tests kubectl explain, api-resources and api-versions. You must find the correct apiVersion for any resource on exam day using only kubectl.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List resources and versions, explore schemas with explain, detect a removed API, and look up the current version.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api-resources · k explain · Pod/Service/ConfigMap/Secret/SA/Quota/LimitRange -&gt; · » `kubectl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Deprecations &amp; kubectl explain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List resources, groups and served versions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api-resources --api-group=apps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api-resources --api-group=batch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api-versions | sort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Explore a schema with explain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explain deployment.spec.strategy.rollingUpdate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explain pod.spec.containers.resources --recursive | head -30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Detect a removed API and find the replacement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extensions/v1beta1 Ingress was removed in 1.22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explain ingress --api-version=networking.k8s.io/v1 | head -10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api-resources | grep -i 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Deprecations &amp; kubectl explain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Stable apiVersions to memorise (v1.35)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Pod/Service/ConfigMap/Secret/SA/Quota/LimitRange  -&gt;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Deployment/StatefulSet/DaemonSet/ReplicaSet        -&gt; apps/v1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Job/CronJob                                        -&gt; batch/v1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Ingress/NetworkPolicy                              -&gt;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Role/RoleBinding/ClusterRole(+Binding)             -&gt;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HorizontalPodAutoscaler                            -&gt; autoscaling/v2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kubectl api-resources shows the correct apiVersion in its APIVERSION column — the exam-legal way to look it up. kubectl explain &lt;res&gt;.&lt;field&gt; documents fields without leaving the terminal.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20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Deprecations &amp; kubectl explain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api-resources | grep -i ingress shows networking.k8s.io/v1, and k explain deployment.spec.strategy.rollingUpdate prints the maxSurge/maxUnavailable fields.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DOMAIN 4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Configuration &amp; Security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ConfigMaps · Secrets · securityContext · ServiceAccounts · RBAC · quotas (25%)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EXTERNAL CONFIG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Decouple Config from Image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ConfigMap holds non-secret key/value data; create it with --from-literal, --from-file or --from-env-file.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Inject one key with configMapKeyRef, all keys with envFrom, or mount it as a file volume.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Volume-mounted ConfigMaps update live (~60s); env-var injections are fixed at Pod startup.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Keep config out of the image so the same image runs in every environment.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ConfigMaps and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Defining and consuming configuration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ConfigMap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plain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648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Secret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base64, restricted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 variables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key by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648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Volume mount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files in the Pod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Configuration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Control runtime behavior with centralized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Stored as key-value pairs in dedicated Kubernetes primitives with a lifecycle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decoupled from consuming Pod.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ConfigMap: Plain-text values suited for configuring applications e.g. flags, or URLs.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Secret: Base64-encoded values suited for storing sensitive data like passwords,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API keys, or SSL certificates. Values are not encrypted!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ConfigMap and Secret objects are stored in etcd in unencrypted form by default.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Encryption of data in etcd is configurable.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Consuming Configuration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Applicable to ConfigMap and Secret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ConfigMap / Secret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envFrom  ·  env.valueFrom  ·  volumeMount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Container consumes 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ConfigMap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Key-value pairs can be parsed from different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configmap db-config --from-literal=db=staging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configmap/db-config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configmap db-config --from-env-file=config.env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configmap/db-config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configmap db-config --from-file=config.txt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configmap/db-config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configmap db-config --from-file=app-config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configmap/db-config created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Source Options for Data Parsed by a ConfigMap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Option   Description   Example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--from-literal   Literal values, which are key-value pairs as plain   --from-literal=locale=en_US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text.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--from-env-file   A file that contains key-value pairs and expects   --from-env-file=config.env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them to be environment variables.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--from-file   Huge page resource type.   --from-file=app-config.json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--from-file   A directory with one or many files.   --from-file=config-dir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ConfigMap -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--from-literal=key=value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--from-file=path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--from-env-file=file.env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ConfigMap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Key-value pair definition under data attribute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apiVersion: 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kind: ConfigMap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metadata.name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1860" y="45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data: key-value pairs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ENV Variables - Define all key-value pairs in configmap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Key-value pair definition under data attribute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ConfigMap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all keys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envFrom.configMapRef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Every key becomes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an env variable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ENV Variables - Define via Multiple ConfigMaps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Key-value pair definition under data attribute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ConfigMap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ConfigMap 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envFrom: both refs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Merged env in container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Consuming Changed ConfigMap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Containers will not refresh consumed data upon a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key-value pairs of a ConfigMap can be changed for a live object.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Changed ConfigMap key-value pairs consumed by containers will not be reloaded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automatically for an already-running Pod.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application code needs to implement logic to either reload the configuration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data periodically or on-demand.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21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ConfigMaps — Env &amp; Volume Injection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The single-key Pod logs COLOR=blue, the envFrom Pod shows all four variables, and the mounted ConfigMap appears as files under /etc/app.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348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SENSITIVE DATA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 vs ConfigMaps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Secrets work like ConfigMaps but values are base64-encoded and access is more tightly controlled.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Types: generic, tls (kubernetes.io/tls) and docker-registry (for imagePullSecrets).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Inject with envFrom: secretRef (all keys) or secretKeyRef (one key); mount with defaultMode: 0400.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Base64 is not encryption — restrict access with RBAC and enable encryption at rest.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349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95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60" dirty="0"/>
              <a:t>Secret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80" dirty="0"/>
              <a:t>Environment</a:t>
            </a:r>
            <a:r>
              <a:rPr spc="-95" dirty="0"/>
              <a:t> </a:t>
            </a:r>
            <a:r>
              <a:rPr spc="95" dirty="0"/>
              <a:t>Variables</a:t>
            </a:r>
            <a:endParaRPr spc="9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Accessed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values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base64-decoded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5392420" cy="3794760"/>
            <a:chOff x="645157" y="1890741"/>
            <a:chExt cx="5392420" cy="379476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5157" y="1890741"/>
              <a:ext cx="5391600" cy="3794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5240020" cy="3642360"/>
            </a:xfrm>
            <a:custGeom>
              <a:avLst/>
              <a:gdLst/>
              <a:ahLst/>
              <a:cxnLst/>
              <a:rect l="l" t="t" r="r" b="b"/>
              <a:pathLst>
                <a:path w="3930015" h="2731770">
                  <a:moveTo>
                    <a:pt x="3929399" y="2731199"/>
                  </a:moveTo>
                  <a:lnTo>
                    <a:pt x="0" y="2731199"/>
                  </a:lnTo>
                  <a:lnTo>
                    <a:pt x="0" y="0"/>
                  </a:lnTo>
                  <a:lnTo>
                    <a:pt x="3929399" y="0"/>
                  </a:lnTo>
                  <a:lnTo>
                    <a:pt x="3929399" y="27311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48565" y="2152551"/>
            <a:ext cx="4727787" cy="22741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03200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apiVersion:</a:t>
            </a:r>
            <a:r>
              <a:rPr sz="1400" b="1" spc="-5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25" dirty="0">
                <a:latin typeface="Courier New" panose="02070309020205020404"/>
                <a:cs typeface="Courier New" panose="02070309020205020404"/>
              </a:rPr>
              <a:t>v1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kind: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25" dirty="0">
                <a:latin typeface="Courier New" panose="02070309020205020404"/>
                <a:cs typeface="Courier New" panose="02070309020205020404"/>
              </a:rPr>
              <a:t>Pod </a:t>
            </a: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metadata: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26060">
              <a:lnSpc>
                <a:spcPts val="1585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backend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spec: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2606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containers: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2606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1400" b="1" spc="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image:</a:t>
            </a:r>
            <a:r>
              <a:rPr sz="1400" b="1" spc="1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bmuschko/web-app:1.0.1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439420">
              <a:lnSpc>
                <a:spcPts val="1665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backend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7527" y="4387751"/>
            <a:ext cx="2594185" cy="877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5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envFrom: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1400" b="1" spc="-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secretRef: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439420">
              <a:lnSpc>
                <a:spcPts val="1665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mysecret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157" y="1890741"/>
            <a:ext cx="5064800" cy="1150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59599" y="1955167"/>
            <a:ext cx="4913205" cy="99822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2446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980"/>
              </a:spcBef>
            </a:pPr>
            <a:r>
              <a:rPr sz="1300" b="1" dirty="0">
                <a:latin typeface="Courier New" panose="02070309020205020404"/>
                <a:cs typeface="Courier New" panose="02070309020205020404"/>
              </a:rPr>
              <a:t>$</a:t>
            </a:r>
            <a:r>
              <a:rPr sz="13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kubectl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exec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1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it</a:t>
            </a:r>
            <a:r>
              <a:rPr sz="13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backend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1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25" dirty="0">
                <a:latin typeface="Courier New" panose="02070309020205020404"/>
                <a:cs typeface="Courier New" panose="02070309020205020404"/>
              </a:rPr>
              <a:t>env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94100" y="2432991"/>
            <a:ext cx="1452880" cy="2844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800">
              <a:lnSpc>
                <a:spcPts val="1295"/>
              </a:lnSpc>
            </a:pPr>
            <a:r>
              <a:rPr sz="1300" spc="-10" dirty="0">
                <a:latin typeface="Courier New" panose="02070309020205020404"/>
                <a:cs typeface="Courier New" panose="02070309020205020404"/>
              </a:rPr>
              <a:t>pwd=s3cre!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13267" y="3215563"/>
            <a:ext cx="6588760" cy="2181013"/>
            <a:chOff x="1413267" y="3215563"/>
            <a:chExt cx="6588760" cy="2181013"/>
          </a:xfrm>
        </p:grpSpPr>
        <p:sp>
          <p:nvSpPr>
            <p:cNvPr id="12" name="object 12"/>
            <p:cNvSpPr/>
            <p:nvPr/>
          </p:nvSpPr>
          <p:spPr>
            <a:xfrm>
              <a:off x="4359033" y="3343521"/>
              <a:ext cx="3588173" cy="1803400"/>
            </a:xfrm>
            <a:custGeom>
              <a:avLst/>
              <a:gdLst/>
              <a:ahLst/>
              <a:cxnLst/>
              <a:rect l="l" t="t" r="r" b="b"/>
              <a:pathLst>
                <a:path w="2691129" h="1352550">
                  <a:moveTo>
                    <a:pt x="0" y="1352408"/>
                  </a:moveTo>
                  <a:lnTo>
                    <a:pt x="2691126" y="1352408"/>
                  </a:lnTo>
                  <a:lnTo>
                    <a:pt x="269112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2551" y="3215563"/>
              <a:ext cx="109301" cy="1411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25967" y="4435565"/>
              <a:ext cx="2786380" cy="948267"/>
            </a:xfrm>
            <a:custGeom>
              <a:avLst/>
              <a:gdLst/>
              <a:ahLst/>
              <a:cxnLst/>
              <a:rect l="l" t="t" r="r" b="b"/>
              <a:pathLst>
                <a:path w="2089785" h="711200">
                  <a:moveTo>
                    <a:pt x="0" y="0"/>
                  </a:moveTo>
                  <a:lnTo>
                    <a:pt x="2089499" y="0"/>
                  </a:lnTo>
                  <a:lnTo>
                    <a:pt x="2089499" y="710699"/>
                  </a:lnTo>
                  <a:lnTo>
                    <a:pt x="0" y="710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105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60" dirty="0"/>
              <a:t>Secret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280" dirty="0"/>
              <a:t>a</a:t>
            </a:r>
            <a:r>
              <a:rPr spc="-90" dirty="0"/>
              <a:t> </a:t>
            </a:r>
            <a:r>
              <a:rPr spc="114" dirty="0"/>
              <a:t>Volume</a:t>
            </a:r>
            <a:endParaRPr spc="114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good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choice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processing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machine-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readable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configuration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file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4715933" cy="4213013"/>
            <a:chOff x="645157" y="1890741"/>
            <a:chExt cx="4715933" cy="4213013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5157" y="1890741"/>
              <a:ext cx="4715600" cy="4212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4563533" cy="4060613"/>
            </a:xfrm>
            <a:custGeom>
              <a:avLst/>
              <a:gdLst/>
              <a:ahLst/>
              <a:cxnLst/>
              <a:rect l="l" t="t" r="r" b="b"/>
              <a:pathLst>
                <a:path w="3422650" h="3045460">
                  <a:moveTo>
                    <a:pt x="3422399" y="3045299"/>
                  </a:moveTo>
                  <a:lnTo>
                    <a:pt x="0" y="3045299"/>
                  </a:lnTo>
                  <a:lnTo>
                    <a:pt x="0" y="0"/>
                  </a:lnTo>
                  <a:lnTo>
                    <a:pt x="3422399" y="0"/>
                  </a:lnTo>
                  <a:lnTo>
                    <a:pt x="3422399" y="30452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1109980">
              <a:lnSpc>
                <a:spcPct val="102000"/>
              </a:lnSpc>
              <a:spcBef>
                <a:spcPts val="70"/>
              </a:spcBef>
            </a:pPr>
            <a:r>
              <a:rPr dirty="0"/>
              <a:t>apiVersion:</a:t>
            </a:r>
            <a:r>
              <a:rPr spc="-130" dirty="0"/>
              <a:t> </a:t>
            </a:r>
            <a:r>
              <a:rPr b="0" spc="-25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v1 </a:t>
            </a:r>
            <a:r>
              <a:rPr dirty="0"/>
              <a:t>kind:</a:t>
            </a:r>
            <a:r>
              <a:rPr spc="-60" dirty="0"/>
              <a:t> </a:t>
            </a:r>
            <a:r>
              <a:rPr b="0" spc="-25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Pod </a:t>
            </a:r>
            <a:r>
              <a:rPr spc="-10" dirty="0"/>
              <a:t>metadata:</a:t>
            </a:r>
            <a:endParaRPr spc="-10" dirty="0"/>
          </a:p>
          <a:p>
            <a:pPr marL="184150">
              <a:lnSpc>
                <a:spcPct val="100000"/>
              </a:lnSpc>
              <a:spcBef>
                <a:spcPts val="30"/>
              </a:spcBef>
            </a:pPr>
            <a:r>
              <a:rPr dirty="0"/>
              <a:t>name:</a:t>
            </a:r>
            <a:r>
              <a:rPr spc="-60" dirty="0"/>
              <a:t> 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backend</a:t>
            </a:r>
            <a:endParaRPr b="0" spc="-1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spec:</a:t>
            </a:r>
            <a:endParaRPr spc="-10" dirty="0"/>
          </a:p>
          <a:p>
            <a:pPr marL="18034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containers:</a:t>
            </a:r>
            <a:endParaRPr spc="-10" dirty="0"/>
          </a:p>
          <a:p>
            <a:pPr marL="527050" indent="-179070">
              <a:lnSpc>
                <a:spcPct val="100000"/>
              </a:lnSpc>
              <a:spcBef>
                <a:spcPts val="30"/>
              </a:spcBef>
              <a:buClr>
                <a:srgbClr val="000000"/>
              </a:buClr>
              <a:buFont typeface="Courier New" panose="02070309020205020404"/>
              <a:buChar char="-"/>
              <a:tabLst>
                <a:tab pos="527050" algn="l"/>
              </a:tabLst>
            </a:pPr>
            <a:r>
              <a:rPr dirty="0"/>
              <a:t>name:</a:t>
            </a:r>
            <a:r>
              <a:rPr spc="-60" dirty="0"/>
              <a:t> 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backend</a:t>
            </a:r>
            <a:endParaRPr b="0" spc="-1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5270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image: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bmuschko/web-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app:1.0.1</a:t>
            </a:r>
            <a:endParaRPr b="0" spc="-1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5270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volumeMounts:</a:t>
            </a:r>
            <a:endParaRPr spc="-10" dirty="0"/>
          </a:p>
          <a:p>
            <a:pPr marL="698500" marR="5080" indent="-183515">
              <a:lnSpc>
                <a:spcPct val="102000"/>
              </a:lnSpc>
            </a:pPr>
            <a:r>
              <a:rPr b="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b="0" spc="105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dirty="0"/>
              <a:t>name:</a:t>
            </a:r>
            <a:r>
              <a:rPr spc="-20" dirty="0"/>
              <a:t> </a:t>
            </a: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ssh-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volume </a:t>
            </a:r>
            <a:r>
              <a:rPr dirty="0"/>
              <a:t>mountPath:</a:t>
            </a:r>
            <a:r>
              <a:rPr spc="-120" dirty="0"/>
              <a:t> 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/var/app </a:t>
            </a:r>
            <a:r>
              <a:rPr dirty="0"/>
              <a:t>readOnly:</a:t>
            </a:r>
            <a:r>
              <a:rPr spc="-105" dirty="0"/>
              <a:t> </a:t>
            </a: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true</a:t>
            </a:r>
            <a:endParaRPr b="0" spc="-2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1841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volumes:</a:t>
            </a:r>
            <a:endParaRPr spc="-10" dirty="0"/>
          </a:p>
          <a:p>
            <a:pPr marL="527050" indent="-179070">
              <a:lnSpc>
                <a:spcPct val="100000"/>
              </a:lnSpc>
              <a:spcBef>
                <a:spcPts val="30"/>
              </a:spcBef>
              <a:buClr>
                <a:srgbClr val="000000"/>
              </a:buClr>
              <a:buFont typeface="Courier New" panose="02070309020205020404"/>
              <a:buChar char="-"/>
              <a:tabLst>
                <a:tab pos="527050" algn="l"/>
              </a:tabLst>
            </a:pPr>
            <a:r>
              <a:rPr dirty="0"/>
              <a:t>name:</a:t>
            </a:r>
            <a:r>
              <a:rPr spc="-25" dirty="0"/>
              <a:t> </a:t>
            </a: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ssh-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volume</a:t>
            </a:r>
            <a:endParaRPr b="0" spc="-1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698500" marR="675005" indent="-172085">
              <a:lnSpc>
                <a:spcPct val="102000"/>
              </a:lnSpc>
            </a:pPr>
            <a:r>
              <a:rPr spc="-10" dirty="0"/>
              <a:t>secret: secretName: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secret-ssh-auth</a:t>
            </a:r>
            <a:endParaRPr b="0" spc="-2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557" y="1890741"/>
            <a:ext cx="5512800" cy="3256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91999" y="1955167"/>
            <a:ext cx="5361093" cy="310388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37795" rIns="0" bIns="0" rtlCol="0">
            <a:spAutoFit/>
          </a:bodyPr>
          <a:lstStyle/>
          <a:p>
            <a:pPr marL="146685">
              <a:lnSpc>
                <a:spcPts val="1430"/>
              </a:lnSpc>
              <a:spcBef>
                <a:spcPts val="1085"/>
              </a:spcBef>
            </a:pPr>
            <a:r>
              <a:rPr sz="1200" b="1" dirty="0">
                <a:latin typeface="Courier New" panose="02070309020205020404"/>
                <a:cs typeface="Courier New" panose="02070309020205020404"/>
              </a:rPr>
              <a:t>$</a:t>
            </a:r>
            <a:r>
              <a:rPr sz="12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kubectl</a:t>
            </a:r>
            <a:r>
              <a:rPr sz="12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exec</a:t>
            </a:r>
            <a:r>
              <a:rPr sz="12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it</a:t>
            </a:r>
            <a:r>
              <a:rPr sz="12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backend</a:t>
            </a:r>
            <a:r>
              <a:rPr sz="12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10" dirty="0">
                <a:latin typeface="Courier New" panose="02070309020205020404"/>
                <a:cs typeface="Courier New" panose="02070309020205020404"/>
              </a:rPr>
              <a:t>/bin/sh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46685" marR="2402205">
              <a:lnSpc>
                <a:spcPts val="1430"/>
              </a:lnSpc>
              <a:spcBef>
                <a:spcPts val="50"/>
              </a:spcBef>
            </a:pPr>
            <a:r>
              <a:rPr sz="1200" dirty="0">
                <a:latin typeface="Courier New" panose="02070309020205020404"/>
                <a:cs typeface="Courier New" panose="02070309020205020404"/>
              </a:rPr>
              <a:t>#</a:t>
            </a:r>
            <a:r>
              <a:rPr sz="12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ls</a:t>
            </a:r>
            <a:r>
              <a:rPr sz="12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l</a:t>
            </a:r>
            <a:r>
              <a:rPr sz="12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/var/app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ssh-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privatekey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4208" y="2889500"/>
            <a:ext cx="5141805" cy="205824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275"/>
              </a:lnSpc>
            </a:pPr>
            <a:r>
              <a:rPr sz="1200" dirty="0">
                <a:latin typeface="Courier New" panose="02070309020205020404"/>
                <a:cs typeface="Courier New" panose="02070309020205020404"/>
              </a:rPr>
              <a:t>#</a:t>
            </a:r>
            <a:r>
              <a:rPr sz="1200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cat</a:t>
            </a:r>
            <a:r>
              <a:rPr sz="1200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/var/app/ssh-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privatekey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 marR="920115">
              <a:lnSpc>
                <a:spcPts val="1430"/>
              </a:lnSpc>
              <a:spcBef>
                <a:spcPts val="45"/>
              </a:spcBef>
            </a:pPr>
            <a:r>
              <a:rPr sz="1200" spc="-20" dirty="0">
                <a:latin typeface="Courier New" panose="02070309020205020404"/>
                <a:cs typeface="Courier New" panose="02070309020205020404"/>
              </a:rPr>
              <a:t>-----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BEGIN</a:t>
            </a:r>
            <a:r>
              <a:rPr sz="1200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RSA</a:t>
            </a:r>
            <a:r>
              <a:rPr sz="120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PRIVATE</a:t>
            </a:r>
            <a:r>
              <a:rPr sz="120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KEY----</a:t>
            </a:r>
            <a:r>
              <a:rPr sz="1200" spc="-50" dirty="0">
                <a:latin typeface="Courier New" panose="02070309020205020404"/>
                <a:cs typeface="Courier New" panose="02070309020205020404"/>
              </a:rPr>
              <a:t>-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Proc-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Type: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4,ENCRYPTED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>
              <a:lnSpc>
                <a:spcPts val="1365"/>
              </a:lnSpc>
            </a:pPr>
            <a:r>
              <a:rPr sz="1200" spc="-20" dirty="0">
                <a:latin typeface="Courier New" panose="02070309020205020404"/>
                <a:cs typeface="Courier New" panose="02070309020205020404"/>
              </a:rPr>
              <a:t>DEK-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Info: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 marR="97155">
              <a:lnSpc>
                <a:spcPts val="1430"/>
              </a:lnSpc>
              <a:spcBef>
                <a:spcPts val="50"/>
              </a:spcBef>
            </a:pPr>
            <a:r>
              <a:rPr sz="1200" spc="-20" dirty="0">
                <a:latin typeface="Courier New" panose="02070309020205020404"/>
                <a:cs typeface="Courier New" panose="02070309020205020404"/>
              </a:rPr>
              <a:t>AES-128-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CBC,8734C9153079F2E8497C8075289E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BBF1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>
              <a:lnSpc>
                <a:spcPts val="1365"/>
              </a:lnSpc>
            </a:pPr>
            <a:r>
              <a:rPr sz="1200" spc="-25" dirty="0">
                <a:latin typeface="Courier New" panose="02070309020205020404"/>
                <a:cs typeface="Courier New" panose="02070309020205020404"/>
              </a:rPr>
              <a:t>...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>
              <a:lnSpc>
                <a:spcPts val="1435"/>
              </a:lnSpc>
            </a:pPr>
            <a:r>
              <a:rPr sz="1200" spc="-20" dirty="0">
                <a:latin typeface="Courier New" panose="02070309020205020404"/>
                <a:cs typeface="Courier New" panose="02070309020205020404"/>
              </a:rPr>
              <a:t>-----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END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RSA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PRIVATE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KEY----</a:t>
            </a:r>
            <a:r>
              <a:rPr sz="1200" spc="-50" dirty="0">
                <a:latin typeface="Courier New" panose="02070309020205020404"/>
                <a:cs typeface="Courier New" panose="02070309020205020404"/>
              </a:rPr>
              <a:t>-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04067" y="3957600"/>
            <a:ext cx="4263813" cy="941493"/>
            <a:chOff x="1604067" y="3957600"/>
            <a:chExt cx="4263813" cy="941493"/>
          </a:xfrm>
        </p:grpSpPr>
        <p:sp>
          <p:nvSpPr>
            <p:cNvPr id="11" name="object 11"/>
            <p:cNvSpPr/>
            <p:nvPr/>
          </p:nvSpPr>
          <p:spPr>
            <a:xfrm>
              <a:off x="1616767" y="3970300"/>
              <a:ext cx="2515447" cy="916093"/>
            </a:xfrm>
            <a:custGeom>
              <a:avLst/>
              <a:gdLst/>
              <a:ahLst/>
              <a:cxnLst/>
              <a:rect l="l" t="t" r="r" b="b"/>
              <a:pathLst>
                <a:path w="1886585" h="687070">
                  <a:moveTo>
                    <a:pt x="0" y="0"/>
                  </a:moveTo>
                  <a:lnTo>
                    <a:pt x="1886399" y="0"/>
                  </a:lnTo>
                  <a:lnTo>
                    <a:pt x="1886399" y="686699"/>
                  </a:lnTo>
                  <a:lnTo>
                    <a:pt x="0" y="686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276232" y="4429700"/>
              <a:ext cx="1463887" cy="847"/>
            </a:xfrm>
            <a:custGeom>
              <a:avLst/>
              <a:gdLst/>
              <a:ahLst/>
              <a:cxnLst/>
              <a:rect l="l" t="t" r="r" b="b"/>
              <a:pathLst>
                <a:path w="1097914" h="635">
                  <a:moveTo>
                    <a:pt x="0" y="0"/>
                  </a:moveTo>
                  <a:lnTo>
                    <a:pt x="605999" y="0"/>
                  </a:lnTo>
                  <a:lnTo>
                    <a:pt x="605999" y="599"/>
                  </a:lnTo>
                  <a:lnTo>
                    <a:pt x="1097699" y="5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27133" y="4375845"/>
              <a:ext cx="140667" cy="10930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Secret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Parsed values are base64-encoded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create secret generic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Values base64-encoded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automatically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Secret stored in etcd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Source Options for Data Parsed by a Generic Secret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Option   Description   Example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--from-literal   Literal values, which are key-value pairs as   --from-literal=password=secret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plain text.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--from-env-file   A file that contains key-value pairs and   --from-env-file=config.env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expects them to be environment variables.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--from-file   Huge page resource type.   --from-file=id_rsa=~/.ssh/id_rsa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--from-file   A directory with one or many files.   --from-file=config-dir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Create Secret from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File on disk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--from-file=./creds.txt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Secret with file key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ENV Variables from Secret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Secret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env.valueFrom.secretKeyRef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 variable in container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Declarative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apiVersion: 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kind: Secret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type: Opaque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1860" y="45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data: base64 values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Describing Secrets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Viewing Secrets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Secrets Are Not Really Secret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Techniques that help with making Secrets more secure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Secret objects are stored in etcd in unencrypted form by default. Encryption of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 etcd is configurable.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Define RBAC permissions to only allow developers to create, view, and modify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Secret objects in dedicated namespaces. An even stricter policy could only allow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administrators to manage Secrets.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Use Kubernetes-external, third-party Secrets services for managing sensitive data,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e.g. AWS Secrets Manager or HashiCorp Vault. You can consume the data with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help of the External Secrets Operator.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SECRETS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22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Secrets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Secrets are like ConfigMaps but base64-encoded with stricter access. CKAD tests generic, tls and docker-registry types, env-var injection, file mounts with defaultMode, and decoding values. Secrets are not encrypted — protect them with RBAC.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generic Secret, decode it, inject as env vars, mount with 0400 mode, then create tls and docker-registry Secrets.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envFrom: · volumes: · » Types: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360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a generic Secret and decode a value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generic db-cred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--from-literal=DB_USER=admin --from-literal=DB_PASS=s3cr3t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secret db-cred -o jsonpath='{.data.DB_PASS}' | base64 -d; echo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Inject Secret keys as env vars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envFrom: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secretRef: {name: db-cred}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Mount a Secret as files with restrictive mode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secret: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secretName: db-cred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defaultMode: 0400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361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TLS and docker-registry Secrets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tls demo-tls --cert=tls.crt --key=tls.key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docker-registry myreg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--docker-server=registry.example.com --docker-username=u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--docker-password=p --docker-email=u@example.com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Types: generic, tls (kubernetes.io/tls), docker-registry. envFrom: secretRef injects all keys; secretKeyRef injects one. Reference a registry Secret via spec.imagePullSecrets. Base64 ≠ encryption — restrict with RBAC.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362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22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base64 -d on .data.DB_PASS returns s3cr3t, the mounted Secret files are mode 0400, and the tls Secret reports type kubernetes.io/tls.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363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LEAST PRIVILEGE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Run Containers Safely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securityContext sets the user, group and privileges a container runs with.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Pod-level applies to all containers; container-level overrides one container.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runAsNonRoot: true blocks any image whose default user is root.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Hardened pattern: readOnlyRootFilesystem + capabilities.drop:[ALL] + allowPrivilegeEscalation:false.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364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Security Context Privilege and access control for a Pod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Security Context?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Defines security settings for containers of a Pod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Modeled as a set of attributes within the Pod specification, e.g. for configuring Linux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capabilities, file access control, privileges to parent process or host system.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Can be applied to all containers in Pod with spec.securityContext 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for individual containers with spec.containers[].securityContext.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Security Context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All attributes can be discovered in documentation for the Kubernetes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API Type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PodSecurityContext   Defines Pod-level security attributes.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SecurityContext   Defines container-level security attributes.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 Security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Pod- and/or container-level 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secured-pod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securityContext:   Defined on the Pod-level (applies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fsGroup: 3000   to all containers)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data-vol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emptyDir: {}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nginx:1.18.0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secured-container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volumeMounts: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the Runtime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Rendering the file system Linux group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exec secured-pod -it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cd /data/app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touch hello.txt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ls -l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total 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-rw-r--r-- 1 root 3000 0 Apr 30 18:27 hello.txt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exit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File system group ID is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assigned automatically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Overriding a Value on the Container-Level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Container-level definition wins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non-root-success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securityContext: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runAsNonRoot: false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bitnami/nginx:1.23.1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nginx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securityContext: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Takes precedence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runAsNonRoot: true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SECURITYCONTEXT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SecurityContext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23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SecurityContext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securityContext controls the identity and privileges of containers. CKAD asks you to enforce non-root execution, a read-only root filesystem and dropped Linux capabilities — at Pod level (all containers) or container level (one override).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Run as a set user/group, enforce runAsNonRoot, lock the root filesystem, then drop all capabilities.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securityContext: · » Pod-level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371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SecurityContext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Run as a specific user and group (Pod level)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securityContext: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runAsUser: 1000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runAsGroup: 3000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fsGroup: 2000     # applies to volume mounts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Enforce runAsNonRoot (blocks root images)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securityContext: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runAsNonRoot: true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nginx runs as root -&gt; Pod refuses to start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Read-only root filesystem (container level)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securityContext: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readOnlyRootFilesystem: true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mount an emptyDir for any writable path (e.g. /tmp)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372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SecurityContext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Drop Linux capabilities (hardened container)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securityContext: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capabilities: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drop: ["ALL"]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add: ["NET_BIND_SERVICE"]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allowPrivilegeEscalation: false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Pod-level securityContext applies to all containers; container-level overrides one. The CKAD hardened pattern = runAsNonRoot: true + readOnlyRootFilesystem: true + capabilities.drop: [ALL] + allowPrivilegeEscalation: false.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373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23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SecurityContext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The non-root Pod logs uid=1000 gid=3000, the runAsNonRoot nginx Pod refuses to start, and writes to the read-only root filesystem are rejected.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374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WHO AM I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Pod Identity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Every Pod runs as a ServiceAccount — the default one has minimal permissions.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spec.serviceAccountName attaches a dedicated ServiceAccount to a Pod.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token, CA cert and namespace are projected into /var/run/secrets/kubernetes.io/serviceaccount/.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automountServiceAccountToken: false enforces least privilege; kubectl create token mints short-lived tokens.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375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Service Account?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Non-human request to Kubernetes API from a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Processes running outside of Kubernetes or processes running inside of a container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may need to interact with the Kubernetes API. A Service Account allows for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authenticating with the API server through an authentication token.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Authorization is controlled through RBAC and assigned to the Service Account.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If not assigned explicitly, a Pod uses the default Service Account. The default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Service Account has the same permissions as an unauthenticated user.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Example: “I have a CI/CD process that retrieves Pod information by making calls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 Kubernetes API.”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Service Account as Subject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Pod assign the Service Account by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ServiceAccount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in namespace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Pod.spec.serviceAccountName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Token mounted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into the Pod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Service Account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 a Pod manifest, refer to the Service Account by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 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ServiceAccount 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 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sa-api   name: list-pods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namespace: k97   namespace: k97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serviceAccountName: sa-api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Accessing Service Account Authentication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Automounted at specific Volume mount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pod list-pods -n k97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Containers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: pods: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Mounts: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/var/run/secrets/kubernetes.io/serviceaccount from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kube-api-access-xnkwd (ro)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/var/run/secrets/kubernetes.io/serviceaccount/toke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   exec -it list-pods -n k97 --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# cat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eyJhbGciOiJSUzI1N..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Using Service Account in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Enables authentication token auto-mounting by 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list-pods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namespace: k97   List all Pods in the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   Assigned name of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serviceAccountName: sa-api   namespace k97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   Service Account   via an API call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image: alpine/curl:3.14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command: ['sh', '-c', 'while true; do curl -s -k -m 5 -H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"Authorization: Bearer $(cat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/var/run/secrets/kubernetes.io/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serviceaccount/token)" https://kubernetes.default.svc.cluster.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RoleBinding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Default RBAC policies don’t span beyond kube-system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rbac.authorization.k8s.io/v1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RoleBinding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serviceaccount-pod-rolebinding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namespace: k97   Maps the 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roleRef: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Account as 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apiGroup: rbac.authorization.k8s.io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subject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ClusterRole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list-pods-clusterrole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subjects: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ServiceAccount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apiGroup: rbac.authorization.k8s.io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SERVICEACCOUNTS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ServiceAccounts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24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ServiceAccounts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Every Pod runs as a ServiceAccount; the default one has minimal RBAC. CKAD tests creating dedicated ServiceAccounts, attaching them to Pods, disabling the auto-mounted token, and requesting short-lived tokens with kubectl create token.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ServiceAccount, attach it to a Pod, inspect the projected token, disable auto-mount, then mint a token.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exec · k patch · TOKEN=$(k create · » `spec.serviceAccountName`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ServiceAccounts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a ServiceAccount and attach it to a Pod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serviceaccount app-sa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Pod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serviceAccountName: app-sa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app -o jsonpath='{.spec.serviceAccountName}'; echo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Inspect the auto-mounted token inside the Pod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app -- ls /var/run/secrets/kubernetes.io/serviceaccount/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Disable token auto-mount (least privilege)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1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sa app-sa -p '{"automountServiceAccountToken": false}'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ServiceAccounts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Request a short-lived ad-hoc token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TOKEN=$(k create token app-sa --duration=1h)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 $TOKEN | cut -c1-60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spec.serviceAccountName attaches a custom SA. Token, CA and namespace are projected under /var/run/secrets/kubernetes.io/serviceaccount/. automountServiceAccountToken: false enforces least privilege; kubectl create token replaces the old Secret-backed tokens (removed in 1.24+).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AUTHORIZATION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Role-Based Access Control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Role/ClusterRole lists allowed verbs (get, list, create, delete…) on resources.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RoleBinding/ClusterRoleBinding ties that Role to a subject (ServiceAccount, user or group).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Role + RoleBinding = one namespace; ClusterRole + ClusterRoleBinding = cluster-wide.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ClusterRole + RoleBinding limits a cluster role's verbs to a single namespace.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Validate without logging in: kubectl auth can-i &lt;verb&gt; &lt;resource&gt; --as=&lt;identity&gt;.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Rectangle 2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RBAC · ARCHITECTURE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Role-Based Access Control Model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64240" cy="4114800"/>
          </a:xfrm>
          <a:prstGeom prst="roundRect">
            <a:avLst>
              <a:gd name="adj" fmla="val 6000"/>
            </a:avLst>
          </a:prstGeom>
          <a:solidFill>
            <a:srgbClr val="EEE8F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 panose="020B0604020202020204"/>
              </a:rPr>
              <a:t>Kubernetes Cluster</a:t>
            </a:r>
            <a:endParaRPr sz="11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26060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256032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Subject
(User / Group
/ ServiceAccount)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17720" y="26060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606040"/>
            <a:ext cx="256032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RoleBinding
/
ClusterRoleBinding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12480" y="26060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256032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Role
/
ClusterRole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3383280" y="3086100"/>
            <a:ext cx="123444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78040" y="3086100"/>
            <a:ext cx="1234440" cy="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29000" y="269748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6FEB"/>
                </a:solidFill>
                <a:latin typeface="Arial" panose="020B0604020202020204"/>
              </a:rPr>
              <a:t>binds subject</a:t>
            </a:r>
            <a:endParaRPr sz="1000" b="0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23760" y="269748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0B981"/>
                </a:solidFill>
                <a:latin typeface="Arial" panose="020B0604020202020204"/>
              </a:rPr>
              <a:t>references</a:t>
            </a:r>
            <a:endParaRPr sz="1000" b="0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955279" y="3931920"/>
            <a:ext cx="3291840" cy="59436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931920"/>
            <a:ext cx="329184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 panose="020B0604020202020204"/>
              </a:rPr>
              <a:t>Rules:  verbs (get, list, create…)
+ resources (pods, services…)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22960" y="5120640"/>
            <a:ext cx="4114800" cy="50292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41148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0">
                <a:solidFill>
                  <a:srgbClr val="1F6FEB"/>
                </a:solidFill>
                <a:latin typeface="Arial" panose="020B0604020202020204"/>
              </a:rPr>
              <a:t>Role + RoleBinding → namespace-scoped</a:t>
            </a:r>
            <a:endParaRPr sz="1200" b="0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17920" y="5120640"/>
            <a:ext cx="4846320" cy="50292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5120640"/>
            <a:ext cx="48463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Arial" panose="020B0604020202020204"/>
              </a:rPr>
              <a:t>ClusterRole + ClusterRoleBinding → cluster-scoped</a:t>
            </a:r>
            <a:endParaRPr sz="1200" b="0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RBAC · SCOPE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Role vs ClusterRole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Role (Namespace-scoped)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ClusterRole (Cluster-scoped)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Scoped to a single namespace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kubectl get roles -n &lt;ns&gt;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Common uses: app-specific read/write access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Example: allow listing pods in 'default' namespace only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Paired with RoleBinding in the same namespace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Applies across all namespaces (or non-namespaced resources)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kubectl get clusterroles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Common uses: admin, monitoring, ingress controller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Example: allow listing nodes, PVs, namespaces cluster-wide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Paired with ClusterRoleBinding or namespaced RoleBinding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RBAC · DECLARATIVE YAML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Defining a Role and RoleBinding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Role: grant read access to pods in the 'dev' namespace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Role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namespace: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pod-reader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apiGroups: [""]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resources: ["pods"]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verbs: ["get", "list", "watch"]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982212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RoleBinding: bind the Role to a ServiceAccount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329684"/>
            <a:ext cx="10652760" cy="25831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329684"/>
            <a:ext cx="82296" cy="25831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93692"/>
            <a:ext cx="10323576" cy="2491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RoleBinding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read-pods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namespace: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subjects: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kind: ServiceAccount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my-app-sa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namespace: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roleRef: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kind: Role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pod-reader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apiGroup: rbac.authorization.k8s.io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RBAC · CLUSTER-WIDE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ClusterRole and ClusterRoleBinding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ClusterRole: read access to nodes (non-namespaced resource)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ClusterRole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node-reader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apiGroups: [""]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resources: ["nodes"]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verbs: ["get", "list"]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ClusterRoleBinding: bind to a user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23957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ClusterRoleBinding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read-nodes-global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subjects: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kind: User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jane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apiGroup: rbac.authorization.k8s.io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roleRef: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kind: ClusterRole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node-reader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apiGroup: rbac.authorization.k8s.io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RBAC · EXAM COMMANDS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Essential kubectl Commands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Create a Role imperatively (quick in exam)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create role pod-reader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--verb=get,list,watch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--resource=pods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--namespace=dev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Bind the Role to a ServiceAccount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92424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92424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56432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create rolebinding read-pods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--role=pod-reader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--serviceaccount=dev:my-app-sa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--namespace=dev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897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Check permissions for a ServiceAccount (auth can-i)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371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901184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auth can-i list pods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--as=system:serviceaccount:dev:my-app-sa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--namespace=dev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yes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390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Processing a Request to the API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Any client request to the API server needs to pass four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1803696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Client 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0936" y="2850000"/>
            <a:ext cx="1803696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Authentication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who are you?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0936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24632" y="2850000"/>
            <a:ext cx="1803696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Authorization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RBAC allows?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4632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48328" y="2850000"/>
            <a:ext cx="1803696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Admission control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28328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72024" y="2850000"/>
            <a:ext cx="1803696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etcd / 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52024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API Request Processing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Every request has to pass those phases in the following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Authentication: Validates the identity of the caller using a supported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authentication strategy, e.g. client certificates or bearer tokens.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Authorization: Determines if the identity provided in the first stage can access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 verb and HTTP path request. This is usually implemented with RBAC.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Admission Controller: Verifies if the request is well-formed and potentially needs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to be modified before the request is processed. Ensures that the resource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included in the request is valid (could also be implemented as part of admission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control).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Authentication via Credentials in Kubeconfig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kubeconfig file at $HOME/.kube/config is evaluated by kubectl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Config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clusters: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cluster: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certificate-authority: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/Users/bmuschko/.minikube/ca.crt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extensions: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extension: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last-update: Thu, 04 May 2023 08:48:09 MDT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provider: minikube.sigs.k8s.io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version: v1.30.1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server: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cluster_info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API server endpoint for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Managing Kubeconfig and Current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Interaction with kubeconfig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config view   Renders the contents of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kubeconfig file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v1 kind: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Config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current-context: bmuschko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   Shows the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currently-selected context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config current-context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bmuschko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Switches to the context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config use-context johndoe   defined in the kubeconfig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Switched to context "johndoe".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config current-context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RBAC?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Restricting access control for clients interacting with API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Defines policies for users, groups, and ServiceAccounts by allowing or disallowing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access to manage API resources.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Enabling and configuring RBAC is mandatory for any organization with a strong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emphasis on security.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Example: “The human user John is only allowed to list and create Pods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Deployments, but nothing else.”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RBAC High-Level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Three key elements for understanding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Subject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user · group · 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Role / ClusterRole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verbs on resources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RoleBinding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ties them together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Involved RBAC Primitives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Restrict access to certain operations of API resources for subjects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namespaced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648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ClusterRole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cluster-wide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RoleBinding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grants in a namespace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648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ClusterRoleBinding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grants cluster-wide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Namespace and Cluster-Wide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Defining permission scopes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Role maps API resources to verbs for a single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RoleBinding maps a reference of a Role to one or many subjects for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single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To apply permissions across all namespaces of a cluster or cluster-wide resources,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use the corresponding API primitives ClusterRole and ClusterRoleBinding.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configuration options of the manifests are the same.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Role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Defines verbs and resources in comma-separated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role read-only --verb=list,get,watch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--resource=pods,deployments,services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role.rbac.authorization.k8s.io/read-only created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Operations: Only allow listing,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Resources: Primitives the   getting, watching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operations should apply to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Role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Can define a list of rules in an array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rbac.authorization.k8s.io/v1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Role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read-only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rules: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apiGroups: [""]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 ["pods", "services"]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verbs: ["list", "get", "watch"]   Resources with groups need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apiGroups: ["apps"]   to be spelled out explicitly (in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 ["deployments"]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verbs: ["list", "get", "watch"]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this case apps/Deployment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)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Getting Role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Maps objects of a Kubernetes primitive to verbs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role read-only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  read-only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Labels: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Annotations: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PolicyRule: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   Non-Resource URLs   Resource Names   Verbs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   []   []   [list get watch]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services   []   []   [list get watch]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deployments.apps   []   []   [list get watch]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 Creating a RoleBinding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Maps subject to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35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98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 $ kubectl create rolebinding read-only-binding --role=read-only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--user=johndoe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rolebinding.rbac.authorization.k8s.io/read-only-binding created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Subject: Binds a user to   Role: Reference the name of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Role   the object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Getting RoleBinding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Only shows mapping between Role and subjects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rolebinding read-only-binding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  read-only-binding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Labels: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Annotations: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Role: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Role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read-only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Subjects: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 Name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User   johndoe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RBAC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Roles &amp; RoleBindings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25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RBAC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RBAC controls who can do what on which resources. CKAD tests creating Roles, ClusterRoles, RoleBindings and ClusterRoleBindings imperatively, and validating with kubectl auth can-i --as. Know namespace- vs cluster-scope.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Role + RoleBinding for a ServiceAccount, validate with can-i, then a ClusterRole bound two ways.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auth · » Role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Roles &amp; RoleBindings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Role: namespace-scoped permissions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role pod-reader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--verb=get,list,watch --resource=pods -n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RoleBinding: link Role to a ServiceAccount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rolebinding viewer-binding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--role=pod-reader --serviceaccount=dev:viewer -n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Validate with kubectl auth can-i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auth can-i list pods   -n dev     --as=system:serviceaccount:dev:viewer  # yes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auth can-i delete pods -n dev     --as=system:serviceaccount:dev:viewer  # no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auth can-i list pods   -n default --as=system:serviceaccount:dev:viewer  # no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Roles &amp; RoleBindings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ClusterRole bound cluster-wide vs to one namespace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clusterrole node-reader --verb=get,list --resource=nodes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clusterrolebinding nodes-binding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--clusterrole=node-reader --serviceaccount=dev:nodes-sa   # all namespaces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rolebinding dev-node-reader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--clusterrole=node-reader --serviceaccount=dev:viewer -n dev  # only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Role + RoleBinding = namespace-scoped. ClusterRole + ClusterRoleBinding = cluster-wide. ClusterRole + RoleBinding = the cluster role's verbs limited to one namespace. kubectl auth can-i &lt;verb&gt; &lt;res&gt; --as=&lt;identity&gt; validates without logging in.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25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Roles &amp; RoleBindings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auth can-i list pods -n dev --as=system:serviceaccount:dev:viewer returns yes while delete pods and cross-namespace list return no.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CRD · SCHEMA DEFINITION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CRD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Defines the schema for the custom SmokeTest object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075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075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51160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apiextensions.k8s.io/v1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CustomResourceDefinition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smoketests.stable.bmuschko.com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group: stable.bmuschko.com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versions: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served: true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storage: true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schema: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openAPIV3Schema: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type: object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properties: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type: object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properties: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service: {type: string}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path:    {type: string}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timeout: {type: integer}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retries: {type: integer}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scope: Namespaced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plural: smoketests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singular: smoketest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kind: SmokeTest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shortNames: [st]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CRD · KUBECTL APPLY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Creating the CRD and Custom Object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Create the CRD first, then create instances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-f smoketest-crd.yaml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customresourcedefinition.apiextensions.k8s.io/smoketests.stable.bmuschko.com created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-f backend-smoke-test.yaml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smoketest.stable.bmuschko.com/backend-smoke-test created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CRD · INSPECTION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Discovering CRDs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List all installed CRDs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crds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                        CREATED AT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smoketests.stable.bmuschko.com      2023-05-04T14:49:40Z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Discover custom resource types via api-resources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api-resources --api-group=stable.bmuschko.com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SHORTNAMES  APIVERSION                  NAMESPACED  KIND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smoketests  st          stable.bmuschko.com/v1      true        SmokeTest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410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OPERATOR PATTERN · CONTROLLER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Controller Implementation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You can CRUD custom resource objects, but no smoke-test logic is initiated without a controller.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 controller acts as a reconciliation process: it polls for new SmokeTest objects via the API server and executes the smoke test, sending results to the external service.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Controllers are typically written in Go or Python using a Kubernetes client library (e.g. client-go, kubernetes-client).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411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Defining and Interacting with a CRD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412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PREP · KEY TAKEAWAYS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 Essentials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You are not expected to implement a CRD schema yourself. Know how to discover and use them.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Use kubectl get crds to list installed CRDs, and kubectl api-resources --api-group=&lt;group&gt; to see their types.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Create objects from a CRD schema exactly as you would for built-in resources: kubectl apply -f &lt;manifest&gt;.yaml.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Controller implementations are out-of-scope for the CKAD exam.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413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Custom Resource Definitions (CRDs)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Extending the Kubernetes API by custom primitives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CustomResourceDefinition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API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Custom resource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instances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Controller / operator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reconciles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Custom Resource Definition (CRD)?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Extension point for introducing custom API primitives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Some use cases with custom requirements cannot be fulfilled with the built-in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Kubernetes primitives and functionality.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CRD allows you to define, create, and persist objects for one or many custom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primitives and expose them with the Kubernetes API.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CRDs are combined with controllers to make them actually useful. Controllers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interact with the API server and implement the custom logic. The combination of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CRDs and controllers is called the Operator pattern.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The Operator Pattern Consists of CRDs and Controllers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CRD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Smoke testing against a Service after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Requirement: An web-based application stack is deployed via a Deployment with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one or more than one replica. The Service object routes network traffic to the Pods.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Desired functionality: After the deployment happened, we want to run a quick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smoke test against the Service’s DNS name to ensure that application is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operational. The result of the smoke test will be sent to an external service for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purpose of rendering it on the UI dashboard.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Goal: Implement the Operator pattern (CRD and controller) for the use case.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CRD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Defines the schema for the custom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apiextensions.k8s.io/v1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CustomResourceDefinition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smoketests.stable.bmuschko.com   Combination of &lt;plural&gt;.&lt;group&gt;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group: stable.bmuschko.com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versions: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served: true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Versions supported by CRD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storage: true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schema: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openAPIV3Schema: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type: object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Custom Resource Object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Instantiation of CRD kind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  Group and Version of custom kind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stable.bmuschko.com/v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1 kind: SmokeTest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   Kind defined by CRD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backend-smoke-test   Attributes and values that make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   custom kind configurable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backend path: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/health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timeout: 600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retries: 3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the CRD and Custom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CRD object needs to be created before custom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35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98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apply -f loadtest-resource.yaml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customresourcedefinition.apiextensions.k8s.io/smoketests.stable.bmuschko.com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apply -f loadtest.yaml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smoketest.stable.bmuschko.com/backend-smoke-test created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Discovering CRDs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Once installed, you can list all available CRDs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api-resources --api-group=stable.bmuschko.com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SHORTNAMES   APIVERSION   NAMESPACED   KIND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smoketests   st  stable.bmuschko.com/v1 true   SmokeTest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crds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CREATED AT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smoketests.stable.bmuschko.com   2023-05-04T14:49:40Z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Controller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actual logic for smoke tests lives in the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You can interact with the custom resource object using CRUD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(create/read/update/delete) operations; however, no smoke test logic will actually be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initiated.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controller acts as a reconciliation process by inspecting the state through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API server. At runtime, it polls for new SmokeTest objects and sends the result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 external service.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Controllers can use one of the Kubernetes client libraries, written in Go or Python,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access custom resources.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GUARDRAILS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Govern Resource Consumption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ResourceQuota caps the aggregate resources a namespace can consume (pods, requests, limits).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LimitRange enforces per-container defaults, defaultRequests and maximums.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Without a LimitRange, Pods with no resource block are rejected in a quota-enforced namespace.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describe quota shows Used vs Hard — the primary troubleshooting view.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423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Pods and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Running and inspecting workload, organizing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Kubernetes cluster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Namespace: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733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Namespace: prod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26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Namespace: kube-system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Managing Resources for Objects and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It’s best practice to make a statement about resource consumption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Containers can define a minimum amount of resources needed to run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application, as well as the maximum amount of resources the application is allowed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to consume.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Application developers should determine the right-sizing with load tests or at runtime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by monitoring the resource consumption.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Enforcement of resources can be constrained on a namespace-level with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ResourceQuota.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LimitRange is a policy that constrains or defaults the resource allocations for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single object (e.g., for a Pod or PersistentVolumeClaim).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Resource Units in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CPU units and memory as fixed-point number or power-of-two equivalents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Kubernetes measures CPU resources in millicores and memory resources in bytes.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That’s why you might see resources defined as 600m or 100Mib.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For a deep dive on those resource units, it’s worth cross-referencing the section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“Resource units in Kubernetes” in the official documentation.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Definition and runtime effects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Containers can define a minimum amount of resources needed to run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application via spec.containers[].resources.requests.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Resource types include CPU, memory, huge page, ephemeral storage.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If Pod cannot be scheduled on any node due to insufficient resource availability, you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may see a PodExceedsFreeCPU or PodExceedsFreeMemory status.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Scheduling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Node’s resource capacity needs to be able to fulfill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 requests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cpu /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Scheduler filters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feasible nodes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Scores nodes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Binds Pod to node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Requests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YAML Attribute   Description   Example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CPU resource type   500m (five hundred millicpu)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s.cpu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Memory resource type   64Mi (2^26 bytes)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s.memory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Huge page resource type   hugepages-2Mi: 60Mi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s.hugepages-&lt;size&gt;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Ephemeral storage resource   4Gi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s.ephemeral-storage   type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Requests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Minimum amount of resources defined for a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rate-limiter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image: bmuschko/nodejs-business-app:1.0.0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containerPort: 8080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requests: memory: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"256Mi" cpu: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"1"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Definition and runtime effects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Containers can define a maximum amount of resources allowed to consumed by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application via spec.containers[].resources.limits.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Resource types include CPU, memory, huge page, ephemeral storage.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Container runtime decides how to handle situation where application exceeds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allocated capacity, e.g. termination of application process.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Requests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YAML Attribute   Description   Example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CPU resource type   500m (five hundred millicpu)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s.cpu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Memory resource type   64Mi (2^26 bytes)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s.memory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Huge page resource type   hugepages-2Mi: 60Mi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s.hugepages-&lt;size&gt;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Ephemeral storage resource   4Gi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s.ephemeral-storage   type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Limits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Do not allow more than the allotted resource amounts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rate-limiter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image: bmuschko/nodejs-business-app:1.0.0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containerPort: 8080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limits: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memory: "512Mi"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 "2"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Pod Scheduling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After scheduling a Pod, you can check on runtime 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pod rate-limiter -o yaml | grep nodeName: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nodeName: worker-3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describe node worker-3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Non-terminated Pods:   (3 in total)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 Name CPU Requests   CPU Limits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--------- ---- ------------   ----------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default   rate-limiter   1250m (62%)   0 (0%)   ...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Requests/Limits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It is considered best practice to define requests and limits for every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memory: "256Mi"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 "1"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limits: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memory: "512Mi"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 "2"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ResourceQuota?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Defines resource constraints per namespace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Constraints that limit aggregate resource consumption or limit the quantity of objects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(e.g., number of Pods or Secrets) that can be created.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requests.cpu/requests.memory: Across all pods in a non-terminal state,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sum of CPU/memory requests cannot exceed this value.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limits.cpu/limits.memory: Across all pods in a non-terminal state, the sum of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CPU/memory limits cannot exceed this value.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ResourceQuota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Limits # of objects and aggregate container resource consumption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ResourceQuota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awesome-quota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namespace: team-awesome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hard: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pods: 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requests.cpu: "1"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requests.memory: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1024Mi limits.cpu: "4"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limits.memory: 4096Mi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No Requests/Limits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Scheduler rejects the creation of the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nginx-pod.yaml -n team-awesome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Error from server (Forbidden): error when creating "nginx-pod.yaml":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 "nginx" is forbidden: failed quota: awesome-quota: must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specify  limits.cpu,limits.memory,requests.cpu,requests.memory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Exceeds Requests/Limits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Scheduler rejects the creation of the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nginx-pod.yaml -n team-awesome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Error from server (Forbidden): error when creating "nginx-pod.yaml":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 "nginx" is forbidden: exceeded quota: awesome-quota,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requested:  pods=1,requests.cpu=500m,requests.memory=512Mi, used: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pods=2,  requests.cpu=1,requests.memory=1024Mi, limited: pods=2,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requests.cpu=1,requests.memory=1024Mi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a ResourceQuota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Renders consumed resources and defined hard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describe resourcequota awesome-quota -n team-awesome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Name:   awesome-quot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Namespace   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Used Hard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:   team-awesome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---- ----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Resource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2   4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--------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2048m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limits.cpu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4096m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limits.memory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2   2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LimitRange?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Constraints or defaults the resource allocations for an object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Enforces minimum and maximum compute resources usage per Pod or container in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Enforces minimum and maximum storage request per PersistentVolumeClaim in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Enforces a ratio between request and limit for a resource in a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Set default requests/limits for compute resources in a namespace and automatically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injects them into containers at runtime.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LimitRange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Sets defaults, minimum and maximum CPU allocation for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LimitRange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cpu-resource-constraint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limits: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default: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 500m   Defines default limits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defaultRequest: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 500m   Defines default requests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max: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 "1"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min: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Automatically Uses Container Defaults for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Container doesn’t provide any resource requests/limits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-f pod.yaml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pod/rate-limiter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describe pod rate-limiter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: Limits: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500m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500m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Rejected Pod Creation for Exceeded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Requests a higher maximum for CPU resources than defined by LimitRange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-f pod.yaml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Error from server (Forbidden): error when creating "pod.yaml":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"rate-limiter" is forbidden: maximum cpu usage per Container is 1,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but limit is 2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QUOTAS &amp; LIMITS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ResourceQuota &amp; LimitRange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26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Quotas &amp; Limits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ResourceQuota caps the total resources used across a namespace; LimitRange enforces per-container defaults and maximums. CKAD tests both — write the YAML, apply them, and understand the rejection error messages.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Apply a ResourceQuota and a LimitRange, watch defaults get injected, then violate the max and the quota.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spec: · k run · for i · » ResourceQuota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445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ResourceQuota &amp; LimitRange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ResourceQuota: namespace-wide ceilings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367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hard: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pods: "5"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requests.cpu: "1"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requests.memory: 1Gi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limits.cpu: "2"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limits.memory: 2Gi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1703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LimitRange: per-container defaults and maximums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01083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01083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165091"/>
            <a:ext cx="10323576" cy="117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limits: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type: Container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default:        {cpu: 200m, memory: 256Mi}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defaultRequest: {cpu: 100m, memory: 128Mi}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max:            {cpu: 500m, memory: 512Mi}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446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ResourceQuota &amp; LimitRange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Defaults injected; max enforced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a --image=nginx:1.25 -n team-a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a -n team-a -o jsonpath='{.spec.containers[0].resources}'; echo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a container requesting cpu:1 is rejected: 'maximum cpu per Container is 500m'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Exceed the quota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for i in 1 2 3 4; do k run quota-$i --image=nginx:1.25 -n team-a; done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quota-5 --image=nginx:1.25 -n team-a   # 'exceeded quota: team-a-quota'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quota team-a-quota -n team-a       # Used vs Hard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ResourceQuota limits aggregate usage; exceeding it rejects new Pods. LimitRange enforces per-container min/max/defaults. Without a LimitRange, Pods with no resource block cannot be created in a quota-enforced namespace.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447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26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ResourceQuota &amp; LimitRange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 Pod with no resource block gets requests/limits injected by the LimitRange, the 6th Pod is rejected with exceeded quota, and describe quota shows Used vs Hard.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448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MANAGEMENT · OVERVIEW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Managing Resources for Objects and Namespaces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Containers should declare a minimum amount of resources needed (requests) and a maximum allowed (limits).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Application developers should right-size resources with load tests or by monitoring production consumption.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ResourceQuota enforces resource consumption at the namespace level.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LimitRange constrains or defaults resource allocations for individual objects (Pod, PVC).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449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MANAGEMENT · UNITS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 Units in Kubernetes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CPU is measured in millicores (m).  Example: 600m = 0.6 CPU cores.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Memory is measured in bytes using fixed-point numbers or power-of-two suffixes: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Ki = kibibytes  •  Mi = mebibytes  •  Gi = gibibytes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K = kilobytes   •  M = megabytes   •  G = gigabytes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Example: 256Mi = 268,435,456 bytes.  See the official docs for full details.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REQUESTS · DEFINITION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Requests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Containers declare a minimum amount of resources via spec.containers[].resources.requests.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 types: CPU, memory, huge pages, ephemeral storage.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scheduler uses requests to decide which node can run the Pod.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If no node has enough capacity → the Pod stays Pending with status PodExceedsFreeCPU or PodExceedsFreeMemory.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REQUESTS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Requests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Minimum resource amounts declared for a container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7706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7706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rate-limiter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business-app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bmuschko/nodejs-business-app:1.0.0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containerPort: 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requests: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memory: "256Mi"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cpu: "1"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LIMITS · DEFINITION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Limits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Containers declare a maximum amount of resources via spec.containers[].resources.limits.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 types: CPU, memory, huge pages, ephemeral storage.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container runtime enforces limits at runtime. Behaviour when exceeded: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CPU limit exceeded → process is throttled (not killed)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Memory limit exceeded → container may be OOMKilled (Out Of Memory)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LIMITS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Limits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Maximum resource amounts declared for a container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7706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7706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rate-limiter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business-app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bmuschko/nodejs-business-app:1.0.0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containerPort: 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limits: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memory: "512Mi"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cpu: "2"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MANAGEMENT · BEST PRACTICE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Requests &amp; Limits — Combined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It is best practice to define both requests and limits for every container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20827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2082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1168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business-app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bmuschko/nodejs-business-app:1.0.0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requests: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memory: "256Mi"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cpu: "1"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limits: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memory: "512Mi"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cpu: "2"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Defining Container Resource Requests and Limits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 DISCOVERY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Services?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Pod IPs are ephemeral — a Service gives a stable virtual IP and DNS name in front of matching Pods.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ClusterIP (default) is in-cluster only; NodePort opens a port on every node; LoadBalancer asks the cloud for an external IP.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Service finds its Pods by label selector; the matching set is tracked as EndpointSlices.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Empty Endpoints almost always means a selector/label mismatch — the most common Service bug.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THREE WAYS TO EXPOSE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Choosing a Service Type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ClusterIP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In-cluster only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Stable virtual IP + DNS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Default type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NodePort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Port on every node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30000–32767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Reachable from outside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LoadBalancer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Cloud external IP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Builds on NodePort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One Service, public entry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PORT MAPPING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Port Mapping — port, targetPort, nodePort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Three port fields: port (Service), targetPort (Pod container), nodePort (Node)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5831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5831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491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Service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web-svc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type: NodePort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app: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port: 80          # port clients use to reach the Service (ClusterIP)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targetPort: 8080   # port the container listens 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nodePort: 30080    # port opened on every Node (30000-32767)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         # omit nodePort for ClusterIP; not needed for LoadBalancer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73202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Expose a deployment as a Service in one command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5079492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07949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5143500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expose deployment web --port=80 --target-port=8080 --type=NodePort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svc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TYPE       CLUSTER-IP    PORT(S)      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web    NodePort   10.96.1.50    80:30080/TCP   5s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" name="Rectangle 3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DNS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 — How Pods Resolve Services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460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72800" cy="6858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10972800" cy="6858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&lt;service-name&gt;.&lt;namespace&gt;.svc.cluster.local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219456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web-svc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6FEB"/>
                </a:solidFill>
                <a:latin typeface="Arial" panose="020B0604020202020204"/>
              </a:rPr>
              <a:t>service
name</a:t>
            </a:r>
            <a:endParaRPr sz="1100" b="0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1752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514600"/>
            <a:ext cx="219456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production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17520" y="32004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0B981"/>
                </a:solidFill>
                <a:latin typeface="Arial" panose="020B0604020202020204"/>
              </a:rPr>
              <a:t>namespace</a:t>
            </a:r>
            <a:endParaRPr sz="1100" b="0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76072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514600"/>
            <a:ext cx="219456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svc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60720" y="32004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C3AED"/>
                </a:solidFill>
                <a:latin typeface="Arial" panose="020B0604020202020204"/>
              </a:rPr>
              <a:t>resource
type</a:t>
            </a:r>
            <a:endParaRPr sz="1100" b="0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81812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514600"/>
            <a:ext cx="219456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cluster.local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18120" y="32004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cluster
domain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97480" y="26060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40680" y="26060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98079" y="26060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98480" y="26060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" y="3840480"/>
            <a:ext cx="10972800" cy="19659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Short forms (within same namespace)</a:t>
            </a:r>
            <a:endParaRPr sz="13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2960" y="4297680"/>
            <a:ext cx="10332720" cy="16459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297680"/>
            <a:ext cx="82296" cy="164591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" y="4361688"/>
            <a:ext cx="1000353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From a pod in the SAME namespace — just use the service name: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http://web-svc/api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From a pod in a DIFFERENT namespace — include the namespace: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http://web-svc.production/api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Full FQDN always works: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http://web-svc.production.svc.cluster.local/api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460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LABEL SELECTOR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Selector Matches Pod Labels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461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2331720"/>
            <a:ext cx="3108960" cy="1458467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331720"/>
            <a:ext cx="82296" cy="1458467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395728"/>
            <a:ext cx="2779776" cy="1367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tier: 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port: 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targetPort: 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3200400"/>
            <a:ext cx="137160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60520" y="28346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matches</a:t>
            </a:r>
            <a:endParaRPr sz="12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0" y="1828800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1920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Pod A  ✓ Selected</a:t>
            </a:r>
            <a:endParaRPr sz="13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0" y="2286000"/>
            <a:ext cx="2560320" cy="7086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0" y="228600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8736" y="2350008"/>
            <a:ext cx="223113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app: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tier: 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0" y="4114800"/>
            <a:ext cx="2926080" cy="15544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206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Pod B  ✗ Not Selected</a:t>
            </a:r>
            <a:endParaRPr sz="13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669280" y="4526280"/>
            <a:ext cx="2560320" cy="521207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0" y="4526280"/>
            <a:ext cx="82296" cy="521207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8736" y="4590288"/>
            <a:ext cx="223113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app: frontend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4114800" y="2834640"/>
            <a:ext cx="1371600" cy="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60520" y="25146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0B981"/>
                </a:solidFill>
                <a:latin typeface="Arial" panose="020B0604020202020204"/>
              </a:rPr>
              <a:t>selects &amp;
routes to</a:t>
            </a:r>
            <a:endParaRPr sz="1000" b="0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686800" y="2560320"/>
            <a:ext cx="2926080" cy="50292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560320"/>
            <a:ext cx="29260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kubectl get endpoints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8680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 panose="020B0604020202020204"/>
              </a:rPr>
              <a:t>Lists the IPs of all matching Pods.
Empty = selector mismatch —
first place to debug!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COMPARISON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Quick Reference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Service Types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When to Use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ClusterIP (default): internal VIP, cluster-only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kubectl create service clusterip my-svc --tcp=80:8080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NodePort: extends ClusterIP + opens port 30000-32767 on every node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kubectl create service nodeport my-svc --tcp=80:8080 --node-port=30080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LoadBalancer: extends NodePort + provisions cloud LB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ExternalName: DNS CNAME alias to external hostname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 ClusterIP when only pods inside the cluster need access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 NodePort for simple external access without a cloud provider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 LoadBalancer in managed cloud environments (GKE, EKS, AKS)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Headless service (clusterIP: None): no VIP — direct pod DNS records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kubectl create service clusterip my-svc --clusterip=None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Check: kubectl get svc -A   |   kubectl describe svc &lt;name&gt;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462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Final Lab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Service?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Stable endpoint for routing traffic to a set of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Pod’s virtual IP address is not considered stable over time. A Pod restart leases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new IP address.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Building a microservices architecture on Kubernetes requires network endpoints that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are stable over time.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Service provides discoverable names and load balancing to a set of Pods.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Request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"How does a Service decide which Pod to forward the request to?"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label selector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Endpoints / EndpointSlice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matching Pod IPs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kube-proxy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forwards to a Pod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Port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"How to map the Service port to the container port in a Pod?"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port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Service 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targetPort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container port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nodePort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 every node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Service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Needs to provide the service type and 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--image=k8s.gcr.io/echoserver:1.10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--port=8080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Exposed container port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clusterip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--tcp=80:8080   Incoming and outgoing port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service/echoserver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--image=k8s.gcr.io/echoserver:1.10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Service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Needs to provide the service type and 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selector: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app: echoserver   Label selection for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port: 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targetPort: 8080   Mapping of incoming to outgoing port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protocol: TCP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Service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following table shows a limited list of Service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ClusterIP   Exposes the service on a cluster-internal 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Only reachable from Pods within the cluster.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Default if value for spec.type has not been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assigned in manifest.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Nodeport   Exposes the service on each node's 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at a static port. Accessible from outside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of the cluster.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LoadBalancer   Exposes the service externally using a cloud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provider’s load balancer.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Service Type Inheritance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Services build on top of each 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LoadBalancer — external load balancer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NodePort — static port on every node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ClusterIP — internal virtual IP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ClusterIP Service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Only reachable from within the cluster, e.g. another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Kubernetes cluster — ClusterIP reachable only inside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Client Pod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733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ClusterIP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26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Backend Pods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ClusterIP Service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ClusterIP Service YAML Manifest at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ClusterIP service type has been assigned if not already provided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spec.type: ClusterIP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spec.clusterIP assigned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spec.ports[].port / targetPort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1860" y="45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selector matches Pod labels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ClusterIP - Binding Pods to Services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NodePort Service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Can be resolved from outside of the Kubernetes cluster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External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NodeIP:nodePort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30000-32767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NodePort Service YAML Manifest at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Service type is NodePort, node port has been assigned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spec.type: NodePort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spec.ports[].nodePort: 31234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ClusterIP still assigned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Accessing a NodePort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Use the combination of node IP and statically-assigned 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curl NodeIP:31234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kube-proxy on the node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Backend Pod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LoadBalancer Service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Routes traffic from existing, external load balancer to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External load balancer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cloud provider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NodePort on each node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Troubleshooting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Built-in mechanisms for identifying the root cause of a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svc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type &amp; 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648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endpoints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any Pod IPs?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describe svc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selector &amp;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648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exec + curl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from inside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Checking Service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Identify Service Type and try to connect to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 $ kubectl get service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   TYPE   CLUSTER-IP   EXTERNAL-IP   PORT(S)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echoserve   ClusterI   10.96.254.0 &lt;none&gt;   8080/TCP 8s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   P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 $ kubectl run tmp --image=busybox --restart=Never -it --rm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 wget echoserver:8080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Connecting to echoserver (10.96.254.0:8080)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wget: can't connect to remote host (10.96.254.0:8080): Connection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refuse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 "tmp" deleted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 tmp terminated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(Error)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Connection attempt failed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Verifying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Value needs to expose targeted IP address and ports of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endpoints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ENDPOINTS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Indicates issues with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echoserver   &lt;none&gt;   63s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connection to Pods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endpoints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ENDPOINTS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echoserver   10.244.0.3:8080,10.244.0.4:808   63s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Proper configuration of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 provides virtual IP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address and ports to Pods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Checking Label Selection and Port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Value needs to expose targeted IP address and ports of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service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 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Namespace:   default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Labels:   svc=myservice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Selector:   app=echoserver   $ kubectl describe pod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Type:   ClusterIP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IP Family Policy:   Labels:   app=echoserver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SingleStack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IP Families:   IPv4   echoserver: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IP:   Port:   8080/TCP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10.111.148.223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IPs:   10.111.148.223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Port:   8080/TCP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TargetPort:   10.244.0.3:8080,10.244.0.4:8080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Checking Network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Does any network policy block ingress traffic to Pod?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networkpolicies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No resources found in default namespace.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networkpolicies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POD-SELECTOR AGE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default-deny-ingress   9s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Potentially blocks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ingress traffic to all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 in namespace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Ensuring Pod Functionality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Pod or container may have a runtime issue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echoserver   0/1   ErrImagePul   0   2s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Runnin   0   5s   Failed to pull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echoserver   1/1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 image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Looks successful 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surface-level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SERVICES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27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Services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Service gives a stable virtual IP and DNS name to a set of Pods. CKAD requires fluency with ClusterIP, NodePort and LoadBalancer types, kubectl expose, endpoint debugging and the selector-mismatch pattern.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Expose a Deployment as ClusterIP, NodePort and LoadBalancer, inspect EndpointSlices, then debug a selector mismatch.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expose · k patch · » ClusterIP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485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Backend Deployment + ClusterIP 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--image=nginx:1.25 --replicas=3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--port=80 --target-port=80 --name=web-cip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svc web-cip | grep -E "IP:|Endpoints:"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NodePort (a port on every node)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--port=80 --target-port=80 --type=NodePort --name=web-np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PORT=$(k get svc web-np -o jsonpath='{.spec.ports[0].nodePort}')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-s http://localhost:$PORT | head -3   # 30000-32767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LoadBalancer + EndpointSlices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--port=80 --type=LoadBalancer --name=web-lb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endpointslices -l kubernetes.io/service-name=web-cip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486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Debug a selector mismatch (the #1 Service bug)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svc web-cip -p '{"spec":{"selector":{"app":"does-not-exist"}}}'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endpoints web-cip        # empty = no Pod matches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svc web-cip -p '{"spec":{"selector":{"app":"web"}}}'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ClusterIP = in-cluster only; NodePort = a port on every node; LoadBalancer = a cloud LB. Empty Endpoints almost always means the selector does not match Pod labels. EndpointSlices (v1.21+) succeed Endpoints.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487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27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describe svc web-cip lists three endpoint IPs, the NodePort serves the page on localhost:$PORT, and a bad selector empties the Endpoints until it is fixed.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488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TROUBLESHOOTING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Troubleshooting Services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Built-in mechanisms for identifying the root cause of a failure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8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489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1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Checking Service Connectivity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Identify the Service type and attempt to connect to it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service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TYPE       CLUSTER-IP      EXTERNAL-IP  PORT(S)  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ClusterIP  10.96.254.0     &lt;none&gt;       8080/TCP   8s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Run a temporary Pod and attempt to reach the Service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run tmp --image=busybox --restart=Never -it --rm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 wget echoserver:8080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Connecting to echoserver (10.96.254.0:8080)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wget: can't connect to remote host (10.96.254.0:8080): Connection refused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 "tmp" deleted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2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Verifying Endpoints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No endpoints = label selector does not match any Pod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endpoints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ENDPOINTS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&lt;none&gt;     63s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Correct configuration exposes Pod IP addresses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endpoints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ENDPOINTS                        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10.244.0.3:8080,10.244.0.4:8080   63s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3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Checking Label Selection and Port Assignment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Inspect the Service — verify Selector and TargetPort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service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Name:     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Selector:  app=echoserver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Type:      ClusterIP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IP:        10.111.148.223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Port:      8080/TCP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TargetPort: 8080/TCP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Endpoints: 10.244.0.3:8080,10.244.0.4:8080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Compare with Pod labels — they must match the Selector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pod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Labels:  app=echoserver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echoserver: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Port: 8080/TCP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4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Checking Network Policies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Check for NetworkPolicies that may block ingress traffic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367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networkpolicies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No resources found in default namespace.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If policies exist, inspect them: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networkpolicies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           POD-SELECTOR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default-deny-ingress   &lt;none&gt;        9s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60730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 default-deny-ingress policy blocks ALL ingress — may need an allow rule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5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Ensuring Pod Functionality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Check Pod status — even 'Running' may hide container problems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READY  STATUS        RESTARTS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0/1    ErrImagePull  0         2s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After fix: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READY  STATUS   RESTARTS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1/1    Running  0         5s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Exec into the Pod or use logs to verify the application is actually serving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logs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exec -it echoserver -- wget -qO- localhost:8080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Troubleshooting a Service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PREP · KEY TAKEAWAYS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 Essentials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Service misconfiguration is a common failure. Any misconfiguration prevents traffic from reaching the target Pods.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Common causes: incorrect label selector (Service selector must match Pod labels), wrong port or targetPort assignment.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Use kubectl get endpoints &lt;service&gt; to verify the Service has resolved Pod IP:port pairs.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Check for NetworkPolicies that may block ingress traffic to the Pod.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Verify the Pod itself is healthy: check status, logs, and exec a test request from inside the cluster.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CLUSTER DNS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Names, Not IPs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CoreDNS gives every Service a name: &lt;service&gt;.&lt;namespace&gt;.svc.cluster.local.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Within the same namespace the short name resolves via the Pod's search list.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Cross-namespace you need at least &lt;service&gt;.&lt;namespace&gt;; the full FQDN always works.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headless Service (clusterIP: None) returns every Pod IP instead of a single virtual IP.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0" dirty="0"/>
              <a:t>Discovering</a:t>
            </a:r>
            <a:r>
              <a:rPr spc="-30" dirty="0"/>
              <a:t> </a:t>
            </a:r>
            <a:r>
              <a:rPr spc="130" dirty="0"/>
              <a:t>the</a:t>
            </a:r>
            <a:r>
              <a:rPr spc="-30" dirty="0"/>
              <a:t> </a:t>
            </a:r>
            <a:r>
              <a:rPr dirty="0"/>
              <a:t>Service</a:t>
            </a:r>
            <a:r>
              <a:rPr spc="-25" dirty="0"/>
              <a:t> </a:t>
            </a:r>
            <a:r>
              <a:rPr spc="125" dirty="0"/>
              <a:t>by</a:t>
            </a:r>
            <a:r>
              <a:rPr spc="-30" dirty="0"/>
              <a:t> </a:t>
            </a:r>
            <a:r>
              <a:rPr spc="-45" dirty="0"/>
              <a:t>DNS</a:t>
            </a:r>
            <a:r>
              <a:rPr spc="-30" dirty="0"/>
              <a:t> </a:t>
            </a:r>
            <a:r>
              <a:rPr spc="-10" dirty="0"/>
              <a:t>Lookup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Kubernetes’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DNS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maps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cluster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IP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address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name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7224" y="1814008"/>
            <a:ext cx="9799320" cy="1783080"/>
            <a:chOff x="607224" y="1814008"/>
            <a:chExt cx="9799320" cy="178308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7224" y="1814008"/>
              <a:ext cx="9799200" cy="1782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8665" y="1878433"/>
              <a:ext cx="9646920" cy="1630680"/>
            </a:xfrm>
            <a:custGeom>
              <a:avLst/>
              <a:gdLst/>
              <a:ahLst/>
              <a:cxnLst/>
              <a:rect l="l" t="t" r="r" b="b"/>
              <a:pathLst>
                <a:path w="7235190" h="1223010">
                  <a:moveTo>
                    <a:pt x="7235099" y="1222499"/>
                  </a:moveTo>
                  <a:lnTo>
                    <a:pt x="0" y="1222499"/>
                  </a:lnTo>
                  <a:lnTo>
                    <a:pt x="0" y="0"/>
                  </a:lnTo>
                  <a:lnTo>
                    <a:pt x="7235099" y="0"/>
                  </a:lnTo>
                  <a:lnTo>
                    <a:pt x="7235099" y="12224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58499" y="2076493"/>
            <a:ext cx="7338907" cy="5452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ourier New" panose="02070309020205020404"/>
                <a:cs typeface="Courier New" panose="02070309020205020404"/>
              </a:rPr>
              <a:t>$</a:t>
            </a:r>
            <a:r>
              <a:rPr sz="1200" b="1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kubectl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run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tmp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image=busybox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restart=Never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it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rm</a:t>
            </a:r>
            <a:r>
              <a:rPr sz="1200" b="1" spc="-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700" dirty="0">
                <a:latin typeface="Lucida Grande"/>
                <a:cs typeface="Lucida Grande"/>
              </a:rPr>
              <a:t>↵</a:t>
            </a:r>
            <a:endParaRPr sz="1300">
              <a:latin typeface="Lucida Grande"/>
              <a:cs typeface="Lucida Grande"/>
            </a:endParaRPr>
          </a:p>
          <a:p>
            <a:pPr marL="195580">
              <a:lnSpc>
                <a:spcPct val="100000"/>
              </a:lnSpc>
              <a:spcBef>
                <a:spcPts val="20"/>
              </a:spcBef>
            </a:pPr>
            <a:r>
              <a:rPr sz="1200" b="1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wget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9100" y="2361700"/>
            <a:ext cx="5127413" cy="28786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1275">
              <a:lnSpc>
                <a:spcPts val="1435"/>
              </a:lnSpc>
            </a:pPr>
            <a:r>
              <a:rPr sz="1200" b="1" spc="-10" dirty="0">
                <a:latin typeface="Courier New" panose="02070309020205020404"/>
                <a:cs typeface="Courier New" panose="02070309020205020404"/>
              </a:rPr>
              <a:t>echoserver.default.svc.cluster.local:8080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499" y="2585171"/>
            <a:ext cx="9055945" cy="519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latin typeface="Courier New" panose="02070309020205020404"/>
                <a:cs typeface="Courier New" panose="02070309020205020404"/>
              </a:rPr>
              <a:t>Connecting</a:t>
            </a:r>
            <a:r>
              <a:rPr sz="1200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to</a:t>
            </a:r>
            <a:r>
              <a:rPr sz="1200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echoserver.default.svc.cluster.local:8080</a:t>
            </a:r>
            <a:r>
              <a:rPr sz="1200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(10.96.254.0:8080)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435"/>
              </a:lnSpc>
            </a:pPr>
            <a:r>
              <a:rPr sz="1200" spc="-25" dirty="0">
                <a:latin typeface="Courier New" panose="02070309020205020404"/>
                <a:cs typeface="Courier New" panose="02070309020205020404"/>
              </a:rPr>
              <a:t>...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94245" y="2982805"/>
            <a:ext cx="2749127" cy="1639147"/>
            <a:chOff x="2794245" y="2982805"/>
            <a:chExt cx="2749127" cy="1639147"/>
          </a:xfrm>
        </p:grpSpPr>
        <p:sp>
          <p:nvSpPr>
            <p:cNvPr id="10" name="object 10"/>
            <p:cNvSpPr/>
            <p:nvPr/>
          </p:nvSpPr>
          <p:spPr>
            <a:xfrm>
              <a:off x="2848899" y="3110905"/>
              <a:ext cx="0" cy="822113"/>
            </a:xfrm>
            <a:custGeom>
              <a:avLst/>
              <a:gdLst/>
              <a:ahLst/>
              <a:cxnLst/>
              <a:rect l="l" t="t" r="r" b="b"/>
              <a:pathLst>
                <a:path h="616585">
                  <a:moveTo>
                    <a:pt x="0" y="616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4245" y="2982939"/>
              <a:ext cx="109307" cy="1406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62009" y="3110772"/>
              <a:ext cx="0" cy="1498600"/>
            </a:xfrm>
            <a:custGeom>
              <a:avLst/>
              <a:gdLst/>
              <a:ahLst/>
              <a:cxnLst/>
              <a:rect l="l" t="t" r="r" b="b"/>
              <a:pathLst>
                <a:path h="1123950">
                  <a:moveTo>
                    <a:pt x="0" y="11237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7355" y="2982805"/>
              <a:ext cx="109307" cy="14066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74365" y="3110965"/>
              <a:ext cx="855980" cy="1309792"/>
            </a:xfrm>
            <a:custGeom>
              <a:avLst/>
              <a:gdLst/>
              <a:ahLst/>
              <a:cxnLst/>
              <a:rect l="l" t="t" r="r" b="b"/>
              <a:pathLst>
                <a:path w="641985" h="982345">
                  <a:moveTo>
                    <a:pt x="641699" y="981899"/>
                  </a:moveTo>
                  <a:lnTo>
                    <a:pt x="0" y="9818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711" y="2982999"/>
              <a:ext cx="109308" cy="14066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107695" y="3983957"/>
            <a:ext cx="1483360" cy="318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Service</a:t>
            </a:r>
            <a:r>
              <a:rPr sz="14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name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12943" y="4088041"/>
            <a:ext cx="3869267" cy="905087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743075">
              <a:lnSpc>
                <a:spcPct val="100000"/>
              </a:lnSpc>
              <a:spcBef>
                <a:spcPts val="99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Resource</a:t>
            </a:r>
            <a:r>
              <a:rPr sz="14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type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spc="-10" dirty="0">
                <a:latin typeface="Arial" panose="020B0604020202020204"/>
                <a:cs typeface="Arial" panose="020B0604020202020204"/>
              </a:rPr>
              <a:t>Namespace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75081" y="2983097"/>
            <a:ext cx="1180253" cy="966047"/>
            <a:chOff x="5775081" y="2983097"/>
            <a:chExt cx="1180253" cy="966047"/>
          </a:xfrm>
        </p:grpSpPr>
        <p:sp>
          <p:nvSpPr>
            <p:cNvPr id="19" name="object 19"/>
            <p:cNvSpPr/>
            <p:nvPr/>
          </p:nvSpPr>
          <p:spPr>
            <a:xfrm>
              <a:off x="5829735" y="3111063"/>
              <a:ext cx="1112520" cy="825500"/>
            </a:xfrm>
            <a:custGeom>
              <a:avLst/>
              <a:gdLst/>
              <a:ahLst/>
              <a:cxnLst/>
              <a:rect l="l" t="t" r="r" b="b"/>
              <a:pathLst>
                <a:path w="834389" h="619125">
                  <a:moveTo>
                    <a:pt x="834073" y="618602"/>
                  </a:moveTo>
                  <a:lnTo>
                    <a:pt x="0" y="618602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5081" y="2983097"/>
              <a:ext cx="109305" cy="14096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056508" y="3754551"/>
            <a:ext cx="2269067" cy="318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Cluster-specific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suffix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SERVICE DNS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28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Service DNS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CoreDNS gives every Service a stable DNS name: &lt;service&gt;.&lt;namespace&gt;.svc.cluster.local. CKAD tests cross-namespace resolution, Pod DNS records, headless Services, and reading /etc/resolv.conf to understand ndots:5.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Resolve a Service by short name and FQDN, cross namespaces, read a Pod DNS record and /etc/resolv.conf, then a headless Service.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-n · nslookup web · cat /etc/resolv.conf · » FQDN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Resolve from the same namespace (short name)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-n app run client --image=busybox --restart=Never -it --rm --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sh -c 'nslookup web; wget -qO- web | head -3'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Resolve from a different namespace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web              # fails cross-namespace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web.app          # works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web.app.svc.cluster.local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Pod DNS record and resolv.conf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Pod A-record: &lt;dashed-ip&gt;.&lt;namespace&gt;.pod.cluster.local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cat /etc/resolv.conf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search app.svc.cluster.local svc.cluster.local 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ndots:5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500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Headless Service returns all Pod IPs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-n app create service clusterip headless --clusterip="None" --tcp=80:80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headless.app    # returns every Pod IP, not one VIP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FQDN = &lt;service&gt;.&lt;namespace&gt;.svc.cluster.local. Short names resolve via the search list within the namespace; cross-namespace needs &lt;service&gt;.&lt;namespace&gt;. ndots:5 is why short names check the search list before an absolute lookup. Headless (clusterIP: None) returns per-Pod IPs.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501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28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nslookup web works in-namespace but needs web.app cross-namespace, and the headless Service resolves to all backing Pod IPs.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502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Recap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an Ingress?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Route HTTP(S) traffic from the outside of the cluster to Service(s)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It’s not a specific Service type, nor should it be confused with the Service type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LoadBalancer.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Defines rules for mapping a URL context path to one or many Service objects.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TLS termination (support for HTTPS) needs to be configured explicitly. By default,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only HTTP is supported.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an Ingress Controller?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Evaluating Ingress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An Ingress cannot work without an Ingress controller. The Ingress controller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evaluates the collection of rules defined by an Ingress that determine traffic routing.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Multiple Ingress controller can be deployed to a cluster. An Ingress can be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configured to pick a specific one via spec.ingressClassName.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Ingress Traffic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context path is mapped to a backend (Service name and port)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/health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an Ingress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rule definition requires intricate knowledge of syntax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ingress corellian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--rule="star-alliance.com/corellian/api=corellian:8080"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ingress.networking.k8s.io/corellian created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Ingress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Allows for defining multiple rules that map to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networking.k8s.io/v1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Ingress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corellian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rules: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host: star-alliance.com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host definition is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http:   optional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paths: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backend: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corellian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Ingress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Traffic routing is controlled by rules defined on Ingress resource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   Example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An optional host   mycompany.abc.com   If a host is provided, then the rules apply to that host.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If no host is defined, then all inbound HTTP(S) traffic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 list of paths   /corellian/api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is handled.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 backend   corellian:8080   Incoming traffic must match the host and path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correctly forward the traffic to a Service.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 combination of Service name and port.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Path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Incoming requests match based on assigned type in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Path Type   Rule   Incoming Request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Exact   /corellian/api   Matches /corellian/api but does not match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/corellian/test or /corellian/api/.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Prefix   /corellian/api   Matches /corellian/api and /corellian/api/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but does not match /corellian/test.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Listing and Describing Ingresses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Renders hosts, IP addresses, and 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ingress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CLASS   HOSTS   ADDRESS   PORTS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corellian   &lt;none&gt;   star-alliance.com   192.168.64.15   80   10m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ingress corellian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  corellian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Namespace:   default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Address:   192.168.64.15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Default backend: default-http-backend:80 (&lt;error:  Rules:   endpoints "default-http-backend" not found&gt;)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Host   Path Backends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----   ---- --------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star-alliance.com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/corellian/api   corellian:8080 (172.17.0.5:8080)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Annotations:   &lt;none&gt;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Configuring DNS for an Ingress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Making an Ingress convenient to use by end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To resolve the Ingress, you’ll need to configure DNS entries to the external address.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You’ll need to either configure an A record, or a CNAME record. The ExternalDNS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cluster add-on can help with managing those DNS records for you.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If you have no domain or are using a local Kubernetes solution, you can add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mapping between IP address and domain name to /etc/hosts.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Accessing an Ingress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Use host name, port, and context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wget star-alliance.com/corellian/api --timeout=5 --tries=1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--2021-11-30 19:34:57-- http://star-alliance.com/corellian/api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Resolving star-alliance.com (star-alliance.com)... 192.168.64.15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Connecting to star-alliance.com (star-alliance.com)|192.168.64.15|:80...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connected.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HTTP request sent, awaiting response... 200 OK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wget star-alliance.com/corellian/api/ --timeout=5 --tries=1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--2021-11-30 15:36:26-- http://star-alliance.com/corellian/api/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Resolving star-alliance.com (star-alliance.com)... 192.168.64.15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Connecting to star-alliance.com (star-alliance.com)|192.168.64.15|:80...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connected.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HTTP request sent, awaiting response... 404 Not Found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2021-11-30 15:36:26 ERROR 404: Not Found.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INGRESS &amp; TLS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29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Ingress &amp; TLS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An Ingress provides Layer-7 HTTP/HTTPS routing: hostname and path rules forwarding to backend Services. CKAD tests installing a controller, TLS Secrets, host routing and path-based routing with pathType.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Install ingress-nginx, create a TLS Secret, write a host+TLS Ingress, test HTTPS, then add a path-based rule.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apiVersion: networking.k8s.io/v1 · curl -k · » Ingress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514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Backend Service + TLS Secret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--image=hashicorp/http-echo --replicas=2 -- -text=hello-ingress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--port=5678 --target-port=5678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tls demo-tls --cert=tls.crt --key=tls.key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515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Ingress with TLS and host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 {name: demo}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ingressClassName: nginx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hosts: [demo.local]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secretName: demo-tls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host: demo.local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http: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paths: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path: /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pathType: Prefix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backend: {service: {name: web, port: {number: 5678}}}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516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Test HTTPS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-k --resolve demo.local:$HTTPS_PORT:127.0.0.1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https://demo.local:$HTTPS_PORT/        # hello-ingress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Add path-based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add a second rule: path /v2 -&gt; service v2:5678 (pathType: Prefix)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-k --resolve demo.local:$HTTPS_PORT:127.0.0.1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https://demo.local:$HTTPS_PORT/v2       # hello-v2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Ingress apiVersion is networking.k8s.io/v1. ingressClassName selects the controller; tls.secretName must point at a kubernetes.io/tls Secret; pathType: Prefix matches a path and everything below it. --resolve + -k let curl test without real DNS or a valid cert.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517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curl https://demo.local:$HTTPS_PORT/ returns hello-ingress over TLS, and the /v2 path returns hello-v2 after the second rule is added.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518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Network Policies Restricting Pod-to-Pod communication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MOTIVATION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Ingress? Services vs Ingress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 panose="020B0604020202020204"/>
              </a:rPr>
              <a:t>Without Ingress (Services only)</a:t>
            </a:r>
            <a:endParaRPr sz="16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With Ingress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One Service = one IP/port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LoadBalancer Service = one cloud LB per service (expensive)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 SSL/TLS termination at Service level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 host/path-based routing with Services alone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Many services = many public IPs to manage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Single entry point for all HTTP(S) traffic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L7 routing: route by hostname or URL path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example.com/api  →  api-service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example.com/web  →  web-service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TLS termination: one cert handles all services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Requires an IngressController (nginx, traefik, AWS ALB…)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1" name="Rectangle 30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ARCHITECTURE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— L7 Routing Architecture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600200" cy="10058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Arial" panose="020B0604020202020204"/>
              </a:rPr>
              <a:t>Internet</a:t>
            </a:r>
            <a:endParaRPr sz="10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12801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 panose="020B0604020202020204"/>
              </a:rPr>
              <a:t>HTTPS :443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2743200"/>
            <a:ext cx="914400" cy="0"/>
          </a:xfrm>
          <a:prstGeom prst="line">
            <a:avLst/>
          </a:prstGeom>
          <a:ln w="25400">
            <a:solidFill>
              <a:srgbClr val="F59E0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71800" y="201168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1031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Ingress Controller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54680" y="24505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 panose="020B0604020202020204"/>
              </a:rPr>
              <a:t>Reads Ingress rules,
terminates TLS,
proxies requests</a:t>
            </a:r>
            <a:endParaRPr sz="1100" b="0">
              <a:solidFill>
                <a:srgbClr val="161B26"/>
              </a:solidFill>
              <a:latin typeface="Arial" panose="020B0604020202020204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532120" y="2743200"/>
            <a:ext cx="86868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32120" y="242316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 panose="020B0604020202020204"/>
              </a:rPr>
              <a:t>routes</a:t>
            </a:r>
            <a:endParaRPr sz="10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1691640"/>
            <a:ext cx="5212080" cy="41148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7830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Ingress Rules  (host + path → service)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3680" y="2148840"/>
            <a:ext cx="4754880" cy="530352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148840"/>
            <a:ext cx="4754880" cy="53035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 panose="020B0604020202020204"/>
              </a:rPr>
              <a:t>/api  →  api-service:8080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0" y="2788920"/>
            <a:ext cx="4754880" cy="530352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788920"/>
            <a:ext cx="4754880" cy="53035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 panose="020B0604020202020204"/>
              </a:rPr>
              <a:t>/web  →  web-service:80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0" y="3429000"/>
            <a:ext cx="4754880" cy="530352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429000"/>
            <a:ext cx="4754880" cy="53035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 panose="020B0604020202020204"/>
              </a:rPr>
              <a:t>admin.example.com  →  admin-service:9000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971800" y="3977639"/>
            <a:ext cx="2560320" cy="50292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977639"/>
            <a:ext cx="25603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0">
                <a:solidFill>
                  <a:srgbClr val="1F6FEB"/>
                </a:solidFill>
                <a:latin typeface="Arial" panose="020B0604020202020204"/>
              </a:rPr>
              <a:t>TLS terminates here — upstream is plain HTTP</a:t>
            </a:r>
            <a:endParaRPr sz="1100" b="0">
              <a:solidFill>
                <a:srgbClr val="1F6FE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YAML — Anatomy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Path-based routing for two services on the same host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44577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44577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366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app-ingress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annotations: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nginx.ingress.kubernetes.io/rewrite-target: /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ingressClassName: nginx          # which IngressController to use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hosts: [example.com]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secretName: tls-secret          # kubectl create secret tls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host: example.com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http: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paths: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path: /api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pathType: Prefix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backend: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service: {name: api-svc, port: {number: 8080}}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path: 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pathType: Prefix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backend: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service: {name: web-svc, port: {number: 80}}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INGRESSCLASS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IngressClass and IngressController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An IngressController is a running Pod (e.g. nginx, traefik) that reads Ingress rules and configures its proxy.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An IngressClass links an Ingress resource to a specific IngressController.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spec.ingressClassName: nginx  →  handled by the nginx IngressController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If only one IngressClass exists it can be marked as default (isDefaultClass: true).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Check available classes:  kubectl get ingressclass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CKAD exam: IngressClass is usually pre-configured — just reference it in your Ingress spec.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Troubleshoot:  kubectl describe ingress &lt;name&gt;  — check Events for routing errors.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L7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One Entry Point, Many Rules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An Ingress defines host- and path-based HTTP/HTTPS rules that forward to backend Services.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An Ingress controller (e.g. ingress-nginx) must be running; ingressClassName selects it.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TLS terminates at the controller — tls.secretName points at a kubernetes.io/tls Secret.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pathType: Prefix matches a path and everything below it; Exact requires an exact match.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apiVersion is networking.k8s.io/v1 (extensions/v1beta1 was removed in 1.22).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 ISOLATION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Restrict the Default Open Network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By default every Pod can talk to every other Pod — NetworkPolicies allow-list specific traffic.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Default-deny: podSelector: {} with policyTypes:[Ingress] and no ingress rules blocks all inbound.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Allow by podSelector (Pods by label) or namespaceSelector (whole namespaces) in from/to.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Egress works the same way — the classic exam pattern is 'deny all egress except DNS (port 53)'.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Policies are additive: multiple policies combine with logical OR on their allow rules.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Rectangle 2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NETWORKPOLICY · DEFAULT OPEN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Default: All Pods Can Communicate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155680" cy="429768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 panose="020B0604020202020204"/>
              </a:rPr>
              <a:t>Namespace (no NetworkPolicy)</a:t>
            </a:r>
            <a:endParaRPr sz="11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frontend
:3000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4048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33172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backend
:8080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6656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33172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database
:5432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41832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33172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cache
:6379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560320" y="2706624"/>
            <a:ext cx="64008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200400" y="2779776"/>
            <a:ext cx="64008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86400" y="2706624"/>
            <a:ext cx="64008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126480" y="2779776"/>
            <a:ext cx="64008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12480" y="2706624"/>
            <a:ext cx="50292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915400" y="2779776"/>
            <a:ext cx="50292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0" y="32461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any pod  ↔  any pod  ↔  any port</a:t>
            </a:r>
            <a:endParaRPr sz="13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4360" y="4663440"/>
            <a:ext cx="10698480" cy="5029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663440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F59E0B"/>
                </a:solidFill>
                <a:latin typeface="Arial" panose="020B0604020202020204"/>
              </a:rPr>
              <a:t>Without NetworkPolicy: every Pod can reach every other Pod on any port — no isolation</a:t>
            </a:r>
            <a:endParaRPr sz="1300" b="0">
              <a:solidFill>
                <a:srgbClr val="F59E0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" name="Rectangle 2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NETWORKPOLICY · INGRESS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— Restrict Ingress Traffic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155680" cy="31089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 panose="020B0604020202020204"/>
              </a:rPr>
              <a:t>Namespace: production</a:t>
            </a:r>
            <a:endParaRPr sz="11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28600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untrusted
Pod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23160" y="2578608"/>
            <a:ext cx="1371600" cy="164592"/>
          </a:xfrm>
          <a:prstGeom prst="roundRect">
            <a:avLst>
              <a:gd name="adj" fmla="val 6000"/>
            </a:avLst>
          </a:prstGeom>
          <a:solidFill>
            <a:srgbClr val="FFDDDD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C0000"/>
                </a:solidFill>
                <a:latin typeface="Arial" panose="020B0604020202020204"/>
              </a:rPr>
              <a:t>✗ blocked</a:t>
            </a:r>
            <a:endParaRPr sz="1000" b="1">
              <a:solidFill>
                <a:srgbClr val="CC0000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94760" y="228600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2286000"/>
            <a:ext cx="18288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database
(protected)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0" y="228600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28600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backend
Pod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5623560" y="2679192"/>
            <a:ext cx="1234440" cy="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0" y="24231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 panose="020B0604020202020204"/>
              </a:rPr>
              <a:t>✓ allowed</a:t>
            </a:r>
            <a:endParaRPr sz="10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4846320"/>
            <a:ext cx="10972800" cy="18333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846320"/>
            <a:ext cx="82296" cy="183337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4910328"/>
            <a:ext cx="1064361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NetworkPolicy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 {matchLabels: {app: database}}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 [Ingress]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podSelector: {matchLabels: {role: backend}}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port: 5432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NETWORKPOLICY · EGRESS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— Restrict Egress Traffic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Allow backend to reach only the database (port 5432) — block everything else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42702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4270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NetworkPolicy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backend-egress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namespace: production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matchLabels: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role: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Egress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to: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matchLabels: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app: database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protocol: TCP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port: 5432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ports:                   # allow DNS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protocol: UDP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port: 53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NETWORKPOLICY · PATTERNS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Patterns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Default-deny ingress: select all pods, no ingress rules → blocks all incoming traffic.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kind: NetworkPolicy  spec: podSelector: {}  policyTypes: [Ingress]  ingress: []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Default-deny egress: select all pods, no egress rules → blocks all outgoing traffic.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kind: NetworkPolicy  spec: podSelector: {}  policyTypes: [Egress]  egress: []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Always allow DNS (port 53 UDP) in egress rules, or pods cannot resolve service names.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namespaceSelector: target all pods in a specific namespace (e.g. monitoring).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ipBlock: allow/deny traffic to/from external CIDRs (e.g. 192.168.0.0/16).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Network Policy?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Firewall rules for Pod-to-Pod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installed Container Network Interface (CNI) plugin leases and assigns a new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virtual IP address to every Pod when it is created.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Communication between Pods within the same cluster is unrestricted. You can use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Pod’s IP address to communicate with 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Network policies implement the principle of least privilege. Only allow Pods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communicate if it is needed to fulfill the requirements of architecture.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You can disallow and allow network communication with coarse-grained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fine-grained rules.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an Network Policy Controller?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Evaluating Network Policy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Network Policy cannot work without a Network Policy controller. The Network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Policy controller evaluates the collection of rules defined by a Network Policy.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One option for such a Network Policy controller is Cilium.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Network Policy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Key-value pairs can be parsed from different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networking.k8s.io/v1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NetworkPolicy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api-allow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podSelector:   Selects the Pod the policy should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matchLabels:   apply to by label selection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app: payment-processor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role: api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Allows incoming traffic from the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ingress: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from:   Pod with matching labels within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podSelector:   the same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matchLabels: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Network Policy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Attributes that form the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Attribute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podSelector   Selects the Pods in the namespace to apply the network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policy to.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policyTypes   Defines the type of traffic (i.e., ingress and/or egress)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network policy applies to.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ingress   Lists the rules for incoming traffic. Each rule can define from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and ports sections.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egress   Lists the rules for outgoing traffic. Each rule can define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and ports sections.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Behavior of to and from Selectors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Ingress and egress sections define the same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Attribute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podSelector   Selects Pods by label(s) in the same namespace as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Network Policy which should be allowed as ingress sources 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egress destinations.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namespaceSelector   Selects namespaces by label(s) for which all Pods should be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allowed as ingress sources or egress destinations.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namespaceSelector and   Selects Pods by label(s) within namespaces by label(s).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podSelector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Network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Restricting access to the payment processor Pod from other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Namespace — default deny, then allow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Frontend 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allowed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733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Payment 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protected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26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Other 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denied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Listing Network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Doesn’t provide much details apart from Pod selector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9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5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networkpolicy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POD-SELECTOR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api-allow app=payment-processor,role=api   83m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Rendering Network Policy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Ingress and egress rules can be inspected in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networkpolicy api-allow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  api-allow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Namespace:   default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Created on:   2020-09-26 18:02:57 -0600 MDT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Labels: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Annotations: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PodSelector:   app=payment-processor,role=api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Allowing ingress traffic: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To Port: &lt;any&gt; (traffic allowed to all ports)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From: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PodSelector: app=coffeeshop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Not affecting egress traffic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Policy Types: Ingress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Verifying the Runtime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Communication from Pods not matching with labels will be blocked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grocery-store --rm -it --image=busybox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-l app=grocery-store,role=backend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 # wget --spider --timeout=1 10.0.0.51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Connecting to 10.0.0.51 (10.0.0.51:80)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wget: download timed out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 # exit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 "grocery-store" deleted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coffeeshop --rm -it --image=busybox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-l app=coffeeshop,role=backend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 # wget --spider --timeout=1 10.0.0.51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Connecting to 10.0.0.51 (10.0.0.51:80)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remote file exists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 # exit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 "coffeeshop" deleted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Default Deny Network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Network policies are additive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networking.k8s.io/v1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NetworkPolicy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default-deny-all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Selects all Pods in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podSelector: {}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policyTypes:   the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Ingress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Egress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Applies in incoming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and outgoing traffic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Restricting Access to 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By default, all ports are accessible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networking.k8s.io/v1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NetworkPolicy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port-allow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podSelector: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matchLabels: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app: backend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ingress: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from: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podSelector: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matchLabels: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Only allow incoming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Scenario-Based Learning Resource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Exercising use cases for Network Policies is helpful with understanding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5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 https://github.com/ahmetb/kubernetes-network-policy-recipes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Visualizing and Analysing a Network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page networkpolicy.io provides policy editor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Write NetworkPolicy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Visualise on networkpolicy.io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Confirm allowed / denied flows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NETWORKPOLICY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30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NetworkPolicy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By default every Pod can talk to every other Pod. NetworkPolicies allow-list specific sources and destinations. CKAD regularly includes a NetworkPolicy question — you must write a default-deny and a selective-allow policy from scratch.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Apply default-deny ingress, a selective podSelector allow, an egress DNS-only lockdown, then a cross-namespace allow.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spec: · ingress: · » Default-deny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543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Egress lockdown: allow DNS only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 {matchLabels: {role: blocked}}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 [Egress]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to: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namespaceSelector: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podSelector: {matchLabels: {k8s-app: kube-dns}}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 [{protocol: UDP, port: 53}, {protocol: TCP, port: 53}]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Cross-namespace allow (namespaceSelector)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288535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88535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52543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namespaceSelector: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matchLabels: {purpose: trusted}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544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Default-deny = podSelector: {} + policyTypes: [Ingress] with no ingress list. podSelector in from matches Pods by label in the same namespace; namespaceSelector matches whole namespaces. Policies are additive — multiple policies combine with logical OR.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545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After the allow policy, client-ok (role=allowed) reaches the backend while client-bad stays blocked, proving the NetworkPolicy is enforced.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546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COURSE COMPLETE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All five CKAD domains complete.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Design &amp; build · Deployment · Observability · Config &amp; Security · Services &amp; Networking.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547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MOCK EXAM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Mock-Exam Practice — from 1:00 PM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Practise on killer.sh / Killercoda before the graded assessment · ask questions freely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548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PRACTICE EXAM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Take the Online CKAD Practice Exams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29200" cy="4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Reinforce all five CKAD domains with realistic, exam-style questions before exam day.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3 full practice exams · 65 questions · 120-minute timer · 66% pass mark — aligned to CNCF CKAD v1.35.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Practice mode reveals the answer and a full explanation after each question; Exam mode mirrors the real timed test.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Start free with the practice teaser — no credit card required; sign in to unlock the full bundle.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Sign up and practise at: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exams.tertiaryinfotech.com/practice-exams/linuxfoundation/linuxfoundation-ckad</a:t>
            </a:r>
            <a:endParaRPr sz="1500" b="1">
              <a:solidFill>
                <a:srgbClr val="1F6FEB"/>
              </a:solidFill>
              <a:latin typeface="Arial" panose="020B0604020202020204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60500"/>
            <a:ext cx="5943600" cy="4179000"/>
          </a:xfrm>
          <a:prstGeom prst="rect">
            <a:avLst/>
          </a:prstGeom>
        </p:spPr>
      </p:pic>
      <p:sp>
        <p:nvSpPr>
          <p:cNvPr id="9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6F3A1B22-9A4C-4E7B-AC10-1D2E3F405160}" type="slidenum">
              <a:rPr sz="900" b="1">
                <a:solidFill>
                  <a:srgbClr val="5B6372"/>
                </a:solidFill>
                <a:latin typeface="Arial" panose="020B0604020202020204"/>
              </a:rPr>
            </a:fld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THANK YOU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Thank you — and good luck with the CKAD exam!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Keep practising on killer.sh and Killercoda; the exam is 2 hours, 100% hands-on.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550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TRAQOM · SSG DIGITAL ATTENDANCE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Digital Attendance (Mandatory)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It is mandatory to take the AM, PM and Assessment digital attendance for WSQ-funded courses.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The trainer displays the digital attendance QR code from the SSG portal.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Scan the QR code with your phone camera and submit your attendance.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 minimum of 75% attendance is required for assessment and funding.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Minimum 75%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attendance required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551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ASSESSMENT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Briefing for 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Clear your space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Keep only approved materials on the table.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No recording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photos of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Work individually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discussion during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Use the LMS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The assessment is delivered online.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Open book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Slides, Learner Guide &amp; kubernetes.io are allowed.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Time's up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Submit when time is up.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552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the Assessment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731520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  ·  Digital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Scan the SSG QR</a:t>
            </a:r>
          </a:p>
        </p:txBody>
      </p:sp>
      <p:sp>
        <p:nvSpPr>
          <p:cNvPr id="10" name="Chevron 9"/>
          <p:cNvSpPr/>
          <p:nvPr/>
        </p:nvSpPr>
        <p:spPr>
          <a:xfrm>
            <a:off x="2807208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  · 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Rules, timing, open book</a:t>
            </a:r>
          </a:p>
        </p:txBody>
      </p:sp>
      <p:sp>
        <p:nvSpPr>
          <p:cNvPr id="13" name="Chevron 12"/>
          <p:cNvSpPr/>
          <p:nvPr/>
        </p:nvSpPr>
        <p:spPr>
          <a:xfrm>
            <a:off x="4882896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8696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  ·  WA (SAQ)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Written · 1 hour</a:t>
            </a:r>
          </a:p>
        </p:txBody>
      </p:sp>
      <p:sp>
        <p:nvSpPr>
          <p:cNvPr id="16" name="Chevron 15"/>
          <p:cNvSpPr/>
          <p:nvPr/>
        </p:nvSpPr>
        <p:spPr>
          <a:xfrm>
            <a:off x="6958584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4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  · 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Practical · 1 hour</a:t>
            </a:r>
          </a:p>
        </p:txBody>
      </p:sp>
      <p:sp>
        <p:nvSpPr>
          <p:cNvPr id="19" name="Chevron 18"/>
          <p:cNvSpPr/>
          <p:nvPr/>
        </p:nvSpPr>
        <p:spPr>
          <a:xfrm>
            <a:off x="9034272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  ·  Submit on 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Before time is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20440"/>
            <a:ext cx="109728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SIGN-OFF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Trainer 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Against the WSQ marking guide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 every K and A criterion.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4330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762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Result recorded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762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Competent / Not Yet Competent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entered on the LMS.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Learner signs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sign the Assessment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Summary Record.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6686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118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Assessor signs 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118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Trainer signs and submits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record to SSG.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852160"/>
            <a:ext cx="1097280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85216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Assessed as Competent  =  </a:t>
            </a:r>
            <a:r>
              <a:rPr sz="1100" b="0">
                <a:solidFill>
                  <a:srgbClr val="5B6372"/>
                </a:solidFill>
                <a:latin typeface="Arial"/>
              </a:rPr>
              <a:t>minimum 75% attendance  ·  pass the WA (SAQ)  ·  pass the Practical 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553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FINAL ASSESSMENT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 panose="020B0604020202020204"/>
              </a:rPr>
              <a:t>Final Assessment</a:t>
            </a:r>
            <a:endParaRPr sz="1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Written Assessment (SAQ) 1 hour  +  Practical Performance 1 hour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Mock-exam practice from 1:30 PM; final assessment from 2:00 PM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Covers all five CKAD domains and the hands-on labs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Open book — slides, Learner Guide &amp; kubernetes.io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Must be attempted for SSG funding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 panose="020B0604020202020204"/>
              </a:rPr>
              <a:t>Funding &amp; Competency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Minimum 75% attendance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Based on SSG digital attendance records.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Assessed as Competent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Pass the Written Assessment (SAQ) and the Practical Performance.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554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35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THANK YOU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Thank you — and good luck with the CKAD exam!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Keep practising on killer.sh and Killercoda; the exam is 2 hours, 100% hands-on.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