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Mohan Pothula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Kubernetes &amp; Cloud-Native Trainer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Kubernetes &amp; DevOps trainer at Tertiary Infotech Academy.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Certified Kubernetes Application Developer (CKAD) · CKA · Docker Certified Associate · AWS Solutions Architect.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· Docker · CI/CD · Cloud-native platform engineering.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20+ years across DBS Bank, SingTel, Mediacorp and SPH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[ Trainer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[ Title / Role ]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Contact / Profile: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Take a minute to introduce yourself to the class: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pers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Any experience with Docker, Kubernetes or the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Whether you are targeting the CKAD exam or production skills.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Phones on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your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g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 actively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question is too small — ask freely.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g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Mutual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g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Step out quietly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calls or short breaks.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gr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75% attendance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3½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Domain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Design &amp; Build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Container images &amp; multi-stage builds (Labs 1–2)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Pods, Jobs &amp; CronJobs (Labs 3–5)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Multi-container Pods &amp; Volumes (Labs 6–8)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Domain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Deployments, ReplicaSets &amp; rollouts (Labs 9–10)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Blue/green &amp; canary (Labs 11–12)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Helm, Kustomize, Daemon/StatefulSet (Labs 13–15)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3 · Domains 3 &amp;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Probes, logging, metrics, debug (Labs 16–20)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ConfigMaps, Secrets, SecurityContext (Labs 21–23)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ServiceAccounts, RBAC, Quotas (Labs 24–26)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4 (½) · Domain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Services &amp; Networking + Assessment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Services &amp; Service DNS (Labs 27–28)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Ingress with TLS &amp; NetworkPolicy (Labs 29–30)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1:00 PM mock-exam practice, then final assessment from 2:00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/>
              </a:rPr>
              <a:t>9:00am – 6:00pm   ·   1-hour lunch   ·   short tea breaks within each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/>
              </a:rPr>
              <a:t>Build and optimise container images with single- and multi-stage Dockerfiles.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/>
              </a:rPr>
              <a:t>Create and manage Pods imperatively and declaratively with kubectl and --dry-run.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/>
              </a:rPr>
              <a:t>Run batch workloads with Jobs and scheduled workloads with CronJobs.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/>
              </a:rPr>
              <a:t>Design multi-container Pods using the sidecar and init-container patterns.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/>
              </a:rPr>
              <a:t>Persist and share Pod data with emptyDir, tmpfs and hostPath volumes.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/>
              </a:rPr>
              <a:t>Deploy, scale, observe, secure and network applications across the five CKAD domains.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Design and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Images · Pods · Jobs · CronJobs · Multi-container · Volumes  (CKAD Domain 1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Container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Dockerfiles, image layers &amp; multi-stage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Container Images?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image is a read-only blueprint that packages your app with all its dependencies.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container is a running instance of an image — it starts in milliseconds.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Kubernetes never builds images; it pulls them from a registry by name:tag and runs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CKAD expects you to read, write and fix Dockerfiles under time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INSTRUCTION = ONE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Base &amp;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FROM — pick a small, pinned base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WORKDIR — set the working 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COPY / ADD — bring files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 — install dependencies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Each line = one cached layer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 steps for cache reuse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EXPOSE — document the 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ENV — runtime configuration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CMD / ENTRYPOINT — what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IMAGES · BUILD → SHIP →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Image to a Running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011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1792224" cy="1673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Dockerfile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FROM · WORKDIR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COPY · RUN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EXPOSE · CMD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33172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31720"/>
            <a:ext cx="2011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 (layers)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990088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3236976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3483864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3730752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>
            <a:off x="6858000" y="2532888"/>
            <a:ext cx="1188720" cy="1005840"/>
          </a:xfrm>
          <a:prstGeom prst="can">
            <a:avLst/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630168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04488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Docker Hub · GHCR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33172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496312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898648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315468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42900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app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52928" y="2994660"/>
            <a:ext cx="694944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8" y="2286000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docker build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687568" y="2994660"/>
            <a:ext cx="694944" cy="4572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8968" y="2286000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docker push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22208" y="2994660"/>
            <a:ext cx="694944" cy="457200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2286000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kubectl apply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never builds images — it </a:t>
            </a:r>
            <a:r>
              <a:rPr sz="1300" b="1">
                <a:solidFill>
                  <a:srgbClr val="161B26"/>
                </a:solidFill>
                <a:latin typeface="Arial"/>
              </a:rPr>
              <a:t>pulls them from a registry by name:tag</a:t>
            </a:r>
            <a:r>
              <a:rPr sz="1300" b="0">
                <a:solidFill>
                  <a:srgbClr val="5B6372"/>
                </a:solidFill>
                <a:latin typeface="Arial"/>
              </a:rPr>
              <a:t> and runs them inside a Pod.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SHRINK THE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Single-Stage vs Multi-Stage Builds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Single-stage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Multi-stage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One FROM — build + runtime together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Ships the whole toolchain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Large image (~800 MB for Go)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Bigger attack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Multiple FROM stages with AS &lt;name&gt;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COPY --from=builder copies only the binary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Tiny image (~8 MB, distroless)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 shell, no package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IMAGES · ONE DOCKERFILE, TWO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Build — Shrink the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1 — builder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golang:1.22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WORKDIR /src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. 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go build -o /server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Ships compiler + source + modules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2926080"/>
            <a:ext cx="1691640" cy="8229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COPY --from=builder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the binary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2 —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gcr.io/distroless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--from=builder /server /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ENTRYPOINT ["/server"]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shell · no package manager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Just your binary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~800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B981"/>
                </a:solidFill>
                <a:latin typeface="Arial"/>
              </a:rPr>
              <a:t>~8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from scratch, build a tagged image, run it locally and inspect its layers. CKAD expects you to read and write Dockerfiles confidently — you may be asked to fix a broken one or produce one under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Write a Dockerfile, build and tag an image, run it, then inspect its layers with docker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python:3.12-slim · » `EXPOSE` · docker build · docker run · docker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Write the 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python:3.12-slim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app.py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EXPOSE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["python", "app.py"]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EXPOSE is documentation only — it does not publish the port. -p host:container is what actually opens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3824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Build and tag the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2229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2229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68629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-t ckad/hello:1.0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ckad/hello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Run and test the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run -d --name hello -p 8080:8080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http://localhost:8080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the image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history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rm -f hello &amp;&amp; docker rmi ckad/hello:1.0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http://localhost:8080 returns hello from CKAD 2026 lab 1, and docker history shows a distinct layer for each Dockerfile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Separate the build stage from the runtime stage to produce images that are 10x smaller and contain no compiler toolchain. Multi-stage builds are a CKAD staple — you must be able to write one from scratch and explain why it shrinks the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single-stage baseline, then a multi-stage image with COPY --from and distroless, and compare sizes.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golang:1.22 · docker build · »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Single-stage baseline (large image)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go build -o 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["./app"]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Multi-stage Dockerfile (small image)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1: compile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 AS builder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CGO_ENABLED=0 go build -o /out/app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2: runtime only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gcr.io/distroless/static-debian12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--from=builder /out/app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ENTRYPOINT ["/app"]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Build both and compare sizes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Dockerfile.single -t demo:single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Dockerfile.multi  -t demo:multi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| grep demo        # ~800MB  vs  ~8MB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Only the last FROM stage ends up in the final image. CGO_ENABLED=0 produces a static binary that runs in distroless/scratch — no shell, smaller attack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docker images | grep demo shows demo:multi roughly 100x smaller than demo:single, and demo:multi still serves hello from multi-stage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smallest deployable unit &amp; the exam-speed kubectl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Pod?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Pod is the smallest deployable unit — one or more containers sharing network &amp;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an IP and localhost; they can share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Create Pods imperatively (kubectl run) or declaratively (kubectl apply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Pods are ephemeral — in production you run them via higher-level controllers (Day 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GENERATE → EDIT →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CKAD kubectl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run / create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with --dry-run=client -o 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Scaffold a manifest 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Redirect to a .yaml file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Tweak labels, image, command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Version-controllable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apply -f file.yaml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Idempotent &amp; repeatable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describe to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PODS · ONE IP, SHARED localhost &amp;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90525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93392"/>
            <a:ext cx="8778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IP 10.1.2.3  ·  shared network namespace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468880"/>
            <a:ext cx="8321040" cy="50292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468880"/>
            <a:ext cx="8321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localhost  ·  containers reach each other on 127.0.0.1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200400"/>
            <a:ext cx="3840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3200400"/>
            <a:ext cx="38404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3310128"/>
            <a:ext cx="3621024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:8080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3840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384048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310128"/>
            <a:ext cx="3621024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sidecar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:9000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helper process</a:t>
            </a:r>
          </a:p>
        </p:txBody>
      </p:sp>
      <p:sp>
        <p:nvSpPr>
          <p:cNvPr id="18" name="Can 17"/>
          <p:cNvSpPr/>
          <p:nvPr/>
        </p:nvSpPr>
        <p:spPr>
          <a:xfrm>
            <a:off x="5394960" y="4572000"/>
            <a:ext cx="1371600" cy="731520"/>
          </a:xfrm>
          <a:prstGeom prst="can">
            <a:avLst/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61772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shared volume (emptyDir)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91840" y="4434840"/>
            <a:ext cx="365760" cy="868680"/>
          </a:xfrm>
          <a:prstGeom prst="up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8503920" y="4434840"/>
            <a:ext cx="365760" cy="868680"/>
          </a:xfrm>
          <a:prstGeom prst="up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Pod groups containers that must run together — they </a:t>
            </a:r>
            <a:r>
              <a:rPr sz="1300" b="1">
                <a:solidFill>
                  <a:srgbClr val="161B26"/>
                </a:solidFill>
                <a:latin typeface="Arial"/>
              </a:rPr>
              <a:t>share one IP, localhost and volumes</a:t>
            </a:r>
            <a:r>
              <a:rPr sz="1300" b="0">
                <a:solidFill>
                  <a:srgbClr val="5B6372"/>
                </a:solidFill>
                <a:latin typeface="Arial"/>
              </a:rPr>
              <a:t>, and live and die as a unit.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 THESE ON EXAM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Exam-Speed kubectl  (kubernetes.io quick reference)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alias k=kubectl  —  set this first; saves keystrokes on every command.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export do="--dry-run=client -o yaml"  —  scaffold any manifest without creating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source &lt;(kubectl completion bash); complete -o default -F __start_kubectl k  —  tab-completion.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kubectl get -o wide / -o yaml / -o jsonpath  ·  kubectl describe  ·  kubectl explain — inspect &amp; 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Pod is the smallest schedulable unit in Kubernetes. Create Pods imperatively, generate YAML with --dry-run, edit live manifests, and use the exam-critical $do alias that saves 30+ seconds per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exam-speed aliases, run Pods imperatively, scaffold YAML with $do, then apply and inspect.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alias k=kubectl · k run · k describe · » `--restart=Never`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Set exam-speed aliases (run these first on exam day)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alias k=kubectl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do="--dry-run=client -o yaml"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Create a Pod imperatively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 --image=nginx:1.25 --port=80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wide          # shows node and Pod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a manifest without creating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web2 --image=nginx:1.25 --port=80 $do &gt;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web2 --show-labels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a running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jsonpath='{.status.podIP}';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Override the container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sleeper --image=busybox --restart=Never -- sh -c 'sleep 3600'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web web2 sleeper --force --grace-period=0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--restart=Never creates a bare Pod (not a Deployment). Everything after -- becomes the container command. --force --grace-period=0 skips the 30s grace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web2 --show-labels shows the tier=frontend label, and the --dry-run=client -o yaml workflow produces a valid manifest you can apply.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Jobs &amp; CronJobs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Run-to-completion &amp; scheduled batch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RUN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Batch Workloads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Job runs Pods until a set number of successful completions, then stops — it does not restart on success.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CronJob creates Jobs on a schedule using standard cron syntax (*/1 * * * * = every minute).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Job Pod templates must use restartPolicy: Never or OnFailure — never Always.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Trigger a CronJob now with: kubectl create job --from=cronjob/&lt;name&gt; &lt;job-name&gt;.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EXAM-TESTED EVERY SITTING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Fields to Memorise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completions — successes needed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parallelism — Pods at once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backoffLimit — failures 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Job (timing)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activeDeadlineSeconds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Hard wall-clock ceiling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Overrides backoffLimit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CronJob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schedule + timeZone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concurrencyPolicy: Allow/Forbid/Replace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successful/failedJobsHistoryLimit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JOBS &amp; CRONJOBS · SCHEDULE → JOB →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CronJob, Job &amp; Pods Relate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F1EB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CronJob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schedule: */1 * * * *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concurrencyPolicy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successfulJobsHistoryLimit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20440" y="3108960"/>
            <a:ext cx="868680" cy="457200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42316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creates on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468880"/>
            <a:ext cx="26517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completions: 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parallelism: 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backoffLimit: 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23760" y="3108960"/>
            <a:ext cx="868680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423160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runs Pods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7472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47472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Pod 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2452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restartPolicy: Never / OnFailure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CronJob stamps out a Job on a schedule; the Job runs Pods until </a:t>
            </a:r>
            <a:r>
              <a:rPr sz="1300" b="1">
                <a:solidFill>
                  <a:srgbClr val="161B26"/>
                </a:solidFill>
                <a:latin typeface="Arial"/>
              </a:rPr>
              <a:t>completions succeed</a:t>
            </a:r>
            <a:r>
              <a:rPr sz="1300" b="0">
                <a:solidFill>
                  <a:srgbClr val="5B6372"/>
                </a:solidFill>
                <a:latin typeface="Arial"/>
              </a:rPr>
              <a:t>, then stops. Jobs never use restartPolicy: Always.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Job runs Pods until a required number of successful completions is reached, then stops. CKAD tests completions, parallelism, backoffLimit and activeDeadlineSeconds in almost every sitting — you must write a Job manifest from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one-shot Job, a parallel Job with completions, and explore backoffLimit and activeDeadlineSeconds.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apply · » `restartPolicy: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One-shot Job (imperative)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hello --image=busybox -- echo "hello CKAD 2026"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job-name=hello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Parallel Job with multiple completions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pi-parallel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completions: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parallelism: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backoffLimit: 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restartPolicy: Never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name: 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image: perl:5.34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command: ["perl", "-Mbignum=bpi", "-wle", "print bpi(50)"]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Apply and watch completions climb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parallel.yaml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job pi-parallel -w        # COMPLETIONS ticks 0/5 → 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restartPolicy: Never is mandatory in Job Pod templates. activeDeadlineSeconds is a hard wall-clock ceiling — it overrides backoffLimit.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job pi-parallel reaches 5/5 completions with no more than two Pods running simultaneously during the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CronJob creates Jobs on a time-based schedule using standard cron syntax. CKAD tests concurrencyPolicy, timeZone, startingDeadlineSeconds, history limits, manual triggers and suspend/resume — these fields appear verbatim in exam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CronJob imperatively and declaratively, suspend/resume it, then trigger it manually.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patch · » `concurrencyPolicy`: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CronJob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cronjob date-printer --image=busybox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--schedule="*/1 * * * *" -- sh -c "date; echo from cronjob"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cronjob date-printer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Declarative CronJob with all key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CronJob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schedule: "*/2 * * * *"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timeZone: "Asia/Singapore"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concurrencyPolicy: Forbid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successfulJobsHistoryLimit: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startingDeadlineSeconds: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jobTemplate: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restartPolicy: OnFailure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-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command: ["sh", "-c", "echo report at $(date)"]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Suspend, resume and trigger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'{"spec":{"suspend":true}}'    # pause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'{"spec":{"suspend":false}}'   # resume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--from=cronjob/report report-manual           # run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concurrencyPolicy: Allow (default) / Forbid / Replace. timeZone is a newer field — always set it. create job --from=cronjob/&lt;name&gt; runs the workload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cronjob report shows SUSPEND True after the patch, and k create job --from=cronjob/report report-manual produces an immediate one-off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Multi-Container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Sidecar &amp; init-container design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 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More Than One Container?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the network namespace and can share volumes (emptyDir is the usual glue).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Sidecar — a helper alongside the main app (log shipper, proxy) sharing a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Init container — runs to completion before main containers (seed a volume, wait for a service).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Always target a specific container with kubectl logs -c &lt;name&gt; and kubectl exec -c &lt;name&gt;.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POD, MANY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Sidecar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beside the main app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Shares an emptyDir volume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Log shipping / proxy /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Init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first, to completion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Pod shows Init:N/M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Seed volume · wait for DNS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Native sidecar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initContainer + restartPolicy: Always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Kubernetes 1.29+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for the Pod's lifetime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 DESIGN · SIDECAR vs INIT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Sidecar — run side by 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514600"/>
            <a:ext cx="4251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2514600"/>
            <a:ext cx="42519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2624328"/>
            <a:ext cx="403250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main app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logs to /var/log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611880"/>
            <a:ext cx="4251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3611880"/>
            <a:ext cx="42519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721608"/>
            <a:ext cx="403250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sidecar (log shipper)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reads /var/log, ships out</a:t>
            </a:r>
          </a:p>
        </p:txBody>
      </p:sp>
      <p:sp>
        <p:nvSpPr>
          <p:cNvPr id="15" name="Can 14"/>
          <p:cNvSpPr/>
          <p:nvPr/>
        </p:nvSpPr>
        <p:spPr>
          <a:xfrm>
            <a:off x="2720340" y="4709160"/>
            <a:ext cx="1280160" cy="548640"/>
          </a:xfrm>
          <a:prstGeom prst="can">
            <a:avLst/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36592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shared emptyDir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Init container — run first, to completion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606040"/>
            <a:ext cx="4251960" cy="86868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2606040"/>
            <a:ext cx="42519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715768"/>
            <a:ext cx="40325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initContainer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seed volume · wait for DNS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618220" y="3566160"/>
            <a:ext cx="457200" cy="640080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611880"/>
            <a:ext cx="4251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completes → then main starts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343400"/>
            <a:ext cx="4251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4343400"/>
            <a:ext cx="42519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4453128"/>
            <a:ext cx="40325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main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Pod: Init:0/1 → Running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Sidecars run </a:t>
            </a:r>
            <a:r>
              <a:rPr sz="1300" b="1">
                <a:solidFill>
                  <a:srgbClr val="161B26"/>
                </a:solidFill>
                <a:latin typeface="Arial"/>
              </a:rPr>
              <a:t>alongside</a:t>
            </a:r>
            <a:r>
              <a:rPr sz="1300" b="0">
                <a:solidFill>
                  <a:srgbClr val="5B6372"/>
                </a:solidFill>
                <a:latin typeface="Arial"/>
              </a:rPr>
              <a:t> the app; init containers run </a:t>
            </a:r>
            <a:r>
              <a:rPr sz="1300" b="1">
                <a:solidFill>
                  <a:srgbClr val="161B26"/>
                </a:solidFill>
                <a:latin typeface="Arial"/>
              </a:rPr>
              <a:t>before</a:t>
            </a:r>
            <a:r>
              <a:rPr sz="1300" b="0">
                <a:solidFill>
                  <a:srgbClr val="5B6372"/>
                </a:solidFill>
                <a:latin typeface="Arial"/>
              </a:rPr>
              <a:t> it. Target one with kubectl logs/exec -c &lt;name&gt;.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in the same Pod share a network namespace and can share volumes. CKAD tests the sidecar pattern (a helper reads/writes a shared volume) and the native sidecar feature (Kubernetes 1.29+). You must exec into and read logs from each 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sidecar that tails a shared emptyDir log, read each container's logs, then build a native sidecar.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logs · initContainers: · »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Sidecar sharing a log file via emptyDir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app-with-sidecar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["sh","-c","while true; do date &gt;&gt; /var/log/app.log; sleep 2; done"]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log-shipper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["sh","-c","tail -F /var/log/app.log"]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Read logs from each container separately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app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log-shipper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-it app-with-sidecar -c app -- sh -c 'wc -l /var/log/app.log'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Native sidecar container (Kubernetes 1.29+)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log-collector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restartPolicy: Always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["sh","-c","while true; do echo alive; sleep 5;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With multiple containers in a Pod, always specify -c &lt;name&gt; for logs and exec. emptyDir is the standard glue volume between sidecar and main containers.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app-with-sidecar -c log-shipper shows the same lines app is writing, proving both containers share the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INIT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Init containers run in order, to completion, before any main container starts. Use them to seed shared volumes, wait for upstream services, or do one-time setup. CKAD asks you to write init containers and read Init:N/M Pod status correctly.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Seed an nginx web root with an init container, then add an init container that waits for a Service via DNS.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exec · initContainers: · »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Init container that seeds the web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web-init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seed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["sh","-c","echo '&lt;h1&gt;Seeded by init&lt;/h1&gt;' &gt; /work/index.html"]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/work}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/usr/share/nginx/html}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Verify the seeded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web-init -- cat /usr/share/nginx/html/index.html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Init container that waits for a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637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63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4038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wait-for-db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["sh","-c","until nslookup db.default.svc.cluster.local; do sleep 2;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The Pod stays in Init:0/1 until DNS resolves. Creating the db Service unblocks it. If an init container fails it is restarted per the Pod's restartPolicy.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exec web-init -- cat /usr/share/nginx/html/index.html returns the seeded heading, proving the init container populated the volume before nginx started.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Volumes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Persist &amp; share Pod data: emptyDir, tmpfs &amp; hostPath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EPHEMERAL VS 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Storage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Anything written to the container filesystem is lost when the container restarts.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Volumes are declared under spec.volumes and mounted via spec.containers[].volumeMounts.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volume can be shared by every container in the Pod — that is how sidecars exchange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Pod-scoped volumes live and die with the Pod; durable storage (PV/PVC) comes later in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POD-SCOPED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 Types in Domain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emptyDir: {}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Created with the Pod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Shared by all containers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Deleted with the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emptyDir: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tmpfs — backed by RAM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Fast scratch space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Counts to memory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hostPath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Mounts a node directory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DaemonSets / node tools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Security risk in multi-tenant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VOLUMES · emptyDir IS POD-SCOPED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Sharing Data with a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90525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606040"/>
            <a:ext cx="32918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2606040"/>
            <a:ext cx="32918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7128" y="2715768"/>
            <a:ext cx="3072384" cy="12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writer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mountPath: /data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606040"/>
            <a:ext cx="32918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606040"/>
            <a:ext cx="329184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2715768"/>
            <a:ext cx="3072384" cy="12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reader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mountPath: /data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reads same files</a:t>
            </a:r>
          </a:p>
        </p:txBody>
      </p:sp>
      <p:sp>
        <p:nvSpPr>
          <p:cNvPr id="15" name="Can 14"/>
          <p:cNvSpPr/>
          <p:nvPr/>
        </p:nvSpPr>
        <p:spPr>
          <a:xfrm>
            <a:off x="5212080" y="4251960"/>
            <a:ext cx="1737360" cy="914400"/>
          </a:xfrm>
          <a:prstGeom prst="can">
            <a:avLst/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6908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volume: emptyDir {}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383280" y="3931920"/>
            <a:ext cx="384048" cy="91440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412480" y="3931920"/>
            <a:ext cx="384048" cy="914400"/>
          </a:xfrm>
          <a:prstGeom prst="down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Declare it under </a:t>
            </a:r>
            <a:r>
              <a:rPr sz="1300" b="1">
                <a:solidFill>
                  <a:srgbClr val="161B26"/>
                </a:solidFill>
                <a:latin typeface="Arial"/>
              </a:rPr>
              <a:t>spec.volumes</a:t>
            </a:r>
            <a:r>
              <a:rPr sz="1300" b="0">
                <a:solidFill>
                  <a:srgbClr val="5B6372"/>
                </a:solidFill>
                <a:latin typeface="Arial"/>
              </a:rPr>
              <a:t>, mount it in each container via </a:t>
            </a:r>
            <a:r>
              <a:rPr sz="1300" b="1">
                <a:solidFill>
                  <a:srgbClr val="161B26"/>
                </a:solidFill>
                <a:latin typeface="Arial"/>
              </a:rPr>
              <a:t>volumeMounts</a:t>
            </a:r>
            <a:r>
              <a:rPr sz="1300" b="0">
                <a:solidFill>
                  <a:srgbClr val="5B6372"/>
                </a:solidFill>
                <a:latin typeface="Arial"/>
              </a:rPr>
              <a:t> — created with the Pod, deleted with the Pod.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Volumes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are ephemeral — data written to the container filesystem is lost on restart. Volumes survive restarts and can be shared between containers. CKAD tests emptyDir, emptyDir.medium: Memory and hostPath, plus mounting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an emptyDir between two containers, mount a RAM-backed tmpfs volume, then mount a node directory with hostPath.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volumes: · » Volumes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emptyDir shared between two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3957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shared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writer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["sh","-c","echo hello-shared &gt;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["sh","-c","sleep 5; cat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emptyDir backed by RAM (tmpfs)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fast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medium: 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sizeLimit: 64Mi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hostPath: access files on the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hostPath: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path: /etc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type: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2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 are declared under spec.volumes and consumed via spec.containers[].volumeMounts. Avoid hostPath in multi-tenant clusters — it is a security risk; use it only for DaemonSets and node-level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scratch -c reader prints hello-shared, proving the writer and reader containers share the same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1 done — you can design and build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Application Deployment — Deployments, rollouts, Helm &amp; Kustomize.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Deployments · Rollouts · Blue/Green &amp; Canary · Helm · Kustomize · Daemon/StatefulSet  (CKAD Domain 2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1): images, Pods, Jobs/CronJobs, multi-container Pods and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Today (Domain 2 — 20% of the exam): how applications are deployed, scaled and upgraded.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a single Pod to controllers that keep replicas running and roll out new versions safely.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Packaging with Helm and Kustomize, plus DaemonSets and StatefulSets for specialised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controller that keeps your Pods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DESIRED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Deployments?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bare Pod is not rescheduled if it dies — you need a controller to keep the desired count.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Deployment manages a ReplicaSet, which manages the Pods — a three-tier ownership chain.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scale changes the replica count; the ReplicaSet controller reconciles immediately.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ReplicaSets are kept for rollback (revisionHistoryLimit, default 10).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→ REPLICASET → POD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Ownership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You declare desired state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replicas + Pod template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Owns one active ReplicaSet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ReplicaSet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Keeps N Pods running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Hash-suffixed name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Self-heals deleted Pods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running workload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Recreated if it dies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Never edited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DEPLOYMENTS · THE OWNERSHIP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 → ReplicaSet →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6517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replicas: 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image · strategy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desired state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20440" y="3108960"/>
            <a:ext cx="868680" cy="4572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42316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manages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468880"/>
            <a:ext cx="26517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ReplicaSet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web-7d9f… (hash)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keeps 3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reconciles count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23760" y="3108960"/>
            <a:ext cx="868680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423160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creates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7472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47472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2452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3 identical Pods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kubectl scale changes the replica count; </a:t>
            </a:r>
            <a:r>
              <a:rPr sz="1300" b="1">
                <a:solidFill>
                  <a:srgbClr val="161B26"/>
                </a:solidFill>
                <a:latin typeface="Arial"/>
              </a:rPr>
              <a:t>set image / set env</a:t>
            </a:r>
            <a:r>
              <a:rPr sz="1300" b="0">
                <a:solidFill>
                  <a:srgbClr val="5B6372"/>
                </a:solidFill>
                <a:latin typeface="Arial"/>
              </a:rPr>
              <a:t> mutate the template and roll out a new ReplicaSet.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manages a ReplicaSet, which manages Pods. CKAD tests the full ownership chain, scaling, environment-variable injection and reading ReplicaSet history — required to debug failed rollouts.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Deployment imperatively, scale it, generate YAML, inject env vars, then read its ReplicaSet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scale · k set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Deployment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--image=nginx:1.25 --replicas=3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deploy,rs,pod -l app=web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Scale up and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Deployment YAML and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api --image=httpd:2.4 --replicas=2 $do &gt; api.yaml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api.yaml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Inject an env var and observe ReplicaSet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deployment/api APP_COLOR=blue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app=api    # old RS 0/0/0, new RS 2/2/2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set env / set image mutate the Pod template and trigger a new ReplicaSet (a rolling update). Old ReplicaSets are kept for rollback — revisionHistoryLimit (default 10) controls how many.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deploy,rs,pod -l app=web shows one Deployment owning one ReplicaSet owning the Pods, and k get rs -l app=api shows two ReplicaSets after the env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Zero-downtime upgrades, one ReplicaSet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ZERO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 Rolling Update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set image mutates the Pod template — this creates a new ReplicaSet and starts a rollout.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maxSurge = extra Pods allowed above desired; maxUnavailable = Pods allowed down — together they tune speed vs availability.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rollout status watches progress; rollout history lists every revision.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rollout pause batches several changes into one ReplicaSet; rollout undo reverts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ROLLING UPDATES · ZERO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 — One ReplicaSet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3774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267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ReplicaSet v1 (old)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nginx:1.24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scales 4 → 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drains as v2 ramps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011680"/>
            <a:ext cx="4297680" cy="23774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2121408"/>
            <a:ext cx="4078224" cy="2267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ReplicaSet v2 (new)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nginx:1.25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scales 0 → 4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takes over traffic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57800" y="2880360"/>
            <a:ext cx="1691640" cy="64008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659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kubectl set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5661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gradual swap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983480"/>
            <a:ext cx="5212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212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maxSurge: 1   ·   maxUnavailable: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speed vs availability trade-off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83480"/>
            <a:ext cx="5212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983480"/>
            <a:ext cx="5212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rollout: status · history · pause · undo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rollout undo reverts in one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ROLLING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performs zero-downtime upgrades by gradually replacing Pods one ReplicaSet at a time. CKAD tests maxSurge, maxUnavailable, rollout pause/resume, history inspection and rollback — often as a timed multi-step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Tune the rolling-update strategy, trigger an image update, inspect history, pause/resume, then roll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patch · k set · k rollout · » Pausing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the initial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--image=nginx:1.24 --replicas=4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Tune the rolling-update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deployment web -p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'{"spec":{"strategy":{"rollingUpdate":{"maxSurge":1,"maxUnavailable":1}}}}'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Trigger an image update and watch the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app=web        # old RS drains to 0, new RS ramps to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View history, pause, batch changes,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history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pause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deployment/web APP_ENV=production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resume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 --to-revision=1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Pausing batches multiple mutations into a single new ReplicaSet — one rollout, not two. rollout undo reverts to the previous (or a specified) revision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rollout history deployment/web lists each revision, and k rollout undo returns the Deployment to the prior image with zero downtime.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Blue/Green &amp; Canary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Release strategies built from Deployments +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SAFE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Beyond the Default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Blue/Green runs two complete versions; a Service selector switch flips 100% of traffic atomically.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Canary sends a small slice of traffic to the new version by running it at a low replica ratio.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Both are built from plain Deployments and Services using labels — no extra tooling for CKAD.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Rollback is instant: re-patch the selector (blue/green) or scale the canary back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STRATEGIES · TRAFFIC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vs Canary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Blue / Green — atomic 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42316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2423160"/>
            <a:ext cx="211226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selector: version=green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3703319"/>
            <a:ext cx="2011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blue (v1)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idle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703319"/>
            <a:ext cx="2011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green (v2)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LIVE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011680" y="3200400"/>
            <a:ext cx="329184" cy="457200"/>
          </a:xfrm>
          <a:prstGeom prst="down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89120" y="3200400"/>
            <a:ext cx="329184" cy="45720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patch selector → flip 100% (rollback = patch back)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Canary — split by replica ratio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42316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423160"/>
            <a:ext cx="211226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selector: app=web (broad)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703319"/>
            <a:ext cx="2011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9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≈ 90%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3703319"/>
            <a:ext cx="201168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canary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 replica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≈ 10%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498080" y="3200400"/>
            <a:ext cx="329184" cy="457200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9875520" y="3200400"/>
            <a:ext cx="329184" cy="45720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029200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promote = scale canary up, stable down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Blue/Green flips </a:t>
            </a:r>
            <a:r>
              <a:rPr sz="1300" b="1">
                <a:solidFill>
                  <a:srgbClr val="161B26"/>
                </a:solidFill>
                <a:latin typeface="Arial"/>
              </a:rPr>
              <a:t>all traffic</a:t>
            </a:r>
            <a:r>
              <a:rPr sz="1300" b="0">
                <a:solidFill>
                  <a:srgbClr val="5B6372"/>
                </a:solidFill>
                <a:latin typeface="Arial"/>
              </a:rPr>
              <a:t> with a selector patch; canary shifts </a:t>
            </a:r>
            <a:r>
              <a:rPr sz="1300" b="1">
                <a:solidFill>
                  <a:srgbClr val="161B26"/>
                </a:solidFill>
                <a:latin typeface="Arial"/>
              </a:rPr>
              <a:t>a fraction</a:t>
            </a:r>
            <a:r>
              <a:rPr sz="1300" b="0">
                <a:solidFill>
                  <a:srgbClr val="5B6372"/>
                </a:solidFill>
                <a:latin typeface="Arial"/>
              </a:rPr>
              <a:t> by replica ratio behind one Service.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BLUE/GREEN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Blue/Green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Blue/Green keeps two complete copies of the app alive at once. A Service selector switch flips 100% of traffic from blue to green in one atomic operation — with instant rollback if anything breaks.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blue (live) and green (idle), smoke-test green, flip the Service selector, then roll back with one patch.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GREEN_POD=$(k get · k patch · » Cutover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Deploy blue (current production) behind a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web-blue (labels app=web, version=blue) + Service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selector: {app: web, version: blue}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blue.yaml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Deploy green (next version, no live traffic yet)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web-green (labels app=web, version=green),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green.yaml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Smoke-test green directly before cutover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GREEN_POD=$(k get pod -l version=green -o jsonpath='{.items[0].metadata.name}')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$GREEN_POD -- curl -sI localhost:80 | head 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Flip the Service to green (atomic cutover)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'{"spec":{"selector":{"app":"web","version":"green"}}}'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svc web | grep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 instantly if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'{"spec":{"selector":{"app":"web","version":"blue"}}}'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8045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Cutover and rollback are both a single kubectl patch service selector update — atomic, milliseconds, no Pod churn. Blue stays running as an instant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patch, k describe svc web | grep Selector shows version=green, and patching it back to version=blue restores the old version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CANARY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Canary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canary release sends a small fraction of live traffic to a new version while the bulk stays on stable. In Kubernetes the split is approximated by replica ratios behind one broad Service selector — no special tooling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9-replica stable and 1-replica canary behind one Service, verify the ~10% split, then promote.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k run · k scale · »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Stable Deployment (90% of traffic)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web-stable: replicas 9, labels app=web,track=stable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web: selector {app: web}, port 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stable.yaml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Canary Deployment (10% of traffic)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web-canary: replicas 1, labels app=web,track=canary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canary.yaml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Verify the traffic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probe --image=busybox --restart=Never -it --rm -- sh -c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'for i in $(seq 1 30); do wget -qO- web:5678; done | sort | uniq -c'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~27 stable, ~3 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Promote: scale up canary, retire stable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web-canary --replicas=9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web-stable --replicas=0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Traffic split is approximated by replica ratio (9:1 ≈ 90/10). Promotion is just kubectl scale on both Deployments — no Service change. For precise percentage splits use a service mesh (Istio/Linkerd) — beyond CKAD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probe loop returns roughly 90% stable and 10% canary, and after scaling, all traffic shifts to the canary version with no Service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Kubernetes package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PACKAGE &amp;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Charts, Releases &amp; Revisions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chart is a bundle of templated YAML; a release is one deployed instance of a chart.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Workflow: repo add → install → upgrade → rollback → uninstall.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--set overrides values at install/upgrade; --reuse-values keeps prior overrides.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helm history tracks every revision; helm get manifest shows what was actually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HELM · THE KUBERNETES PACKAGE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Chart, Release, Revisions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84378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templates/*.yaml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values.yaml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Chart.yaml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182112"/>
            <a:ext cx="731520" cy="40233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helm install --set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46888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578608"/>
            <a:ext cx="284378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Release: web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 1 · rev 2 · rev 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helm history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182112"/>
            <a:ext cx="731520" cy="40233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renders &amp; applies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6888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46888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578608"/>
            <a:ext cx="284378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Kubernetes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Deployment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Service · ConfigMap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6949440" y="4434840"/>
            <a:ext cx="914400" cy="384048"/>
          </a:xfrm>
          <a:prstGeom prst="lef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38912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helm rollback web 1  ·  helm upgrade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→ upgrade → rollback → uninstall. </a:t>
            </a:r>
            <a:r>
              <a:rPr sz="1300" b="0">
                <a:solidFill>
                  <a:srgbClr val="5B6372"/>
                </a:solidFill>
                <a:latin typeface="Arial"/>
              </a:rPr>
              <a:t>--set</a:t>
            </a:r>
            <a:r>
              <a:rPr sz="1300" b="0">
                <a:solidFill>
                  <a:srgbClr val="5B6372"/>
                </a:solidFill>
                <a:latin typeface="Arial"/>
              </a:rPr>
              <a:t> overrides values; </a:t>
            </a:r>
            <a:r>
              <a:rPr sz="1300" b="0">
                <a:solidFill>
                  <a:srgbClr val="5B6372"/>
                </a:solidFill>
                <a:latin typeface="Arial"/>
              </a:rPr>
              <a:t>--reuse-values</a:t>
            </a:r>
            <a:r>
              <a:rPr sz="1300" b="0">
                <a:solidFill>
                  <a:srgbClr val="5B6372"/>
                </a:solidFill>
                <a:latin typeface="Arial"/>
              </a:rPr>
              <a:t> keeps prior overrides.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Helm is the Kubernetes package manager. A chart is a bundle of templated YAML; a release is a deployed instance. CKAD tests install, upgrade, rollback, list and value overrides — all under exam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a chart repo, install a release with overrides, inspect it, upgrade, roll back, then uninstall.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helm repo · helm install · helm get · helm upgrade · » `--reuse-values`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Add a chart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add bitnami https://charts.bitnami.com/bitnami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search repo bitnami/nginx | head 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Install a release with value overrides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install web bitnami/nginx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--set service.type=ClusterIP --set replicaCount=2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Inspect the generated manifests and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manifest web | head -40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values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Upgrade, then roll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upgrade web bitnami/nginx --set replicaCount=4 --reuse-values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history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rollback web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uninstall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--reuse-values preserves prior overrides while changing only the new one. helm history &lt;release&gt; tracks every revision; rollback creates a new revision rather than deleting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helm history web lists each revision with its status, and helm rollback web 1 returns the release to its first revision as a new history 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Kustomize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Environment overlays without templating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REUSE WITHOUT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 +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Kustomize reuses one base set of manifests and layers environment-specific changes on 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namePrefix and commonLabels are applied to every resource in the overlay.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images block overrides image tags without editing the base files; patches do strategic merges.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Built into kubectl: kubectl apply -k and kubectl kustomize — no extra binary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KUSTOMIZE · REUSE WITHOUT TEMPLATING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— Base +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7432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74320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523744" cy="181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base/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deployment.yaml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kustomization.yaml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11880" y="3063240"/>
            <a:ext cx="868680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2926080" cy="19202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331720"/>
            <a:ext cx="2926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441448"/>
            <a:ext cx="2706624" cy="181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overlay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namePrefix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commonLabels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images (newTag)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patches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89520" y="3063240"/>
            <a:ext cx="868680" cy="4572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331720"/>
            <a:ext cx="2880360" cy="86868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2331720"/>
            <a:ext cx="28803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8" y="2441448"/>
            <a:ext cx="26609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dev-web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nginx:1.25 · ×1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3383280"/>
            <a:ext cx="2880360" cy="86868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3383280"/>
            <a:ext cx="28803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3493008"/>
            <a:ext cx="26609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prod-web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nginx:1.26 · ×5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43400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kubectl apply -k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</a:t>
            </a:r>
            <a:r>
              <a:rPr sz="1300" b="1">
                <a:solidFill>
                  <a:srgbClr val="161B26"/>
                </a:solidFill>
                <a:latin typeface="Arial"/>
              </a:rPr>
              <a:t>base</a:t>
            </a:r>
            <a:r>
              <a:rPr sz="1300" b="0">
                <a:solidFill>
                  <a:srgbClr val="5B6372"/>
                </a:solidFill>
                <a:latin typeface="Arial"/>
              </a:rPr>
              <a:t>, many </a:t>
            </a:r>
            <a:r>
              <a:rPr sz="1300" b="1">
                <a:solidFill>
                  <a:srgbClr val="161B26"/>
                </a:solidFill>
                <a:latin typeface="Arial"/>
              </a:rPr>
              <a:t>overlays</a:t>
            </a:r>
            <a:r>
              <a:rPr sz="1300" b="0">
                <a:solidFill>
                  <a:srgbClr val="5B6372"/>
                </a:solidFill>
                <a:latin typeface="Arial"/>
              </a:rPr>
              <a:t>. apply -k and kubectl kustomize are built into kubectl — no extra binary.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Kustomize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Kustomize reuses a single base set of manifests and applies environment-specific overlays without templating. It is built into kubectl (-k). CKAD tests namePrefix, commonLabels, images and strategic-merge patches.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base, add dev and prod overlays (prefix, labels, image tag, replica patch), preview, then apply.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resources: · kubectl kustomize · » `namePrefix`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Base kustomization (shared by all environments)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base/kustomization.yaml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deployment.yaml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service.yaml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Dev overlay (name prefix + common label)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overlays/dev/kustomization.yaml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dev-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env: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Prod overlay (image bump + replica patch)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overlays/prod/kustomization.yaml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prod-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 {env: prod}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images: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newTag: "1.26"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patches: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path: replica-patch.yaml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Preview, then apply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kustomize overlays/prod | grep -E "name:|replicas:|image:"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namePrefix and commonLabels apply to every resource in the overlay. The images block overrides tags without editing base files. apply -k / kubectl kustomize are built into kubectl — no extra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kustomize overlays/prod shows name prod-web, 5 replicas and nginx:1.26, while the dev overlay stays at 1 replica and nginx:1.25.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Node-wide agents &amp; stable-identity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DEPLOYMENT ISN'T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Specialised Controllers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DaemonSet runs exactly one Pod per matching node — log collectors, CNI agents, node exporters.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gives Pods stable names (db-0, db-1) and ordered, graceful start/stop.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needs a headless Service (clusterIP: None) for per-Pod DNS.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Scale-down always removes the highest ordinal first; scale-up adds the next in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WORKLOAD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Pick the Right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Stateless, interchangeable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Any number of replicas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Rolling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DaemonSet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One Pod per node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Node-level agents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Scales with the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StatefulSet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Stable identity + storage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Ordered start/stop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Databases,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WORKLOAD CONTROLLERS · NODE-WIDE vs STABLE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 vs StatefulSet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DaemonSet — one Pod per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6243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243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5387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35387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434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274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4531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4531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StatefulSet — ordered, stable names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468880"/>
            <a:ext cx="2606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2468880"/>
            <a:ext cx="23865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headless Service (db)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clusterIP: None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337560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3337560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db-0.db.svc.cluster.local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995928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995928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db-1.db.svc.cluster.local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654296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4654296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db-2.db.svc.cluster.local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created db-0→db-2 · deleted db-2→db-0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DaemonSet = </a:t>
            </a:r>
            <a:r>
              <a:rPr sz="1300" b="1">
                <a:solidFill>
                  <a:srgbClr val="161B26"/>
                </a:solidFill>
                <a:latin typeface="Arial"/>
              </a:rPr>
              <a:t>one Pod per matching node</a:t>
            </a:r>
            <a:r>
              <a:rPr sz="1300" b="0">
                <a:solidFill>
                  <a:srgbClr val="5B6372"/>
                </a:solidFill>
                <a:latin typeface="Arial"/>
              </a:rPr>
              <a:t>; StatefulSet = </a:t>
            </a:r>
            <a:r>
              <a:rPr sz="1300" b="1">
                <a:solidFill>
                  <a:srgbClr val="161B26"/>
                </a:solidFill>
                <a:latin typeface="Arial"/>
              </a:rPr>
              <a:t>stable identity + ordered start/stop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DAEMON/STATEFULSET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DaemonSet runs exactly one Pod per matching node (log collectors, CNI agents). A StatefulSet gives Pods stable identities and ordered start/stop (databases). CKAD expects you to know when to use each and write the YAML.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DaemonSet on every node, then a StatefulSet with a headless Service, stable DNS and ordered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nslookup db-0.db.default.svc.cluster.local · » DaemonSet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DaemonSet on every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DaemonSet node-agent, image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ds.yaml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ds,pods -l app=node-agent -o wide   # DESIRED = node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Headless Service for the StatefulSet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db: clusterIP: None, selector app=db, port 5432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headless.yaml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StatefulSet with stable identities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StatefulSet db: serviceName db, replicas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sts/db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app=db        # db-0 → db-1 → db-2 in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Verify stable per-Pod DNS and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db-0.db.default.svc.cluster.local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--replicas=4    # adds db-3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--replicas=2    # removes db-3 then db-2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DaemonSet = one Pod per matching node. StatefulSet = stable names (db-0, db-1) and ordered start/stop; a headless Service (clusterIP: None) gives each Pod its own DNS. Scale-down always removes the highest ordinal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pods -l app=db shows db-0, db-1, db-2 created in order, and nslookup db-0.db.default.svc.cluster.local resolves to a single Pod 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2 done — you can deploy, scale and upgrade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Observability and Configuration &amp; Security — probes, logging, ConfigMaps, Secrets, RBAC.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 · ConfigMaps · Secrets · SecurityContext · RBAC  (CKAD Domains 3 &amp; 4 — 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3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2): Deployments, rollouts, release strategies, Helm, Kustomize, Daemon/StatefulSet.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Morning — Domain 3 Observability (15%): probes, logging, metrics, debugging, API deprecations.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Afternoon — Domain 4 Configuration &amp; Security (25%): ConfigMaps, Secrets, securityContext, RBAC, quotas.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Together these two domains are 40% of the CKAD exam — the largest single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&amp;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debugging · API versions (15%)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Health Probes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liveness · readiness ·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Probes, Three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livenessProbe — restarts the container when it has hung or deadlocked.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readinessProbe — removes the Pod from Service endpoints until it can serve traffic (no restart).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startupProbe — gives slow apps time to boot; it blocks the other two until it succeeds.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Each probe uses one handler: httpGet, tcpSocket or exec — pick by what the container exposes.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HEALTH CHECKS · startup · liveness ·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Probes, Three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startupProbe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runs first, exclusively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Holds off liveness/readiness; kills the container if the app never finishes starting.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livenessProbe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the container alive?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 failure → restart the container (fixes hangs / deadlocks).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readinessProbe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ready to serve traffic?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 failure → remove the Pod from Service endpoints (no restart).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Handlers:  </a:t>
            </a:r>
            <a:r>
              <a:rPr sz="1200" b="0">
                <a:solidFill>
                  <a:srgbClr val="161B26"/>
                </a:solidFill>
                <a:latin typeface="Arial"/>
              </a:rPr>
              <a:t>httpGet · tcpSocket · exec</a:t>
            </a:r>
            <a:r>
              <a:rPr sz="1200" b="1">
                <a:solidFill>
                  <a:srgbClr val="1F6FEB"/>
                </a:solidFill>
                <a:latin typeface="Arial"/>
              </a:rPr>
              <a:t>      Timing:  </a:t>
            </a:r>
            <a:r>
              <a:rPr sz="1200" b="0">
                <a:solidFill>
                  <a:srgbClr val="161B26"/>
                </a:solidFill>
                <a:latin typeface="Arial"/>
              </a:rPr>
              <a:t>initialDelaySeconds · periodSeconds · failureThreshold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PROBES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Probes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Kubernetes uses three probes to manage health: livenessProbe restarts a failed container, readinessProbe removes it from Service endpoints, startupProbe gives slow apps time to boot. CKAD tests all three handlers (httpGet, tcpSocket, exec) and timing.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HTTP readiness+liveness probes, trigger a liveness restart, add a TCP probe, then a startupProbe with exec.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readinessProbe: · k exec · startupProbe: · »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HTTP liveness + readiness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livenessProbe: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Trigger a liveness failure (watch RESTARTS climb)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759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4759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399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web-probes -- rm /usr/share/nginx/html/index.html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web-probes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TCP socket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tcpSocket: {port: 6379}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startupProbe for slow-starting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startupProbe: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exec: {command: ["cat", "/tmp/ready"]}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Three handlers — httpGet, tcpSocket, exec. readinessProbe failure removes the Pod from Service endpoints without restarting it; livenessProbe failure restarts the container; startupProbe blocks the other two until the app is initialised.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Deleting the index page makes the liveness probe fail three times and the container restarts (RESTARTS increments), while the TCP and startup Pods reach READY 1/1.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logs — your first debugging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Logs are whatever the container writes to stdout/stderr; the kubelet captures and serves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--tail=N for recent lines; -f to stream live (like tail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--previous reads the prior terminated container — the key to diagnosing CrashLoopBackOff.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-c &lt;container&gt; selects one container; -l &lt;selector&gt; aggregates logs across matching Pods.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LOGGING · stdout/stderr → kubelet → kubectl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Logs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 + sidecar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to stdout/stderr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captured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Node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container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/var/log/pods/…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kubelet serves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kubectl logs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-c &lt;name&gt; · -l &lt;sel&gt;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--previous · -f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Logs are whatever the container prints to </a:t>
            </a:r>
            <a:r>
              <a:rPr sz="1300" b="1">
                <a:solidFill>
                  <a:srgbClr val="161B26"/>
                </a:solidFill>
                <a:latin typeface="Arial"/>
              </a:rPr>
              <a:t>stdout/stderr</a:t>
            </a:r>
            <a:r>
              <a:rPr sz="1300" b="0">
                <a:solidFill>
                  <a:srgbClr val="5B6372"/>
                </a:solidFill>
                <a:latin typeface="Arial"/>
              </a:rPr>
              <a:t>. Use </a:t>
            </a:r>
            <a:r>
              <a:rPr sz="1300" b="1">
                <a:solidFill>
                  <a:srgbClr val="161B26"/>
                </a:solidFill>
                <a:latin typeface="Arial"/>
              </a:rPr>
              <a:t>--previous</a:t>
            </a:r>
            <a:r>
              <a:rPr sz="1300" b="0">
                <a:solidFill>
                  <a:srgbClr val="5B6372"/>
                </a:solidFill>
                <a:latin typeface="Arial"/>
              </a:rPr>
              <a:t> for a crashed container.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logs is the first debugging tool on the exam. Read logs from single and multi-container Pods, follow a live stream, retrieve logs from a crashed container, and aggregate logs across a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Read and tail logs, stream with -f, recover crash logs with --previous, then aggregate by container and 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logs · » `--tail=N`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Read recent lines and follow a live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noisy --tail=10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-f noisy &amp;        # -f streams like tail -f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kill %1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Retrieve logs from a crashed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crasher --previous | head 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Multi-container Pod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app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sidecar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--all-containers=true --prefix=true | head 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Aggregate logs across a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deployment/fleet --tail=3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app=fleet --prefix=true --tail=2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--tail=N for recent lines, -f to stream, --previous for crash loops, -c &lt;name&gt; for a specific container, -l &lt;selector&gt; to aggregate matching Pods. --prefix=true labels each line with [pod/container].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crasher --previous shows the message printed before the crash, and k logs -l app=fleet --prefix=true interleaves lines from all three Pods.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top &amp; the metrics-server add-on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Usage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top shows live CPU and memory for nodes and Pods — it requires metrics-server.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metrics-server scrapes each kubelet's cAdvisor and serves the aggregated Metrics API.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Sort with --sort-by=cpu / --sort-by=memory; span all namespaces with -A.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On Killercoda's self-signed certs, patch the Deployment with --kubelet-insecure-tls.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METRICS · THE RESOURCE-USAGE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Needs metrics-server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211455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kubelet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cAdvisor on each node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per-container CPU/mem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179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319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exposes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331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23310" y="2560320"/>
            <a:ext cx="211455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303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metrics-server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scrapes kubelets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in-memory only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3786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926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scrapes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938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F1EB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9380" y="2560320"/>
            <a:ext cx="211455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910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Metrics API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metrics.k8s.io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8393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533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serves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545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15450" y="2560320"/>
            <a:ext cx="211455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517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kubectl top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node · 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--sort-by=cpu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metrics-server = </a:t>
            </a:r>
            <a:r>
              <a:rPr sz="1300" b="1">
                <a:solidFill>
                  <a:srgbClr val="161B26"/>
                </a:solidFill>
                <a:latin typeface="Arial"/>
              </a:rPr>
              <a:t>kubectl top fails</a:t>
            </a:r>
            <a:r>
              <a:rPr sz="1300" b="0">
                <a:solidFill>
                  <a:srgbClr val="5B6372"/>
                </a:solidFill>
                <a:latin typeface="Arial"/>
              </a:rPr>
              <a:t>. On Killercoda add </a:t>
            </a:r>
            <a:r>
              <a:rPr sz="1300" b="1">
                <a:solidFill>
                  <a:srgbClr val="161B26"/>
                </a:solidFill>
                <a:latin typeface="Arial"/>
              </a:rPr>
              <a:t>--kubelet-insecure-tls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top shows real-time CPU and memory for nodes and Pods. It requires the metrics-server add-on. CKAD tests installing metrics-server, reading node/Pod metrics, and sorting by resource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metrics-server, read node metrics, generate CPU load, then sort Pod metrics by CPU and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apply · k top · k run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Install metrics-server (and trust kubelet certs on Killercoda)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https://github.com/kubernetes-sigs/metrics-server/releases/latest/download/components.yaml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-n kube-system deployment metrics-server --type=json -p='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[{"op":"add","path":"/spec/template/spec/containers/0/args/-","value":"--kubelet-insecure-tls"}]'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until kubectl top node 2&gt;/dev/null; do sleep 5;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Top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node        # CPU cores/% and memory bytes/% per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load, then top Pods sorted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2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cpu-burner --image=busybox -- sh -c 'while true; do :; done'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--sort-by=cpu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-A --sort-by=cpu | head 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top needs metrics-server running. --kubelet-insecure-tls is required on Killercoda's self-signed certs. cpu-burner should top the CPU sort; -A spans all namespaces.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~30s, k top node reports CPU/memory and k top pod --sort-by=cpu lists cpu-burner at the top of the usage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and fix broken workloads under time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Failures You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ImagePullBackOff — wrong image name/tag; confirm in describe → Events, then fix and recreate.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CrashLoopBackOff — container exits non-zero; read kubectl logs --previous.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OOMKilled — exceeded the memory limit; raise resources.limits.memory.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get events --sort-by=.lastTimestamp and kubectl debug (ephemeral container) are your fast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DEBUGGING · symptom → tool →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Diagnose: Three Classic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ImagePullBackOff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image name / tag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describe pod → 'Failed to pull'  →  fix the image and recreate.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CrashLoopBackOff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container exits non-zero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kubectl logs --previous  →  fix the command / config.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OOMKilled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exceeded memory limit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describe → Reason: OOMKilled  →  raise resources.limits.memory.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Fast triage:  </a:t>
            </a:r>
            <a:r>
              <a:rPr sz="1200" b="0">
                <a:solidFill>
                  <a:srgbClr val="161B26"/>
                </a:solidFill>
                <a:latin typeface="Arial"/>
              </a:rPr>
              <a:t>kubectl get events --sort-by=.lastTimestamp   ·   kubectl debug (ephemeral container for distroless)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CKAD regularly includes broken workloads you must diagnose and fix under time pressure. Identify and resolve ImagePullBackOff, CrashLoopBackOff and OOMKilled, and use kubectl debug for live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Diagnose three classic failures with describe/logs/events, then inject an ephemeral debug container.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describe · k get · » ImagePullBackOff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ImagePullBackOff (wrong image 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typo | tail -15      # 'Failed to pull image'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typo --force --grace-period=0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typo --image=nginx:1.25       # corrected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CrashLoopBackOff (container exits non-zero)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crash | grep -A3 "Last State"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 --previous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OOMKilled (exceeds memory limit)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hungry | grep -A4 "Last State"   # Reason: OOMKilled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fix: raise resources.limits.memory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Cluster-wide events + ephemeral debug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-A --sort-by=.lastTimestamp | tail -20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--field-selector type=Warning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debug crash -it --image=busybox --target=crash -- 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ImagePullBackOff → wrong image/tag. CrashLoopBackOff → use logs --previous. OOMKilled → raise the memory limit. kubectl debug injects an ephemeral container sharing the target's namespaces — vital for distroless images with no shell.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describe reveals the correct failure reason for each Pod (ImagePullBackOff, CrashLoopBackOff, OOMKilled), and k debug opens a shell inside the running Pod.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API Deprecations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Find the right apiVersion with kubectl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STAY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APIs Change — Know How to Look Them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API versions are deprecated and eventually removed (e.g. extensions/v1beta1 Ingress, gone in 1.22).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api-resources shows the correct apiVersion for every resource in its APIVERSION column.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api-versions lists every version the cluster serves.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explain &lt;resource&gt;.&lt;field&gt; --recursive documents fields without leaving the terminal.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DEPRECATIONS · read it from kubectl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Find the Right apiVersion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Pod · Service · ConfigMap · Secret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2066544"/>
            <a:ext cx="50292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1920240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2024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v1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96896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96896"/>
            <a:ext cx="9144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596896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Deployment · StatefulSet · DaemonSet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95160" y="2743200"/>
            <a:ext cx="502920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2596896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596896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apps/v1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73552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273552"/>
            <a:ext cx="9144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273552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Job · CronJob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95160" y="3419856"/>
            <a:ext cx="502920" cy="274320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3273552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3273552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batch/v1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950208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50208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950208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Ingress · NetworkPolicy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995160" y="4096512"/>
            <a:ext cx="50292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3950208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950208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networking.k8s.io/v1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626864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626864"/>
            <a:ext cx="9144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626864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Role · RoleBinding · ClusterRole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95160" y="4773168"/>
            <a:ext cx="502920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4626864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4626864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rbac.authorization.k8s.io/v1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the </a:t>
            </a:r>
            <a:r>
              <a:rPr sz="1300" b="1">
                <a:solidFill>
                  <a:srgbClr val="161B26"/>
                </a:solidFill>
                <a:latin typeface="Arial"/>
              </a:rPr>
              <a:t>APIVERSION</a:t>
            </a:r>
            <a:r>
              <a:rPr sz="1300" b="0">
                <a:solidFill>
                  <a:srgbClr val="5B6372"/>
                </a:solidFill>
                <a:latin typeface="Arial"/>
              </a:rPr>
              <a:t> column of </a:t>
            </a:r>
            <a:r>
              <a:rPr sz="1300" b="1">
                <a:solidFill>
                  <a:srgbClr val="0B1220"/>
                </a:solidFill>
                <a:latin typeface="Arial"/>
              </a:rPr>
              <a:t>kubectl api-resources</a:t>
            </a:r>
            <a:r>
              <a:rPr sz="1300" b="0">
                <a:solidFill>
                  <a:srgbClr val="5B6372"/>
                </a:solidFill>
                <a:latin typeface="Arial"/>
              </a:rPr>
              <a:t>; explore fields with </a:t>
            </a:r>
            <a:r>
              <a:rPr sz="1300" b="1">
                <a:solidFill>
                  <a:srgbClr val="0B1220"/>
                </a:solidFill>
                <a:latin typeface="Arial"/>
              </a:rPr>
              <a:t>kubectl explain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API 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API Deprecations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Kubernetes API evolves — old versions are deprecated and removed. CKAD tests kubectl explain, api-resources and api-versions. You must find the correct apiVersion for any resource on exam day using only kubectl.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List resources and versions, explore schemas with explain, detect a removed API, and look up the current version.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api-resources · k explain · Pod/Service/ConfigMap/Secret/SA/Quota/LimitRange -&gt;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List resources, groups and served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--api-group=apps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--api-group=batch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api-versions |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Explore a schema with explain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deployment.spec.strategy.rollingUpdate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pod.spec.containers.resources --recursive | head 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Detect a removed API and find the replacement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extensions/v1beta1 Ingress was removed in 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ingress --api-version=networking.k8s.io/v1 | head -10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| grep -i ingress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Stable apiVersions to memorise (v1.35)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Pod/Service/ConfigMap/Secret/SA/Quota/LimitRange  -&gt;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Deployment/StatefulSet/DaemonSet/ReplicaSet        -&gt; apps/v1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Job/CronJob                                        -&gt;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Ingress/NetworkPolicy                              -&gt;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Role/RoleBinding/ClusterRole(+Binding)             -&gt;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HorizontalPodAutoscaler                            -&gt; autoscaling/v2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api-resources shows the correct apiVersion in its APIVERSION column — the exam-legal way to look it up. kubectl explain &lt;res&gt;.&lt;field&gt; documents fields without leaving the terminal.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api-resources | grep -i ingress shows networking.k8s.io/v1, and k explain deployment.spec.strategy.rollingUpdate prints the maxSurge/maxUnavailable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Configuration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ConfigMaps · Secrets · securityContext · ServiceAccounts · RBAC · quotas (25%)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Inject non-secret configuration into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EXTERNAL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Decouple Config from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ConfigMap holds non-secret key/value data; create it with --from-literal, --from-file or --from-env-file.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one key with configMapKeyRef, all keys with envFrom, or mount it as a file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Volume-mounted ConfigMaps update live (~60s); env-var injections are fixed at Pod startup.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Keep config out of the image so the same image runs in every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CONFIGMAPS · env · envFrom ·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Ways to Consume a ConfigMap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74320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52374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ConfigMap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COLOR=blue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GREETING=hello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app.conf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920240"/>
            <a:ext cx="6309360" cy="384048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6309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514600"/>
            <a:ext cx="4480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514600"/>
            <a:ext cx="4261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 (one key)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configMapKeyRef → $COLOR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12080" y="2743200"/>
            <a:ext cx="141732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0" y="3474720"/>
            <a:ext cx="4480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3474720"/>
            <a:ext cx="4261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envFrom (all keys)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key becomes an env var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12080" y="3703320"/>
            <a:ext cx="141732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4434840"/>
            <a:ext cx="4480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434840"/>
            <a:ext cx="4261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volume mount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key becomes a file in /etc/app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12080" y="4663440"/>
            <a:ext cx="141732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Volume-mounted ConfigMaps </a:t>
            </a:r>
            <a:r>
              <a:rPr sz="1300" b="1">
                <a:solidFill>
                  <a:srgbClr val="161B26"/>
                </a:solidFill>
                <a:latin typeface="Arial"/>
              </a:rPr>
              <a:t>update live (~60s)</a:t>
            </a:r>
            <a:r>
              <a:rPr sz="1300" b="0">
                <a:solidFill>
                  <a:srgbClr val="5B6372"/>
                </a:solidFill>
                <a:latin typeface="Arial"/>
              </a:rPr>
              <a:t>; env-var injections are </a:t>
            </a:r>
            <a:r>
              <a:rPr sz="1300" b="1">
                <a:solidFill>
                  <a:srgbClr val="161B26"/>
                </a:solidFill>
                <a:latin typeface="Arial"/>
              </a:rPr>
              <a:t>fixed at Pod startup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CONFIGMAPS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ConfigMaps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ConfigMaps inject non-secret configuration into Pods. CKAD tests all three injection styles: a single env var (configMapKeyRef), bulk env vars (envFrom), and file-based volume mounts — and that only file mounts update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ConfigMaps three ways, inject one key, inject all keys with envFrom, mount as files, then update live.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env: · envFrom: · volumeMounts: · » Creation: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ConfigMaps three 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app-cfg --from-literal=COLOR=blue --from-literal=GREETING=hello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app-conf --from-file=app.conf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app-env  --from-env-file=env.list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a single key as an env 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COLOR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valueFrom: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configMapKeyRef: {name: app-cfg, key: COLOR}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Inject all keys with envFrom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app-cfg}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app-env}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Mount a ConfigMap as a file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{name: cfg, mountPath: /etc/app}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cfg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configMap: {name: app-conf}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Creation: --from-literal, --from-file, --from-env-file. Consumption: configMapKeyRef (one key), envFrom (all keys), volume mount (file per key). Volume-mounted ConfigMaps update live (~60s); env-var injections are fixed at Pod startup and need a restart.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single-key Pod logs COLOR=blue, the envFrom Pod shows all four variables, and the mounted ConfigMap appears as files under /etc/app.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Sensitive configuration, guarded by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SENSITIVE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vs ConfigMaps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Secrets work like ConfigMaps but values are base64-encoded and access is more tightly controlled.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Types: generic, tls (kubernetes.io/tls) and docker-registry (for imagePullSecrets).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with envFrom: secretRef (all keys) or secretKeyRef (one key); mount with defaultMode: 0400.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Base64 is not encryption — restrict access with RBAC and enable encryption at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SECRETS · base64, guarded by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— Inject as Env or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7432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52374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Secret (db-cred)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DB_USER (base64)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DB_PASS (base64)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type: Opaque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148840"/>
            <a:ext cx="6309360" cy="310896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6309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743200"/>
            <a:ext cx="44805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743200"/>
            <a:ext cx="4261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 vars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envFrom: secretRef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$DB_USER / $DB_PASS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794760"/>
            <a:ext cx="44805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3794760"/>
            <a:ext cx="4261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file volume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mountPath: /etc/sec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defaultMode: 0400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12080" y="3108960"/>
            <a:ext cx="1417320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212080" y="4160520"/>
            <a:ext cx="1417320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Secrets are </a:t>
            </a:r>
            <a:r>
              <a:rPr sz="1300" b="1">
                <a:solidFill>
                  <a:srgbClr val="DC2626"/>
                </a:solidFill>
                <a:latin typeface="Arial"/>
              </a:rPr>
              <a:t>base64-encoded, not encrypted</a:t>
            </a:r>
            <a:r>
              <a:rPr sz="1300" b="0">
                <a:solidFill>
                  <a:srgbClr val="5B6372"/>
                </a:solidFill>
                <a:latin typeface="Arial"/>
              </a:rPr>
              <a:t> — restrict with RBAC. </a:t>
            </a:r>
            <a:r>
              <a:rPr sz="1300" b="1">
                <a:solidFill>
                  <a:srgbClr val="161B26"/>
                </a:solidFill>
                <a:latin typeface="Arial"/>
              </a:rPr>
              <a:t>defaultMode: 0400</a:t>
            </a:r>
            <a:r>
              <a:rPr sz="1300" b="0">
                <a:solidFill>
                  <a:srgbClr val="5B6372"/>
                </a:solidFill>
                <a:latin typeface="Arial"/>
              </a:rPr>
              <a:t> = owner read-only.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Secrets are like ConfigMaps but base64-encoded with stricter access. CKAD tests generic, tls and docker-registry types, env-var injection, file mounts with defaultMode, and decoding values. Secrets are not encrypted — protect them with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generic Secret, decode it, inject as env vars, mount with 0400 mode, then create tls and docker-registry Secrets.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envFrom: · volumes: · » 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generic Secret and decode a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generic db-cred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--from-literal=DB_USER=admin --from-literal=DB_PASS=s3cr3t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secret db-cred -o jsonpath='{.data.DB_PASS}' | base64 -d;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Secret keys as env vars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secretRef: {name: db-cred}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Mount a Secret as files with restrictive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secret: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db-cred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defaultMode: 0400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TLS and docker-registry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tls demo-tls --cert=tls.crt --key=tls.key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docker-registry myreg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--docker-server=registry.example.com --docker-username=u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--docker-password=p --docker-email=u@example.com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Types: generic, tls (kubernetes.io/tls), docker-registry. envFrom: secretRef injects all keys; secretKeyRef injects one. Reference a registry Secret via spec.imagePullSecrets. Base64 ≠ encryption — restrict with RBAC.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base64 -d on .data.DB_PASS returns s3cr3t, the mounted Secret files are mode 0400, and the tls Secret reports type kubernetes.io/tls.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 container identity &amp; privileges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LEAST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Containers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securityContext sets the user, group and privileges a container runs with.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Pod-level applies to all containers; container-level overrides one container.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runAsNonRoot: true blocks any image whose default user is root.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Hardened pattern: readOnlyRootFilesystem + capabilities.drop:[ALL] + allowPrivilegeEscalation:false.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SECURITY · identity &amp; privileges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 — Pod vs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828800"/>
            <a:ext cx="960120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975104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423160"/>
            <a:ext cx="8869680" cy="9144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423160"/>
            <a:ext cx="8321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Pod-level securityContext — applies to ALL containers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runAsUser · runAsGroup · fsGroup · runAsNonRoot: 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3657600"/>
            <a:ext cx="4206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7088" y="3657600"/>
            <a:ext cx="39867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inherits Pod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4206240" cy="13716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4206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767328"/>
            <a:ext cx="3986784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B (override)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readOnlyRootFilesystem: true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capabilities.drop: [ALL]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allowPrivilegeEscalation: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Pod-level sets defaults for all containers; </a:t>
            </a:r>
            <a:r>
              <a:rPr sz="1300" b="1">
                <a:solidFill>
                  <a:srgbClr val="161B26"/>
                </a:solidFill>
                <a:latin typeface="Arial"/>
              </a:rPr>
              <a:t>container-level overrides one</a:t>
            </a:r>
            <a:r>
              <a:rPr sz="1300" b="0">
                <a:solidFill>
                  <a:srgbClr val="5B6372"/>
                </a:solidFill>
                <a:latin typeface="Arial"/>
              </a:rPr>
              <a:t>. Hardened = nonRoot + read-only FS + drop ALL caps.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SECURITYCONTEXT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SecurityContext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securityContext controls the identity and privileges of containers. CKAD asks you to enforce non-root execution, a read-only root filesystem and dropped Linux capabilities — at Pod level (all containers) or container level (one override).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as a set user/group, enforce runAsNonRoot, lock the root filesystem, then drop all capabilities.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securityContext: · » Pod-level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Run as a specific user and group (Pod level)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runAsUser: 1000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runAsGroup: 3000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fsGroup: 2000     # applies to volume mounts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Enforce runAsNonRoot (blocks root images)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runAsNonRoot: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nginx runs as root -&gt; Pod refuses to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Read-only root filesystem (container level)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readOnlyRootFilesystem: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mount an emptyDir for any writable path (e.g. /tmp)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Drop Linux capabilities (hardened container)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capabilities: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drop: ["ALL"]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add: ["NET_BIND_SERVICE"]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allowPrivilegeEscalation: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Pod-level securityContext applies to all containers; container-level overrides one. The CKAD hardened pattern = runAsNonRoot: true + readOnlyRootFilesystem: true + capabilities.drop: [ALL] + allowPrivilegeEscalation: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non-root Pod logs uid=1000 gid=3000, the runAsNonRoot nginx Pod refuses to start, and writes to the read-only root filesystem are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identity a Pod presents to the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AM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Every Pod runs as a ServiceAccount — the default one has minimal permissions.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spec.serviceAccountName attaches a dedicated ServiceAccount to a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token, CA cert and namespace are projected into /var/run/secrets/kubernetes.io/serviceaccount/.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automountServiceAccountToken: false enforces least privilege; kubectl create token mints short-lived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 · how a Pod talks to the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 &amp; Projected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serviceAccountName: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app-sa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auto-mounted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Projected token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token · ca.crt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namespace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Authorization: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Bearer token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RBAC decides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07408"/>
            <a:ext cx="10652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/var/run/secrets/kubernetes.io/serviceaccount/   ·   automountServiceAccountToken: false to opt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Pod runs as a ServiceAccount (</a:t>
            </a:r>
            <a:r>
              <a:rPr sz="1300" b="1">
                <a:solidFill>
                  <a:srgbClr val="161B26"/>
                </a:solidFill>
                <a:latin typeface="Arial"/>
              </a:rPr>
              <a:t>default</a:t>
            </a:r>
            <a:r>
              <a:rPr sz="1300" b="0">
                <a:solidFill>
                  <a:srgbClr val="5B6372"/>
                </a:solidFill>
                <a:latin typeface="Arial"/>
              </a:rPr>
              <a:t> if unset). No RBAC → the API returns </a:t>
            </a:r>
            <a:r>
              <a:rPr sz="1300" b="1">
                <a:solidFill>
                  <a:srgbClr val="DC2626"/>
                </a:solidFill>
                <a:latin typeface="Arial"/>
              </a:rPr>
              <a:t>403 Forbidden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SERVICEACCOUNTS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Every Pod runs as a ServiceAccount; the default one has minimal RBAC. CKAD tests creating dedicated ServiceAccounts, attaching them to Pods, disabling the auto-mounted token, and requesting short-lived tokens with kubectl create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ServiceAccount, attach it to a Pod, inspect the projected token, disable auto-mount, then mint a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exec · k patch · TOKEN=$(k create · » `spec.serviceAccountName`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ServiceAccount and attach it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serviceaccount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serviceAccountName: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app -o jsonpath='{.spec.serviceAccountName}';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Inspect the auto-mounted token inside the 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app -- ls /var/run/secrets/kubernetes.io/serviceaccount/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Disable token auto-mount (least privilege)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sa app-sa -p '{"automountServiceAccountToken": false}'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Request a short-lived ad-hoc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TOKEN=$(k create token app-sa --duration=1h)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 $TOKEN | cut -c1-60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spec.serviceAccountName attaches a custom SA. Token, CA and namespace are projected under /var/run/secrets/kubernetes.io/serviceaccount/. automountServiceAccountToken: false enforces least privilege; kubectl create token replaces the old Secret-backed tokens (removed in 1.24+).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app -o jsonpath='{.spec.serviceAccountName}' returns app-sa, and kubectl create token app-sa prints a short-lived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can do what, on which resources,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Role/ClusterRole lists allowed verbs (get, list, create, delete…) on resources.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RoleBinding/ClusterRoleBinding ties that Role to a subject (ServiceAccount, user or group).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Role + RoleBinding = one namespace; ClusterRole + ClusterRoleBinding = cluster-wide.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ClusterRole + RoleBinding limits a cluster role's verbs to a single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Validate without logging in: kubectl auth can-i &lt;verb&gt; &lt;resource&gt; --as=&lt;identity&gt;.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AUTHORIZATION · who can do what,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Subject → Binding →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Subject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ServiceAccount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user / group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136392"/>
            <a:ext cx="731520" cy="402336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bound 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1EB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468880"/>
            <a:ext cx="306324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RoleBinding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links subject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 a Role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136392"/>
            <a:ext cx="731520" cy="402336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grants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46888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verbs: get,list,watch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resources: pods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29200"/>
            <a:ext cx="52120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Role + RoleBinding</a:t>
            </a:r>
            <a:r>
              <a:rPr sz="1300" b="0">
                <a:solidFill>
                  <a:srgbClr val="5B6372"/>
                </a:solidFill>
                <a:latin typeface="Arial"/>
              </a:rPr>
              <a:t>  = one namespace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029200"/>
            <a:ext cx="52120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029200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ClusterRole + ClusterRoleBinding</a:t>
            </a:r>
            <a:r>
              <a:rPr sz="1300" b="0">
                <a:solidFill>
                  <a:srgbClr val="5B6372"/>
                </a:solidFill>
                <a:latin typeface="Arial"/>
              </a:rPr>
              <a:t>  = cluster-wide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RBAC controls who can do what on which resources. CKAD tests creating Roles, ClusterRoles, RoleBindings and ClusterRoleBindings imperatively, and validating with kubectl auth can-i --as. Know namespace- vs cluster-scope.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Role + RoleBinding for a ServiceAccount, validate with can-i, then a ClusterRole bound two ways.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auth · »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Role: namespace-scoped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 pod-reader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--verb=get,list,watch --resource=pods -n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RoleBinding: link Role to a ServiceAccount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viewer-binding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--role=pod-reader --serviceaccount=dev:viewer -n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Validate with kubectl auth can-i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dev     --as=system:serviceaccount:dev:viewer  # yes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delete pods -n dev     --as=system:serviceaccount:dev:viewer  # no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default --as=system:serviceaccount:dev:viewer  #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ClusterRole bound cluster-wide vs to one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 node-reader --verb=get,list --resource=nodes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clusterrolebinding nodes-binding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--serviceaccount=dev:nodes-sa   # all namespaces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dev-node-reader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--serviceaccount=dev:viewer -n dev  # only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Role + RoleBinding = namespace-scoped. ClusterRole + ClusterRoleBinding = cluster-wide. ClusterRole + RoleBinding = the cluster role's verbs limited to one namespace. kubectl auth can-i &lt;verb&gt; &lt;res&gt; --as=&lt;identity&gt; validates without logging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auth can-i list pods -n dev --as=system:serviceaccount:dev:viewer returns yes while delete pods and cross-namespace list return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Quotas &amp;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Cap namespace usage &amp; per-container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 Resource Consumption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ResourceQuota caps the aggregate resources a namespace can consume (pods, requests, limits).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LimitRange enforces per-container defaults, defaultRequests and maximums.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Without a LimitRange, Pods with no resource block are rejected in a quota-enforced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describe quota shows Used vs Hard — the primary troubleshooting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POLICY · namespace ceilings &amp; per-container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vs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828800"/>
            <a:ext cx="960120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975104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Namespace: team-a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514600"/>
            <a:ext cx="4206240" cy="12801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2514600"/>
            <a:ext cx="4206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7088" y="2624328"/>
            <a:ext cx="3986784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ResourceQuota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 ceiling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pods: 5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requests/limits cpu+mem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4206240" cy="12801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514600"/>
            <a:ext cx="4206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624328"/>
            <a:ext cx="3986784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LimitRange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per-container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default / defaultRequest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max ceiling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02336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4023360"/>
            <a:ext cx="25237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gets defaults injected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02336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023360"/>
            <a:ext cx="25237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within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02336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C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4023360"/>
            <a:ext cx="25237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Pod ✗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6th pod / over max → rejected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ResourceQuota caps </a:t>
            </a:r>
            <a:r>
              <a:rPr sz="1300" b="1">
                <a:solidFill>
                  <a:srgbClr val="161B26"/>
                </a:solidFill>
                <a:latin typeface="Arial"/>
              </a:rPr>
              <a:t>total namespace usage</a:t>
            </a:r>
            <a:r>
              <a:rPr sz="1300" b="0">
                <a:solidFill>
                  <a:srgbClr val="5B6372"/>
                </a:solidFill>
                <a:latin typeface="Arial"/>
              </a:rPr>
              <a:t>; LimitRange enforces </a:t>
            </a:r>
            <a:r>
              <a:rPr sz="1300" b="1">
                <a:solidFill>
                  <a:srgbClr val="161B26"/>
                </a:solidFill>
                <a:latin typeface="Arial"/>
              </a:rPr>
              <a:t>per-container defaults &amp; maxima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QUOTAS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Quotas &amp;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ResourceQuota caps the total resources used across a namespace; LimitRange enforces per-container defaults and maximums. CKAD tests both — write the YAML, apply them, and understand the rejection error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a ResourceQuota and a LimitRange, watch defaults get injected, then violate the max and the quota.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spec: · k run · for i · » ResourceQuota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ResourceQuota: namespace-wide ceilings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hard: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pods: "5"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requests.cpu: "1"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requests.memory: 1Gi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limits.cpu: "2"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limits.memory: 2Gi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LimitRange: per-container defaults and maximums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type: Container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default:        {cpu: 200m, memory: 256Mi}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defaultRequest: {cpu: 100m, memory: 128Mi}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max:            {cpu: 500m, memory: 512Mi}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Defaults injected; max enforced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a --image=nginx:1.25 -n team-a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 -n team-a -o jsonpath='{.spec.containers[0].resources}'; echo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 container requesting cpu:1 is rejected: 'maximum cpu per Container is 500m'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Exceed the quota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for i in 1 2 3 4; do k run quota-$i --image=nginx:1.25 -n team-a; done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quota-5 --image=nginx:1.25 -n team-a   # 'exceeded quota: team-a-quota'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quota team-a-quota -n team-a       # Used vs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ResourceQuota limits aggregate usage; exceeding it rejects new Pods. LimitRange enforces per-container min/max/defaults. Without a LimitRange, Pods with no resource block cannot be created in a quota-enforced namespace.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Pod with no resource block gets requests/limits injected by the LimitRange, the 6th Pod is rejected with exceeded quota, and describe quota shows Used vs Hard.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3 done — you can observe, configure and secure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 (half day): Services &amp; Networking, then the final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COURSE SLIDES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 panose="020B0604020202020204"/>
              </a:rPr>
              <a:t>Certified Kubernetes Application Developer (CKAD)</a:t>
            </a:r>
            <a:endParaRPr sz="44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WSQ Course Code: TGS-2025053212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 panose="020B0604020202020204"/>
              </a:rPr>
              <a:t>Conducted by Tertiary Infotech Academy Pte Ltd  ·  UEN 201200696W</a:t>
            </a:r>
            <a:endParaRPr sz="14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© 2026 Tertiary Infotech Academy Pte Ltd. All rights reserved.  ·  www.tertiarycourses.com.sg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4  (½ day)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Services &amp; Networking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Services · Service DNS · Ingress with TLS · NetworkPolicy  (CKAD Domain 5 — 20%)  +  Final Assessment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04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DAY 4 OBJECTIVES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Recap &amp; Today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So far: design &amp; build (D1), deployment (D2), observability and config &amp; security (D3).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This morning — Domain 5 Services &amp; Networking (20%): how Pods are reached and isolated.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Services and DNS for stable in-cluster addressing; Ingress for HTTP/HTTPS; NetworkPolicy for isolation.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From 1:00 PM — mock-exam practice; the final written assessment starts at 2:00 PM.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Services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Stable virtual IPs &amp; DNS for a set of Pods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 DISCOVERY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Services?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 IPs are ephemeral — a Service gives a stable virtual IP and DNS name in front of matching Pods.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ClusterIP (default) is in-cluster only; NodePort opens a port on every node; LoadBalancer asks the cloud for an external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Service finds its Pods by label selector; the matching set is tracked as EndpointSlices.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Empty Endpoints almost always means a selector/label mismatch — the most common Service bug.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THREE WAYS TO EXPOSE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Choosing a Service Type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ClusterIP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In-cluster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Stable virtual IP + DNS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Default type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NodePort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Port on every node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30000–32767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Reachable from outside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LoadBalancer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Cloud external IP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Builds on NodePort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One Service, public entry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ClusterIP · NodePort · LoadBalancer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Types — Reaching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ClusterIP</a:t>
            </a:r>
            <a:endParaRPr sz="1500" b="1">
              <a:solidFill>
                <a:srgbClr val="10B981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default · in-cluster only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Stable virtual IP + DNS; reachable only by other Pods.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NodePort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port 30000–32767 on every node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Opens the same port on all nodes → reachable from outside.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 panose="020B0604020202020204"/>
              </a:rPr>
              <a:t>LoadBalancer</a:t>
            </a:r>
            <a:endParaRPr sz="1500" b="1">
              <a:solidFill>
                <a:srgbClr val="7C3AED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cloud provider LB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Provisions an external IP; builds on NodePort underneath.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Routing:  </a:t>
            </a: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selector → EndpointSlices → Pods.   Empty Endpoints = selector/label mismatch (the #1 Service bug).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Service gives a stable virtual IP and DNS name to a set of Pods. CKAD requires fluency with ClusterIP, NodePort and LoadBalancer types, kubectl expose, endpoint debugging and the selector-mismatch pattern.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Expose a Deployment as ClusterIP, NodePort and LoadBalancer, inspect EndpointSlices, then debug a selector mismatch.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expose · k patch · » ClusterIP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Deployment + ClusterIP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--image=nginx:1.25 --replicas=3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svc web-cip | grep -E "IP:|Endpoints:"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NodePort (a port on every node)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--port=80 --target-port=80 --type=NodePort --name=web-np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PORT=$(k get svc web-np -o jsonpath='{.spec.ports[0].nodePort}')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-s http://localhost:$PORT | head -3   # 30000-32767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LoadBalancer + EndpointSlices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--port=80 --type=LoadBalancer --name=web-lb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endpointslices -l kubernetes.io/service-name=web-cip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Debug a selector mismatch (the #1 Service bug)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'{"spec":{"selector":{"app":"does-not-exist"}}}'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 web-cip        # empty = no Pod matches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'{"spec":{"selector":{"app":"web"}}}'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ClusterIP = in-cluster only; NodePort = a port on every node; LoadBalancer = a cloud LB. Empty Endpoints almost always means the selector does not match Pod labels. EndpointSlices (v1.21+) succeed Endpoints.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describe svc web-cip lists three endpoint IPs, the NodePort serves the page on localhost:$PORT, and a bad selector empties the Endpoints until it is fixed.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How CoreDNS resolves Services and Pods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CLUSTER DNS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Names, Not IPs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CoreDNS gives every Service a name: &lt;service&gt;.&lt;namespace&gt;.svc.cluster.local.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Within the same namespace the short name resolves via the Pod's search list.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Cross-namespace you need at least &lt;service&gt;.&lt;namespace&gt;; the full FQDN always works.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headless Service (clusterIP: None) returns every Pod IP instead of a single virtual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 DNS · CoreDNS resolves every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Name Breakdown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377440"/>
            <a:ext cx="23317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web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 panose="020B0604020202020204"/>
              </a:rPr>
              <a:t>service</a:t>
            </a:r>
            <a:endParaRPr sz="11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25420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0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204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377440"/>
            <a:ext cx="23317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54203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2926080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 panose="020B0604020202020204"/>
              </a:rPr>
              <a:t>namespace</a:t>
            </a:r>
            <a:endParaRPr sz="11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33872" y="25420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0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350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377440"/>
            <a:ext cx="23317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54203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svc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0" y="2926080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 panose="020B0604020202020204"/>
              </a:rPr>
              <a:t>type</a:t>
            </a:r>
            <a:endParaRPr sz="11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48472" y="25420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0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496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2377440"/>
            <a:ext cx="2331720" cy="914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54203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cluster.local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49640" y="2926080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 panose="020B0604020202020204"/>
              </a:rPr>
              <a:t>cluster domain</a:t>
            </a:r>
            <a:endParaRPr sz="11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05840" y="3703320"/>
            <a:ext cx="10058400" cy="1600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840480"/>
            <a:ext cx="9601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Same namespace → short name web resolves via the search list.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Cross-namespace → use at least web.app  (service.namespace).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ndots:5 → names with &lt;5 dots try the search list before an absolute lookup.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Headless Service (clusterIP: None) → DNS returns every Pod IP, not one VIP.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 DNS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 DNS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CoreDNS gives every Service a stable DNS name: &lt;service&gt;.&lt;namespace&gt;.svc.cluster.local. CKAD tests cross-namespace resolution, Pod DNS records, headless Services, and reading /etc/resolv.conf to understand ndots:5.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Resolve a Service by short name and FQDN, cross namespaces, read a Pod DNS record and /etc/resolv.conf, then a headless Service.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-n · nslookup web · cat /etc/resolv.conf · » FQDN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Resolve from the same namespace (short name)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run client --image=busybox --restart=Never -it --rm --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sh -c 'nslookup web; wget -qO- web | head -3'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Resolve from a different namespace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              # fails cross-namespace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          # works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Pod DNS record and resolv.conf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Pod A-record: &lt;dashed-ip&gt;.&lt;namespace&gt;.pod.cluster.local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cat /etc/resolv.conf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search app.svc.cluster.local svc.cluster.local 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ndots:5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Headless Service returns all Pod IPs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create service clusterip headless --clusterip="None" --tcp=80:80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headless.app    # returns every Pod IP, not one VIP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FQDN = &lt;service&gt;.&lt;namespace&gt;.svc.cluster.local. Short names resolve via the search list within the namespace; cross-namespace needs &lt;service&gt;.&lt;namespace&gt;. ndots:5 is why short names check the search list before an absolute lookup. Headless (clusterIP: None) returns per-Pod IPs.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nslookup web works in-namespace but needs web.app cross-namespace, and the headless Service resolves to all backing Pod IPs.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Ingress &amp; TLS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Layer-7 HTTP/HTTPS routing into the cluster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L7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One Entry Point, Many Rules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defines host- and path-based HTTP/HTTPS rules that forward to backend Services.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controller (e.g. ingress-nginx) must be running; ingressClassName selects it.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TLS terminates at the controller — tls.secretName points at a kubernetes.io/tls Secret.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pathType: Prefix matches a path and everything below it; Exact requires an exact match.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apiVersion is networking.k8s.io/v1 (extensions/v1beta1 was removed in 1.22).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host &amp; path rules → Services → Pods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— L7 Routing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201168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61488"/>
            <a:ext cx="1792224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Client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HTTPS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demo.local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834640" y="3063240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23317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331720"/>
            <a:ext cx="32918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441448"/>
            <a:ext cx="3072384" cy="1719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Ingress (nginx)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ingressClassName: nginx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tls: demo-tls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/  → web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/v2 → v2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6995160" y="2743200"/>
            <a:ext cx="731520" cy="3840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6995160" y="3657600"/>
            <a:ext cx="731520" cy="3840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2468880"/>
            <a:ext cx="3611880" cy="7772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468880"/>
            <a:ext cx="36118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578608"/>
            <a:ext cx="3392424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Service web :5678</a:t>
            </a:r>
            <a:endParaRPr sz="13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→ Pods (hello-ingress)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18120" y="3520440"/>
            <a:ext cx="3611880" cy="7772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3520440"/>
            <a:ext cx="36118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630168"/>
            <a:ext cx="3392424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Service v2 :5678</a:t>
            </a:r>
            <a:endParaRPr sz="13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→ Pods (hello-v2)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apiVersion </a:t>
            </a:r>
            <a:r>
              <a:rPr sz="1300" b="1">
                <a:solidFill>
                  <a:srgbClr val="0B1220"/>
                </a:solidFill>
                <a:latin typeface="Arial" panose="020B0604020202020204"/>
              </a:rPr>
              <a:t>networking.k8s.io/v1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 TLS terminates at the controller via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tls.secretName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; pathType: Prefix matches a path and below.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INGRESS &amp; TLS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Ingress &amp; TLS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An Ingress provides Layer-7 HTTP/HTTPS routing: hostname and path rules forwarding to backend Services. CKAD tests installing a controller, TLS Secrets, host routing and path-based routing with pathType.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Install ingress-nginx, create a TLS Secret, write a host+TLS Ingress, test HTTPS, then add a path-based rule.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networking.k8s.io/v1 · curl -k · » Ingress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Service + TLS Secret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--image=hashicorp/http-echo --replicas=2 -- -text=hello-ingress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--port=5678 --target-port=5678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tls demo-tls --cert=tls.crt --key=tls.key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Ingress with TLS and host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 {name: demo}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ingressClassName: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hosts: [demo.local]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demo-tls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host: demo.local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http: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paths: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 {service: {name: web, port: {number: 5678}}}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Test HTTPS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        # 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Add path-based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add a second rule: path /v2 -&gt; service v2:5678 (pathType: Prefix)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https://demo.local:$HTTPS_PORT/v2       # hello-v2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Ingress apiVersion is networking.k8s.io/v1. ingressClassName selects the controller; tls.secretName must point at a kubernetes.io/tls Secret; pathType: Prefix matches a path and everything below it. --resolve + -k let curl test without real DNS or a valid cert.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curl https://demo.local:$HTTPS_PORT/ returns hello-ingress over TLS, and the /v2 path returns hello-v2 after the second rule is added.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Allow-list Pod-to-Pod traffic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 ISOLATION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Restrict the Default Open Network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By default every Pod can talk to every other Pod — NetworkPolicies allow-list specific traffic.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Default-deny: podSelector: {} with policyTypes:[Ingress] and no ingress rules blocks all inbound.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Allow by podSelector (Pods by label) or namespaceSelector (whole namespaces) in from/to.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Egress works the same way — the classic exam pattern is 'deny all egress except DNS (port 53)'.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Policies are additive: multiple policies combine with logical OR on their allow rules.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NETWORKING · default-deny then selective allow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— Allow-List Traffic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30175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3017520"/>
            <a:ext cx="26974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4608" y="3127248"/>
            <a:ext cx="2478024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backend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app: backend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podSelector target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286000"/>
            <a:ext cx="2743200" cy="9144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2523744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7A3E"/>
                </a:solidFill>
                <a:latin typeface="Arial" panose="020B0604020202020204"/>
              </a:rPr>
              <a:t>client-ok</a:t>
            </a:r>
            <a:endParaRPr sz="14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role: allowed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C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20"/>
            <a:ext cx="274320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041648"/>
            <a:ext cx="2523744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C2626"/>
                </a:solidFill>
                <a:latin typeface="Arial" panose="020B0604020202020204"/>
              </a:rPr>
              <a:t>client-bad</a:t>
            </a:r>
            <a:endParaRPr sz="1400" b="1">
              <a:solidFill>
                <a:srgbClr val="DC26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role: blocked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3611880" y="2697480"/>
            <a:ext cx="1051560" cy="457200"/>
          </a:xfrm>
          <a:prstGeom prst="rightArrow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3317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 panose="020B0604020202020204"/>
              </a:rPr>
              <a:t>ALLOW</a:t>
            </a:r>
            <a:endParaRPr sz="1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3611880" y="4343400"/>
            <a:ext cx="1051560" cy="457200"/>
          </a:xfrm>
          <a:prstGeom prst="right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80060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 panose="020B0604020202020204"/>
              </a:rPr>
              <a:t>BLOCKED</a:t>
            </a:r>
            <a:endParaRPr sz="1200" b="1">
              <a:solidFill>
                <a:srgbClr val="DC2626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595360" y="3017520"/>
            <a:ext cx="28346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3017520"/>
            <a:ext cx="283464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3127248"/>
            <a:ext cx="2615184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 panose="020B0604020202020204"/>
              </a:rPr>
              <a:t>egress</a:t>
            </a:r>
            <a:endParaRPr sz="14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DNS (53) only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example.com blocked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7543800" y="3429000"/>
            <a:ext cx="914400" cy="40233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Default-deny = </a:t>
            </a:r>
            <a:r>
              <a:rPr sz="1300" b="1">
                <a:solidFill>
                  <a:srgbClr val="0B1220"/>
                </a:solidFill>
                <a:latin typeface="Arial" panose="020B0604020202020204"/>
              </a:rPr>
              <a:t>podSelector: {} + policyTypes:[Ingress]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 Allow by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podSelector / namespaceSelector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 Policies are additive (OR).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NETWORKPOLICY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30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NetworkPolicy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By default every Pod can talk to every other Pod. NetworkPolicies allow-list specific sources and destinations. CKAD regularly includes a NetworkPolicy question — you must write a default-deny and a selective-allow policy from scratch.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Apply default-deny ingress, a selective podSelector allow, an egress DNS-only lockdown, then a cross-namespace allow.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spec: · ingress: · » Default-deny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Default deny: block all ingress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Selective allow: only role=allowed reaches the backend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 {app: backend}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[Ingress]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matchLabels: {role: allowed}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{protocol: TCP, port: 5678}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Egress lockdown: allow DNS only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{matchLabels: {role: blocked}}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[Egress]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to: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namespaceSelector: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podSelector: {matchLabels: {k8s-app: kube-dns}}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 [{protocol: UDP, port: 53}, {protocol: TCP, port: 53}]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Cross-namespace allow (namespaceSelector)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namespaceSelector: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matchLabels: {purpose: trusted}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Default-deny = podSelector: {} + policyTypes: [Ingress] with no ingress list. podSelector in from matches Pods by label in the same namespace; namespaceSelector matches whole namespaces. Policies are additive — multiple policies combine with logical OR.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the allow policy, client-ok (role=allowed) reaches the backend while client-bad stays blocked, proving the NetworkPolicy is enforced.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COURSE COMPLETE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All five CKAD domains complete.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Design &amp; build · Deployment · Observability · Config &amp; Security · Services &amp; Networking.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Lunch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 panose="020B0604020202020204"/>
              </a:rPr>
              <a:t>1 hour</a:t>
            </a:r>
            <a:endParaRPr sz="2200" b="1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MOCK EXAM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Mock-Exam Practice — from 1:00 PM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Practise on killer.sh / Killercoda before the graded assessment · ask questions freely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WARM-UP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Mock-Exam Practice (1:00 PM)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164528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Warm-up before the graded assessment — work hands-on questions across all five domains.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Use killer.sh and Killercoda; rehearse the alias k, $do dry-run and kubectl explain workflow.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Time yourself and flag weak areas — the real CKAD is 2 hours, 100% hands-on.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Trainer is available for questions; the final assessment begins at </a:t>
            </a:r>
            <a:r>
              <a:rPr lang="en-SG" sz="1900">
                <a:solidFill>
                  <a:srgbClr val="161B26"/>
                </a:solidFill>
                <a:latin typeface="Arial" panose="020B0604020202020204"/>
              </a:rPr>
              <a:t>4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:00 PM.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ASSESSMENT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Final Assessment — from </a:t>
            </a:r>
            <a:r>
              <a:rPr lang="en-SG" sz="4000" b="1">
                <a:solidFill>
                  <a:srgbClr val="161B26"/>
                </a:solidFill>
                <a:latin typeface="Arial" panose="020B0604020202020204"/>
              </a:rPr>
              <a:t>4</a:t>
            </a: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:00 PM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Written / MCQ on the LMS · open book · covers all five domains and the hands-on labs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FINAL ASSESSMENT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 panose="020B0604020202020204"/>
              </a:rPr>
              <a:t>Final Assessment</a:t>
            </a:r>
            <a:endParaRPr sz="1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180467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Written / MCQ assessment on the LMS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Mock-exam practice from 1:00 PM; final assessment from </a:t>
            </a:r>
            <a:r>
              <a:rPr lang="en-SG" sz="1300">
                <a:solidFill>
                  <a:srgbClr val="161B26"/>
                </a:solidFill>
                <a:latin typeface="Arial" panose="020B0604020202020204"/>
              </a:rPr>
              <a:t>4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:00 PM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Covers all five CKAD domains and the hands-on labs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 book — slides, Learner Guide &amp; kubernetes.io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Must be attempted for SSG funding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 panose="020B0604020202020204"/>
              </a:rPr>
              <a:t>Funding &amp; Competency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Minimum 75% attendance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Based on SSG digital attendance records.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Assessed as Competent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Pass the written / MCQ assessment.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ASSESSMENT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Briefing for 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Clear your space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Keep only approved materials on the table.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No recording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photos of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Work individually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discussion during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Use the LMS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The assessment is delivered online.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br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Open book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Slides, Learner Guide &amp; kubernetes.io are allowed.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Time's up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Submit when time is up.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THANK YOU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Thank you — and good luck with the CKAD exam!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Keep practising on killer.sh and Killercoda; the exam is 2 hours, 100% hands-on.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