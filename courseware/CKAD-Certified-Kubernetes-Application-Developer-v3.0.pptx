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6" r:id="rId110"/>
    <p:sldId id="367" r:id="rId111"/>
    <p:sldId id="368" r:id="rId112"/>
    <p:sldId id="369" r:id="rId113"/>
    <p:sldId id="370" r:id="rId114"/>
    <p:sldId id="371" r:id="rId115"/>
    <p:sldId id="372" r:id="rId116"/>
    <p:sldId id="373" r:id="rId117"/>
    <p:sldId id="374" r:id="rId118"/>
    <p:sldId id="375" r:id="rId119"/>
    <p:sldId id="376" r:id="rId120"/>
    <p:sldId id="377" r:id="rId121"/>
    <p:sldId id="378" r:id="rId122"/>
    <p:sldId id="379" r:id="rId123"/>
    <p:sldId id="380" r:id="rId124"/>
    <p:sldId id="381" r:id="rId125"/>
    <p:sldId id="382" r:id="rId126"/>
    <p:sldId id="383" r:id="rId127"/>
    <p:sldId id="384" r:id="rId128"/>
    <p:sldId id="385" r:id="rId129"/>
    <p:sldId id="386" r:id="rId130"/>
    <p:sldId id="387" r:id="rId131"/>
    <p:sldId id="388" r:id="rId132"/>
    <p:sldId id="389" r:id="rId133"/>
    <p:sldId id="390" r:id="rId134"/>
    <p:sldId id="391" r:id="rId135"/>
    <p:sldId id="392" r:id="rId136"/>
    <p:sldId id="393" r:id="rId137"/>
    <p:sldId id="394" r:id="rId138"/>
    <p:sldId id="395" r:id="rId139"/>
    <p:sldId id="396" r:id="rId140"/>
    <p:sldId id="397" r:id="rId141"/>
    <p:sldId id="398" r:id="rId142"/>
    <p:sldId id="399" r:id="rId143"/>
    <p:sldId id="400" r:id="rId144"/>
    <p:sldId id="401" r:id="rId145"/>
    <p:sldId id="402" r:id="rId146"/>
    <p:sldId id="403" r:id="rId147"/>
    <p:sldId id="404" r:id="rId148"/>
    <p:sldId id="405" r:id="rId149"/>
    <p:sldId id="406" r:id="rId150"/>
    <p:sldId id="407" r:id="rId151"/>
    <p:sldId id="408" r:id="rId152"/>
    <p:sldId id="409" r:id="rId153"/>
    <p:sldId id="410" r:id="rId154"/>
    <p:sldId id="411" r:id="rId155"/>
    <p:sldId id="412" r:id="rId156"/>
    <p:sldId id="413" r:id="rId157"/>
    <p:sldId id="414" r:id="rId158"/>
    <p:sldId id="415" r:id="rId159"/>
    <p:sldId id="416" r:id="rId160"/>
    <p:sldId id="417" r:id="rId161"/>
    <p:sldId id="418" r:id="rId162"/>
    <p:sldId id="419" r:id="rId163"/>
    <p:sldId id="420" r:id="rId164"/>
    <p:sldId id="421" r:id="rId165"/>
    <p:sldId id="422" r:id="rId166"/>
    <p:sldId id="423" r:id="rId167"/>
    <p:sldId id="424" r:id="rId168"/>
    <p:sldId id="425" r:id="rId169"/>
    <p:sldId id="426" r:id="rId170"/>
    <p:sldId id="427" r:id="rId171"/>
    <p:sldId id="428" r:id="rId172"/>
    <p:sldId id="429" r:id="rId173"/>
    <p:sldId id="430" r:id="rId174"/>
    <p:sldId id="431" r:id="rId175"/>
    <p:sldId id="432" r:id="rId176"/>
    <p:sldId id="433" r:id="rId177"/>
    <p:sldId id="434" r:id="rId178"/>
    <p:sldId id="435" r:id="rId179"/>
    <p:sldId id="436" r:id="rId180"/>
    <p:sldId id="437" r:id="rId181"/>
    <p:sldId id="438" r:id="rId182"/>
    <p:sldId id="439" r:id="rId183"/>
    <p:sldId id="440" r:id="rId184"/>
    <p:sldId id="441" r:id="rId185"/>
    <p:sldId id="442" r:id="rId186"/>
    <p:sldId id="443" r:id="rId187"/>
    <p:sldId id="444" r:id="rId188"/>
    <p:sldId id="445" r:id="rId189"/>
    <p:sldId id="446" r:id="rId190"/>
    <p:sldId id="447" r:id="rId191"/>
    <p:sldId id="448" r:id="rId192"/>
    <p:sldId id="449" r:id="rId193"/>
    <p:sldId id="450" r:id="rId194"/>
    <p:sldId id="451" r:id="rId195"/>
    <p:sldId id="452" r:id="rId196"/>
    <p:sldId id="453" r:id="rId197"/>
    <p:sldId id="454" r:id="rId198"/>
    <p:sldId id="455" r:id="rId199"/>
    <p:sldId id="456" r:id="rId200"/>
    <p:sldId id="457" r:id="rId201"/>
    <p:sldId id="458" r:id="rId202"/>
    <p:sldId id="459" r:id="rId203"/>
    <p:sldId id="460" r:id="rId204"/>
    <p:sldId id="461" r:id="rId205"/>
    <p:sldId id="462" r:id="rId206"/>
    <p:sldId id="463" r:id="rId207"/>
    <p:sldId id="464" r:id="rId208"/>
    <p:sldId id="465" r:id="rId209"/>
    <p:sldId id="466" r:id="rId210"/>
    <p:sldId id="467" r:id="rId211"/>
    <p:sldId id="468" r:id="rId212"/>
    <p:sldId id="469" r:id="rId213"/>
    <p:sldId id="470" r:id="rId214"/>
    <p:sldId id="471" r:id="rId215"/>
    <p:sldId id="472" r:id="rId216"/>
    <p:sldId id="473" r:id="rId217"/>
    <p:sldId id="474" r:id="rId218"/>
    <p:sldId id="475" r:id="rId219"/>
    <p:sldId id="476" r:id="rId220"/>
    <p:sldId id="477" r:id="rId221"/>
    <p:sldId id="478" r:id="rId222"/>
    <p:sldId id="479" r:id="rId223"/>
    <p:sldId id="480" r:id="rId224"/>
    <p:sldId id="481" r:id="rId225"/>
    <p:sldId id="482" r:id="rId226"/>
    <p:sldId id="483" r:id="rId227"/>
    <p:sldId id="484" r:id="rId228"/>
    <p:sldId id="485" r:id="rId229"/>
    <p:sldId id="486" r:id="rId230"/>
    <p:sldId id="487" r:id="rId231"/>
    <p:sldId id="488" r:id="rId232"/>
    <p:sldId id="489" r:id="rId233"/>
    <p:sldId id="490" r:id="rId234"/>
    <p:sldId id="491" r:id="rId235"/>
    <p:sldId id="492" r:id="rId236"/>
    <p:sldId id="493" r:id="rId237"/>
    <p:sldId id="494" r:id="rId238"/>
    <p:sldId id="495" r:id="rId239"/>
    <p:sldId id="496" r:id="rId240"/>
    <p:sldId id="497" r:id="rId241"/>
    <p:sldId id="498" r:id="rId242"/>
    <p:sldId id="499" r:id="rId243"/>
    <p:sldId id="500" r:id="rId244"/>
    <p:sldId id="501" r:id="rId245"/>
    <p:sldId id="502" r:id="rId246"/>
    <p:sldId id="503" r:id="rId247"/>
    <p:sldId id="504" r:id="rId248"/>
    <p:sldId id="505" r:id="rId249"/>
    <p:sldId id="506" r:id="rId250"/>
    <p:sldId id="507" r:id="rId251"/>
    <p:sldId id="508" r:id="rId252"/>
    <p:sldId id="509" r:id="rId253"/>
    <p:sldId id="510" r:id="rId254"/>
    <p:sldId id="511" r:id="rId255"/>
    <p:sldId id="512" r:id="rId256"/>
    <p:sldId id="513" r:id="rId257"/>
    <p:sldId id="514" r:id="rId258"/>
    <p:sldId id="515" r:id="rId259"/>
    <p:sldId id="516" r:id="rId260"/>
    <p:sldId id="517" r:id="rId261"/>
    <p:sldId id="518" r:id="rId262"/>
    <p:sldId id="519" r:id="rId263"/>
    <p:sldId id="520" r:id="rId264"/>
    <p:sldId id="521" r:id="rId265"/>
    <p:sldId id="522" r:id="rId266"/>
    <p:sldId id="523" r:id="rId267"/>
    <p:sldId id="524" r:id="rId268"/>
    <p:sldId id="525" r:id="rId269"/>
    <p:sldId id="526" r:id="rId270"/>
    <p:sldId id="527" r:id="rId271"/>
    <p:sldId id="528" r:id="rId272"/>
    <p:sldId id="529" r:id="rId273"/>
    <p:sldId id="530" r:id="rId274"/>
    <p:sldId id="531" r:id="rId275"/>
    <p:sldId id="532" r:id="rId276"/>
    <p:sldId id="533" r:id="rId277"/>
    <p:sldId id="534" r:id="rId278"/>
    <p:sldId id="535" r:id="rId279"/>
    <p:sldId id="536" r:id="rId280"/>
    <p:sldId id="537" r:id="rId281"/>
    <p:sldId id="538" r:id="rId282"/>
    <p:sldId id="539" r:id="rId283"/>
    <p:sldId id="540" r:id="rId284"/>
    <p:sldId id="541" r:id="rId285"/>
    <p:sldId id="542" r:id="rId286"/>
    <p:sldId id="543" r:id="rId287"/>
    <p:sldId id="544" r:id="rId288"/>
    <p:sldId id="545" r:id="rId289"/>
    <p:sldId id="546" r:id="rId290"/>
    <p:sldId id="547" r:id="rId291"/>
    <p:sldId id="548" r:id="rId292"/>
    <p:sldId id="549" r:id="rId293"/>
    <p:sldId id="550" r:id="rId294"/>
    <p:sldId id="551" r:id="rId295"/>
    <p:sldId id="552" r:id="rId296"/>
    <p:sldId id="553" r:id="rId297"/>
    <p:sldId id="554" r:id="rId298"/>
    <p:sldId id="555" r:id="rId299"/>
    <p:sldId id="556" r:id="rId300"/>
    <p:sldId id="557" r:id="rId301"/>
    <p:sldId id="558" r:id="rId302"/>
    <p:sldId id="559" r:id="rId303"/>
    <p:sldId id="560" r:id="rId304"/>
    <p:sldId id="561" r:id="rId305"/>
    <p:sldId id="562" r:id="rId306"/>
    <p:sldId id="563" r:id="rId307"/>
    <p:sldId id="564" r:id="rId308"/>
    <p:sldId id="565" r:id="rId309"/>
    <p:sldId id="566" r:id="rId310"/>
    <p:sldId id="567" r:id="rId311"/>
    <p:sldId id="568" r:id="rId312"/>
    <p:sldId id="569" r:id="rId313"/>
    <p:sldId id="570" r:id="rId314"/>
    <p:sldId id="571" r:id="rId315"/>
    <p:sldId id="572" r:id="rId316"/>
    <p:sldId id="573" r:id="rId317"/>
    <p:sldId id="574" r:id="rId318"/>
    <p:sldId id="575" r:id="rId319"/>
    <p:sldId id="576" r:id="rId320"/>
    <p:sldId id="577" r:id="rId321"/>
    <p:sldId id="578" r:id="rId322"/>
    <p:sldId id="579" r:id="rId323"/>
    <p:sldId id="580" r:id="rId324"/>
    <p:sldId id="581" r:id="rId325"/>
    <p:sldId id="582" r:id="rId326"/>
    <p:sldId id="583" r:id="rId327"/>
    <p:sldId id="584" r:id="rId328"/>
    <p:sldId id="585" r:id="rId329"/>
    <p:sldId id="586" r:id="rId330"/>
    <p:sldId id="587" r:id="rId331"/>
    <p:sldId id="588" r:id="rId332"/>
    <p:sldId id="589" r:id="rId333"/>
    <p:sldId id="590" r:id="rId334"/>
    <p:sldId id="591" r:id="rId335"/>
    <p:sldId id="592" r:id="rId336"/>
    <p:sldId id="593" r:id="rId337"/>
    <p:sldId id="594" r:id="rId338"/>
    <p:sldId id="595" r:id="rId339"/>
    <p:sldId id="596" r:id="rId340"/>
    <p:sldId id="597" r:id="rId341"/>
    <p:sldId id="598" r:id="rId342"/>
    <p:sldId id="599" r:id="rId343"/>
    <p:sldId id="600" r:id="rId344"/>
    <p:sldId id="601" r:id="rId345"/>
    <p:sldId id="602" r:id="rId346"/>
    <p:sldId id="603" r:id="rId347"/>
    <p:sldId id="604" r:id="rId348"/>
    <p:sldId id="605" r:id="rId349"/>
    <p:sldId id="606" r:id="rId350"/>
    <p:sldId id="607" r:id="rId351"/>
    <p:sldId id="608" r:id="rId352"/>
    <p:sldId id="609" r:id="rId353"/>
    <p:sldId id="610" r:id="rId354"/>
    <p:sldId id="611" r:id="rId355"/>
    <p:sldId id="612" r:id="rId356"/>
    <p:sldId id="613" r:id="rId357"/>
    <p:sldId id="614" r:id="rId358"/>
    <p:sldId id="615" r:id="rId359"/>
    <p:sldId id="616" r:id="rId360"/>
    <p:sldId id="617" r:id="rId361"/>
    <p:sldId id="618" r:id="rId362"/>
    <p:sldId id="619" r:id="rId363"/>
    <p:sldId id="620" r:id="rId364"/>
    <p:sldId id="621" r:id="rId365"/>
    <p:sldId id="622" r:id="rId366"/>
    <p:sldId id="623" r:id="rId367"/>
    <p:sldId id="624" r:id="rId368"/>
    <p:sldId id="625" r:id="rId369"/>
    <p:sldId id="626" r:id="rId370"/>
    <p:sldId id="627" r:id="rId371"/>
    <p:sldId id="628" r:id="rId372"/>
    <p:sldId id="629" r:id="rId373"/>
    <p:sldId id="630" r:id="rId374"/>
    <p:sldId id="631" r:id="rId375"/>
    <p:sldId id="632" r:id="rId376"/>
    <p:sldId id="633" r:id="rId377"/>
    <p:sldId id="634" r:id="rId378"/>
    <p:sldId id="635" r:id="rId379"/>
    <p:sldId id="636" r:id="rId380"/>
    <p:sldId id="637" r:id="rId381"/>
    <p:sldId id="638" r:id="rId382"/>
    <p:sldId id="639" r:id="rId383"/>
    <p:sldId id="640" r:id="rId384"/>
    <p:sldId id="641" r:id="rId385"/>
    <p:sldId id="642" r:id="rId386"/>
    <p:sldId id="643" r:id="rId387"/>
    <p:sldId id="644" r:id="rId388"/>
    <p:sldId id="645" r:id="rId389"/>
    <p:sldId id="646" r:id="rId390"/>
    <p:sldId id="647" r:id="rId391"/>
    <p:sldId id="648" r:id="rId392"/>
    <p:sldId id="649" r:id="rId393"/>
    <p:sldId id="650" r:id="rId394"/>
    <p:sldId id="651" r:id="rId395"/>
    <p:sldId id="652" r:id="rId396"/>
    <p:sldId id="653" r:id="rId397"/>
    <p:sldId id="654" r:id="rId398"/>
    <p:sldId id="655" r:id="rId399"/>
    <p:sldId id="656" r:id="rId400"/>
    <p:sldId id="657" r:id="rId401"/>
    <p:sldId id="658" r:id="rId402"/>
    <p:sldId id="659" r:id="rId403"/>
    <p:sldId id="660" r:id="rId404"/>
    <p:sldId id="661" r:id="rId405"/>
    <p:sldId id="662" r:id="rId406"/>
    <p:sldId id="663" r:id="rId407"/>
    <p:sldId id="664" r:id="rId408"/>
    <p:sldId id="665" r:id="rId409"/>
    <p:sldId id="666" r:id="rId410"/>
    <p:sldId id="667" r:id="rId411"/>
    <p:sldId id="668" r:id="rId412"/>
    <p:sldId id="669" r:id="rId413"/>
    <p:sldId id="670" r:id="rId414"/>
    <p:sldId id="671" r:id="rId415"/>
    <p:sldId id="672" r:id="rId416"/>
    <p:sldId id="673" r:id="rId417"/>
    <p:sldId id="674" r:id="rId418"/>
    <p:sldId id="675" r:id="rId419"/>
    <p:sldId id="676" r:id="rId420"/>
    <p:sldId id="677" r:id="rId421"/>
    <p:sldId id="678" r:id="rId422"/>
    <p:sldId id="679" r:id="rId423"/>
    <p:sldId id="680" r:id="rId424"/>
    <p:sldId id="681" r:id="rId425"/>
    <p:sldId id="682" r:id="rId426"/>
    <p:sldId id="683" r:id="rId427"/>
    <p:sldId id="684" r:id="rId428"/>
    <p:sldId id="685" r:id="rId429"/>
    <p:sldId id="686" r:id="rId430"/>
    <p:sldId id="687" r:id="rId431"/>
    <p:sldId id="688" r:id="rId432"/>
    <p:sldId id="689" r:id="rId433"/>
    <p:sldId id="690" r:id="rId434"/>
    <p:sldId id="691" r:id="rId435"/>
    <p:sldId id="692" r:id="rId436"/>
    <p:sldId id="693" r:id="rId437"/>
    <p:sldId id="694" r:id="rId438"/>
    <p:sldId id="695" r:id="rId439"/>
    <p:sldId id="696" r:id="rId440"/>
    <p:sldId id="697" r:id="rId441"/>
    <p:sldId id="698" r:id="rId442"/>
    <p:sldId id="699" r:id="rId443"/>
    <p:sldId id="700" r:id="rId444"/>
    <p:sldId id="701" r:id="rId445"/>
    <p:sldId id="702" r:id="rId446"/>
    <p:sldId id="703" r:id="rId447"/>
    <p:sldId id="704" r:id="rId448"/>
    <p:sldId id="705" r:id="rId449"/>
    <p:sldId id="706" r:id="rId450"/>
    <p:sldId id="707" r:id="rId451"/>
    <p:sldId id="708" r:id="rId452"/>
    <p:sldId id="709" r:id="rId453"/>
    <p:sldId id="710" r:id="rId454"/>
    <p:sldId id="711" r:id="rId455"/>
    <p:sldId id="712" r:id="rId456"/>
    <p:sldId id="713" r:id="rId457"/>
    <p:sldId id="714" r:id="rId458"/>
    <p:sldId id="715" r:id="rId459"/>
    <p:sldId id="716" r:id="rId460"/>
    <p:sldId id="717" r:id="rId461"/>
    <p:sldId id="718" r:id="rId462"/>
    <p:sldId id="719" r:id="rId463"/>
    <p:sldId id="720" r:id="rId464"/>
    <p:sldId id="721" r:id="rId465"/>
    <p:sldId id="722" r:id="rId466"/>
    <p:sldId id="723" r:id="rId467"/>
    <p:sldId id="724" r:id="rId468"/>
    <p:sldId id="725" r:id="rId469"/>
    <p:sldId id="726" r:id="rId470"/>
    <p:sldId id="727" r:id="rId471"/>
    <p:sldId id="728" r:id="rId472"/>
    <p:sldId id="729" r:id="rId473"/>
    <p:sldId id="730" r:id="rId474"/>
    <p:sldId id="731" r:id="rId475"/>
    <p:sldId id="732" r:id="rId476"/>
    <p:sldId id="733" r:id="rId477"/>
    <p:sldId id="734" r:id="rId478"/>
    <p:sldId id="735" r:id="rId479"/>
    <p:sldId id="736" r:id="rId480"/>
    <p:sldId id="737" r:id="rId481"/>
    <p:sldId id="738" r:id="rId482"/>
    <p:sldId id="739" r:id="rId483"/>
    <p:sldId id="740" r:id="rId484"/>
    <p:sldId id="741" r:id="rId485"/>
    <p:sldId id="742" r:id="rId486"/>
    <p:sldId id="743" r:id="rId487"/>
    <p:sldId id="744" r:id="rId488"/>
    <p:sldId id="745" r:id="rId489"/>
    <p:sldId id="746" r:id="rId490"/>
    <p:sldId id="747" r:id="rId491"/>
    <p:sldId id="748" r:id="rId492"/>
    <p:sldId id="749" r:id="rId493"/>
    <p:sldId id="750" r:id="rId494"/>
    <p:sldId id="751" r:id="rId495"/>
    <p:sldId id="752" r:id="rId496"/>
    <p:sldId id="753" r:id="rId497"/>
    <p:sldId id="754" r:id="rId498"/>
    <p:sldId id="755" r:id="rId499"/>
    <p:sldId id="756" r:id="rId500"/>
    <p:sldId id="757" r:id="rId501"/>
    <p:sldId id="758" r:id="rId502"/>
    <p:sldId id="760" r:id="rId503"/>
    <p:sldId id="761" r:id="rId504"/>
    <p:sldId id="762" r:id="rId505"/>
    <p:sldId id="763" r:id="rId506"/>
    <p:sldId id="764" r:id="rId507"/>
    <p:sldId id="765" r:id="rId508"/>
    <p:sldId id="766" r:id="rId509"/>
    <p:sldId id="767" r:id="rId510"/>
    <p:sldId id="768" r:id="rId511"/>
    <p:sldId id="769" r:id="rId512"/>
    <p:sldId id="770" r:id="rId513"/>
    <p:sldId id="771" r:id="rId514"/>
    <p:sldId id="772" r:id="rId515"/>
    <p:sldId id="773" r:id="rId516"/>
    <p:sldId id="312" r:id="rId5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0" Type="http://schemas.openxmlformats.org/officeDocument/2006/relationships/tableStyles" Target="tableStyles.xml"/><Relationship Id="rId52" Type="http://schemas.openxmlformats.org/officeDocument/2006/relationships/slide" Target="slides/slide50.xml"/><Relationship Id="rId519" Type="http://schemas.openxmlformats.org/officeDocument/2006/relationships/viewProps" Target="viewProps.xml"/><Relationship Id="rId518" Type="http://schemas.openxmlformats.org/officeDocument/2006/relationships/presProps" Target="presProps.xml"/><Relationship Id="rId517" Type="http://schemas.openxmlformats.org/officeDocument/2006/relationships/slide" Target="slides/slide515.xml"/><Relationship Id="rId516" Type="http://schemas.openxmlformats.org/officeDocument/2006/relationships/slide" Target="slides/slide514.xml"/><Relationship Id="rId515" Type="http://schemas.openxmlformats.org/officeDocument/2006/relationships/slide" Target="slides/slide513.xml"/><Relationship Id="rId514" Type="http://schemas.openxmlformats.org/officeDocument/2006/relationships/slide" Target="slides/slide512.xml"/><Relationship Id="rId513" Type="http://schemas.openxmlformats.org/officeDocument/2006/relationships/slide" Target="slides/slide511.xml"/><Relationship Id="rId512" Type="http://schemas.openxmlformats.org/officeDocument/2006/relationships/slide" Target="slides/slide510.xml"/><Relationship Id="rId511" Type="http://schemas.openxmlformats.org/officeDocument/2006/relationships/slide" Target="slides/slide509.xml"/><Relationship Id="rId510" Type="http://schemas.openxmlformats.org/officeDocument/2006/relationships/slide" Target="slides/slide508.xml"/><Relationship Id="rId51" Type="http://schemas.openxmlformats.org/officeDocument/2006/relationships/slide" Target="slides/slide49.xml"/><Relationship Id="rId509" Type="http://schemas.openxmlformats.org/officeDocument/2006/relationships/slide" Target="slides/slide507.xml"/><Relationship Id="rId508" Type="http://schemas.openxmlformats.org/officeDocument/2006/relationships/slide" Target="slides/slide506.xml"/><Relationship Id="rId507" Type="http://schemas.openxmlformats.org/officeDocument/2006/relationships/slide" Target="slides/slide505.xml"/><Relationship Id="rId506" Type="http://schemas.openxmlformats.org/officeDocument/2006/relationships/slide" Target="slides/slide504.xml"/><Relationship Id="rId505" Type="http://schemas.openxmlformats.org/officeDocument/2006/relationships/slide" Target="slides/slide503.xml"/><Relationship Id="rId504" Type="http://schemas.openxmlformats.org/officeDocument/2006/relationships/slide" Target="slides/slide502.xml"/><Relationship Id="rId503" Type="http://schemas.openxmlformats.org/officeDocument/2006/relationships/slide" Target="slides/slide501.xml"/><Relationship Id="rId502" Type="http://schemas.openxmlformats.org/officeDocument/2006/relationships/slide" Target="slides/slide500.xml"/><Relationship Id="rId501" Type="http://schemas.openxmlformats.org/officeDocument/2006/relationships/slide" Target="slides/slide499.xml"/><Relationship Id="rId500" Type="http://schemas.openxmlformats.org/officeDocument/2006/relationships/slide" Target="slides/slide498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9" Type="http://schemas.openxmlformats.org/officeDocument/2006/relationships/slide" Target="slides/slide497.xml"/><Relationship Id="rId498" Type="http://schemas.openxmlformats.org/officeDocument/2006/relationships/slide" Target="slides/slide496.xml"/><Relationship Id="rId497" Type="http://schemas.openxmlformats.org/officeDocument/2006/relationships/slide" Target="slides/slide495.xml"/><Relationship Id="rId496" Type="http://schemas.openxmlformats.org/officeDocument/2006/relationships/slide" Target="slides/slide494.xml"/><Relationship Id="rId495" Type="http://schemas.openxmlformats.org/officeDocument/2006/relationships/slide" Target="slides/slide493.xml"/><Relationship Id="rId494" Type="http://schemas.openxmlformats.org/officeDocument/2006/relationships/slide" Target="slides/slide492.xml"/><Relationship Id="rId493" Type="http://schemas.openxmlformats.org/officeDocument/2006/relationships/slide" Target="slides/slide491.xml"/><Relationship Id="rId492" Type="http://schemas.openxmlformats.org/officeDocument/2006/relationships/slide" Target="slides/slide490.xml"/><Relationship Id="rId491" Type="http://schemas.openxmlformats.org/officeDocument/2006/relationships/slide" Target="slides/slide489.xml"/><Relationship Id="rId490" Type="http://schemas.openxmlformats.org/officeDocument/2006/relationships/slide" Target="slides/slide488.xml"/><Relationship Id="rId49" Type="http://schemas.openxmlformats.org/officeDocument/2006/relationships/slide" Target="slides/slide47.xml"/><Relationship Id="rId489" Type="http://schemas.openxmlformats.org/officeDocument/2006/relationships/slide" Target="slides/slide487.xml"/><Relationship Id="rId488" Type="http://schemas.openxmlformats.org/officeDocument/2006/relationships/slide" Target="slides/slide486.xml"/><Relationship Id="rId487" Type="http://schemas.openxmlformats.org/officeDocument/2006/relationships/slide" Target="slides/slide485.xml"/><Relationship Id="rId486" Type="http://schemas.openxmlformats.org/officeDocument/2006/relationships/slide" Target="slides/slide484.xml"/><Relationship Id="rId485" Type="http://schemas.openxmlformats.org/officeDocument/2006/relationships/slide" Target="slides/slide483.xml"/><Relationship Id="rId484" Type="http://schemas.openxmlformats.org/officeDocument/2006/relationships/slide" Target="slides/slide482.xml"/><Relationship Id="rId483" Type="http://schemas.openxmlformats.org/officeDocument/2006/relationships/slide" Target="slides/slide481.xml"/><Relationship Id="rId482" Type="http://schemas.openxmlformats.org/officeDocument/2006/relationships/slide" Target="slides/slide480.xml"/><Relationship Id="rId481" Type="http://schemas.openxmlformats.org/officeDocument/2006/relationships/slide" Target="slides/slide479.xml"/><Relationship Id="rId480" Type="http://schemas.openxmlformats.org/officeDocument/2006/relationships/slide" Target="slides/slide478.xml"/><Relationship Id="rId48" Type="http://schemas.openxmlformats.org/officeDocument/2006/relationships/slide" Target="slides/slide46.xml"/><Relationship Id="rId479" Type="http://schemas.openxmlformats.org/officeDocument/2006/relationships/slide" Target="slides/slide477.xml"/><Relationship Id="rId478" Type="http://schemas.openxmlformats.org/officeDocument/2006/relationships/slide" Target="slides/slide476.xml"/><Relationship Id="rId477" Type="http://schemas.openxmlformats.org/officeDocument/2006/relationships/slide" Target="slides/slide475.xml"/><Relationship Id="rId476" Type="http://schemas.openxmlformats.org/officeDocument/2006/relationships/slide" Target="slides/slide474.xml"/><Relationship Id="rId475" Type="http://schemas.openxmlformats.org/officeDocument/2006/relationships/slide" Target="slides/slide473.xml"/><Relationship Id="rId474" Type="http://schemas.openxmlformats.org/officeDocument/2006/relationships/slide" Target="slides/slide472.xml"/><Relationship Id="rId473" Type="http://schemas.openxmlformats.org/officeDocument/2006/relationships/slide" Target="slides/slide471.xml"/><Relationship Id="rId472" Type="http://schemas.openxmlformats.org/officeDocument/2006/relationships/slide" Target="slides/slide470.xml"/><Relationship Id="rId471" Type="http://schemas.openxmlformats.org/officeDocument/2006/relationships/slide" Target="slides/slide469.xml"/><Relationship Id="rId470" Type="http://schemas.openxmlformats.org/officeDocument/2006/relationships/slide" Target="slides/slide468.xml"/><Relationship Id="rId47" Type="http://schemas.openxmlformats.org/officeDocument/2006/relationships/slide" Target="slides/slide45.xml"/><Relationship Id="rId469" Type="http://schemas.openxmlformats.org/officeDocument/2006/relationships/slide" Target="slides/slide467.xml"/><Relationship Id="rId468" Type="http://schemas.openxmlformats.org/officeDocument/2006/relationships/slide" Target="slides/slide466.xml"/><Relationship Id="rId467" Type="http://schemas.openxmlformats.org/officeDocument/2006/relationships/slide" Target="slides/slide465.xml"/><Relationship Id="rId466" Type="http://schemas.openxmlformats.org/officeDocument/2006/relationships/slide" Target="slides/slide464.xml"/><Relationship Id="rId465" Type="http://schemas.openxmlformats.org/officeDocument/2006/relationships/slide" Target="slides/slide463.xml"/><Relationship Id="rId464" Type="http://schemas.openxmlformats.org/officeDocument/2006/relationships/slide" Target="slides/slide462.xml"/><Relationship Id="rId463" Type="http://schemas.openxmlformats.org/officeDocument/2006/relationships/slide" Target="slides/slide461.xml"/><Relationship Id="rId462" Type="http://schemas.openxmlformats.org/officeDocument/2006/relationships/slide" Target="slides/slide460.xml"/><Relationship Id="rId461" Type="http://schemas.openxmlformats.org/officeDocument/2006/relationships/slide" Target="slides/slide459.xml"/><Relationship Id="rId460" Type="http://schemas.openxmlformats.org/officeDocument/2006/relationships/slide" Target="slides/slide458.xml"/><Relationship Id="rId46" Type="http://schemas.openxmlformats.org/officeDocument/2006/relationships/slide" Target="slides/slide44.xml"/><Relationship Id="rId459" Type="http://schemas.openxmlformats.org/officeDocument/2006/relationships/slide" Target="slides/slide457.xml"/><Relationship Id="rId458" Type="http://schemas.openxmlformats.org/officeDocument/2006/relationships/slide" Target="slides/slide456.xml"/><Relationship Id="rId457" Type="http://schemas.openxmlformats.org/officeDocument/2006/relationships/slide" Target="slides/slide455.xml"/><Relationship Id="rId456" Type="http://schemas.openxmlformats.org/officeDocument/2006/relationships/slide" Target="slides/slide454.xml"/><Relationship Id="rId455" Type="http://schemas.openxmlformats.org/officeDocument/2006/relationships/slide" Target="slides/slide453.xml"/><Relationship Id="rId454" Type="http://schemas.openxmlformats.org/officeDocument/2006/relationships/slide" Target="slides/slide452.xml"/><Relationship Id="rId453" Type="http://schemas.openxmlformats.org/officeDocument/2006/relationships/slide" Target="slides/slide451.xml"/><Relationship Id="rId452" Type="http://schemas.openxmlformats.org/officeDocument/2006/relationships/slide" Target="slides/slide450.xml"/><Relationship Id="rId451" Type="http://schemas.openxmlformats.org/officeDocument/2006/relationships/slide" Target="slides/slide449.xml"/><Relationship Id="rId450" Type="http://schemas.openxmlformats.org/officeDocument/2006/relationships/slide" Target="slides/slide448.xml"/><Relationship Id="rId45" Type="http://schemas.openxmlformats.org/officeDocument/2006/relationships/slide" Target="slides/slide43.xml"/><Relationship Id="rId449" Type="http://schemas.openxmlformats.org/officeDocument/2006/relationships/slide" Target="slides/slide447.xml"/><Relationship Id="rId448" Type="http://schemas.openxmlformats.org/officeDocument/2006/relationships/slide" Target="slides/slide446.xml"/><Relationship Id="rId447" Type="http://schemas.openxmlformats.org/officeDocument/2006/relationships/slide" Target="slides/slide445.xml"/><Relationship Id="rId446" Type="http://schemas.openxmlformats.org/officeDocument/2006/relationships/slide" Target="slides/slide444.xml"/><Relationship Id="rId445" Type="http://schemas.openxmlformats.org/officeDocument/2006/relationships/slide" Target="slides/slide443.xml"/><Relationship Id="rId444" Type="http://schemas.openxmlformats.org/officeDocument/2006/relationships/slide" Target="slides/slide442.xml"/><Relationship Id="rId443" Type="http://schemas.openxmlformats.org/officeDocument/2006/relationships/slide" Target="slides/slide441.xml"/><Relationship Id="rId442" Type="http://schemas.openxmlformats.org/officeDocument/2006/relationships/slide" Target="slides/slide440.xml"/><Relationship Id="rId441" Type="http://schemas.openxmlformats.org/officeDocument/2006/relationships/slide" Target="slides/slide439.xml"/><Relationship Id="rId440" Type="http://schemas.openxmlformats.org/officeDocument/2006/relationships/slide" Target="slides/slide438.xml"/><Relationship Id="rId44" Type="http://schemas.openxmlformats.org/officeDocument/2006/relationships/slide" Target="slides/slide42.xml"/><Relationship Id="rId439" Type="http://schemas.openxmlformats.org/officeDocument/2006/relationships/slide" Target="slides/slide437.xml"/><Relationship Id="rId438" Type="http://schemas.openxmlformats.org/officeDocument/2006/relationships/slide" Target="slides/slide436.xml"/><Relationship Id="rId437" Type="http://schemas.openxmlformats.org/officeDocument/2006/relationships/slide" Target="slides/slide435.xml"/><Relationship Id="rId436" Type="http://schemas.openxmlformats.org/officeDocument/2006/relationships/slide" Target="slides/slide434.xml"/><Relationship Id="rId435" Type="http://schemas.openxmlformats.org/officeDocument/2006/relationships/slide" Target="slides/slide433.xml"/><Relationship Id="rId434" Type="http://schemas.openxmlformats.org/officeDocument/2006/relationships/slide" Target="slides/slide432.xml"/><Relationship Id="rId433" Type="http://schemas.openxmlformats.org/officeDocument/2006/relationships/slide" Target="slides/slide431.xml"/><Relationship Id="rId432" Type="http://schemas.openxmlformats.org/officeDocument/2006/relationships/slide" Target="slides/slide430.xml"/><Relationship Id="rId431" Type="http://schemas.openxmlformats.org/officeDocument/2006/relationships/slide" Target="slides/slide429.xml"/><Relationship Id="rId430" Type="http://schemas.openxmlformats.org/officeDocument/2006/relationships/slide" Target="slides/slide428.xml"/><Relationship Id="rId43" Type="http://schemas.openxmlformats.org/officeDocument/2006/relationships/slide" Target="slides/slide41.xml"/><Relationship Id="rId429" Type="http://schemas.openxmlformats.org/officeDocument/2006/relationships/slide" Target="slides/slide427.xml"/><Relationship Id="rId428" Type="http://schemas.openxmlformats.org/officeDocument/2006/relationships/slide" Target="slides/slide426.xml"/><Relationship Id="rId427" Type="http://schemas.openxmlformats.org/officeDocument/2006/relationships/slide" Target="slides/slide425.xml"/><Relationship Id="rId426" Type="http://schemas.openxmlformats.org/officeDocument/2006/relationships/slide" Target="slides/slide424.xml"/><Relationship Id="rId425" Type="http://schemas.openxmlformats.org/officeDocument/2006/relationships/slide" Target="slides/slide423.xml"/><Relationship Id="rId424" Type="http://schemas.openxmlformats.org/officeDocument/2006/relationships/slide" Target="slides/slide422.xml"/><Relationship Id="rId423" Type="http://schemas.openxmlformats.org/officeDocument/2006/relationships/slide" Target="slides/slide421.xml"/><Relationship Id="rId422" Type="http://schemas.openxmlformats.org/officeDocument/2006/relationships/slide" Target="slides/slide420.xml"/><Relationship Id="rId421" Type="http://schemas.openxmlformats.org/officeDocument/2006/relationships/slide" Target="slides/slide419.xml"/><Relationship Id="rId420" Type="http://schemas.openxmlformats.org/officeDocument/2006/relationships/slide" Target="slides/slide418.xml"/><Relationship Id="rId42" Type="http://schemas.openxmlformats.org/officeDocument/2006/relationships/slide" Target="slides/slide40.xml"/><Relationship Id="rId419" Type="http://schemas.openxmlformats.org/officeDocument/2006/relationships/slide" Target="slides/slide417.xml"/><Relationship Id="rId418" Type="http://schemas.openxmlformats.org/officeDocument/2006/relationships/slide" Target="slides/slide416.xml"/><Relationship Id="rId417" Type="http://schemas.openxmlformats.org/officeDocument/2006/relationships/slide" Target="slides/slide415.xml"/><Relationship Id="rId416" Type="http://schemas.openxmlformats.org/officeDocument/2006/relationships/slide" Target="slides/slide414.xml"/><Relationship Id="rId415" Type="http://schemas.openxmlformats.org/officeDocument/2006/relationships/slide" Target="slides/slide413.xml"/><Relationship Id="rId414" Type="http://schemas.openxmlformats.org/officeDocument/2006/relationships/slide" Target="slides/slide412.xml"/><Relationship Id="rId413" Type="http://schemas.openxmlformats.org/officeDocument/2006/relationships/slide" Target="slides/slide411.xml"/><Relationship Id="rId412" Type="http://schemas.openxmlformats.org/officeDocument/2006/relationships/slide" Target="slides/slide410.xml"/><Relationship Id="rId411" Type="http://schemas.openxmlformats.org/officeDocument/2006/relationships/slide" Target="slides/slide409.xml"/><Relationship Id="rId410" Type="http://schemas.openxmlformats.org/officeDocument/2006/relationships/slide" Target="slides/slide408.xml"/><Relationship Id="rId41" Type="http://schemas.openxmlformats.org/officeDocument/2006/relationships/slide" Target="slides/slide39.xml"/><Relationship Id="rId409" Type="http://schemas.openxmlformats.org/officeDocument/2006/relationships/slide" Target="slides/slide407.xml"/><Relationship Id="rId408" Type="http://schemas.openxmlformats.org/officeDocument/2006/relationships/slide" Target="slides/slide406.xml"/><Relationship Id="rId407" Type="http://schemas.openxmlformats.org/officeDocument/2006/relationships/slide" Target="slides/slide405.xml"/><Relationship Id="rId406" Type="http://schemas.openxmlformats.org/officeDocument/2006/relationships/slide" Target="slides/slide404.xml"/><Relationship Id="rId405" Type="http://schemas.openxmlformats.org/officeDocument/2006/relationships/slide" Target="slides/slide403.xml"/><Relationship Id="rId404" Type="http://schemas.openxmlformats.org/officeDocument/2006/relationships/slide" Target="slides/slide402.xml"/><Relationship Id="rId403" Type="http://schemas.openxmlformats.org/officeDocument/2006/relationships/slide" Target="slides/slide401.xml"/><Relationship Id="rId402" Type="http://schemas.openxmlformats.org/officeDocument/2006/relationships/slide" Target="slides/slide400.xml"/><Relationship Id="rId401" Type="http://schemas.openxmlformats.org/officeDocument/2006/relationships/slide" Target="slides/slide399.xml"/><Relationship Id="rId400" Type="http://schemas.openxmlformats.org/officeDocument/2006/relationships/slide" Target="slides/slide398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9" Type="http://schemas.openxmlformats.org/officeDocument/2006/relationships/slide" Target="slides/slide397.xml"/><Relationship Id="rId398" Type="http://schemas.openxmlformats.org/officeDocument/2006/relationships/slide" Target="slides/slide396.xml"/><Relationship Id="rId397" Type="http://schemas.openxmlformats.org/officeDocument/2006/relationships/slide" Target="slides/slide395.xml"/><Relationship Id="rId396" Type="http://schemas.openxmlformats.org/officeDocument/2006/relationships/slide" Target="slides/slide394.xml"/><Relationship Id="rId395" Type="http://schemas.openxmlformats.org/officeDocument/2006/relationships/slide" Target="slides/slide393.xml"/><Relationship Id="rId394" Type="http://schemas.openxmlformats.org/officeDocument/2006/relationships/slide" Target="slides/slide392.xml"/><Relationship Id="rId393" Type="http://schemas.openxmlformats.org/officeDocument/2006/relationships/slide" Target="slides/slide391.xml"/><Relationship Id="rId392" Type="http://schemas.openxmlformats.org/officeDocument/2006/relationships/slide" Target="slides/slide390.xml"/><Relationship Id="rId391" Type="http://schemas.openxmlformats.org/officeDocument/2006/relationships/slide" Target="slides/slide389.xml"/><Relationship Id="rId390" Type="http://schemas.openxmlformats.org/officeDocument/2006/relationships/slide" Target="slides/slide388.xml"/><Relationship Id="rId39" Type="http://schemas.openxmlformats.org/officeDocument/2006/relationships/slide" Target="slides/slide37.xml"/><Relationship Id="rId389" Type="http://schemas.openxmlformats.org/officeDocument/2006/relationships/slide" Target="slides/slide387.xml"/><Relationship Id="rId388" Type="http://schemas.openxmlformats.org/officeDocument/2006/relationships/slide" Target="slides/slide386.xml"/><Relationship Id="rId387" Type="http://schemas.openxmlformats.org/officeDocument/2006/relationships/slide" Target="slides/slide385.xml"/><Relationship Id="rId386" Type="http://schemas.openxmlformats.org/officeDocument/2006/relationships/slide" Target="slides/slide384.xml"/><Relationship Id="rId385" Type="http://schemas.openxmlformats.org/officeDocument/2006/relationships/slide" Target="slides/slide383.xml"/><Relationship Id="rId384" Type="http://schemas.openxmlformats.org/officeDocument/2006/relationships/slide" Target="slides/slide382.xml"/><Relationship Id="rId383" Type="http://schemas.openxmlformats.org/officeDocument/2006/relationships/slide" Target="slides/slide381.xml"/><Relationship Id="rId382" Type="http://schemas.openxmlformats.org/officeDocument/2006/relationships/slide" Target="slides/slide380.xml"/><Relationship Id="rId381" Type="http://schemas.openxmlformats.org/officeDocument/2006/relationships/slide" Target="slides/slide379.xml"/><Relationship Id="rId380" Type="http://schemas.openxmlformats.org/officeDocument/2006/relationships/slide" Target="slides/slide378.xml"/><Relationship Id="rId38" Type="http://schemas.openxmlformats.org/officeDocument/2006/relationships/slide" Target="slides/slide36.xml"/><Relationship Id="rId379" Type="http://schemas.openxmlformats.org/officeDocument/2006/relationships/slide" Target="slides/slide377.xml"/><Relationship Id="rId378" Type="http://schemas.openxmlformats.org/officeDocument/2006/relationships/slide" Target="slides/slide376.xml"/><Relationship Id="rId377" Type="http://schemas.openxmlformats.org/officeDocument/2006/relationships/slide" Target="slides/slide375.xml"/><Relationship Id="rId376" Type="http://schemas.openxmlformats.org/officeDocument/2006/relationships/slide" Target="slides/slide374.xml"/><Relationship Id="rId375" Type="http://schemas.openxmlformats.org/officeDocument/2006/relationships/slide" Target="slides/slide373.xml"/><Relationship Id="rId374" Type="http://schemas.openxmlformats.org/officeDocument/2006/relationships/slide" Target="slides/slide372.xml"/><Relationship Id="rId373" Type="http://schemas.openxmlformats.org/officeDocument/2006/relationships/slide" Target="slides/slide371.xml"/><Relationship Id="rId372" Type="http://schemas.openxmlformats.org/officeDocument/2006/relationships/slide" Target="slides/slide370.xml"/><Relationship Id="rId371" Type="http://schemas.openxmlformats.org/officeDocument/2006/relationships/slide" Target="slides/slide369.xml"/><Relationship Id="rId370" Type="http://schemas.openxmlformats.org/officeDocument/2006/relationships/slide" Target="slides/slide368.xml"/><Relationship Id="rId37" Type="http://schemas.openxmlformats.org/officeDocument/2006/relationships/slide" Target="slides/slide35.xml"/><Relationship Id="rId369" Type="http://schemas.openxmlformats.org/officeDocument/2006/relationships/slide" Target="slides/slide367.xml"/><Relationship Id="rId368" Type="http://schemas.openxmlformats.org/officeDocument/2006/relationships/slide" Target="slides/slide366.xml"/><Relationship Id="rId367" Type="http://schemas.openxmlformats.org/officeDocument/2006/relationships/slide" Target="slides/slide365.xml"/><Relationship Id="rId366" Type="http://schemas.openxmlformats.org/officeDocument/2006/relationships/slide" Target="slides/slide364.xml"/><Relationship Id="rId365" Type="http://schemas.openxmlformats.org/officeDocument/2006/relationships/slide" Target="slides/slide363.xml"/><Relationship Id="rId364" Type="http://schemas.openxmlformats.org/officeDocument/2006/relationships/slide" Target="slides/slide362.xml"/><Relationship Id="rId363" Type="http://schemas.openxmlformats.org/officeDocument/2006/relationships/slide" Target="slides/slide361.xml"/><Relationship Id="rId362" Type="http://schemas.openxmlformats.org/officeDocument/2006/relationships/slide" Target="slides/slide360.xml"/><Relationship Id="rId361" Type="http://schemas.openxmlformats.org/officeDocument/2006/relationships/slide" Target="slides/slide359.xml"/><Relationship Id="rId360" Type="http://schemas.openxmlformats.org/officeDocument/2006/relationships/slide" Target="slides/slide358.xml"/><Relationship Id="rId36" Type="http://schemas.openxmlformats.org/officeDocument/2006/relationships/slide" Target="slides/slide34.xml"/><Relationship Id="rId359" Type="http://schemas.openxmlformats.org/officeDocument/2006/relationships/slide" Target="slides/slide357.xml"/><Relationship Id="rId358" Type="http://schemas.openxmlformats.org/officeDocument/2006/relationships/slide" Target="slides/slide356.xml"/><Relationship Id="rId357" Type="http://schemas.openxmlformats.org/officeDocument/2006/relationships/slide" Target="slides/slide355.xml"/><Relationship Id="rId356" Type="http://schemas.openxmlformats.org/officeDocument/2006/relationships/slide" Target="slides/slide354.xml"/><Relationship Id="rId355" Type="http://schemas.openxmlformats.org/officeDocument/2006/relationships/slide" Target="slides/slide353.xml"/><Relationship Id="rId354" Type="http://schemas.openxmlformats.org/officeDocument/2006/relationships/slide" Target="slides/slide352.xml"/><Relationship Id="rId353" Type="http://schemas.openxmlformats.org/officeDocument/2006/relationships/slide" Target="slides/slide351.xml"/><Relationship Id="rId352" Type="http://schemas.openxmlformats.org/officeDocument/2006/relationships/slide" Target="slides/slide350.xml"/><Relationship Id="rId351" Type="http://schemas.openxmlformats.org/officeDocument/2006/relationships/slide" Target="slides/slide349.xml"/><Relationship Id="rId350" Type="http://schemas.openxmlformats.org/officeDocument/2006/relationships/slide" Target="slides/slide348.xml"/><Relationship Id="rId35" Type="http://schemas.openxmlformats.org/officeDocument/2006/relationships/slide" Target="slides/slide33.xml"/><Relationship Id="rId349" Type="http://schemas.openxmlformats.org/officeDocument/2006/relationships/slide" Target="slides/slide347.xml"/><Relationship Id="rId348" Type="http://schemas.openxmlformats.org/officeDocument/2006/relationships/slide" Target="slides/slide346.xml"/><Relationship Id="rId347" Type="http://schemas.openxmlformats.org/officeDocument/2006/relationships/slide" Target="slides/slide345.xml"/><Relationship Id="rId346" Type="http://schemas.openxmlformats.org/officeDocument/2006/relationships/slide" Target="slides/slide344.xml"/><Relationship Id="rId345" Type="http://schemas.openxmlformats.org/officeDocument/2006/relationships/slide" Target="slides/slide343.xml"/><Relationship Id="rId344" Type="http://schemas.openxmlformats.org/officeDocument/2006/relationships/slide" Target="slides/slide342.xml"/><Relationship Id="rId343" Type="http://schemas.openxmlformats.org/officeDocument/2006/relationships/slide" Target="slides/slide341.xml"/><Relationship Id="rId342" Type="http://schemas.openxmlformats.org/officeDocument/2006/relationships/slide" Target="slides/slide340.xml"/><Relationship Id="rId341" Type="http://schemas.openxmlformats.org/officeDocument/2006/relationships/slide" Target="slides/slide339.xml"/><Relationship Id="rId340" Type="http://schemas.openxmlformats.org/officeDocument/2006/relationships/slide" Target="slides/slide338.xml"/><Relationship Id="rId34" Type="http://schemas.openxmlformats.org/officeDocument/2006/relationships/slide" Target="slides/slide32.xml"/><Relationship Id="rId339" Type="http://schemas.openxmlformats.org/officeDocument/2006/relationships/slide" Target="slides/slide337.xml"/><Relationship Id="rId338" Type="http://schemas.openxmlformats.org/officeDocument/2006/relationships/slide" Target="slides/slide336.xml"/><Relationship Id="rId337" Type="http://schemas.openxmlformats.org/officeDocument/2006/relationships/slide" Target="slides/slide335.xml"/><Relationship Id="rId336" Type="http://schemas.openxmlformats.org/officeDocument/2006/relationships/slide" Target="slides/slide334.xml"/><Relationship Id="rId335" Type="http://schemas.openxmlformats.org/officeDocument/2006/relationships/slide" Target="slides/slide333.xml"/><Relationship Id="rId334" Type="http://schemas.openxmlformats.org/officeDocument/2006/relationships/slide" Target="slides/slide332.xml"/><Relationship Id="rId333" Type="http://schemas.openxmlformats.org/officeDocument/2006/relationships/slide" Target="slides/slide331.xml"/><Relationship Id="rId332" Type="http://schemas.openxmlformats.org/officeDocument/2006/relationships/slide" Target="slides/slide330.xml"/><Relationship Id="rId331" Type="http://schemas.openxmlformats.org/officeDocument/2006/relationships/slide" Target="slides/slide329.xml"/><Relationship Id="rId330" Type="http://schemas.openxmlformats.org/officeDocument/2006/relationships/slide" Target="slides/slide328.xml"/><Relationship Id="rId33" Type="http://schemas.openxmlformats.org/officeDocument/2006/relationships/slide" Target="slides/slide31.xml"/><Relationship Id="rId329" Type="http://schemas.openxmlformats.org/officeDocument/2006/relationships/slide" Target="slides/slide327.xml"/><Relationship Id="rId328" Type="http://schemas.openxmlformats.org/officeDocument/2006/relationships/slide" Target="slides/slide326.xml"/><Relationship Id="rId327" Type="http://schemas.openxmlformats.org/officeDocument/2006/relationships/slide" Target="slides/slide325.xml"/><Relationship Id="rId326" Type="http://schemas.openxmlformats.org/officeDocument/2006/relationships/slide" Target="slides/slide324.xml"/><Relationship Id="rId325" Type="http://schemas.openxmlformats.org/officeDocument/2006/relationships/slide" Target="slides/slide323.xml"/><Relationship Id="rId324" Type="http://schemas.openxmlformats.org/officeDocument/2006/relationships/slide" Target="slides/slide322.xml"/><Relationship Id="rId323" Type="http://schemas.openxmlformats.org/officeDocument/2006/relationships/slide" Target="slides/slide321.xml"/><Relationship Id="rId322" Type="http://schemas.openxmlformats.org/officeDocument/2006/relationships/slide" Target="slides/slide320.xml"/><Relationship Id="rId321" Type="http://schemas.openxmlformats.org/officeDocument/2006/relationships/slide" Target="slides/slide319.xml"/><Relationship Id="rId320" Type="http://schemas.openxmlformats.org/officeDocument/2006/relationships/slide" Target="slides/slide318.xml"/><Relationship Id="rId32" Type="http://schemas.openxmlformats.org/officeDocument/2006/relationships/slide" Target="slides/slide30.xml"/><Relationship Id="rId319" Type="http://schemas.openxmlformats.org/officeDocument/2006/relationships/slide" Target="slides/slide317.xml"/><Relationship Id="rId318" Type="http://schemas.openxmlformats.org/officeDocument/2006/relationships/slide" Target="slides/slide316.xml"/><Relationship Id="rId317" Type="http://schemas.openxmlformats.org/officeDocument/2006/relationships/slide" Target="slides/slide315.xml"/><Relationship Id="rId316" Type="http://schemas.openxmlformats.org/officeDocument/2006/relationships/slide" Target="slides/slide314.xml"/><Relationship Id="rId315" Type="http://schemas.openxmlformats.org/officeDocument/2006/relationships/slide" Target="slides/slide313.xml"/><Relationship Id="rId314" Type="http://schemas.openxmlformats.org/officeDocument/2006/relationships/slide" Target="slides/slide312.xml"/><Relationship Id="rId313" Type="http://schemas.openxmlformats.org/officeDocument/2006/relationships/slide" Target="slides/slide311.xml"/><Relationship Id="rId312" Type="http://schemas.openxmlformats.org/officeDocument/2006/relationships/slide" Target="slides/slide310.xml"/><Relationship Id="rId311" Type="http://schemas.openxmlformats.org/officeDocument/2006/relationships/slide" Target="slides/slide309.xml"/><Relationship Id="rId310" Type="http://schemas.openxmlformats.org/officeDocument/2006/relationships/slide" Target="slides/slide308.xml"/><Relationship Id="rId31" Type="http://schemas.openxmlformats.org/officeDocument/2006/relationships/slide" Target="slides/slide29.xml"/><Relationship Id="rId309" Type="http://schemas.openxmlformats.org/officeDocument/2006/relationships/slide" Target="slides/slide307.xml"/><Relationship Id="rId308" Type="http://schemas.openxmlformats.org/officeDocument/2006/relationships/slide" Target="slides/slide306.xml"/><Relationship Id="rId307" Type="http://schemas.openxmlformats.org/officeDocument/2006/relationships/slide" Target="slides/slide305.xml"/><Relationship Id="rId306" Type="http://schemas.openxmlformats.org/officeDocument/2006/relationships/slide" Target="slides/slide304.xml"/><Relationship Id="rId305" Type="http://schemas.openxmlformats.org/officeDocument/2006/relationships/slide" Target="slides/slide303.xml"/><Relationship Id="rId304" Type="http://schemas.openxmlformats.org/officeDocument/2006/relationships/slide" Target="slides/slide302.xml"/><Relationship Id="rId303" Type="http://schemas.openxmlformats.org/officeDocument/2006/relationships/slide" Target="slides/slide301.xml"/><Relationship Id="rId302" Type="http://schemas.openxmlformats.org/officeDocument/2006/relationships/slide" Target="slides/slide300.xml"/><Relationship Id="rId301" Type="http://schemas.openxmlformats.org/officeDocument/2006/relationships/slide" Target="slides/slide299.xml"/><Relationship Id="rId300" Type="http://schemas.openxmlformats.org/officeDocument/2006/relationships/slide" Target="slides/slide298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9" Type="http://schemas.openxmlformats.org/officeDocument/2006/relationships/slide" Target="slides/slide297.xml"/><Relationship Id="rId298" Type="http://schemas.openxmlformats.org/officeDocument/2006/relationships/slide" Target="slides/slide296.xml"/><Relationship Id="rId297" Type="http://schemas.openxmlformats.org/officeDocument/2006/relationships/slide" Target="slides/slide295.xml"/><Relationship Id="rId296" Type="http://schemas.openxmlformats.org/officeDocument/2006/relationships/slide" Target="slides/slide294.xml"/><Relationship Id="rId295" Type="http://schemas.openxmlformats.org/officeDocument/2006/relationships/slide" Target="slides/slide293.xml"/><Relationship Id="rId294" Type="http://schemas.openxmlformats.org/officeDocument/2006/relationships/slide" Target="slides/slide292.xml"/><Relationship Id="rId293" Type="http://schemas.openxmlformats.org/officeDocument/2006/relationships/slide" Target="slides/slide291.xml"/><Relationship Id="rId292" Type="http://schemas.openxmlformats.org/officeDocument/2006/relationships/slide" Target="slides/slide290.xml"/><Relationship Id="rId291" Type="http://schemas.openxmlformats.org/officeDocument/2006/relationships/slide" Target="slides/slide289.xml"/><Relationship Id="rId290" Type="http://schemas.openxmlformats.org/officeDocument/2006/relationships/slide" Target="slides/slide288.xml"/><Relationship Id="rId29" Type="http://schemas.openxmlformats.org/officeDocument/2006/relationships/slide" Target="slides/slide27.xml"/><Relationship Id="rId289" Type="http://schemas.openxmlformats.org/officeDocument/2006/relationships/slide" Target="slides/slide287.xml"/><Relationship Id="rId288" Type="http://schemas.openxmlformats.org/officeDocument/2006/relationships/slide" Target="slides/slide286.xml"/><Relationship Id="rId287" Type="http://schemas.openxmlformats.org/officeDocument/2006/relationships/slide" Target="slides/slide285.xml"/><Relationship Id="rId286" Type="http://schemas.openxmlformats.org/officeDocument/2006/relationships/slide" Target="slides/slide284.xml"/><Relationship Id="rId285" Type="http://schemas.openxmlformats.org/officeDocument/2006/relationships/slide" Target="slides/slide283.xml"/><Relationship Id="rId284" Type="http://schemas.openxmlformats.org/officeDocument/2006/relationships/slide" Target="slides/slide282.xml"/><Relationship Id="rId283" Type="http://schemas.openxmlformats.org/officeDocument/2006/relationships/slide" Target="slides/slide281.xml"/><Relationship Id="rId282" Type="http://schemas.openxmlformats.org/officeDocument/2006/relationships/slide" Target="slides/slide280.xml"/><Relationship Id="rId281" Type="http://schemas.openxmlformats.org/officeDocument/2006/relationships/slide" Target="slides/slide279.xml"/><Relationship Id="rId280" Type="http://schemas.openxmlformats.org/officeDocument/2006/relationships/slide" Target="slides/slide278.xml"/><Relationship Id="rId28" Type="http://schemas.openxmlformats.org/officeDocument/2006/relationships/slide" Target="slides/slide26.xml"/><Relationship Id="rId279" Type="http://schemas.openxmlformats.org/officeDocument/2006/relationships/slide" Target="slides/slide277.xml"/><Relationship Id="rId278" Type="http://schemas.openxmlformats.org/officeDocument/2006/relationships/slide" Target="slides/slide276.xml"/><Relationship Id="rId277" Type="http://schemas.openxmlformats.org/officeDocument/2006/relationships/slide" Target="slides/slide275.xml"/><Relationship Id="rId276" Type="http://schemas.openxmlformats.org/officeDocument/2006/relationships/slide" Target="slides/slide274.xml"/><Relationship Id="rId275" Type="http://schemas.openxmlformats.org/officeDocument/2006/relationships/slide" Target="slides/slide273.xml"/><Relationship Id="rId274" Type="http://schemas.openxmlformats.org/officeDocument/2006/relationships/slide" Target="slides/slide272.xml"/><Relationship Id="rId273" Type="http://schemas.openxmlformats.org/officeDocument/2006/relationships/slide" Target="slides/slide271.xml"/><Relationship Id="rId272" Type="http://schemas.openxmlformats.org/officeDocument/2006/relationships/slide" Target="slides/slide270.xml"/><Relationship Id="rId271" Type="http://schemas.openxmlformats.org/officeDocument/2006/relationships/slide" Target="slides/slide269.xml"/><Relationship Id="rId270" Type="http://schemas.openxmlformats.org/officeDocument/2006/relationships/slide" Target="slides/slide268.xml"/><Relationship Id="rId27" Type="http://schemas.openxmlformats.org/officeDocument/2006/relationships/slide" Target="slides/slide25.xml"/><Relationship Id="rId269" Type="http://schemas.openxmlformats.org/officeDocument/2006/relationships/slide" Target="slides/slide267.xml"/><Relationship Id="rId268" Type="http://schemas.openxmlformats.org/officeDocument/2006/relationships/slide" Target="slides/slide266.xml"/><Relationship Id="rId267" Type="http://schemas.openxmlformats.org/officeDocument/2006/relationships/slide" Target="slides/slide265.xml"/><Relationship Id="rId266" Type="http://schemas.openxmlformats.org/officeDocument/2006/relationships/slide" Target="slides/slide264.xml"/><Relationship Id="rId265" Type="http://schemas.openxmlformats.org/officeDocument/2006/relationships/slide" Target="slides/slide263.xml"/><Relationship Id="rId264" Type="http://schemas.openxmlformats.org/officeDocument/2006/relationships/slide" Target="slides/slide262.xml"/><Relationship Id="rId263" Type="http://schemas.openxmlformats.org/officeDocument/2006/relationships/slide" Target="slides/slide261.xml"/><Relationship Id="rId262" Type="http://schemas.openxmlformats.org/officeDocument/2006/relationships/slide" Target="slides/slide260.xml"/><Relationship Id="rId261" Type="http://schemas.openxmlformats.org/officeDocument/2006/relationships/slide" Target="slides/slide259.xml"/><Relationship Id="rId260" Type="http://schemas.openxmlformats.org/officeDocument/2006/relationships/slide" Target="slides/slide258.xml"/><Relationship Id="rId26" Type="http://schemas.openxmlformats.org/officeDocument/2006/relationships/slide" Target="slides/slide24.xml"/><Relationship Id="rId259" Type="http://schemas.openxmlformats.org/officeDocument/2006/relationships/slide" Target="slides/slide257.xml"/><Relationship Id="rId258" Type="http://schemas.openxmlformats.org/officeDocument/2006/relationships/slide" Target="slides/slide256.xml"/><Relationship Id="rId257" Type="http://schemas.openxmlformats.org/officeDocument/2006/relationships/slide" Target="slides/slide255.xml"/><Relationship Id="rId256" Type="http://schemas.openxmlformats.org/officeDocument/2006/relationships/slide" Target="slides/slide254.xml"/><Relationship Id="rId255" Type="http://schemas.openxmlformats.org/officeDocument/2006/relationships/slide" Target="slides/slide253.xml"/><Relationship Id="rId254" Type="http://schemas.openxmlformats.org/officeDocument/2006/relationships/slide" Target="slides/slide252.xml"/><Relationship Id="rId253" Type="http://schemas.openxmlformats.org/officeDocument/2006/relationships/slide" Target="slides/slide251.xml"/><Relationship Id="rId252" Type="http://schemas.openxmlformats.org/officeDocument/2006/relationships/slide" Target="slides/slide250.xml"/><Relationship Id="rId251" Type="http://schemas.openxmlformats.org/officeDocument/2006/relationships/slide" Target="slides/slide249.xml"/><Relationship Id="rId250" Type="http://schemas.openxmlformats.org/officeDocument/2006/relationships/slide" Target="slides/slide248.xml"/><Relationship Id="rId25" Type="http://schemas.openxmlformats.org/officeDocument/2006/relationships/slide" Target="slides/slide23.xml"/><Relationship Id="rId249" Type="http://schemas.openxmlformats.org/officeDocument/2006/relationships/slide" Target="slides/slide247.xml"/><Relationship Id="rId248" Type="http://schemas.openxmlformats.org/officeDocument/2006/relationships/slide" Target="slides/slide246.xml"/><Relationship Id="rId247" Type="http://schemas.openxmlformats.org/officeDocument/2006/relationships/slide" Target="slides/slide245.xml"/><Relationship Id="rId246" Type="http://schemas.openxmlformats.org/officeDocument/2006/relationships/slide" Target="slides/slide244.xml"/><Relationship Id="rId245" Type="http://schemas.openxmlformats.org/officeDocument/2006/relationships/slide" Target="slides/slide243.xml"/><Relationship Id="rId244" Type="http://schemas.openxmlformats.org/officeDocument/2006/relationships/slide" Target="slides/slide242.xml"/><Relationship Id="rId243" Type="http://schemas.openxmlformats.org/officeDocument/2006/relationships/slide" Target="slides/slide241.xml"/><Relationship Id="rId242" Type="http://schemas.openxmlformats.org/officeDocument/2006/relationships/slide" Target="slides/slide240.xml"/><Relationship Id="rId241" Type="http://schemas.openxmlformats.org/officeDocument/2006/relationships/slide" Target="slides/slide239.xml"/><Relationship Id="rId240" Type="http://schemas.openxmlformats.org/officeDocument/2006/relationships/slide" Target="slides/slide238.xml"/><Relationship Id="rId24" Type="http://schemas.openxmlformats.org/officeDocument/2006/relationships/slide" Target="slides/slide22.xml"/><Relationship Id="rId239" Type="http://schemas.openxmlformats.org/officeDocument/2006/relationships/slide" Target="slides/slide237.xml"/><Relationship Id="rId238" Type="http://schemas.openxmlformats.org/officeDocument/2006/relationships/slide" Target="slides/slide236.xml"/><Relationship Id="rId237" Type="http://schemas.openxmlformats.org/officeDocument/2006/relationships/slide" Target="slides/slide235.xml"/><Relationship Id="rId236" Type="http://schemas.openxmlformats.org/officeDocument/2006/relationships/slide" Target="slides/slide234.xml"/><Relationship Id="rId235" Type="http://schemas.openxmlformats.org/officeDocument/2006/relationships/slide" Target="slides/slide233.xml"/><Relationship Id="rId234" Type="http://schemas.openxmlformats.org/officeDocument/2006/relationships/slide" Target="slides/slide232.xml"/><Relationship Id="rId233" Type="http://schemas.openxmlformats.org/officeDocument/2006/relationships/slide" Target="slides/slide231.xml"/><Relationship Id="rId232" Type="http://schemas.openxmlformats.org/officeDocument/2006/relationships/slide" Target="slides/slide230.xml"/><Relationship Id="rId231" Type="http://schemas.openxmlformats.org/officeDocument/2006/relationships/slide" Target="slides/slide229.xml"/><Relationship Id="rId230" Type="http://schemas.openxmlformats.org/officeDocument/2006/relationships/slide" Target="slides/slide228.xml"/><Relationship Id="rId23" Type="http://schemas.openxmlformats.org/officeDocument/2006/relationships/slide" Target="slides/slide21.xml"/><Relationship Id="rId229" Type="http://schemas.openxmlformats.org/officeDocument/2006/relationships/slide" Target="slides/slide227.xml"/><Relationship Id="rId228" Type="http://schemas.openxmlformats.org/officeDocument/2006/relationships/slide" Target="slides/slide226.xml"/><Relationship Id="rId227" Type="http://schemas.openxmlformats.org/officeDocument/2006/relationships/slide" Target="slides/slide225.xml"/><Relationship Id="rId226" Type="http://schemas.openxmlformats.org/officeDocument/2006/relationships/slide" Target="slides/slide224.xml"/><Relationship Id="rId225" Type="http://schemas.openxmlformats.org/officeDocument/2006/relationships/slide" Target="slides/slide223.xml"/><Relationship Id="rId224" Type="http://schemas.openxmlformats.org/officeDocument/2006/relationships/slide" Target="slides/slide222.xml"/><Relationship Id="rId223" Type="http://schemas.openxmlformats.org/officeDocument/2006/relationships/slide" Target="slides/slide221.xml"/><Relationship Id="rId222" Type="http://schemas.openxmlformats.org/officeDocument/2006/relationships/slide" Target="slides/slide220.xml"/><Relationship Id="rId221" Type="http://schemas.openxmlformats.org/officeDocument/2006/relationships/slide" Target="slides/slide219.xml"/><Relationship Id="rId220" Type="http://schemas.openxmlformats.org/officeDocument/2006/relationships/slide" Target="slides/slide218.xml"/><Relationship Id="rId22" Type="http://schemas.openxmlformats.org/officeDocument/2006/relationships/slide" Target="slides/slide20.xml"/><Relationship Id="rId219" Type="http://schemas.openxmlformats.org/officeDocument/2006/relationships/slide" Target="slides/slide217.xml"/><Relationship Id="rId218" Type="http://schemas.openxmlformats.org/officeDocument/2006/relationships/slide" Target="slides/slide216.xml"/><Relationship Id="rId217" Type="http://schemas.openxmlformats.org/officeDocument/2006/relationships/slide" Target="slides/slide215.xml"/><Relationship Id="rId216" Type="http://schemas.openxmlformats.org/officeDocument/2006/relationships/slide" Target="slides/slide214.xml"/><Relationship Id="rId215" Type="http://schemas.openxmlformats.org/officeDocument/2006/relationships/slide" Target="slides/slide213.xml"/><Relationship Id="rId214" Type="http://schemas.openxmlformats.org/officeDocument/2006/relationships/slide" Target="slides/slide212.xml"/><Relationship Id="rId213" Type="http://schemas.openxmlformats.org/officeDocument/2006/relationships/slide" Target="slides/slide211.xml"/><Relationship Id="rId212" Type="http://schemas.openxmlformats.org/officeDocument/2006/relationships/slide" Target="slides/slide210.xml"/><Relationship Id="rId211" Type="http://schemas.openxmlformats.org/officeDocument/2006/relationships/slide" Target="slides/slide209.xml"/><Relationship Id="rId210" Type="http://schemas.openxmlformats.org/officeDocument/2006/relationships/slide" Target="slides/slide208.xml"/><Relationship Id="rId21" Type="http://schemas.openxmlformats.org/officeDocument/2006/relationships/slide" Target="slides/slide19.xml"/><Relationship Id="rId209" Type="http://schemas.openxmlformats.org/officeDocument/2006/relationships/slide" Target="slides/slide207.xml"/><Relationship Id="rId208" Type="http://schemas.openxmlformats.org/officeDocument/2006/relationships/slide" Target="slides/slide206.xml"/><Relationship Id="rId207" Type="http://schemas.openxmlformats.org/officeDocument/2006/relationships/slide" Target="slides/slide205.xml"/><Relationship Id="rId206" Type="http://schemas.openxmlformats.org/officeDocument/2006/relationships/slide" Target="slides/slide204.xml"/><Relationship Id="rId205" Type="http://schemas.openxmlformats.org/officeDocument/2006/relationships/slide" Target="slides/slide203.xml"/><Relationship Id="rId204" Type="http://schemas.openxmlformats.org/officeDocument/2006/relationships/slide" Target="slides/slide202.xml"/><Relationship Id="rId203" Type="http://schemas.openxmlformats.org/officeDocument/2006/relationships/slide" Target="slides/slide201.xml"/><Relationship Id="rId202" Type="http://schemas.openxmlformats.org/officeDocument/2006/relationships/slide" Target="slides/slide200.xml"/><Relationship Id="rId201" Type="http://schemas.openxmlformats.org/officeDocument/2006/relationships/slide" Target="slides/slide199.xml"/><Relationship Id="rId200" Type="http://schemas.openxmlformats.org/officeDocument/2006/relationships/slide" Target="slides/slide198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9" Type="http://schemas.openxmlformats.org/officeDocument/2006/relationships/slide" Target="slides/slide197.xml"/><Relationship Id="rId198" Type="http://schemas.openxmlformats.org/officeDocument/2006/relationships/slide" Target="slides/slide196.xml"/><Relationship Id="rId197" Type="http://schemas.openxmlformats.org/officeDocument/2006/relationships/slide" Target="slides/slide195.xml"/><Relationship Id="rId196" Type="http://schemas.openxmlformats.org/officeDocument/2006/relationships/slide" Target="slides/slide194.xml"/><Relationship Id="rId195" Type="http://schemas.openxmlformats.org/officeDocument/2006/relationships/slide" Target="slides/slide193.xml"/><Relationship Id="rId194" Type="http://schemas.openxmlformats.org/officeDocument/2006/relationships/slide" Target="slides/slide192.xml"/><Relationship Id="rId193" Type="http://schemas.openxmlformats.org/officeDocument/2006/relationships/slide" Target="slides/slide191.xml"/><Relationship Id="rId192" Type="http://schemas.openxmlformats.org/officeDocument/2006/relationships/slide" Target="slides/slide190.xml"/><Relationship Id="rId191" Type="http://schemas.openxmlformats.org/officeDocument/2006/relationships/slide" Target="slides/slide189.xml"/><Relationship Id="rId190" Type="http://schemas.openxmlformats.org/officeDocument/2006/relationships/slide" Target="slides/slide188.xml"/><Relationship Id="rId19" Type="http://schemas.openxmlformats.org/officeDocument/2006/relationships/slide" Target="slides/slide17.xml"/><Relationship Id="rId189" Type="http://schemas.openxmlformats.org/officeDocument/2006/relationships/slide" Target="slides/slide187.xml"/><Relationship Id="rId188" Type="http://schemas.openxmlformats.org/officeDocument/2006/relationships/slide" Target="slides/slide186.xml"/><Relationship Id="rId187" Type="http://schemas.openxmlformats.org/officeDocument/2006/relationships/slide" Target="slides/slide185.xml"/><Relationship Id="rId186" Type="http://schemas.openxmlformats.org/officeDocument/2006/relationships/slide" Target="slides/slide184.xml"/><Relationship Id="rId185" Type="http://schemas.openxmlformats.org/officeDocument/2006/relationships/slide" Target="slides/slide183.xml"/><Relationship Id="rId184" Type="http://schemas.openxmlformats.org/officeDocument/2006/relationships/slide" Target="slides/slide182.xml"/><Relationship Id="rId183" Type="http://schemas.openxmlformats.org/officeDocument/2006/relationships/slide" Target="slides/slide181.xml"/><Relationship Id="rId182" Type="http://schemas.openxmlformats.org/officeDocument/2006/relationships/slide" Target="slides/slide180.xml"/><Relationship Id="rId181" Type="http://schemas.openxmlformats.org/officeDocument/2006/relationships/slide" Target="slides/slide179.xml"/><Relationship Id="rId180" Type="http://schemas.openxmlformats.org/officeDocument/2006/relationships/slide" Target="slides/slide178.xml"/><Relationship Id="rId18" Type="http://schemas.openxmlformats.org/officeDocument/2006/relationships/slide" Target="slides/slide16.xml"/><Relationship Id="rId179" Type="http://schemas.openxmlformats.org/officeDocument/2006/relationships/slide" Target="slides/slide177.xml"/><Relationship Id="rId178" Type="http://schemas.openxmlformats.org/officeDocument/2006/relationships/slide" Target="slides/slide176.xml"/><Relationship Id="rId177" Type="http://schemas.openxmlformats.org/officeDocument/2006/relationships/slide" Target="slides/slide175.xml"/><Relationship Id="rId176" Type="http://schemas.openxmlformats.org/officeDocument/2006/relationships/slide" Target="slides/slide174.xml"/><Relationship Id="rId175" Type="http://schemas.openxmlformats.org/officeDocument/2006/relationships/slide" Target="slides/slide173.xml"/><Relationship Id="rId174" Type="http://schemas.openxmlformats.org/officeDocument/2006/relationships/slide" Target="slides/slide172.xml"/><Relationship Id="rId173" Type="http://schemas.openxmlformats.org/officeDocument/2006/relationships/slide" Target="slides/slide171.xml"/><Relationship Id="rId172" Type="http://schemas.openxmlformats.org/officeDocument/2006/relationships/slide" Target="slides/slide170.xml"/><Relationship Id="rId171" Type="http://schemas.openxmlformats.org/officeDocument/2006/relationships/slide" Target="slides/slide169.xml"/><Relationship Id="rId170" Type="http://schemas.openxmlformats.org/officeDocument/2006/relationships/slide" Target="slides/slide168.xml"/><Relationship Id="rId17" Type="http://schemas.openxmlformats.org/officeDocument/2006/relationships/slide" Target="slides/slide15.xml"/><Relationship Id="rId169" Type="http://schemas.openxmlformats.org/officeDocument/2006/relationships/slide" Target="slides/slide167.xml"/><Relationship Id="rId168" Type="http://schemas.openxmlformats.org/officeDocument/2006/relationships/slide" Target="slides/slide166.xml"/><Relationship Id="rId167" Type="http://schemas.openxmlformats.org/officeDocument/2006/relationships/slide" Target="slides/slide165.xml"/><Relationship Id="rId166" Type="http://schemas.openxmlformats.org/officeDocument/2006/relationships/slide" Target="slides/slide164.xml"/><Relationship Id="rId165" Type="http://schemas.openxmlformats.org/officeDocument/2006/relationships/slide" Target="slides/slide163.xml"/><Relationship Id="rId164" Type="http://schemas.openxmlformats.org/officeDocument/2006/relationships/slide" Target="slides/slide162.xml"/><Relationship Id="rId163" Type="http://schemas.openxmlformats.org/officeDocument/2006/relationships/slide" Target="slides/slide161.xml"/><Relationship Id="rId162" Type="http://schemas.openxmlformats.org/officeDocument/2006/relationships/slide" Target="slides/slide160.xml"/><Relationship Id="rId161" Type="http://schemas.openxmlformats.org/officeDocument/2006/relationships/slide" Target="slides/slide159.xml"/><Relationship Id="rId160" Type="http://schemas.openxmlformats.org/officeDocument/2006/relationships/slide" Target="slides/slide158.xml"/><Relationship Id="rId16" Type="http://schemas.openxmlformats.org/officeDocument/2006/relationships/slide" Target="slides/slide14.xml"/><Relationship Id="rId159" Type="http://schemas.openxmlformats.org/officeDocument/2006/relationships/slide" Target="slides/slide157.xml"/><Relationship Id="rId158" Type="http://schemas.openxmlformats.org/officeDocument/2006/relationships/slide" Target="slides/slide156.xml"/><Relationship Id="rId157" Type="http://schemas.openxmlformats.org/officeDocument/2006/relationships/slide" Target="slides/slide155.xml"/><Relationship Id="rId156" Type="http://schemas.openxmlformats.org/officeDocument/2006/relationships/slide" Target="slides/slide154.xml"/><Relationship Id="rId155" Type="http://schemas.openxmlformats.org/officeDocument/2006/relationships/slide" Target="slides/slide153.xml"/><Relationship Id="rId154" Type="http://schemas.openxmlformats.org/officeDocument/2006/relationships/slide" Target="slides/slide152.xml"/><Relationship Id="rId153" Type="http://schemas.openxmlformats.org/officeDocument/2006/relationships/slide" Target="slides/slide151.xml"/><Relationship Id="rId152" Type="http://schemas.openxmlformats.org/officeDocument/2006/relationships/slide" Target="slides/slide150.xml"/><Relationship Id="rId151" Type="http://schemas.openxmlformats.org/officeDocument/2006/relationships/slide" Target="slides/slide149.xml"/><Relationship Id="rId150" Type="http://schemas.openxmlformats.org/officeDocument/2006/relationships/slide" Target="slides/slide148.xml"/><Relationship Id="rId15" Type="http://schemas.openxmlformats.org/officeDocument/2006/relationships/slide" Target="slides/slide13.xml"/><Relationship Id="rId149" Type="http://schemas.openxmlformats.org/officeDocument/2006/relationships/slide" Target="slides/slide147.xml"/><Relationship Id="rId148" Type="http://schemas.openxmlformats.org/officeDocument/2006/relationships/slide" Target="slides/slide146.xml"/><Relationship Id="rId147" Type="http://schemas.openxmlformats.org/officeDocument/2006/relationships/slide" Target="slides/slide145.xml"/><Relationship Id="rId146" Type="http://schemas.openxmlformats.org/officeDocument/2006/relationships/slide" Target="slides/slide144.xml"/><Relationship Id="rId145" Type="http://schemas.openxmlformats.org/officeDocument/2006/relationships/slide" Target="slides/slide143.xml"/><Relationship Id="rId144" Type="http://schemas.openxmlformats.org/officeDocument/2006/relationships/slide" Target="slides/slide142.xml"/><Relationship Id="rId143" Type="http://schemas.openxmlformats.org/officeDocument/2006/relationships/slide" Target="slides/slide141.xml"/><Relationship Id="rId142" Type="http://schemas.openxmlformats.org/officeDocument/2006/relationships/slide" Target="slides/slide140.xml"/><Relationship Id="rId141" Type="http://schemas.openxmlformats.org/officeDocument/2006/relationships/slide" Target="slides/slide139.xml"/><Relationship Id="rId140" Type="http://schemas.openxmlformats.org/officeDocument/2006/relationships/slide" Target="slides/slide138.xml"/><Relationship Id="rId14" Type="http://schemas.openxmlformats.org/officeDocument/2006/relationships/slide" Target="slides/slide12.xml"/><Relationship Id="rId139" Type="http://schemas.openxmlformats.org/officeDocument/2006/relationships/slide" Target="slides/slide137.xml"/><Relationship Id="rId138" Type="http://schemas.openxmlformats.org/officeDocument/2006/relationships/slide" Target="slides/slide136.xml"/><Relationship Id="rId137" Type="http://schemas.openxmlformats.org/officeDocument/2006/relationships/slide" Target="slides/slide135.xml"/><Relationship Id="rId136" Type="http://schemas.openxmlformats.org/officeDocument/2006/relationships/slide" Target="slides/slide134.xml"/><Relationship Id="rId135" Type="http://schemas.openxmlformats.org/officeDocument/2006/relationships/slide" Target="slides/slide133.xml"/><Relationship Id="rId134" Type="http://schemas.openxmlformats.org/officeDocument/2006/relationships/slide" Target="slides/slide132.xml"/><Relationship Id="rId133" Type="http://schemas.openxmlformats.org/officeDocument/2006/relationships/slide" Target="slides/slide131.xml"/><Relationship Id="rId132" Type="http://schemas.openxmlformats.org/officeDocument/2006/relationships/slide" Target="slides/slide130.xml"/><Relationship Id="rId131" Type="http://schemas.openxmlformats.org/officeDocument/2006/relationships/slide" Target="slides/slide129.xml"/><Relationship Id="rId130" Type="http://schemas.openxmlformats.org/officeDocument/2006/relationships/slide" Target="slides/slide128.xml"/><Relationship Id="rId13" Type="http://schemas.openxmlformats.org/officeDocument/2006/relationships/slide" Target="slides/slide11.xml"/><Relationship Id="rId129" Type="http://schemas.openxmlformats.org/officeDocument/2006/relationships/slide" Target="slides/slide127.xml"/><Relationship Id="rId128" Type="http://schemas.openxmlformats.org/officeDocument/2006/relationships/slide" Target="slides/slide126.xml"/><Relationship Id="rId127" Type="http://schemas.openxmlformats.org/officeDocument/2006/relationships/slide" Target="slides/slide125.xml"/><Relationship Id="rId126" Type="http://schemas.openxmlformats.org/officeDocument/2006/relationships/slide" Target="slides/slide124.xml"/><Relationship Id="rId125" Type="http://schemas.openxmlformats.org/officeDocument/2006/relationships/slide" Target="slides/slide123.xml"/><Relationship Id="rId124" Type="http://schemas.openxmlformats.org/officeDocument/2006/relationships/slide" Target="slides/slide122.xml"/><Relationship Id="rId123" Type="http://schemas.openxmlformats.org/officeDocument/2006/relationships/slide" Target="slides/slide121.xml"/><Relationship Id="rId122" Type="http://schemas.openxmlformats.org/officeDocument/2006/relationships/slide" Target="slides/slide120.xml"/><Relationship Id="rId121" Type="http://schemas.openxmlformats.org/officeDocument/2006/relationships/slide" Target="slides/slide119.xml"/><Relationship Id="rId120" Type="http://schemas.openxmlformats.org/officeDocument/2006/relationships/slide" Target="slides/slide118.xml"/><Relationship Id="rId12" Type="http://schemas.openxmlformats.org/officeDocument/2006/relationships/slide" Target="slides/slide10.xml"/><Relationship Id="rId119" Type="http://schemas.openxmlformats.org/officeDocument/2006/relationships/slide" Target="slides/slide117.xml"/><Relationship Id="rId118" Type="http://schemas.openxmlformats.org/officeDocument/2006/relationships/slide" Target="slides/slide116.xml"/><Relationship Id="rId117" Type="http://schemas.openxmlformats.org/officeDocument/2006/relationships/slide" Target="slides/slide115.xml"/><Relationship Id="rId116" Type="http://schemas.openxmlformats.org/officeDocument/2006/relationships/slide" Target="slides/slide114.xml"/><Relationship Id="rId115" Type="http://schemas.openxmlformats.org/officeDocument/2006/relationships/slide" Target="slides/slide113.xml"/><Relationship Id="rId114" Type="http://schemas.openxmlformats.org/officeDocument/2006/relationships/slide" Target="slides/slide112.xml"/><Relationship Id="rId113" Type="http://schemas.openxmlformats.org/officeDocument/2006/relationships/slide" Target="slides/slide111.xml"/><Relationship Id="rId112" Type="http://schemas.openxmlformats.org/officeDocument/2006/relationships/slide" Target="slides/slide110.xml"/><Relationship Id="rId111" Type="http://schemas.openxmlformats.org/officeDocument/2006/relationships/slide" Target="slides/slide109.xml"/><Relationship Id="rId110" Type="http://schemas.openxmlformats.org/officeDocument/2006/relationships/slide" Target="slides/slide108.xml"/><Relationship Id="rId11" Type="http://schemas.openxmlformats.org/officeDocument/2006/relationships/slide" Target="slides/slide9.xml"/><Relationship Id="rId109" Type="http://schemas.openxmlformats.org/officeDocument/2006/relationships/slide" Target="slides/slide107.xml"/><Relationship Id="rId108" Type="http://schemas.openxmlformats.org/officeDocument/2006/relationships/slide" Target="slides/slide106.xml"/><Relationship Id="rId107" Type="http://schemas.openxmlformats.org/officeDocument/2006/relationships/slide" Target="slides/slide105.xml"/><Relationship Id="rId106" Type="http://schemas.openxmlformats.org/officeDocument/2006/relationships/slide" Target="slides/slide104.xml"/><Relationship Id="rId105" Type="http://schemas.openxmlformats.org/officeDocument/2006/relationships/slide" Target="slides/slide103.xml"/><Relationship Id="rId104" Type="http://schemas.openxmlformats.org/officeDocument/2006/relationships/slide" Target="slides/slide102.xml"/><Relationship Id="rId103" Type="http://schemas.openxmlformats.org/officeDocument/2006/relationships/slide" Target="slides/slide101.xml"/><Relationship Id="rId102" Type="http://schemas.openxmlformats.org/officeDocument/2006/relationships/slide" Target="slides/slide100.xml"/><Relationship Id="rId101" Type="http://schemas.openxmlformats.org/officeDocument/2006/relationships/slide" Target="slides/slide99.xml"/><Relationship Id="rId100" Type="http://schemas.openxmlformats.org/officeDocument/2006/relationships/slide" Target="slides/slide98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7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jpe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3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4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7.jpe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8.jpe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9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0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1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2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3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5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6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7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8.png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9.png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3.jpeg"/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image" Target="../media/image50.jpe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4.jpe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5.jpe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6.jpe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7.jpeg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8.png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9.jpe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0.jpeg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1.png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2.png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3.png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4.png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5.png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6.png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7.png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8.png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9.jpeg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0.png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1.png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2.png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3.png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4.jpe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1" Type="http://schemas.openxmlformats.org/officeDocument/2006/relationships/image" Target="../media/image75.png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6.png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7.jpeg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8.jpeg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9.png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0.png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1.png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1" Type="http://schemas.openxmlformats.org/officeDocument/2006/relationships/hyperlink" Target="../media/image165.png" TargetMode="Externa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3.png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4.png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5.png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6.png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7.png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8.png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9.png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0.png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1.png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1" Type="http://schemas.openxmlformats.org/officeDocument/2006/relationships/hyperlink" Target="../media/image182.png" TargetMode="External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1" Type="http://schemas.openxmlformats.org/officeDocument/2006/relationships/image" Target="../media/image93.png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4.png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5.png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6.png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7.png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8.png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9.png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0.png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1.png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2.png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3.png"/></Relationships>
</file>

<file path=ppt/slides/_rels/slide2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4.png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5.jpeg"/></Relationships>
</file>

<file path=ppt/slides/_rels/slide2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6.jpeg"/></Relationships>
</file>

<file path=ppt/slides/_rels/slide2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7.jpeg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8.png"/></Relationships>
</file>

<file path=ppt/slides/_rels/slide2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9.png"/></Relationships>
</file>

<file path=ppt/slides/_rels/slide2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0.png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1.jpeg"/><Relationship Id="rId1" Type="http://schemas.openxmlformats.org/officeDocument/2006/relationships/hyperlink" Target="../media/image215.jpg" TargetMode="External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2.png"/></Relationships>
</file>

<file path=ppt/slides/_rels/slide2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3.png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4.png"/></Relationships>
</file>

<file path=ppt/slides/_rels/slide2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5.png"/></Relationships>
</file>

<file path=ppt/slides/_rels/slide2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6.png"/></Relationships>
</file>

<file path=ppt/slides/_rels/slide2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7.png"/></Relationships>
</file>

<file path=ppt/slides/_rels/slide2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8.png"/></Relationships>
</file>

<file path=ppt/slides/_rels/slide3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9.png"/></Relationships>
</file>

<file path=ppt/slides/_rels/slide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0.jpeg"/></Relationships>
</file>

<file path=ppt/slides/_rels/slide30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image" Target="../media/image121.png"/></Relationships>
</file>

<file path=ppt/slides/_rels/slide3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4.png"/></Relationships>
</file>

<file path=ppt/slides/_rels/slide3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5.png"/></Relationships>
</file>

<file path=ppt/slides/_rels/slide3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6.png"/></Relationships>
</file>

<file path=ppt/slides/_rels/slide3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7.png"/></Relationships>
</file>

<file path=ppt/slides/_rels/slide3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8.png"/></Relationships>
</file>

<file path=ppt/slides/_rels/slide3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3.png"/><Relationship Id="rId2" Type="http://schemas.openxmlformats.org/officeDocument/2006/relationships/image" Target="../media/image129.png"/><Relationship Id="rId1" Type="http://schemas.openxmlformats.org/officeDocument/2006/relationships/image" Target="../media/image121.png"/></Relationships>
</file>

<file path=ppt/slides/_rels/slide3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image" Target="../media/image130.png"/></Relationships>
</file>

<file path=ppt/slides/_rels/slide3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3.png"/></Relationships>
</file>

<file path=ppt/slides/_rels/slide3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4.png"/></Relationships>
</file>

<file path=ppt/slides/_rels/slide3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5.png"/></Relationships>
</file>

<file path=ppt/slides/_rels/slide3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6.png"/></Relationships>
</file>

<file path=ppt/slides/_rels/slide3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image" Target="../media/image137.png"/></Relationships>
</file>

<file path=ppt/slides/_rels/slide3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8.png"/></Relationships>
</file>

<file path=ppt/slides/_rels/slide3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9.jpeg"/></Relationships>
</file>

<file path=ppt/slides/_rels/slide3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0.jpeg"/></Relationships>
</file>

<file path=ppt/slides/_rels/slide3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1.jpeg"/></Relationships>
</file>

<file path=ppt/slides/_rels/slide3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2.png"/></Relationships>
</file>

<file path=ppt/slides/_rels/slide3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3.png"/></Relationships>
</file>

<file path=ppt/slides/_rels/slide3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4.png"/></Relationships>
</file>

<file path=ppt/slides/_rels/slide3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5.png"/></Relationships>
</file>

<file path=ppt/slides/_rels/slide3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6.png"/></Relationships>
</file>

<file path=ppt/slides/_rels/slide3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7.png"/></Relationships>
</file>

<file path=ppt/slides/_rels/slide3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8.png"/></Relationships>
</file>

<file path=ppt/slides/_rels/slide3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9.png"/></Relationships>
</file>

<file path=ppt/slides/_rels/slide3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0.png"/></Relationships>
</file>

<file path=ppt/slides/_rels/slide3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1.png"/></Relationships>
</file>

<file path=ppt/slides/_rels/slide3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2.png"/></Relationships>
</file>

<file path=ppt/slides/_rels/slide3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3.png"/></Relationships>
</file>

<file path=ppt/slides/_rels/slide3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4.png"/></Relationships>
</file>

<file path=ppt/slides/_rels/slide3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5.png"/></Relationships>
</file>

<file path=ppt/slides/_rels/slide3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6.png"/></Relationships>
</file>

<file path=ppt/slides/_rels/slide3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7.png"/></Relationships>
</file>

<file path=ppt/slides/_rels/slide3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8.png"/></Relationships>
</file>

<file path=ppt/slides/_rels/slide4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9.png"/></Relationships>
</file>

<file path=ppt/slides/_rels/slide4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0.png"/></Relationships>
</file>

<file path=ppt/slides/_rels/slide4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1.png"/></Relationships>
</file>

<file path=ppt/slides/_rels/slide4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2.png"/></Relationships>
</file>

<file path=ppt/slides/_rels/slide4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3.jpeg"/></Relationships>
</file>

<file path=ppt/slides/_rels/slide4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4.jpeg"/></Relationships>
</file>

<file path=ppt/slides/_rels/slide4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5.jpeg"/></Relationships>
</file>

<file path=ppt/slides/_rels/slide4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6.jpeg"/></Relationships>
</file>

<file path=ppt/slides/_rels/slide4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7.png"/></Relationships>
</file>

<file path=ppt/slides/_rels/slide4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8.png"/></Relationships>
</file>

<file path=ppt/slides/_rels/slide4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9.png"/></Relationships>
</file>

<file path=ppt/slides/_rels/slide4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0.png"/></Relationships>
</file>

<file path=ppt/slides/_rels/slide4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1.png"/></Relationships>
</file>

<file path=ppt/slides/_rels/slide4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73.png"/><Relationship Id="rId2" Type="http://schemas.openxmlformats.org/officeDocument/2006/relationships/image" Target="../media/image20.png"/><Relationship Id="rId1" Type="http://schemas.openxmlformats.org/officeDocument/2006/relationships/image" Target="../media/image172.png"/></Relationships>
</file>

<file path=ppt/slides/_rels/slide4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4.jpeg"/></Relationships>
</file>

<file path=ppt/slides/_rels/slide4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5.png"/></Relationships>
</file>

<file path=ppt/slides/_rels/slide4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6.png"/></Relationships>
</file>

<file path=ppt/slides/_rels/slide4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7.png"/></Relationships>
</file>

<file path=ppt/slides/_rels/slide4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8.png"/></Relationships>
</file>

<file path=ppt/slides/_rels/slide4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9.png"/></Relationships>
</file>

<file path=ppt/slides/_rels/slide4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0.png"/></Relationships>
</file>

<file path=ppt/slides/_rels/slide4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1.jpeg"/></Relationships>
</file>

<file path=ppt/slides/_rels/slide47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2.png"/></Relationships>
</file>

<file path=ppt/slides/_rels/slide4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3.png"/></Relationships>
</file>

<file path=ppt/slides/_rels/slide4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4.png"/></Relationships>
</file>

<file path=ppt/slides/_rels/slide4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5.png"/></Relationships>
</file>

<file path=ppt/slides/_rels/slide4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6.png"/></Relationships>
</file>

<file path=ppt/slides/_rels/slide4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7.png"/></Relationships>
</file>

<file path=ppt/slides/_rels/slide4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8.png"/></Relationships>
</file>

<file path=ppt/slides/_rels/slide4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9.png"/></Relationships>
</file>

<file path=ppt/slides/_rels/slide4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0.png"/></Relationships>
</file>

<file path=ppt/slides/_rels/slide4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1.png"/></Relationships>
</file>

<file path=ppt/slides/_rels/slide5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2.png"/></Relationships>
</file>

<file path=ppt/slides/_rels/slide5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3.png"/></Relationships>
</file>

<file path=ppt/slides/_rels/slide5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4.png"/></Relationships>
</file>

<file path=ppt/slides/_rels/slide5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5.png"/></Relationships>
</file>

<file path=ppt/slides/_rels/slide50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6.png"/></Relationships>
</file>

<file path=ppt/slides/_rels/slide5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7.png"/></Relationships>
</file>

<file path=ppt/slides/_rels/slide5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COURSE SLIDES</a:t>
            </a:r>
            <a:endParaRPr sz="1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61B26"/>
                </a:solidFill>
                <a:latin typeface="Arial" panose="020B0604020202020204"/>
              </a:rPr>
              <a:t>Certified Kubernetes Application Developer (CKAD)</a:t>
            </a:r>
            <a:endParaRPr sz="44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41248" y="452628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WSQ Course Code: TGS-2025053212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 panose="020B0604020202020204"/>
              </a:rPr>
              <a:t>Conducted by Tertiary Infotech Academy Pte Ltd  ·  UEN 201200696W</a:t>
            </a:r>
            <a:endParaRPr sz="14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Version 1.0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 panose="020B0604020202020204"/>
              </a:rPr>
              <a:t>© 2026 Tertiary Infotech Academy Pte Ltd. All rights reserved.  ·  www.tertiarycourses.com.sg</a:t>
            </a:r>
            <a:endParaRPr sz="100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COURSE ADMINISTRATION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Welcome &amp; Housekeeping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TRAQOM · SSG DIGITAL ATTENDANCE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Digital Attendance (Mandatory)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760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It is mandatory to take the AM, PM and Assessment digital attendance for WSQ-funded courses.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The trainer displays the digital attendance QR code from the SSG portal.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Scan the QR code with your phone camera and submit your attendance.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A minimum of 75% attendance is required for assessment and funding.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4389120" cy="27432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2148840"/>
            <a:ext cx="1005840" cy="10058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atten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6936" y="2420416"/>
            <a:ext cx="462688" cy="4626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40" y="3337560"/>
            <a:ext cx="3840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 panose="020B0604020202020204"/>
              </a:rPr>
              <a:t>Minimum 75%</a:t>
            </a:r>
            <a:endParaRPr sz="2600" b="1">
              <a:solidFill>
                <a:srgbClr val="1F6FEB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 panose="020B0604020202020204"/>
              </a:rPr>
              <a:t>attendance required</a:t>
            </a:r>
            <a:endParaRPr sz="2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YOUR TRAINER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About the Trainer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83280" cy="3657600"/>
          </a:xfrm>
          <a:prstGeom prst="roundRect">
            <a:avLst>
              <a:gd name="adj" fmla="val 5000"/>
            </a:avLst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51660" y="2194560"/>
            <a:ext cx="1143000" cy="11430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0270" y="2503170"/>
            <a:ext cx="525780" cy="5257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361188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 panose="020B0604020202020204"/>
              </a:rPr>
              <a:t>Mohan Pothula</a:t>
            </a:r>
            <a:endParaRPr sz="2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Kubernetes &amp; Cloud-Native Trainer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434840" y="18288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7661" y="2001621"/>
            <a:ext cx="294438" cy="2944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49240" y="1783080"/>
            <a:ext cx="68580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Role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Principal Kubernetes &amp; DevOps trainer at Tertiary Infotech Academy.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4434840" y="27432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_lap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661" y="2916021"/>
            <a:ext cx="294438" cy="29443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49240" y="2697480"/>
            <a:ext cx="68580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Qualifications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· CKA · Docker Certified Associate · AWS Solutions Architect.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434840" y="36576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_per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661" y="3830421"/>
            <a:ext cx="294438" cy="29443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49240" y="3611880"/>
            <a:ext cx="68580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Expertise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Kubernetes · Docker · CI/CD · Cloud-native platform engineering.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434840" y="45720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_bri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7661" y="4744821"/>
            <a:ext cx="294438" cy="29443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49240" y="4526280"/>
            <a:ext cx="68580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Experience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20+ years across DBS Bank, SingTel, Mediacorp and SPH Media.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YOUR TRAINER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About the Trainer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83280" cy="3657600"/>
          </a:xfrm>
          <a:prstGeom prst="roundRect">
            <a:avLst>
              <a:gd name="adj" fmla="val 5000"/>
            </a:avLst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51660" y="2194560"/>
            <a:ext cx="1143000" cy="11430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0270" y="2503170"/>
            <a:ext cx="525780" cy="5257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361188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 panose="020B0604020202020204"/>
              </a:rPr>
              <a:t>[ Trainer Name ]</a:t>
            </a:r>
            <a:endParaRPr sz="2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[ Title / Role ]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434840" y="18288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_lap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661" y="2001621"/>
            <a:ext cx="294438" cy="2944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49240" y="18288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Qualifications: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360920" y="2136140"/>
            <a:ext cx="3931920" cy="1905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4840" y="27432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_per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661" y="2916021"/>
            <a:ext cx="294438" cy="2944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49240" y="27432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Expertise: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360920" y="3050540"/>
            <a:ext cx="3931920" cy="1905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34840" y="36576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_bri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7661" y="3830421"/>
            <a:ext cx="294438" cy="29443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49240" y="36576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Experience: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360920" y="3964940"/>
            <a:ext cx="3931920" cy="1905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34840" y="45720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_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661" y="4744821"/>
            <a:ext cx="294438" cy="29443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349240" y="45720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Contact / Profile: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360920" y="4879340"/>
            <a:ext cx="3931920" cy="1905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ICE-BREAKER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Let's Know Each Other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 panose="020B0604020202020204"/>
              </a:rPr>
              <a:t>Take a minute to introduce yourself to the class:</a:t>
            </a:r>
            <a:endParaRPr sz="15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33680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40636" y="2212848"/>
            <a:ext cx="841248" cy="8412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person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772" y="2439984"/>
            <a:ext cx="386976" cy="3869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3246120"/>
            <a:ext cx="3002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Your role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33272" y="3657600"/>
            <a:ext cx="28559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Your name and organisation / role.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19600" y="1920240"/>
            <a:ext cx="33680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82996" y="2212848"/>
            <a:ext cx="841248" cy="8412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132" y="2439984"/>
            <a:ext cx="386976" cy="386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02480" y="3246120"/>
            <a:ext cx="3002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Your experience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75632" y="3657600"/>
            <a:ext cx="28559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Any experience with Docker, Kubernetes or the cloud.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61960" y="1920240"/>
            <a:ext cx="33680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5356" y="2212848"/>
            <a:ext cx="841248" cy="8412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2492" y="2439984"/>
            <a:ext cx="386976" cy="3869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44840" y="3246120"/>
            <a:ext cx="3002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Your goal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17992" y="3657600"/>
            <a:ext cx="28559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Whether you are targeting the CKAD exam or production skills.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HOUSE RULES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Ground Rules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gr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198" y="2137318"/>
            <a:ext cx="260788" cy="2607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5648" y="1984248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Phones on silent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24128" y="2697480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Set your phone to silent mode.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1960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648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_g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558" y="2137318"/>
            <a:ext cx="260788" cy="2607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8008" y="1984248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Participate actively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66488" y="2697480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No question is too small — ask freely.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6196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884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_gr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918" y="2137318"/>
            <a:ext cx="260788" cy="2607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40368" y="1984248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Mutual respect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08848" y="2697480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One conversation at a time.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_gr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198" y="4167286"/>
            <a:ext cx="260788" cy="2607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55648" y="4014216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Be punctual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4128" y="4727448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Return from breaks on time.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41960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648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_gr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9558" y="4167286"/>
            <a:ext cx="260788" cy="2607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98008" y="4014216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Step out quietly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666488" y="4727448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For calls or short breaks.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06196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0884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c_gr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918" y="4167286"/>
            <a:ext cx="260788" cy="2607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40368" y="4014216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75% attendance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308848" y="4727448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Required for funding eligibility.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SCHEDULE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Lesson Plan — 3½ Days, 8 hours/day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64208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920240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2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01368" y="1920240"/>
            <a:ext cx="39547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Day 1 · Domain 1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1560" y="2651760"/>
            <a:ext cx="45948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 panose="020B0604020202020204"/>
              </a:rPr>
              <a:t>Application Design &amp; Build</a:t>
            </a:r>
            <a:endParaRPr sz="1200" b="1">
              <a:solidFill>
                <a:srgbClr val="161B26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Container images &amp; multi-stage builds (Labs 1–2)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Pods, Jobs &amp; CronJobs (Labs 3–5)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Multi-container Pods &amp; Volumes (Labs 6–8)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86500" y="1664208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42532" y="1920240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2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0628" y="1920240"/>
            <a:ext cx="39547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Day 2 · Domain 2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60820" y="2651760"/>
            <a:ext cx="45948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 panose="020B0604020202020204"/>
              </a:rPr>
              <a:t>Application Deployment</a:t>
            </a:r>
            <a:endParaRPr sz="1200" b="1">
              <a:solidFill>
                <a:srgbClr val="161B26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Deployments, ReplicaSets &amp; rollouts (Labs 9–10)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Blue/green &amp; canary (Labs 11–12)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Helm, Kustomize, Daemon/StatefulSet (Labs 13–15)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77240" y="3968495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3272" y="4224527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2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01368" y="4224527"/>
            <a:ext cx="39547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Day 3 · Domains 3 &amp; 4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1560" y="4956047"/>
            <a:ext cx="45948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 panose="020B0604020202020204"/>
              </a:rPr>
              <a:t>Observability + Config &amp; Security</a:t>
            </a:r>
            <a:endParaRPr sz="1200" b="1">
              <a:solidFill>
                <a:srgbClr val="161B26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Probes, logging, metrics, debug (Labs 16–20)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ConfigMaps, Secrets, SecurityContext (Labs 21–23)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ServiceAccounts, RBAC, Quotas (Labs 24–26)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86500" y="3968495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42532" y="4224527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 panose="020B0604020202020204"/>
              </a:rPr>
              <a:t>4</a:t>
            </a:r>
            <a:endParaRPr sz="2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0628" y="4224527"/>
            <a:ext cx="39547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Day 4 (½) · Domain 5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60820" y="4956047"/>
            <a:ext cx="45948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 panose="020B0604020202020204"/>
              </a:rPr>
              <a:t>Services &amp; Networking + Assessment</a:t>
            </a:r>
            <a:endParaRPr sz="1200" b="1">
              <a:solidFill>
                <a:srgbClr val="161B26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Services &amp; Service DNS (Labs 27–28)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Ingress with TLS &amp; NetworkPolicy (Labs 29–30)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1:00 PM mock-exam practice, then final assessment from 2:00 PM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77240" y="6089904"/>
            <a:ext cx="10652760" cy="38404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6089904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 panose="020B0604020202020204"/>
              </a:rPr>
              <a:t>Daily timing:   </a:t>
            </a:r>
            <a:r>
              <a:rPr sz="1200" b="0">
                <a:solidFill>
                  <a:srgbClr val="161B26"/>
                </a:solidFill>
                <a:latin typeface="Arial" panose="020B0604020202020204"/>
              </a:rPr>
              <a:t>9:00am – 6:00pm   ·   1-hour lunch   ·   short tea breaks within each day</a:t>
            </a:r>
            <a:endParaRPr sz="12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WHAT YOU'LL ACHIEVE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Learning Outcomes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69164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81912" y="1691640"/>
            <a:ext cx="9875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LO1   </a:t>
            </a:r>
            <a:r>
              <a:rPr sz="1500" b="0">
                <a:solidFill>
                  <a:srgbClr val="161B26"/>
                </a:solidFill>
                <a:latin typeface="Arial" panose="020B0604020202020204"/>
              </a:rPr>
              <a:t>Build and optimise container images with single- and multi-stage Dockerfiles.</a:t>
            </a:r>
            <a:endParaRPr sz="15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9" name="Oval 8"/>
          <p:cNvSpPr/>
          <p:nvPr/>
        </p:nvSpPr>
        <p:spPr>
          <a:xfrm>
            <a:off x="777240" y="240487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81912" y="2404872"/>
            <a:ext cx="9875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LO2   </a:t>
            </a:r>
            <a:r>
              <a:rPr sz="1500" b="0">
                <a:solidFill>
                  <a:srgbClr val="161B26"/>
                </a:solidFill>
                <a:latin typeface="Arial" panose="020B0604020202020204"/>
              </a:rPr>
              <a:t>Create and manage Pods imperatively and declaratively with kubectl and --dry-run.</a:t>
            </a:r>
            <a:endParaRPr sz="15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777240" y="3118104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81912" y="3118104"/>
            <a:ext cx="9875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LO3   </a:t>
            </a:r>
            <a:r>
              <a:rPr sz="1500" b="0">
                <a:solidFill>
                  <a:srgbClr val="161B26"/>
                </a:solidFill>
                <a:latin typeface="Arial" panose="020B0604020202020204"/>
              </a:rPr>
              <a:t>Run batch workloads with Jobs and scheduled workloads with CronJobs.</a:t>
            </a:r>
            <a:endParaRPr sz="15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77240" y="383133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4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81912" y="3831336"/>
            <a:ext cx="9875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LO4   </a:t>
            </a:r>
            <a:r>
              <a:rPr sz="1500" b="0">
                <a:solidFill>
                  <a:srgbClr val="161B26"/>
                </a:solidFill>
                <a:latin typeface="Arial" panose="020B0604020202020204"/>
              </a:rPr>
              <a:t>Design multi-container Pods using the sidecar and init-container patterns.</a:t>
            </a:r>
            <a:endParaRPr sz="15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77240" y="454456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5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81912" y="4544568"/>
            <a:ext cx="9875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LO5   </a:t>
            </a:r>
            <a:r>
              <a:rPr sz="1500" b="0">
                <a:solidFill>
                  <a:srgbClr val="161B26"/>
                </a:solidFill>
                <a:latin typeface="Arial" panose="020B0604020202020204"/>
              </a:rPr>
              <a:t>Persist and share Pod data with emptyDir, tmpfs and hostPath volumes.</a:t>
            </a:r>
            <a:endParaRPr sz="15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81912" y="5257800"/>
            <a:ext cx="9875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LO6   </a:t>
            </a:r>
            <a:r>
              <a:rPr sz="1500" b="0">
                <a:solidFill>
                  <a:srgbClr val="161B26"/>
                </a:solidFill>
                <a:latin typeface="Arial" panose="020B0604020202020204"/>
              </a:rPr>
              <a:t>Deploy, scale, observe, secure and network applications across the five CKAD domains.</a:t>
            </a:r>
            <a:endParaRPr sz="15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FINAL ASSESSMENT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Assessment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" y="20939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cli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5895" y="2271735"/>
            <a:ext cx="302850" cy="302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65960" y="2093976"/>
            <a:ext cx="39776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 panose="020B0604020202020204"/>
              </a:rPr>
              <a:t>Final Assessment</a:t>
            </a:r>
            <a:endParaRPr sz="1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8136" y="3063240"/>
            <a:ext cx="4636008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Written / MCQ assessment on the LMS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Mock-exam practice from 1:00 PM; final assessment from 2:00 PM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Covers all five CKAD domains and the hands-on labs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Open book — slides, Learner Guide &amp; kubernetes.io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Must be attempted for SSG funding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20256" y="2093976"/>
            <a:ext cx="658368" cy="658368"/>
          </a:xfrm>
          <a:prstGeom prst="ellipse">
            <a:avLst/>
          </a:prstGeom>
          <a:solidFill>
            <a:srgbClr val="0B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2093976"/>
            <a:ext cx="39776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 panose="020B0604020202020204"/>
              </a:rPr>
              <a:t>Funding &amp; Competency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20256" y="3108960"/>
            <a:ext cx="463600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 panose="020B0604020202020204"/>
              </a:rPr>
              <a:t>Minimum 75% attendance</a:t>
            </a:r>
            <a:endParaRPr sz="1500" b="1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 panose="020B0604020202020204"/>
              </a:rPr>
              <a:t>Based on SSG digital attendance records.</a:t>
            </a:r>
            <a:endParaRPr sz="1300" b="0">
              <a:solidFill>
                <a:srgbClr val="CFE0FB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20256" y="4297680"/>
            <a:ext cx="463600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 panose="020B0604020202020204"/>
              </a:rPr>
              <a:t>Assessed as Competent</a:t>
            </a:r>
            <a:endParaRPr sz="1500" b="1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 panose="020B0604020202020204"/>
              </a:rPr>
              <a:t>Pass the written / MCQ assessment.</a:t>
            </a:r>
            <a:endParaRPr sz="1300" b="0">
              <a:solidFill>
                <a:srgbClr val="CFE0FB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ASSESSMENT RULES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Briefing for Assessment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br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198" y="2137318"/>
            <a:ext cx="260788" cy="2607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5648" y="1984248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Clear your space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24128" y="2697480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Keep only approved materials on the table.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1960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648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_b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558" y="2137318"/>
            <a:ext cx="260788" cy="2607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8008" y="1984248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No recording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66488" y="2697480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No photos of the assessment.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6196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884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_br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918" y="2137318"/>
            <a:ext cx="260788" cy="2607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40368" y="1984248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Work individually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08848" y="2697480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No discussion during the assessment.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_br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198" y="4167286"/>
            <a:ext cx="260788" cy="2607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55648" y="4014216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Use the LMS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4128" y="4727448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The assessment is delivered online.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41960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648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_gr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9558" y="4167286"/>
            <a:ext cx="260788" cy="2607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98008" y="4014216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Open book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666488" y="4727448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Slides, Learner Guide &amp; kubernetes.io are allowed.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06196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0884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c_br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918" y="4167286"/>
            <a:ext cx="260788" cy="2607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40368" y="4014216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Time's up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308848" y="4727448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Submit when time is up.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DAY 1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Application Design and Build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Images · Pods · Jobs · CronJobs · Multi-container · Volumes  (CKAD Domain 1 — 20%)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 panose="020B0604020202020204"/>
              </a:rPr>
              <a:t>01</a:t>
            </a: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TOPIC 1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Container Images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Dockerfiles, image layers &amp; multi-stage builds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OVERVIEW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Why Container Images?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An image is a read-only blueprint that packages your app with all its dependencies.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container is a running instance of an image — it starts in milliseconds.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Kubernetes never builds images; it pulls them from a registry by name:tag and runs them.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CKAD expects you to read, write and fix Dockerfiles under time pressure.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INTRO · KUBERNETES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What is Kubernetes?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2926080" cy="4389120"/>
          </a:xfrm>
          <a:prstGeom prst="roundRect">
            <a:avLst>
              <a:gd name="adj" fmla="val 6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Kubernetes (k8s)</a:t>
            </a:r>
            <a:endParaRPr sz="15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2331720"/>
            <a:ext cx="25603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Open-source container orchestration platform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Originally designed by Google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CNCF graduated project since 2016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Automates deployment, scaling, and management of containerised workloads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Declarative: describe desired state; K8s makes it so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794760" y="1600200"/>
            <a:ext cx="7909560" cy="1920240"/>
          </a:xfrm>
          <a:prstGeom prst="roundRect">
            <a:avLst>
              <a:gd name="adj" fmla="val 6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1691640"/>
            <a:ext cx="7498079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 panose="020B0604020202020204"/>
              </a:rPr>
              <a:t>Why Container Orchestration?</a:t>
            </a:r>
            <a:endParaRPr sz="15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77639" y="2103120"/>
            <a:ext cx="7406640" cy="1325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Containers are ephemeral — orchestration ensures availability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Scale to thousands of containers across many nodes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Self-healing: restart failed containers automatically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794760" y="3703320"/>
            <a:ext cx="7909560" cy="228600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39" y="3794760"/>
            <a:ext cx="7498079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Key Capabilities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023360" y="4251960"/>
            <a:ext cx="1691640" cy="640080"/>
          </a:xfrm>
          <a:prstGeom prst="roundRect">
            <a:avLst>
              <a:gd name="adj" fmla="val 6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4251960"/>
            <a:ext cx="1691640" cy="6400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Auto-scaling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943600" y="4251960"/>
            <a:ext cx="1691640" cy="64008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4251960"/>
            <a:ext cx="1691640" cy="6400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Self-healing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863840" y="4251960"/>
            <a:ext cx="1691640" cy="64008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251960"/>
            <a:ext cx="1691640" cy="6400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Load balancing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784080" y="4251960"/>
            <a:ext cx="1691640" cy="64008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4251960"/>
            <a:ext cx="1691640" cy="6400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Rolling updates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INTRO · CONTAINERS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Virtual Machines vs Containers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B1220"/>
                </a:solidFill>
                <a:latin typeface="Arial" panose="020B0604020202020204"/>
              </a:rPr>
              <a:t>Virtual Machines</a:t>
            </a:r>
            <a:endParaRPr sz="1700" b="1">
              <a:solidFill>
                <a:srgbClr val="0B1220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46520" y="171907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0B981"/>
                </a:solidFill>
                <a:latin typeface="Arial" panose="020B0604020202020204"/>
              </a:rPr>
              <a:t>Containers</a:t>
            </a:r>
            <a:endParaRPr sz="17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2240280"/>
            <a:ext cx="502920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Include full OS (kernel + libraries + app)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GBs in size; minutes to boot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Strong isolation via hypervisor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Each VM has its own kernel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Good for: legacy apps, OS-level testing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46520" y="2240280"/>
            <a:ext cx="502920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Share host OS kernel; package only app + libs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MBs in size; milliseconds to start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Process-level isolation via namespaces + cgroups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Very low overhead; high density per host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Good for: microservices, CI/CD, cloud-native apps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06440" y="3474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vs</a:t>
            </a:r>
            <a:endParaRPr sz="18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INTRO · ARCHITECTURE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Kubernetes High-Level Architecture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5303520" cy="4572000"/>
          </a:xfrm>
          <a:prstGeom prst="roundRect">
            <a:avLst>
              <a:gd name="adj" fmla="val 6000"/>
            </a:avLst>
          </a:prstGeom>
          <a:solidFill>
            <a:srgbClr val="EAF1FE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4937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Control Plane (Master Node)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85800" y="2148840"/>
            <a:ext cx="2011680" cy="566928"/>
          </a:xfrm>
          <a:prstGeom prst="roundRect">
            <a:avLst>
              <a:gd name="adj" fmla="val 6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48840"/>
            <a:ext cx="2011680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kube-apiserver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34640" y="225856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Front-end; all comms go through it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85800" y="3108960"/>
            <a:ext cx="2011680" cy="566928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08960"/>
            <a:ext cx="2011680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etcd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34640" y="321868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Distributed key-value store; source of truth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85800" y="4069080"/>
            <a:ext cx="2011680" cy="566928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69080"/>
            <a:ext cx="2011680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kube-scheduler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34640" y="417880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Assigns Pods to nodes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85800" y="5029200"/>
            <a:ext cx="2011680" cy="566928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029200"/>
            <a:ext cx="2011680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controller-manager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34640" y="513892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Runs Deployment, ReplicaSet, Node controllers…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263640" y="160020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E8F7EE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691640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Worker Node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46520" y="2148840"/>
            <a:ext cx="2103120" cy="566928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148840"/>
            <a:ext cx="2103120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kubelet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686800" y="225856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Agent; ensures containers run in Pods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446520" y="3108960"/>
            <a:ext cx="2103120" cy="566928"/>
          </a:xfrm>
          <a:prstGeom prst="roundRect">
            <a:avLst>
              <a:gd name="adj" fmla="val 6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108960"/>
            <a:ext cx="2103120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kube-proxy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686800" y="321868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Network rules; enables Service networking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446520" y="4069080"/>
            <a:ext cx="2103120" cy="566928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069080"/>
            <a:ext cx="2103120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Container Runtime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686800" y="417880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Runs containers (containerd, CRI-O…)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446520" y="5029200"/>
            <a:ext cx="2103120" cy="56692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5029200"/>
            <a:ext cx="2103120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Pod (App)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86800" y="513892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One or more containers; your workload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5806440" y="3886200"/>
            <a:ext cx="457200" cy="0"/>
          </a:xfrm>
          <a:prstGeom prst="line">
            <a:avLst/>
          </a:prstGeom>
          <a:ln w="25400">
            <a:solidFill>
              <a:srgbClr val="1F6FEB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INTRO · KUBECTL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kubectl — The Kubernetes CLI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Structure: verb + resource + flags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645919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645919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&lt;verb&gt; &lt;resource&gt; [name] [flags]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      # list resources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describe  # detailed info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apply     # create/update from 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delete    # remove a resource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exec      # run command in container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logs      # view container logs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794759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Useful flags for the exam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142231"/>
            <a:ext cx="10652760" cy="89611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42231"/>
            <a:ext cx="82296" cy="896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206239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pods -n &lt;namespace&gt;                         # specify namespace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all --all-namespaces                        # across all ns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run nginx --image=nginx --dry-run=client -o yaml  # generate 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explain pod.spec.containers                     # inline API docs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ONE INSTRUCTION = ONE LAYER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Anatomy of a Dockerfile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Base &amp; setup</a:t>
            </a:r>
            <a:endParaRPr sz="19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FROM — pick a small, pinned base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WORKDIR — set the working dir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COPY / ADD — bring files in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 panose="020B0604020202020204"/>
              </a:rPr>
              <a:t>Build steps</a:t>
            </a:r>
            <a:endParaRPr sz="19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RUN — install dependencies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Each line = one cached layer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Order steps for cache reuse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 panose="020B0604020202020204"/>
              </a:rPr>
              <a:t>Runtime</a:t>
            </a:r>
            <a:endParaRPr sz="19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EXPOSE — document the port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ENV — runtime configuration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CMD / ENTRYPOINT — what runs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90" dirty="0"/>
              <a:t>Containerization</a:t>
            </a:r>
            <a:r>
              <a:rPr spc="-40" dirty="0"/>
              <a:t> </a:t>
            </a:r>
            <a:r>
              <a:rPr spc="-10" dirty="0"/>
              <a:t>Process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8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Building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6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publishing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image,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running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6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image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container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234467" y="2289196"/>
            <a:ext cx="9723132" cy="354849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SHRINK THE IMAGE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Single-Stage vs Multi-Stage Builds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Single-stage</a:t>
            </a:r>
            <a:endParaRPr sz="1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Multi-stage</a:t>
            </a:r>
            <a:endParaRPr sz="16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One FROM — build + runtime together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Ships the whole toolchain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Large image (~800 MB for Go)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Bigger attack surface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Multiple FROM stages with AS &lt;name&gt;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COPY --from=builder copies only the binary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Tiny image (~8 MB, distroless)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No shell, no package manager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CONTAINER IMAGES · ONE DOCKERFILE, TWO STAGES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Multi-Stage Build — Shrink the Image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4297680" cy="28346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11680"/>
            <a:ext cx="42976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21408"/>
            <a:ext cx="4078224" cy="2724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 panose="020B0604020202020204"/>
              </a:rPr>
              <a:t>Stage 1 — builder</a:t>
            </a:r>
            <a:endParaRPr sz="1600" b="1">
              <a:solidFill>
                <a:srgbClr val="161B26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FROM golang:1.22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WORKDIR /src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COPY . 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RUN go build -o /server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Ships compiler + source + modules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5257800" y="2926080"/>
            <a:ext cx="1691640" cy="82296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920240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 panose="020B0604020202020204"/>
              </a:rPr>
              <a:t>COPY --from=builder</a:t>
            </a:r>
            <a:endParaRPr sz="11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74920" y="3794760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only the binary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132320" y="2011680"/>
            <a:ext cx="4297680" cy="28346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0" y="2011680"/>
            <a:ext cx="429768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42048" y="2121408"/>
            <a:ext cx="4078224" cy="2724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 panose="020B0604020202020204"/>
              </a:rPr>
              <a:t>Stage 2 — runtime</a:t>
            </a:r>
            <a:endParaRPr sz="1600" b="1">
              <a:solidFill>
                <a:srgbClr val="161B26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FROM gcr.io/distroless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COPY --from=builder /server /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ENTRYPOINT ["/server"]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No shell · no package manager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Just your binary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5074920"/>
            <a:ext cx="429768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74920"/>
            <a:ext cx="42976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5B6372"/>
                </a:solidFill>
                <a:latin typeface="Arial" panose="020B0604020202020204"/>
              </a:rPr>
              <a:t>~800 MB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   final image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132320" y="5074920"/>
            <a:ext cx="429768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5074920"/>
            <a:ext cx="42976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0B981"/>
                </a:solidFill>
                <a:latin typeface="Arial" panose="020B0604020202020204"/>
              </a:rPr>
              <a:t>~8 MB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   final image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1 · CONTAINER IMAGES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Build a Container Image with Docker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1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Container images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Write a Dockerfile from scratch, build a tagged image, run it locally and inspect its layers. CKAD expects you to read and write Dockerfiles confidently — you may be asked to fix a broken one or produce one under time pressure.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Write a Dockerfile, build and tag an image, run it, then inspect its layers with docker history.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FROM python:3.12-slim · » `EXPOSE` · docker build · docker run · docker history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Build a Container Image with Docker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Write the Dockerfile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FROM python:3.12-slim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WORKDIR /app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COPY app.py 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EXPOSE 8080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CMD ["python", "app.py"]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EXPOSE is documentation only — it does not publish the port. -p host:container is what actually opens it.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4238243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Build and tag the image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77240" y="4622291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622291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686299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docker build -t ckad/hello:1.0 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docker images ckad/hello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Build a Container Image with Docker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Run and test the container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docker run -d --name hello -p 8080:8080 ckad/hello:1.0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curl http://localhost:8080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Inspect the image layers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docker history ckad/hello:1.0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docker rm -f hello &amp;&amp; docker rmi ckad/hello:1.0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Build a Container Image with Docker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curl http://localhost:8080 returns hello from CKAD 2026 lab 1, and docker history shows a distinct layer for each Dockerfile instruction.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1 · CONTAINER IMAGES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Multi-Stage Dockerfile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Container images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Separate the build stage from the runtime stage to produce images that are 10x smaller and contain no compiler toolchain. Multi-stage builds are a CKAD staple — you must be able to write one from scratch and explain why it shrinks the image.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Build a single-stage baseline, then a multi-stage image with COPY --from and distroless, and compare sizes.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FROM golang:1.22 · docker build · » Only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Multi-Stage Dockerfile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Single-stage baseline (large image)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FROM golang:1.22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WORKDIR /src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COPY main.go 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RUN go mod init demo &amp;&amp; go build -o app main.go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CMD ["./app"]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Multi-stage Dockerfile (small image)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726179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26179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790187"/>
            <a:ext cx="10323576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Stage 1: compile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FROM golang:1.22 AS builder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WORKDIR /src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COPY main.go 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RUN go mod init demo &amp;&amp; CGO_ENABLED=0 go build -o /out/app main.go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Stage 2: runtime only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FROM gcr.io/distroless/static-debian12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COPY --from=builder /out/app /app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ENTRYPOINT ["/app"]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Multi-Stage Dockerfile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Build both and compare sizes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docker build -f Dockerfile.single -t demo:single 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docker build -f Dockerfile.multi  -t demo:multi 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docker images | grep demo        # ~800MB  vs  ~8MB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Only the last FROM stage ends up in the final image. CGO_ENABLED=0 produces a static binary that runs in distroless/scratch — no shell, smaller attack surface.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Multi-Stage Dockerfile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docker images | grep demo shows demo:multi roughly 100x smaller than demo:single, and demo:multi still serves hello from multi-stage build.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 panose="020B0604020202020204"/>
              </a:rPr>
              <a:t>Tea Break</a:t>
            </a:r>
            <a:endParaRPr sz="4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 panose="020B0604020202020204"/>
              </a:rPr>
              <a:t>15 minutes</a:t>
            </a:r>
            <a:endParaRPr sz="2200" b="1">
              <a:solidFill>
                <a:srgbClr val="10B981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TOPIC 2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Pods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The smallest deployable unit &amp; the exam-speed kubectl workflow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FOUNDATIONS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What is a Pod?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Pod is the smallest deployable unit — one or more containers sharing network &amp; storage.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Containers in a Pod share an IP and localhost; they can share volumes.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Create Pods imperatively (kubectl run) or declaratively (kubectl apply -f).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Pods are ephemeral — in production you run them via higher-level controllers (Day 2).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GENERATE → EDIT → APPLY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The CKAD kubectl Workflow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Generate</a:t>
            </a:r>
            <a:endParaRPr sz="19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kubectl run / create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with --dry-run=client -o yaml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Scaffold a manifest fast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 panose="020B0604020202020204"/>
              </a:rPr>
              <a:t>Edit</a:t>
            </a:r>
            <a:endParaRPr sz="19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Redirect to a .yaml file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Tweak labels, image, command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Version-controllable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 panose="020B0604020202020204"/>
              </a:rPr>
              <a:t>Apply</a:t>
            </a:r>
            <a:endParaRPr sz="19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kubectl apply -f file.yaml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Idempotent &amp; repeatable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kubectl describe to verify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75" dirty="0"/>
              <a:t>What</a:t>
            </a:r>
            <a:r>
              <a:rPr spc="-114" dirty="0"/>
              <a:t> </a:t>
            </a:r>
            <a:r>
              <a:rPr dirty="0"/>
              <a:t>is</a:t>
            </a:r>
            <a:r>
              <a:rPr spc="-110" dirty="0"/>
              <a:t> </a:t>
            </a:r>
            <a:r>
              <a:rPr spc="280" dirty="0"/>
              <a:t>a</a:t>
            </a:r>
            <a:r>
              <a:rPr spc="-114" dirty="0"/>
              <a:t> </a:t>
            </a:r>
            <a:r>
              <a:rPr spc="-20" dirty="0"/>
              <a:t>Pod?</a:t>
            </a:r>
            <a:endParaRPr spc="-2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Runs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600" b="0" spc="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process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1600" b="0" spc="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application</a:t>
            </a:r>
            <a:r>
              <a:rPr sz="1600" b="0" spc="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container(s)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0095" y="1856996"/>
            <a:ext cx="10238740" cy="2200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100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 panose="020B0604020202020204"/>
                <a:cs typeface="Arial" panose="020B0604020202020204"/>
              </a:rPr>
              <a:t>The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smallest,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most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basic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deployable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objects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in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latin typeface="Arial" panose="020B0604020202020204"/>
                <a:cs typeface="Arial" panose="020B0604020202020204"/>
              </a:rPr>
              <a:t>Kubernetes.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buFont typeface="Arial" panose="020B0604020202020204"/>
              <a:buChar char="●"/>
            </a:pPr>
            <a:endParaRPr sz="1600">
              <a:latin typeface="Arial" panose="020B0604020202020204"/>
              <a:cs typeface="Arial" panose="020B0604020202020204"/>
            </a:endParaRPr>
          </a:p>
          <a:p>
            <a:pPr marL="363855" indent="-351155">
              <a:lnSpc>
                <a:spcPct val="100000"/>
              </a:lnSpc>
              <a:buChar char="●"/>
              <a:tabLst>
                <a:tab pos="363855" algn="l"/>
              </a:tabLst>
            </a:pPr>
            <a:r>
              <a:rPr sz="1600" dirty="0">
                <a:latin typeface="Arial" panose="020B0604020202020204"/>
                <a:cs typeface="Arial" panose="020B0604020202020204"/>
              </a:rPr>
              <a:t>It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contains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one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or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more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containers,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executed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by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the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configured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container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latin typeface="Arial" panose="020B0604020202020204"/>
                <a:cs typeface="Arial" panose="020B0604020202020204"/>
              </a:rPr>
              <a:t>runtime.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335"/>
              </a:spcBef>
              <a:buFont typeface="Arial" panose="020B0604020202020204"/>
              <a:buChar char="●"/>
            </a:pPr>
            <a:endParaRPr sz="1600">
              <a:latin typeface="Arial" panose="020B0604020202020204"/>
              <a:cs typeface="Arial" panose="020B0604020202020204"/>
            </a:endParaRPr>
          </a:p>
          <a:p>
            <a:pPr marL="363855" marR="80010" indent="-351790">
              <a:lnSpc>
                <a:spcPct val="113000"/>
              </a:lnSpc>
              <a:buChar char="●"/>
              <a:tabLst>
                <a:tab pos="363855" algn="l"/>
              </a:tabLst>
            </a:pPr>
            <a:r>
              <a:rPr sz="1600" dirty="0">
                <a:latin typeface="Arial" panose="020B0604020202020204"/>
                <a:cs typeface="Arial" panose="020B0604020202020204"/>
              </a:rPr>
              <a:t>Kubernetes</a:t>
            </a:r>
            <a:r>
              <a:rPr sz="16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enhances</a:t>
            </a:r>
            <a:r>
              <a:rPr sz="16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the</a:t>
            </a:r>
            <a:r>
              <a:rPr sz="16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basic</a:t>
            </a:r>
            <a:r>
              <a:rPr sz="16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functionality</a:t>
            </a:r>
            <a:r>
              <a:rPr sz="16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of</a:t>
            </a:r>
            <a:r>
              <a:rPr sz="16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a</a:t>
            </a:r>
            <a:r>
              <a:rPr sz="16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container</a:t>
            </a:r>
            <a:r>
              <a:rPr sz="16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with</a:t>
            </a:r>
            <a:r>
              <a:rPr sz="16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features</a:t>
            </a:r>
            <a:r>
              <a:rPr sz="16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such</a:t>
            </a:r>
            <a:r>
              <a:rPr sz="16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as </a:t>
            </a:r>
            <a:r>
              <a:rPr sz="1600" spc="-10" dirty="0">
                <a:latin typeface="Arial" panose="020B0604020202020204"/>
                <a:cs typeface="Arial" panose="020B0604020202020204"/>
              </a:rPr>
              <a:t>security,</a:t>
            </a:r>
            <a:r>
              <a:rPr sz="16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storage,</a:t>
            </a:r>
            <a:r>
              <a:rPr sz="16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and</a:t>
            </a:r>
            <a:r>
              <a:rPr sz="16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latin typeface="Arial" panose="020B0604020202020204"/>
                <a:cs typeface="Arial" panose="020B0604020202020204"/>
              </a:rPr>
              <a:t>more.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Pod</a:t>
            </a:r>
            <a:r>
              <a:rPr spc="-60" dirty="0"/>
              <a:t> </a:t>
            </a:r>
            <a:r>
              <a:rPr spc="-55" dirty="0"/>
              <a:t>Life</a:t>
            </a:r>
            <a:r>
              <a:rPr spc="-60" dirty="0"/>
              <a:t> </a:t>
            </a:r>
            <a:r>
              <a:rPr spc="85" dirty="0"/>
              <a:t>Cycle</a:t>
            </a:r>
            <a:r>
              <a:rPr spc="-60" dirty="0"/>
              <a:t> </a:t>
            </a:r>
            <a:r>
              <a:rPr spc="45" dirty="0"/>
              <a:t>Phases</a:t>
            </a:r>
            <a:endParaRPr spc="45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9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Indicates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operational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status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Pod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86148" y="2240165"/>
            <a:ext cx="6419767" cy="381966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SET THESE ON EXAM DAY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Exam-Speed kubectl  (kubernetes.io quick reference)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alias k=kubectl  —  set this first; saves keystrokes on every command.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export do="--dry-run=client -o yaml"  —  scaffold any manifest without creating it.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source &lt;(kubectl completion bash); complete -o default -F __start_kubectl k  —  tab-completion.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kubectl get -o wide / -o yaml / -o jsonpath  ·  kubectl describe  ·  kubectl explain — inspect &amp; learn.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1 · PODS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Create and Manage Pods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3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Pods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The Pod is the smallest schedulable unit in Kubernetes. Create Pods imperatively, generate YAML with --dry-run, edit live manifests, and use the exam-critical $do alias that saves 30+ seconds per question.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Set exam-speed aliases, run Pods imperatively, scaffold YAML with $do, then apply and inspect.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alias k=kubectl · k run · k describe · » `--restart=Never`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3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Create and Manage Pods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Set exam-speed aliases (run these first on exam day)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alias k=kubectl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export do="--dry-run=client -o yaml"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Create a Pod imperatively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run web --image=nginx:1.25 --port=80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 web -o wide          # shows node and Pod IP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Generate a manifest without creating it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25195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5195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1596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run web2 --image=nginx:1.25 --port=80 $do &gt; web2.yaml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apply -f web2.yaml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 web2 --show-labels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3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Create and Manage Pods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Inspect a running Pod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describe pod 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 web -o jsonpath='{.status.podIP}'; echo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5 — Override the container command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run sleeper --image=busybox --restart=Never -- sh -c 'sleep 3600'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delete pod web web2 sleeper --force --grace-period=0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0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--restart=Never creates a bare Pod (not a Deployment). Everything after -- becomes the container command. --force --grace-period=0 skips the 30s grace period.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3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Create and Manage Pods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get pod web2 --show-labels shows the tier=frontend label, and the --dry-run=client -o yaml workflow produces a valid manifest you can apply.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PODS · LIFECYCLE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Pod Lifecycle Phases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2011680" cy="621792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2011680" cy="621792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20204"/>
              </a:rPr>
              <a:t>Pending</a:t>
            </a:r>
            <a:endParaRPr sz="14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34640" y="1828800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 panose="020B0604020202020204"/>
              </a:rPr>
              <a:t>Accepted by cluster; image pulling or scheduling</a:t>
            </a:r>
            <a:endParaRPr sz="14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2560320"/>
            <a:ext cx="2011680" cy="621792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60320"/>
            <a:ext cx="2011680" cy="621792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20204"/>
              </a:rPr>
              <a:t>Running</a:t>
            </a:r>
            <a:endParaRPr sz="14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34640" y="2697480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 panose="020B0604020202020204"/>
              </a:rPr>
              <a:t>At least one container is running</a:t>
            </a:r>
            <a:endParaRPr sz="14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" y="3429000"/>
            <a:ext cx="2011680" cy="621792"/>
          </a:xfrm>
          <a:prstGeom prst="roundRect">
            <a:avLst>
              <a:gd name="adj" fmla="val 6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29000"/>
            <a:ext cx="2011680" cy="621792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20204"/>
              </a:rPr>
              <a:t>Succeeded</a:t>
            </a:r>
            <a:endParaRPr sz="14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34640" y="3566160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 panose="020B0604020202020204"/>
              </a:rPr>
              <a:t>All containers exited with code 0</a:t>
            </a:r>
            <a:endParaRPr sz="14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4297679"/>
            <a:ext cx="2011680" cy="621792"/>
          </a:xfrm>
          <a:prstGeom prst="roundRect">
            <a:avLst>
              <a:gd name="adj" fmla="val 6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297679"/>
            <a:ext cx="2011680" cy="621792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20204"/>
              </a:rPr>
              <a:t>Failed</a:t>
            </a:r>
            <a:endParaRPr sz="14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34640" y="4434839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 panose="020B0604020202020204"/>
              </a:rPr>
              <a:t>At least one container exited non-zero</a:t>
            </a:r>
            <a:endParaRPr sz="14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48640" y="5166360"/>
            <a:ext cx="2011680" cy="621792"/>
          </a:xfrm>
          <a:prstGeom prst="roundRect">
            <a:avLst>
              <a:gd name="adj" fmla="val 6000"/>
            </a:avLst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166360"/>
            <a:ext cx="2011680" cy="621792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20204"/>
              </a:rPr>
              <a:t>Unknown</a:t>
            </a:r>
            <a:endParaRPr sz="14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34640" y="5303520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 panose="020B0604020202020204"/>
              </a:rPr>
              <a:t>Pod state could not be obtained (node issue)</a:t>
            </a:r>
            <a:endParaRPr sz="14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Check phase:  kubectl get pod &lt;name&gt; -o jsonpath='{.status.phase}'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PODS · ERROR STATUSES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Common Pod Error Statuses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CrashLoopBackOff — container keeps crashing; K8s backs off restart time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Causes: bad entrypoint, missing config, OOM kill, application crash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ImagePullBackOff / ErrImagePull — cannot pull container image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Causes: wrong image name/tag, private registry, no imagePullSecret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OOMKilled — container exceeded its memory limit; killed by kernel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Pending (forever) — no node can satisfy scheduling requirements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Causes: insufficient CPU/memory, missing node label, taints without tolerations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RunContainerError — container config error (bad entrypoint, missing volume mount)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PODS · TROUBLESHOOTING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Troubleshooting Pods &amp; Containers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1  Check Pod status and events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521207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521207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pod &lt;name&gt; -n &lt;ns&gt;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describe pod &lt;name&gt; -n &lt;ns&gt;    # shows Events section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7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2  View container logs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017519"/>
            <a:ext cx="10652760" cy="7086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017519"/>
            <a:ext cx="82296" cy="7086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081527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logs &lt;pod-name&gt;                # current logs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logs &lt;pod-name&gt; -p             # previous (crashed) container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logs &lt;pod-name&gt; -c &lt;container&gt; # specific container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927347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3  Shell and ephemeral debug containers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274819"/>
            <a:ext cx="10652760" cy="7086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74819"/>
            <a:ext cx="82296" cy="7086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38827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exec -it &lt;pod-name&gt; -- /bin/sh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debug &lt;pod-name&gt; -it --image=busybox    # ephemeral container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(use when main image has no shell, e.g. distroless images)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PODS · CONFIGURATION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Environment Variables and Command/Args in Pods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Declaring environment variables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83337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8333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741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name: app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image: myapp:1.0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env: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name: APP_ENV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value: production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name: DB_URL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value: postgres://db:5432/mydb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982212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Overriding container ENTRYPOINT and CMD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329684"/>
            <a:ext cx="10652760" cy="1271016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329684"/>
            <a:ext cx="82296" cy="12710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393692"/>
            <a:ext cx="10323576" cy="1179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name: app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image: myapp:1.0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command: ["/bin/sh"]       # overrides ENTRYPOINT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args: ["-c", "echo hello"]  # overrides CMD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NAMESPACES · CONCEPT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What is a Namespace?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11247120" cy="443484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 panose="020B0604020202020204"/>
              </a:rPr>
              <a:t>Kubernetes Cluster</a:t>
            </a:r>
            <a:endParaRPr sz="12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85800" y="2011680"/>
            <a:ext cx="3474720" cy="3657600"/>
          </a:xfrm>
          <a:prstGeom prst="roundRect">
            <a:avLst>
              <a:gd name="adj" fmla="val 6000"/>
            </a:avLst>
          </a:prstGeom>
          <a:solidFill>
            <a:srgbClr val="EAF1FE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148840"/>
            <a:ext cx="3200400" cy="502920"/>
          </a:xfrm>
          <a:prstGeom prst="roundRect">
            <a:avLst>
              <a:gd name="adj" fmla="val 6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148840"/>
            <a:ext cx="32004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 panose="020B0604020202020204"/>
              </a:rPr>
              <a:t>default</a:t>
            </a:r>
            <a:endParaRPr sz="15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278892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 panose="020B0604020202020204"/>
              </a:rPr>
              <a:t>General workloads
when no -n flag</a:t>
            </a:r>
            <a:endParaRPr sz="12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60120" y="3337560"/>
            <a:ext cx="1371600" cy="502920"/>
          </a:xfrm>
          <a:prstGeom prst="roundRect">
            <a:avLst>
              <a:gd name="adj" fmla="val 6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337560"/>
            <a:ext cx="13716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 panose="020B0604020202020204"/>
              </a:rPr>
              <a:t>Pod</a:t>
            </a:r>
            <a:endParaRPr sz="11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651760" y="3337560"/>
            <a:ext cx="1371600" cy="502920"/>
          </a:xfrm>
          <a:prstGeom prst="roundRect">
            <a:avLst>
              <a:gd name="adj" fmla="val 6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3337560"/>
            <a:ext cx="13716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 panose="020B0604020202020204"/>
              </a:rPr>
              <a:t>Pod</a:t>
            </a:r>
            <a:endParaRPr sz="11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480560" y="2011680"/>
            <a:ext cx="3474720" cy="3657600"/>
          </a:xfrm>
          <a:prstGeom prst="roundRect">
            <a:avLst>
              <a:gd name="adj" fmla="val 6000"/>
            </a:avLst>
          </a:prstGeom>
          <a:solidFill>
            <a:srgbClr val="EEE8FD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17720" y="2148840"/>
            <a:ext cx="3200400" cy="50292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2148840"/>
            <a:ext cx="32004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 panose="020B0604020202020204"/>
              </a:rPr>
              <a:t>kube-system</a:t>
            </a:r>
            <a:endParaRPr sz="15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17720" y="278892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 panose="020B0604020202020204"/>
              </a:rPr>
              <a:t>Internal K8s
components</a:t>
            </a:r>
            <a:endParaRPr sz="12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754880" y="3337560"/>
            <a:ext cx="1371600" cy="50292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337560"/>
            <a:ext cx="13716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 panose="020B0604020202020204"/>
              </a:rPr>
              <a:t>Pod</a:t>
            </a:r>
            <a:endParaRPr sz="11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46520" y="3337560"/>
            <a:ext cx="1371600" cy="50292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337560"/>
            <a:ext cx="13716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 panose="020B0604020202020204"/>
              </a:rPr>
              <a:t>Pod</a:t>
            </a:r>
            <a:endParaRPr sz="11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275320" y="2011680"/>
            <a:ext cx="3474720" cy="3657600"/>
          </a:xfrm>
          <a:prstGeom prst="roundRect">
            <a:avLst>
              <a:gd name="adj" fmla="val 6000"/>
            </a:avLst>
          </a:prstGeom>
          <a:solidFill>
            <a:srgbClr val="E8F7EE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412480" y="2148840"/>
            <a:ext cx="3200400" cy="50292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2148840"/>
            <a:ext cx="32004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 panose="020B0604020202020204"/>
              </a:rPr>
              <a:t>my-app</a:t>
            </a:r>
            <a:endParaRPr sz="15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12480" y="278892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 panose="020B0604020202020204"/>
              </a:rPr>
              <a:t>Custom namespace
for your app</a:t>
            </a:r>
            <a:endParaRPr sz="12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549640" y="3337560"/>
            <a:ext cx="1371600" cy="50292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3337560"/>
            <a:ext cx="13716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 panose="020B0604020202020204"/>
              </a:rPr>
              <a:t>Pod</a:t>
            </a:r>
            <a:endParaRPr sz="11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0241280" y="3337560"/>
            <a:ext cx="1371600" cy="50292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0" y="3337560"/>
            <a:ext cx="13716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 panose="020B0604020202020204"/>
              </a:rPr>
              <a:t>Pod</a:t>
            </a:r>
            <a:endParaRPr sz="11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8640" y="6400800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Objects in different namespaces are isolated by default — cross-namespace access requires explicit Service DNS or RBAC policies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NAMESPACES · OPERATIONS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Namespace — Create, List, Delete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Create a namespace (imperative and declarative)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271016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2710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179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create namespace staging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Namespace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staging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419856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List, inspect, delete, and set default namespace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767328"/>
            <a:ext cx="10652760" cy="1271016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67328"/>
            <a:ext cx="82296" cy="12710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831336"/>
            <a:ext cx="10323576" cy="1179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namespaces              # list all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describe namespace staging  # details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delete namespace staging    # cascade-deletes all objects inside!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run nginx --image=nginx -n staging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config set-context --current --namespace=staging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 panose="020B0604020202020204"/>
              </a:rPr>
              <a:t>Lunch Break</a:t>
            </a:r>
            <a:endParaRPr sz="4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6FEB"/>
                </a:solidFill>
                <a:latin typeface="Arial" panose="020B0604020202020204"/>
              </a:rPr>
              <a:t>1 hour</a:t>
            </a:r>
            <a:endParaRPr sz="2200" b="1">
              <a:solidFill>
                <a:srgbClr val="1F6FE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TOPIC 3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Jobs &amp; CronJobs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Run-to-completion &amp; scheduled batch workloads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RUN TO COMPLETION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Batch Workloads in Kubernetes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Job runs Pods until a set number of successful completions, then stops — it does not restart on success.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CronJob creates Jobs on a schedule using standard cron syntax (*/1 * * * * = every minute).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Job Pod templates must use restartPolicy: Never or OnFailure — never Always.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Trigger a CronJob now with: kubectl create job --from=cronjob/&lt;name&gt; &lt;job-name&gt;.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EXAM-TESTED EVERY SITTING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Key Fields to Memorise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Job</a:t>
            </a:r>
            <a:endParaRPr sz="19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completions — successes needed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parallelism — Pods at once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backoffLimit — failures allowed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 panose="020B0604020202020204"/>
              </a:rPr>
              <a:t>Job (timing)</a:t>
            </a:r>
            <a:endParaRPr sz="19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activeDeadlineSeconds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Hard wall-clock ceiling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Overrides backoffLimit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 panose="020B0604020202020204"/>
              </a:rPr>
              <a:t>CronJob</a:t>
            </a:r>
            <a:endParaRPr sz="19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schedule + timeZone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concurrencyPolicy: Allow/Forbid/Replace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successful/failedJobsHistoryLimit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85" dirty="0"/>
              <a:t>Job</a:t>
            </a:r>
            <a:r>
              <a:rPr spc="-95" dirty="0"/>
              <a:t> </a:t>
            </a:r>
            <a:r>
              <a:rPr spc="85" dirty="0"/>
              <a:t>Object</a:t>
            </a:r>
            <a:r>
              <a:rPr spc="-95" dirty="0"/>
              <a:t> </a:t>
            </a:r>
            <a:r>
              <a:rPr spc="75" dirty="0"/>
              <a:t>Hierarchy</a:t>
            </a:r>
            <a:endParaRPr spc="75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Job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manages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Pods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run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workload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041667" y="2276335"/>
            <a:ext cx="3992565" cy="3356965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80" dirty="0"/>
              <a:t>CronJob</a:t>
            </a:r>
            <a:r>
              <a:rPr spc="-80" dirty="0"/>
              <a:t> </a:t>
            </a:r>
            <a:r>
              <a:rPr spc="85" dirty="0"/>
              <a:t>Object</a:t>
            </a:r>
            <a:r>
              <a:rPr spc="-80" dirty="0"/>
              <a:t> </a:t>
            </a:r>
            <a:r>
              <a:rPr spc="75" dirty="0"/>
              <a:t>Hierarchy</a:t>
            </a:r>
            <a:endParaRPr spc="75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CronJob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manages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Jobs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which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delegate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workload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Pods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624532" y="2208833"/>
            <a:ext cx="2942933" cy="3886533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1 · JOBS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Jobs — Run-to-Completion Workloads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4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Batch workloads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A Job runs Pods until a required number of successful completions is reached, then stops. CKAD tests completions, parallelism, backoffLimit and activeDeadlineSeconds in almost every sitting — you must write a Job manifest from memory.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Create a one-shot Job, a parallel Job with completions, and explore backoffLimit and activeDeadlineSeconds.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create · apiVersion: batch/v1 · k apply · » `restartPolicy: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4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Jobs — Run-to-Completion Workloads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One-shot Job (imperative)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job hello --image=busybox -- echo "hello CKAD 2026"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-l job-name=hello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4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Jobs — Run-to-Completion Workloads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Parallel Job with multiple completions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95808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9580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8666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batch/v1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Job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pi-parallel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completions: 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parallelism: 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backoffLimit: 4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template: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restartPolicy: Never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- name: pi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image: perl:5.34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command: ["perl", "-Mbignum=bpi", "-wle", "print bpi(50)"]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4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Jobs — Run-to-Completion Workloads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Apply and watch completions climb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apply -f parallel.yaml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job pi-parallel -w        # COMPLETIONS ticks 0/5 → 5/5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restartPolicy: Never is mandatory in Job Pod templates. activeDeadlineSeconds is a hard wall-clock ceiling — it overrides backoffLimit.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4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Jobs — Run-to-Completion Workloads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get job pi-parallel reaches 5/5 completions with no more than two Pods running simultaneously during the run.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1 · CRONJOBS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CronJobs — Scheduled Workloads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5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Batch workloads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A CronJob creates Jobs on a time-based schedule using standard cron syntax. CKAD tests concurrencyPolicy, timeZone, startingDeadlineSeconds, history limits, manual triggers and suspend/resume — these fields appear verbatim in exam questions.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Create a CronJob imperatively and declaratively, suspend/resume it, then trigger it manually.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create · apiVersion: batch/v1 · k patch · » `concurrencyPolicy`: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5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CronJobs — Scheduled Workloads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Create a CronJob imperatively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cronjob date-printer --image=busybox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--schedule="*/1 * * * *" -- sh -c "date; echo from cronjob"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cronjob date-printer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5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CronJobs — Scheduled Workloads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Declarative CronJob with all key fields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3707891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370789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3616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batch/v1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CronJob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report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schedule: "*/2 * * * *"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timeZone: "Asia/Singapore"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concurrencyPolicy: Forbid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successfulJobsHistoryLimit: 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startingDeadlineSeconds: 30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jobTemplate: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template: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restartPolicy: OnFailure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- name: report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  image: busybox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  command: ["sh", "-c", "echo report at $(date)"]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5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CronJobs — Scheduled Workloads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Suspend, resume and trigger manually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patch cronjob report -p '{"spec":{"suspend":true}}'    # pause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patch cronjob report -p '{"spec":{"suspend":false}}'   # resume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job --from=cronjob/report report-manual           # run now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concurrencyPolicy: Allow (default) / Forbid / Replace. timeZone is a newer field — always set it. create job --from=cronjob/&lt;name&gt; runs the workload immediately.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5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CronJobs — Scheduled Workloads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get cronjob report shows SUSPEND True after the patch, and k create job --from=cronjob/report report-manual produces an immediate one-off run.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 panose="020B0604020202020204"/>
              </a:rPr>
              <a:t>Tea Break</a:t>
            </a:r>
            <a:endParaRPr sz="4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 panose="020B0604020202020204"/>
              </a:rPr>
              <a:t>15 minutes</a:t>
            </a:r>
            <a:endParaRPr sz="2200" b="1">
              <a:solidFill>
                <a:srgbClr val="10B981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TOPIC 4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Multi-Container Pods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Sidecar &amp; init-container design patterns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POD DESIGN PATTERNS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Why More Than One Container?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Containers in a Pod share the network namespace and can share volumes (emptyDir is the usual glue).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Sidecar — a helper alongside the main app (log shipper, proxy) sharing a volume.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Init container — runs to completion before main containers (seed a volume, wait for a service).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Always target a specific container with kubectl logs -c &lt;name&gt; and kubectl exec -c &lt;name&gt;.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ONE POD, MANY ROLES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Container Patterns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Sidecar</a:t>
            </a:r>
            <a:endParaRPr sz="19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Runs beside the main app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Shares an emptyDir volume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Log shipping / proxy / sync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 panose="020B0604020202020204"/>
              </a:rPr>
              <a:t>Init container</a:t>
            </a:r>
            <a:endParaRPr sz="19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Runs first, to completion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Pod shows Init:N/M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Seed volume · wait for DNS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 panose="020B0604020202020204"/>
              </a:rPr>
              <a:t>Native sidecar</a:t>
            </a:r>
            <a:endParaRPr sz="19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initContainer + restartPolicy: Always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Kubernetes 1.29+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Runs for the Pod's lifetime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50" dirty="0"/>
              <a:t>Design</a:t>
            </a:r>
            <a:r>
              <a:rPr spc="-80" dirty="0"/>
              <a:t> </a:t>
            </a:r>
            <a:r>
              <a:rPr spc="70" dirty="0"/>
              <a:t>Patterns</a:t>
            </a:r>
            <a:endParaRPr spc="7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Emerged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from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Pod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requirements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75833" y="4279900"/>
            <a:ext cx="199165" cy="46293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54032" y="1914933"/>
            <a:ext cx="199165" cy="46293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5833" y="1912667"/>
            <a:ext cx="199165" cy="46293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14241" y="1845061"/>
            <a:ext cx="5003800" cy="45474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 panose="020B0604020202020204"/>
                <a:cs typeface="Arial" panose="020B0604020202020204"/>
              </a:rPr>
              <a:t>Init</a:t>
            </a:r>
            <a:r>
              <a:rPr sz="16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latin typeface="Arial" panose="020B0604020202020204"/>
                <a:cs typeface="Arial" panose="020B0604020202020204"/>
              </a:rPr>
              <a:t>Container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331470" marR="5080" indent="-198120">
              <a:lnSpc>
                <a:spcPct val="116000"/>
              </a:lnSpc>
              <a:spcBef>
                <a:spcPts val="1040"/>
              </a:spcBef>
              <a:buChar char="●"/>
              <a:tabLst>
                <a:tab pos="332740" algn="l"/>
              </a:tabLst>
            </a:pPr>
            <a:r>
              <a:rPr sz="1400" dirty="0">
                <a:latin typeface="Arial" panose="020B0604020202020204"/>
                <a:cs typeface="Arial" panose="020B0604020202020204"/>
              </a:rPr>
              <a:t>Provide</a:t>
            </a:r>
            <a:r>
              <a:rPr sz="14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initialization</a:t>
            </a:r>
            <a:r>
              <a:rPr sz="14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logic</a:t>
            </a:r>
            <a:r>
              <a:rPr sz="14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concerns</a:t>
            </a:r>
            <a:r>
              <a:rPr sz="14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to</a:t>
            </a:r>
            <a:r>
              <a:rPr sz="1400" spc="-25" dirty="0">
                <a:latin typeface="Arial" panose="020B0604020202020204"/>
                <a:cs typeface="Arial" panose="020B0604020202020204"/>
              </a:rPr>
              <a:t> be 	</a:t>
            </a:r>
            <a:r>
              <a:rPr sz="1400" dirty="0">
                <a:latin typeface="Arial" panose="020B0604020202020204"/>
                <a:cs typeface="Arial" panose="020B0604020202020204"/>
              </a:rPr>
              <a:t>run</a:t>
            </a:r>
            <a:r>
              <a:rPr sz="14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before</a:t>
            </a:r>
            <a:r>
              <a:rPr sz="14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the</a:t>
            </a:r>
            <a:r>
              <a:rPr sz="14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main</a:t>
            </a:r>
            <a:r>
              <a:rPr sz="14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application</a:t>
            </a:r>
            <a:r>
              <a:rPr sz="14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even</a:t>
            </a:r>
            <a:r>
              <a:rPr sz="14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latin typeface="Arial" panose="020B0604020202020204"/>
                <a:cs typeface="Arial" panose="020B0604020202020204"/>
              </a:rPr>
              <a:t>starts.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331470" marR="14605" indent="-198120">
              <a:lnSpc>
                <a:spcPct val="116000"/>
              </a:lnSpc>
              <a:buChar char="●"/>
              <a:tabLst>
                <a:tab pos="332740" algn="l"/>
              </a:tabLst>
            </a:pPr>
            <a:r>
              <a:rPr sz="1400" dirty="0">
                <a:latin typeface="Arial" panose="020B0604020202020204"/>
                <a:cs typeface="Arial" panose="020B0604020202020204"/>
              </a:rPr>
              <a:t>Example:</a:t>
            </a:r>
            <a:r>
              <a:rPr sz="14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Downloading</a:t>
            </a:r>
            <a:r>
              <a:rPr sz="14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a</a:t>
            </a:r>
            <a:r>
              <a:rPr sz="14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configuration</a:t>
            </a:r>
            <a:r>
              <a:rPr sz="14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latin typeface="Arial" panose="020B0604020202020204"/>
                <a:cs typeface="Arial" panose="020B0604020202020204"/>
              </a:rPr>
              <a:t>files 	</a:t>
            </a:r>
            <a:r>
              <a:rPr sz="1400" dirty="0">
                <a:latin typeface="Arial" panose="020B0604020202020204"/>
                <a:cs typeface="Arial" panose="020B0604020202020204"/>
              </a:rPr>
              <a:t>required</a:t>
            </a:r>
            <a:r>
              <a:rPr sz="14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by</a:t>
            </a:r>
            <a:r>
              <a:rPr sz="14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latin typeface="Arial" panose="020B0604020202020204"/>
                <a:cs typeface="Arial" panose="020B0604020202020204"/>
              </a:rPr>
              <a:t>application.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570"/>
              </a:spcBef>
              <a:buFont typeface="Arial" panose="020B0604020202020204"/>
              <a:buChar char="●"/>
            </a:pPr>
            <a:endParaRPr sz="14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latin typeface="Arial" panose="020B0604020202020204"/>
                <a:cs typeface="Arial" panose="020B0604020202020204"/>
              </a:rPr>
              <a:t>Adapter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354330" marR="227965" indent="-220980">
              <a:lnSpc>
                <a:spcPct val="116000"/>
              </a:lnSpc>
              <a:spcBef>
                <a:spcPts val="1040"/>
              </a:spcBef>
              <a:buChar char="●"/>
              <a:tabLst>
                <a:tab pos="355600" algn="l"/>
              </a:tabLst>
            </a:pPr>
            <a:r>
              <a:rPr sz="1400" dirty="0">
                <a:latin typeface="Arial" panose="020B0604020202020204"/>
                <a:cs typeface="Arial" panose="020B0604020202020204"/>
              </a:rPr>
              <a:t>Transforms</a:t>
            </a:r>
            <a:r>
              <a:rPr sz="14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the</a:t>
            </a:r>
            <a:r>
              <a:rPr sz="14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output</a:t>
            </a:r>
            <a:r>
              <a:rPr sz="14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produced</a:t>
            </a:r>
            <a:r>
              <a:rPr sz="14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by</a:t>
            </a:r>
            <a:r>
              <a:rPr sz="14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25" dirty="0">
                <a:latin typeface="Arial" panose="020B0604020202020204"/>
                <a:cs typeface="Arial" panose="020B0604020202020204"/>
              </a:rPr>
              <a:t>the 	</a:t>
            </a:r>
            <a:r>
              <a:rPr sz="1400" dirty="0">
                <a:latin typeface="Arial" panose="020B0604020202020204"/>
                <a:cs typeface="Arial" panose="020B0604020202020204"/>
              </a:rPr>
              <a:t>application</a:t>
            </a:r>
            <a:r>
              <a:rPr sz="14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to</a:t>
            </a:r>
            <a:r>
              <a:rPr sz="14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make</a:t>
            </a:r>
            <a:r>
              <a:rPr sz="14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it</a:t>
            </a:r>
            <a:r>
              <a:rPr sz="14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consumable</a:t>
            </a:r>
            <a:r>
              <a:rPr sz="14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in</a:t>
            </a:r>
            <a:r>
              <a:rPr sz="1400" spc="-25" dirty="0">
                <a:latin typeface="Arial" panose="020B0604020202020204"/>
                <a:cs typeface="Arial" panose="020B0604020202020204"/>
              </a:rPr>
              <a:t> the 	</a:t>
            </a:r>
            <a:r>
              <a:rPr sz="1400" dirty="0">
                <a:latin typeface="Arial" panose="020B0604020202020204"/>
                <a:cs typeface="Arial" panose="020B0604020202020204"/>
              </a:rPr>
              <a:t>format</a:t>
            </a:r>
            <a:r>
              <a:rPr sz="14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needed</a:t>
            </a:r>
            <a:r>
              <a:rPr sz="1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by</a:t>
            </a:r>
            <a:r>
              <a:rPr sz="1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another</a:t>
            </a:r>
            <a:r>
              <a:rPr sz="14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part</a:t>
            </a:r>
            <a:r>
              <a:rPr sz="1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of</a:t>
            </a:r>
            <a:r>
              <a:rPr sz="1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25" dirty="0">
                <a:latin typeface="Arial" panose="020B0604020202020204"/>
                <a:cs typeface="Arial" panose="020B0604020202020204"/>
              </a:rPr>
              <a:t>the 	</a:t>
            </a:r>
            <a:r>
              <a:rPr sz="1400" spc="-10" dirty="0">
                <a:latin typeface="Arial" panose="020B0604020202020204"/>
                <a:cs typeface="Arial" panose="020B0604020202020204"/>
              </a:rPr>
              <a:t>system.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354330" indent="-220980">
              <a:lnSpc>
                <a:spcPct val="100000"/>
              </a:lnSpc>
              <a:spcBef>
                <a:spcPts val="270"/>
              </a:spcBef>
              <a:buChar char="●"/>
              <a:tabLst>
                <a:tab pos="354330" algn="l"/>
              </a:tabLst>
            </a:pPr>
            <a:r>
              <a:rPr sz="1400" dirty="0">
                <a:latin typeface="Arial" panose="020B0604020202020204"/>
                <a:cs typeface="Arial" panose="020B0604020202020204"/>
              </a:rPr>
              <a:t>Example:</a:t>
            </a:r>
            <a:r>
              <a:rPr sz="14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Massaging</a:t>
            </a:r>
            <a:r>
              <a:rPr sz="14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log</a:t>
            </a:r>
            <a:r>
              <a:rPr sz="14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latin typeface="Arial" panose="020B0604020202020204"/>
                <a:cs typeface="Arial" panose="020B0604020202020204"/>
              </a:rPr>
              <a:t>data.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92443" y="1828551"/>
            <a:ext cx="4971627" cy="4564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Arial" panose="020B0604020202020204"/>
                <a:cs typeface="Arial" panose="020B0604020202020204"/>
              </a:rPr>
              <a:t>Sidecar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331470" marR="5080" indent="-198120">
              <a:lnSpc>
                <a:spcPct val="116000"/>
              </a:lnSpc>
              <a:spcBef>
                <a:spcPts val="1040"/>
              </a:spcBef>
              <a:buChar char="●"/>
              <a:tabLst>
                <a:tab pos="332740" algn="l"/>
              </a:tabLst>
            </a:pPr>
            <a:r>
              <a:rPr sz="1400" dirty="0">
                <a:latin typeface="Arial" panose="020B0604020202020204"/>
                <a:cs typeface="Arial" panose="020B0604020202020204"/>
              </a:rPr>
              <a:t>The</a:t>
            </a:r>
            <a:r>
              <a:rPr sz="1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sidecars</a:t>
            </a:r>
            <a:r>
              <a:rPr sz="1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are</a:t>
            </a:r>
            <a:r>
              <a:rPr sz="1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not</a:t>
            </a:r>
            <a:r>
              <a:rPr sz="1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part</a:t>
            </a:r>
            <a:r>
              <a:rPr sz="1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of</a:t>
            </a:r>
            <a:r>
              <a:rPr sz="1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the</a:t>
            </a:r>
            <a:r>
              <a:rPr sz="1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main</a:t>
            </a:r>
            <a:r>
              <a:rPr sz="1400" spc="-10" dirty="0">
                <a:latin typeface="Arial" panose="020B0604020202020204"/>
                <a:cs typeface="Arial" panose="020B0604020202020204"/>
              </a:rPr>
              <a:t> traffic 	</a:t>
            </a:r>
            <a:r>
              <a:rPr sz="1400" dirty="0">
                <a:latin typeface="Arial" panose="020B0604020202020204"/>
                <a:cs typeface="Arial" panose="020B0604020202020204"/>
              </a:rPr>
              <a:t>or</a:t>
            </a:r>
            <a:r>
              <a:rPr sz="1400" spc="-9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API</a:t>
            </a:r>
            <a:r>
              <a:rPr sz="14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of</a:t>
            </a:r>
            <a:r>
              <a:rPr sz="14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the</a:t>
            </a:r>
            <a:r>
              <a:rPr sz="14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primary</a:t>
            </a:r>
            <a:r>
              <a:rPr sz="14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application</a:t>
            </a:r>
            <a:r>
              <a:rPr sz="14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25" dirty="0">
                <a:latin typeface="Arial" panose="020B0604020202020204"/>
                <a:cs typeface="Arial" panose="020B0604020202020204"/>
              </a:rPr>
              <a:t>and 	</a:t>
            </a:r>
            <a:r>
              <a:rPr sz="1400" dirty="0">
                <a:latin typeface="Arial" panose="020B0604020202020204"/>
                <a:cs typeface="Arial" panose="020B0604020202020204"/>
              </a:rPr>
              <a:t>operate</a:t>
            </a:r>
            <a:r>
              <a:rPr sz="14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latin typeface="Arial" panose="020B0604020202020204"/>
                <a:cs typeface="Arial" panose="020B0604020202020204"/>
              </a:rPr>
              <a:t>asynchronously.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331470" indent="-198120">
              <a:lnSpc>
                <a:spcPct val="100000"/>
              </a:lnSpc>
              <a:spcBef>
                <a:spcPts val="270"/>
              </a:spcBef>
              <a:buChar char="●"/>
              <a:tabLst>
                <a:tab pos="331470" algn="l"/>
              </a:tabLst>
            </a:pPr>
            <a:r>
              <a:rPr sz="1400" dirty="0">
                <a:latin typeface="Arial" panose="020B0604020202020204"/>
                <a:cs typeface="Arial" panose="020B0604020202020204"/>
              </a:rPr>
              <a:t>Example:</a:t>
            </a:r>
            <a:r>
              <a:rPr sz="14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Watcher</a:t>
            </a:r>
            <a:r>
              <a:rPr sz="14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latin typeface="Arial" panose="020B0604020202020204"/>
                <a:cs typeface="Arial" panose="020B0604020202020204"/>
              </a:rPr>
              <a:t>capabilities.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buFont typeface="Arial" panose="020B0604020202020204"/>
              <a:buChar char="●"/>
            </a:pPr>
            <a:endParaRPr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" panose="020B0604020202020204"/>
              <a:buChar char="●"/>
            </a:pPr>
            <a:endParaRPr sz="14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latin typeface="Arial" panose="020B0604020202020204"/>
                <a:cs typeface="Arial" panose="020B0604020202020204"/>
              </a:rPr>
              <a:t>Ambassador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354330" marR="174625" indent="-220980" algn="just">
              <a:lnSpc>
                <a:spcPct val="116000"/>
              </a:lnSpc>
              <a:spcBef>
                <a:spcPts val="1045"/>
              </a:spcBef>
              <a:buChar char="●"/>
              <a:tabLst>
                <a:tab pos="355600" algn="l"/>
              </a:tabLst>
            </a:pPr>
            <a:r>
              <a:rPr sz="1400" dirty="0">
                <a:latin typeface="Arial" panose="020B0604020202020204"/>
                <a:cs typeface="Arial" panose="020B0604020202020204"/>
              </a:rPr>
              <a:t>Provides</a:t>
            </a:r>
            <a:r>
              <a:rPr sz="14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a</a:t>
            </a:r>
            <a:r>
              <a:rPr sz="1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proxy</a:t>
            </a:r>
            <a:r>
              <a:rPr sz="14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for</a:t>
            </a:r>
            <a:r>
              <a:rPr sz="1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communicating</a:t>
            </a:r>
            <a:r>
              <a:rPr sz="1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20" dirty="0">
                <a:latin typeface="Arial" panose="020B0604020202020204"/>
                <a:cs typeface="Arial" panose="020B0604020202020204"/>
              </a:rPr>
              <a:t>with 	</a:t>
            </a:r>
            <a:r>
              <a:rPr sz="1400" dirty="0">
                <a:latin typeface="Arial" panose="020B0604020202020204"/>
                <a:cs typeface="Arial" panose="020B0604020202020204"/>
              </a:rPr>
              <a:t>external</a:t>
            </a:r>
            <a:r>
              <a:rPr sz="14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services</a:t>
            </a:r>
            <a:r>
              <a:rPr sz="1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to</a:t>
            </a:r>
            <a:r>
              <a:rPr sz="1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hide</a:t>
            </a:r>
            <a:r>
              <a:rPr sz="1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and/or</a:t>
            </a:r>
            <a:r>
              <a:rPr sz="1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latin typeface="Arial" panose="020B0604020202020204"/>
                <a:cs typeface="Arial" panose="020B0604020202020204"/>
              </a:rPr>
              <a:t>abstract 	</a:t>
            </a:r>
            <a:r>
              <a:rPr sz="1400" dirty="0">
                <a:latin typeface="Arial" panose="020B0604020202020204"/>
                <a:cs typeface="Arial" panose="020B0604020202020204"/>
              </a:rPr>
              <a:t>the</a:t>
            </a:r>
            <a:r>
              <a:rPr sz="1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latin typeface="Arial" panose="020B0604020202020204"/>
                <a:cs typeface="Arial" panose="020B0604020202020204"/>
              </a:rPr>
              <a:t>complexity.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354330" marR="342900" indent="-220980" algn="just">
              <a:lnSpc>
                <a:spcPct val="116000"/>
              </a:lnSpc>
              <a:buChar char="●"/>
              <a:tabLst>
                <a:tab pos="355600" algn="l"/>
              </a:tabLst>
            </a:pPr>
            <a:r>
              <a:rPr sz="1400" dirty="0">
                <a:latin typeface="Arial" panose="020B0604020202020204"/>
                <a:cs typeface="Arial" panose="020B0604020202020204"/>
              </a:rPr>
              <a:t>Example:</a:t>
            </a:r>
            <a:r>
              <a:rPr sz="14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latin typeface="Arial" panose="020B0604020202020204"/>
                <a:cs typeface="Arial" panose="020B0604020202020204"/>
              </a:rPr>
              <a:t>Rate-</a:t>
            </a:r>
            <a:r>
              <a:rPr sz="1400" dirty="0">
                <a:latin typeface="Arial" panose="020B0604020202020204"/>
                <a:cs typeface="Arial" panose="020B0604020202020204"/>
              </a:rPr>
              <a:t>limiting</a:t>
            </a:r>
            <a:r>
              <a:rPr sz="14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functionality</a:t>
            </a:r>
            <a:r>
              <a:rPr sz="14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25" dirty="0">
                <a:latin typeface="Arial" panose="020B0604020202020204"/>
                <a:cs typeface="Arial" panose="020B0604020202020204"/>
              </a:rPr>
              <a:t>for 	</a:t>
            </a:r>
            <a:r>
              <a:rPr sz="1400" dirty="0">
                <a:latin typeface="Arial" panose="020B0604020202020204"/>
                <a:cs typeface="Arial" panose="020B0604020202020204"/>
              </a:rPr>
              <a:t>HTTP(S)</a:t>
            </a:r>
            <a:r>
              <a:rPr sz="1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calls</a:t>
            </a:r>
            <a:r>
              <a:rPr sz="1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to</a:t>
            </a:r>
            <a:r>
              <a:rPr sz="1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an</a:t>
            </a:r>
            <a:r>
              <a:rPr sz="1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external</a:t>
            </a:r>
            <a:r>
              <a:rPr sz="1400" spc="-10" dirty="0">
                <a:latin typeface="Arial" panose="020B0604020202020204"/>
                <a:cs typeface="Arial" panose="020B0604020202020204"/>
              </a:rPr>
              <a:t> service.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54032" y="4279900"/>
            <a:ext cx="199165" cy="462932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60" dirty="0"/>
              <a:t>Init</a:t>
            </a:r>
            <a:r>
              <a:rPr spc="-90" dirty="0"/>
              <a:t> </a:t>
            </a:r>
            <a:r>
              <a:rPr spc="110" dirty="0"/>
              <a:t>Container</a:t>
            </a:r>
            <a:r>
              <a:rPr spc="-90" dirty="0"/>
              <a:t> </a:t>
            </a:r>
            <a:r>
              <a:rPr spc="-55" dirty="0"/>
              <a:t>Life</a:t>
            </a:r>
            <a:r>
              <a:rPr spc="-85" dirty="0"/>
              <a:t> </a:t>
            </a:r>
            <a:r>
              <a:rPr spc="75" dirty="0"/>
              <a:t>Cycle</a:t>
            </a:r>
            <a:endParaRPr spc="75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7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Initialization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logic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before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6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main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application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containers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746216" y="2375599"/>
            <a:ext cx="8699565" cy="2688587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70" dirty="0"/>
              <a:t>Sidecar</a:t>
            </a:r>
            <a:r>
              <a:rPr spc="-70" dirty="0"/>
              <a:t> </a:t>
            </a:r>
            <a:r>
              <a:rPr spc="80" dirty="0"/>
              <a:t>Pattern</a:t>
            </a:r>
            <a:endParaRPr spc="8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"Send</a:t>
            </a:r>
            <a:r>
              <a:rPr sz="1600" b="0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600" b="0" spc="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notification</a:t>
            </a:r>
            <a:r>
              <a:rPr sz="1600" b="0" spc="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600" b="0" spc="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error</a:t>
            </a:r>
            <a:r>
              <a:rPr sz="1600" b="0" spc="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log</a:t>
            </a:r>
            <a:r>
              <a:rPr sz="1600" b="0" spc="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contains</a:t>
            </a:r>
            <a:r>
              <a:rPr sz="1600" b="0" spc="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entries"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15847" y="2375599"/>
            <a:ext cx="10244235" cy="3123767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14" dirty="0"/>
              <a:t>Adapter</a:t>
            </a:r>
            <a:r>
              <a:rPr spc="-90" dirty="0"/>
              <a:t> </a:t>
            </a:r>
            <a:r>
              <a:rPr spc="80" dirty="0"/>
              <a:t>Pattern</a:t>
            </a:r>
            <a:endParaRPr spc="8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7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"Transform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log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7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data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JSON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make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it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consumable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external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7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system"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359796" y="2311667"/>
            <a:ext cx="9356332" cy="3235232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14" dirty="0"/>
              <a:t>Ambassador</a:t>
            </a:r>
            <a:r>
              <a:rPr spc="-90" dirty="0"/>
              <a:t> </a:t>
            </a:r>
            <a:r>
              <a:rPr spc="80" dirty="0"/>
              <a:t>Pattern</a:t>
            </a:r>
            <a:endParaRPr spc="8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"OAuth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authentication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handled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network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communication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proxy"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89016" y="2820432"/>
            <a:ext cx="10297900" cy="1797765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1 · MULTI-CONTAINER PODS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Multi-Container Pods — Sidecar Pattern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6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Multi-container Pods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Containers in the same Pod share a network namespace and can share volumes. CKAD tests the sidecar pattern (a helper reads/writes a shared volume) and the native sidecar feature (Kubernetes 1.29+). You must exec into and read logs from each container.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Run a sidecar that tails a shared emptyDir log, read each container's logs, then build a native sidecar.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apiVersion: v1 · k logs · initContainers: · » With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6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Multi-Container Pods — Sidecar Pattern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Sidecar sharing a log file via emptyDir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3707891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370789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3616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Pod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app-with-sidecar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volumes: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name: logs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emptyDir: {}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name: app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image: busybox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command: ["sh","-c","while true; do date &gt;&gt; /var/log/app.log; sleep 2; done"]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volumeMounts: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{name: logs, mountPath: /var/log}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name: log-shipper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image: busybox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command: ["sh","-c","tail -F /var/log/app.log"]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volumeMounts: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{name: logs, mountPath: /var/log}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6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Multi-Container Pods — Sidecar Pattern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Read logs from each container separately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app-with-sidecar -c app | head -5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app-with-sidecar -c log-shipper | head -5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exec -it app-with-sidecar -c app -- sh -c 'wc -l /var/log/app.log'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Native sidecar container (Kubernetes 1.29+)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initContainers: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name: log-collector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image: busybox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restartPolicy: Always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command: ["sh","-c","while true; do echo alive; sleep 5; done"]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617719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With multiple containers in a Pod, always specify -c &lt;name&gt; for logs and exec. emptyDir is the standard glue volume between sidecar and main containers.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6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Multi-Container Pods — Sidecar Pattern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logs app-with-sidecar -c log-shipper shows the same lines app is writing, proving both containers share the emptyDir volume.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1 · INIT CONTAINERS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Init Containers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7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Multi-container Pods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Init containers run in order, to completion, before any main container starts. Use them to seed shared volumes, wait for upstream services, or do one-time setup. CKAD asks you to write init containers and read Init:N/M Pod status correctly.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Seed an nginx web root with an init container, then add an init container that waits for a Service via DNS.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apiVersion: v1 · k exec · initContainers: · » The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7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Init Containers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Init container that seeds the web root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3707891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370789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3616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Pod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web-init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volumes: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name: html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emptyDir: {}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initContainers: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name: seed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image: busybox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command: ["sh","-c","echo '&lt;h1&gt;Seeded by init&lt;/h1&gt;' &gt; /work/index.html"]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volumeMounts: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{name: html, mountPath: /work}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name: 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image: nginx:1.25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volumeMounts: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{name: html, mountPath: /usr/share/nginx/html}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7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Init Containers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Verify the seeded content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42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exec web-init -- cat /usr/share/nginx/html/index.html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592324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Init container that waits for a Service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976372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76372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040380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initContainers: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name: wait-for-db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image: busybox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command: ["sh","-c","until nslookup db.default.svc.cluster.local; do sleep 2; done"]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4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The Pod stays in Init:0/1 until DNS resolves. Creating the db Service unblocks it. If an init container fails it is restarted per the Pod's restartPolicy.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7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Init Containers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exec web-init -- cat /usr/share/nginx/html/index.html returns the seeded heading, proving the init container populated the volume before nginx started.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TOPIC 5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Volumes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Persist &amp; share Pod data: emptyDir, tmpfs &amp; hostPath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EPHEMERAL VS SHARED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Pod Storage Basics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Anything written to the container filesystem is lost when the container restarts.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Volumes are declared under spec.volumes and mounted via spec.containers[].volumeMounts.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volume can be shared by every container in the Pod — that is how sidecars exchange data.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Pod-scoped volumes live and die with the Pod; durable storage (PV/PVC) comes later in the course.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POD-SCOPED STORAGE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Volume Types in Domain 1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emptyDir: {}</a:t>
            </a:r>
            <a:endParaRPr sz="19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Created with the Pod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Shared by all containers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Deleted with the Pod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 panose="020B0604020202020204"/>
              </a:rPr>
              <a:t>emptyDir: Memory</a:t>
            </a:r>
            <a:endParaRPr sz="19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tmpfs — backed by RAM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Fast scratch space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Counts to memory limit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 panose="020B0604020202020204"/>
              </a:rPr>
              <a:t>hostPath</a:t>
            </a:r>
            <a:endParaRPr sz="19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Mounts a node directory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DaemonSets / node tools only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Security risk in multi-tenant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95" dirty="0"/>
              <a:t>Ephemeral</a:t>
            </a:r>
            <a:r>
              <a:rPr spc="-100" dirty="0"/>
              <a:t> </a:t>
            </a:r>
            <a:r>
              <a:rPr spc="114" dirty="0"/>
              <a:t>Volume</a:t>
            </a:r>
            <a:endParaRPr spc="114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Useful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sharing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7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data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between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containers,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caching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data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48233" y="3040632"/>
            <a:ext cx="10287335" cy="2194632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Persistent</a:t>
            </a:r>
            <a:r>
              <a:rPr spc="360" dirty="0"/>
              <a:t> </a:t>
            </a:r>
            <a:r>
              <a:rPr spc="114" dirty="0"/>
              <a:t>Volume</a:t>
            </a:r>
            <a:endParaRPr spc="114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Persist</a:t>
            </a:r>
            <a:r>
              <a:rPr sz="1600" b="0" spc="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7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data</a:t>
            </a:r>
            <a:r>
              <a:rPr sz="1600" b="0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1600" b="0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outlives</a:t>
            </a:r>
            <a:r>
              <a:rPr sz="1600" b="0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600" b="0" spc="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Pod,</a:t>
            </a:r>
            <a:r>
              <a:rPr sz="1600" b="0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node,</a:t>
            </a:r>
            <a:r>
              <a:rPr sz="1600" b="0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1600" b="0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cluster</a:t>
            </a:r>
            <a:r>
              <a:rPr sz="1600" b="0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restart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62231" y="3467967"/>
            <a:ext cx="8841331" cy="1687199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1 · VOLUMES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Volumes — emptyDir and hostPath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8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Volumes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Containers are ephemeral — data written to the container filesystem is lost on restart. Volumes survive restarts and can be shared between containers. CKAD tests emptyDir, emptyDir.medium: Memory and hostPath, plus mounting strategies.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Share an emptyDir between two containers, mount a RAM-backed tmpfs volume, then mount a node directory with hostPath.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volumes: · » Volumes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8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Volumes — emptyDir and hostPath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emptyDir shared between two containers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395728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volumes: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name: shared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emptyDir: {}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name: writer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image: busybox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command: ["sh","-c","echo hello-shared &gt; /data/msg.txt; sleep 3600"]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volumeMounts: [{name: shared, mountPath: /data}]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name: reader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image: busybox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command: ["sh","-c","sleep 5; cat /data/msg.txt; sleep 3600"]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volumeMounts: [{name: shared, mountPath: /data}]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8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Volumes — emptyDir and hostPath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emptyDir backed by RAM (tmpfs)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volumes: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name: fast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emptyDir: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medium: Memory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sizeLimit: 64Mi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hostPath: access files on the node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726179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26179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790187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volumes: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name: etc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hostPath: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path: /etc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type: Directory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992622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Volumes are declared under spec.volumes and consumed via spec.containers[].volumeMounts. Avoid hostPath in multi-tenant clusters — it is a security risk; use it only for DaemonSets and node-level tools.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8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Volumes — emptyDir and hostPath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logs scratch -c reader prints hello-shared, proving the writer and reader containers share the same emptyDir volume.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WRAP-UP</a:t>
            </a:r>
            <a:endParaRPr sz="1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 panose="020B0604020202020204"/>
              </a:rPr>
              <a:t>Day 1 done — you can design and build applications.</a:t>
            </a:r>
            <a:endParaRPr sz="3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 panose="020B0604020202020204"/>
              </a:rPr>
              <a:t>Tomorrow: Application Deployment — Deployments, rollouts, Helm &amp; Kustomize.</a:t>
            </a:r>
            <a:endParaRPr sz="20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COURSE SLIDES</a:t>
            </a:r>
            <a:endParaRPr sz="1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61B26"/>
                </a:solidFill>
                <a:latin typeface="Arial" panose="020B0604020202020204"/>
              </a:rPr>
              <a:t>Certified Kubernetes Application Developer (CKAD)</a:t>
            </a:r>
            <a:endParaRPr sz="44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41248" y="452628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WSQ Course Code: TGS-2025053212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 panose="020B0604020202020204"/>
              </a:rPr>
              <a:t>Conducted by Tertiary Infotech Academy Pte Ltd  ·  UEN 201200696W</a:t>
            </a:r>
            <a:endParaRPr sz="14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 panose="020B0604020202020204"/>
              </a:rPr>
              <a:t>© 2026 Tertiary Infotech Academy Pte Ltd. All rights reserved.  ·  www.tertiarycourses.com.sg</a:t>
            </a:r>
            <a:endParaRPr sz="100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DAY 2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Application Deployment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Deployments · Rollouts · Blue/Green &amp; Canary · Helm · Kustomize · Daemon/StatefulSet  (CKAD Domain 2 — 20%)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 panose="020B0604020202020204"/>
              </a:rPr>
              <a:t>02</a:t>
            </a: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TRAQOM · SSG DIGITAL ATTENDANCE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Digital Attendance (Mandatory)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760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It is mandatory to take the AM, PM and Assessment digital attendance for WSQ-funded courses.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The trainer displays the digital attendance QR code from the SSG portal.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Scan the QR code with your phone camera and submit your attendance.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A minimum of 75% attendance is required for assessment and funding.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4389120" cy="27432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2148840"/>
            <a:ext cx="1005840" cy="10058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atten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6936" y="2420416"/>
            <a:ext cx="462688" cy="4626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40" y="3337560"/>
            <a:ext cx="3840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 panose="020B0604020202020204"/>
              </a:rPr>
              <a:t>Minimum 75%</a:t>
            </a:r>
            <a:endParaRPr sz="2600" b="1">
              <a:solidFill>
                <a:srgbClr val="1F6FEB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 panose="020B0604020202020204"/>
              </a:rPr>
              <a:t>attendance required</a:t>
            </a:r>
            <a:endParaRPr sz="2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DAY 2 OBJECTIVES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Recap &amp; Today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Yesterday (Domain 1): images, Pods, Jobs/CronJobs, multi-container Pods and volumes.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Today (Domain 2 — 20% of the exam): how applications are deployed, scaled and upgraded.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From a single Pod to controllers that keep replicas running and roll out new versions safely.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Packaging with Helm and Kustomize, plus DaemonSets and StatefulSets for specialised workloads.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KUBERNETES PRIMITIVES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Labels and Annotations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Label assignment and selection, providing meta information to objects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 panose="020B0604020202020204"/>
              </a:rPr>
              <a:t>5</a:t>
            </a: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METADATA · KEY-VALUE PAIRS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Labels and Annotations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Labels</a:t>
            </a:r>
            <a:endParaRPr sz="1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Annotations</a:t>
            </a:r>
            <a:endParaRPr sz="16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Key-value pairs assigned to an object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Must follow naming conventions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Used to query and filter objects from the CLI or from other objects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Represents human-readable metadata for an object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Not meant for querying purposes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Reserved annotations can add runtime behaviour to objects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LABELS · DEFINITION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What is a Label?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Key-value pairs assigned to Kubernetes objects with the imperative label command or using the metadata.labels[] attribute.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Not meant for elaborate, multi-word descriptions of its functionality.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Kubernetes limits the length of a label to a maximum of 63 characters and a range of allowed alphanumeric and separator characters.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LABELS · EXAMPLE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Example Labels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Three different Pods, each with multiple label key-value pairs: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Pod 1: tier=backend, env=prod, app=miracle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Pod 2: tier=frontend, env=dev, app=crawler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Pod 3: tier=frontend, env=staging, version=v2.1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Labels are set at creation time or added later with kubectl label.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Multiple labels on the same object create a unique identity for filtering.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LABELS · KUBECTL LABEL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Assigning Labels with Imperative Approach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Assign multiple labels to a Pod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label pod nginx tier=backend env=prod app=miracle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pod/nginx labeled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7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List Pods with their labels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017519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017519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081527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pods --show-labels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...LABELS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nginx   ...tier=backend,env=prod,app=miracle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927347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Remove a label by appending '-' to its key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274819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74819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38827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label pod nginx tier-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pod/nginx labeled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LABELS · DECLARATIVE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Assigning Labels in a YAML Manifest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Pod manifest with three label key-value pairs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Pod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pod1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labels: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tier: backend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env: prod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app: miracle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...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LABELS · NAMING CONVENTIONS  (app.kubernetes.io/*)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Recommended Labels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Well-known label keys with the app.kubernetes.io prefix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645919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labels: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app.kubernetes.io/name: wordpress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app.kubernetes.io/instance: wordpress-abcxzy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app.kubernetes.io/version: "4.9.4"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app.kubernetes.io/managed-by: helm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app.kubernetes.io/component: server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app.kubernetes.io/part-of: wordpress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LABELS · SELECTORS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Selecting Labels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A label selector uses a set of criteria to query for Kubernetes objects.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Equality-based requirements — match objects with a specific key or key=value: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tier=frontend  (equal)  •  tier!=frontend  (not equal)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Set-based requirements — match objects where a key's value is in a set: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'tier in (frontend, backend)'  •  'version notin (v1)'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Multiple selectors are ANDed together.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LABELS · KUBECTL -l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Label Selection from the CLI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Equality-based: Pods with tier=frontend AND env=dev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pods -l tier=frontend,env=dev --show-labels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...LABELS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pod2    ...app=crawler,env=dev,tier=frontend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8575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Key-only: Pods that have a 'version' label (any value)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2049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049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68980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pods -l version --show-labels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...LABELS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pod3    ...app=crawler,env=staging,version=v2.1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1148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Set-based with Boolean OR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462272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62272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26280"/>
            <a:ext cx="10323576" cy="242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pods -l 'tier in (frontend,backend),env=dev' --show-labels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LABELS · SELECTORS IN MANIFESTS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Label Selection in YAML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A NetworkPolicy selects Pods via podSelector.matchLabels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83337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8333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741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networking.k8s.io/v1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NetworkPolicy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frontend-network-policy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podSelector: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matchLabels: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tier: frontend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...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ANNOTATIONS · DEFINITION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What is an Annotation?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Key-value pairs for providing descriptive, human-readable metadata to Kubernetes objects via the metadata.annotations[] attribute.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Cannot be used for querying or selecting objects.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Make sure to put the value of an annotation into single- or double-quotes if it contains special characters or spaces.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ANNOTATIONS · EXAMPLE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Example Annotations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A Pod can carry any number of annotation key-value pairs: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commit: 866a8dc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author: 'Benjamin Muschko'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branch: 'bm/bugfix'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Unlike labels, annotation values are unrestricted in length.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Annotations are visible via kubectl describe and kubectl get -o yaml.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ANNOTATIONS · KUBECTL ANNOTATE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Assigning Annotations with Imperative Approach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Assign annotations to a Pod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annotate pod nginx commit='866a8dc' branch='bm/bugfix'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pod/nginx annotated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7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Inspect annotations via describe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017519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017519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081527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describe pods nginx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Annotations:  branch: bm/bugfix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    commit: 866a8dc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927347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Remove an annotation by appending '-' to its key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274819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74819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38827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annotate pod nginx commit-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pod/nginx annotated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ANNOTATIONS · DECLARATIVE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Assigning Annotations in a YAML Manifest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Pod manifest with three annotation key-value pairs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Pod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pod1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annotations: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commit: 866a8dc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author: 'Benjamin Muschko'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branch: 'bm/bugfix'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...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ANNOTATIONS · RESERVED KEYS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Well-Known Annotations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Reserved annotations may influence runtime behaviour (e.g. Pod Security Standards)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45846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45846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3670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Namespace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secured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annotations: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kubernetes.io/description: "Manages objects for business app."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pod-security.kubernetes.io/warn: "baseline"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 panose="020B0604020202020204"/>
              </a:rPr>
              <a:t>EXERCISE</a:t>
            </a:r>
            <a:endParaRPr sz="18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83464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 panose="020B0604020202020204"/>
              </a:rPr>
              <a:t>Using Labels and Annotations</a:t>
            </a:r>
            <a:endParaRPr sz="36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 panose="020B0604020202020204"/>
              </a:rPr>
              <a:t>EXAM PREP · KEY TAKEAWAYS</a:t>
            </a:r>
            <a:endParaRPr sz="1400" b="1">
              <a:solidFill>
                <a:srgbClr val="F59E0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Exam Essentials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Labels are key-value pairs assigned to Kubernetes objects. Values must follow naming and length restrictions (max 63 chars, alphanumeric + separators).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Primitives such as Deployments, Services, and NetworkPolicies use label selection for filtering, querying, and routing.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Use annotations to provide human-readable metadata that cannot be queried. Some reserved annotations influence runtime behaviour (e.g. Pod Security Standards at namespace level).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TOPIC 1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Deployments &amp; ReplicaSets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The controller that keeps your Pods running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DESIRED STATE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Why Deployments?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bare Pod is not rescheduled if it dies — you need a controller to keep the desired count.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Deployment manages a ReplicaSet, which manages the Pods — a three-tier ownership chain.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kubectl scale changes the replica count; the ReplicaSet controller reconciles immediately.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Old ReplicaSets are kept for rollback (revisionHistoryLimit, default 10).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DEPLOYMENT → REPLICASET → POD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The Ownership Chain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Deployment</a:t>
            </a:r>
            <a:endParaRPr sz="19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You declare desired state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replicas + Pod template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Owns one active ReplicaSet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 panose="020B0604020202020204"/>
              </a:rPr>
              <a:t>ReplicaSet</a:t>
            </a:r>
            <a:endParaRPr sz="19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Keeps N Pods running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Hash-suffixed name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Self-heals deleted Pods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 panose="020B0604020202020204"/>
              </a:rPr>
              <a:t>Pod</a:t>
            </a:r>
            <a:endParaRPr sz="19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The running workload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Recreated if it dies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Never edited directly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80" dirty="0"/>
              <a:t>Example</a:t>
            </a:r>
            <a:r>
              <a:rPr spc="-70" dirty="0"/>
              <a:t> </a:t>
            </a:r>
            <a:r>
              <a:rPr spc="110" dirty="0"/>
              <a:t>Deployment</a:t>
            </a:r>
            <a:endParaRPr spc="11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Deployment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controls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three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replicas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425032" y="2314623"/>
            <a:ext cx="5341932" cy="3542967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2 · DEPLOYMENTS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Deployments and ReplicaSets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9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Deployments &amp; ReplicaSets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A Deployment manages a ReplicaSet, which manages Pods. CKAD tests the full ownership chain, scaling, environment-variable injection and reading ReplicaSet history — required to debug failed rollouts.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Create a Deployment imperatively, scale it, generate YAML, inject env vars, then read its ReplicaSet history.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create · k scale · k set · » `kubectl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9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Deployments and ReplicaSets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Create a Deployment imperatively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deployment web --image=nginx:1.25 --replicas=3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deploy,rs,pod -l app=web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Scale up and down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scale deployment web --replicas=5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scale deployment web --replicas=2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pods -l app=web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Generate Deployment YAML and apply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deployment api --image=httpd:2.4 --replicas=2 $do &gt; api.yaml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apply -f api.yaml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9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Deployments and ReplicaSets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Inject an env var and observe ReplicaSet history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set env deployment/api APP_COLOR=blue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rs -l app=api    # old RS 0/0/0, new RS 2/2/2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kubectl set env / set image mutate the Pod template and trigger a new ReplicaSet (a rolling update). Old ReplicaSets are kept for rollback — revisionHistoryLimit (default 10) controls how many.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9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Deployments and ReplicaSets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get deploy,rs,pod -l app=web shows one Deployment owning one ReplicaSet owning the Pods, and k get rs -l app=api shows two ReplicaSets after the env change.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 panose="020B0604020202020204"/>
              </a:rPr>
              <a:t>Tea Break</a:t>
            </a:r>
            <a:endParaRPr sz="4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 panose="020B0604020202020204"/>
              </a:rPr>
              <a:t>15 minutes</a:t>
            </a:r>
            <a:endParaRPr sz="2200" b="1">
              <a:solidFill>
                <a:srgbClr val="10B981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TOPIC 2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Rolling Updates &amp; Rollback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Zero-downtime upgrades, one ReplicaSet at a time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ZERO DOWNTIME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How a Rolling Update Works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kubectl set image mutates the Pod template — this creates a new ReplicaSet and starts a rollout.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maxSurge = extra Pods allowed above desired; maxUnavailable = Pods allowed down — together they tune speed vs availability.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kubectl rollout status watches progress; rollout history lists every revision.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rollout pause batches several changes into one ReplicaSet; rollout undo reverts instantly.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Rolling</a:t>
            </a:r>
            <a:r>
              <a:rPr spc="-35" dirty="0"/>
              <a:t> </a:t>
            </a:r>
            <a:r>
              <a:rPr spc="135" dirty="0"/>
              <a:t>Update</a:t>
            </a:r>
            <a:r>
              <a:rPr spc="-35" dirty="0"/>
              <a:t> </a:t>
            </a:r>
            <a:r>
              <a:rPr spc="120" dirty="0"/>
              <a:t>Deployment</a:t>
            </a:r>
            <a:r>
              <a:rPr spc="-30" dirty="0"/>
              <a:t> </a:t>
            </a:r>
            <a:r>
              <a:rPr spc="95" dirty="0"/>
              <a:t>Strategy</a:t>
            </a:r>
            <a:endParaRPr spc="95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Secondary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6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ReplicaSet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is </a:t>
            </a:r>
            <a:r>
              <a:rPr sz="1600" b="0" spc="1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created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new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version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application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67767" y="2254500"/>
            <a:ext cx="8740384" cy="3865333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Rolling</a:t>
            </a:r>
            <a:r>
              <a:rPr spc="-35" dirty="0"/>
              <a:t> </a:t>
            </a:r>
            <a:r>
              <a:rPr spc="135" dirty="0"/>
              <a:t>Update</a:t>
            </a:r>
            <a:r>
              <a:rPr spc="-35" dirty="0"/>
              <a:t> </a:t>
            </a:r>
            <a:r>
              <a:rPr spc="120" dirty="0"/>
              <a:t>Deployment</a:t>
            </a:r>
            <a:r>
              <a:rPr spc="-30" dirty="0"/>
              <a:t> </a:t>
            </a:r>
            <a:r>
              <a:rPr spc="95" dirty="0"/>
              <a:t>Strategy</a:t>
            </a:r>
            <a:endParaRPr spc="95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9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Runtime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behavior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6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can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fine-</a:t>
            </a:r>
            <a:r>
              <a:rPr sz="1600" b="0" spc="1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tuned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0095" y="4753239"/>
            <a:ext cx="8194887" cy="10955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100"/>
              </a:spcBef>
              <a:buFont typeface="Arial" panose="020B0604020202020204"/>
              <a:buChar char="●"/>
              <a:tabLst>
                <a:tab pos="363855" algn="l"/>
              </a:tabLst>
            </a:pPr>
            <a:r>
              <a:rPr sz="1600" i="1" dirty="0">
                <a:latin typeface="Arial" panose="020B0604020202020204"/>
                <a:cs typeface="Arial" panose="020B0604020202020204"/>
              </a:rPr>
              <a:t>Pros:</a:t>
            </a:r>
            <a:r>
              <a:rPr sz="1600" i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New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version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is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slowly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distributed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over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time,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no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latin typeface="Arial" panose="020B0604020202020204"/>
                <a:cs typeface="Arial" panose="020B0604020202020204"/>
              </a:rPr>
              <a:t>downtime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buFont typeface="Arial" panose="020B0604020202020204"/>
              <a:buChar char="●"/>
            </a:pPr>
            <a:endParaRPr sz="1600">
              <a:latin typeface="Arial" panose="020B0604020202020204"/>
              <a:cs typeface="Arial" panose="020B0604020202020204"/>
            </a:endParaRPr>
          </a:p>
          <a:p>
            <a:pPr marL="363855" indent="-351155">
              <a:lnSpc>
                <a:spcPct val="100000"/>
              </a:lnSpc>
              <a:buFont typeface="Arial" panose="020B0604020202020204"/>
              <a:buChar char="●"/>
              <a:tabLst>
                <a:tab pos="363855" algn="l"/>
              </a:tabLst>
            </a:pPr>
            <a:r>
              <a:rPr sz="1600" i="1" dirty="0">
                <a:latin typeface="Arial" panose="020B0604020202020204"/>
                <a:cs typeface="Arial" panose="020B0604020202020204"/>
              </a:rPr>
              <a:t>Cons:</a:t>
            </a:r>
            <a:r>
              <a:rPr sz="1600" i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latin typeface="Arial" panose="020B0604020202020204"/>
                <a:cs typeface="Arial" panose="020B0604020202020204"/>
              </a:rPr>
              <a:t>Breaking</a:t>
            </a:r>
            <a:r>
              <a:rPr sz="16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API</a:t>
            </a:r>
            <a:r>
              <a:rPr sz="16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changes</a:t>
            </a:r>
            <a:r>
              <a:rPr sz="16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can</a:t>
            </a:r>
            <a:r>
              <a:rPr sz="16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make</a:t>
            </a:r>
            <a:r>
              <a:rPr sz="16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consumers</a:t>
            </a:r>
            <a:r>
              <a:rPr sz="16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latin typeface="Arial" panose="020B0604020202020204"/>
                <a:cs typeface="Arial" panose="020B0604020202020204"/>
              </a:rPr>
              <a:t>incompatible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18173" y="1794151"/>
            <a:ext cx="3792400" cy="23720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89615" y="1858575"/>
            <a:ext cx="3640667" cy="2219960"/>
          </a:xfrm>
          <a:prstGeom prst="rect">
            <a:avLst/>
          </a:prstGeom>
          <a:solidFill>
            <a:srgbClr val="F6F6F7"/>
          </a:solidFill>
        </p:spPr>
        <p:txBody>
          <a:bodyPr vert="horz" wrap="square" lIns="0" tIns="78740" rIns="0" bIns="0" rtlCol="0">
            <a:spAutoFit/>
          </a:bodyPr>
          <a:lstStyle/>
          <a:p>
            <a:pPr marL="177165">
              <a:lnSpc>
                <a:spcPct val="100000"/>
              </a:lnSpc>
              <a:spcBef>
                <a:spcPts val="620"/>
              </a:spcBef>
            </a:pPr>
            <a:r>
              <a:rPr sz="13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spec:</a:t>
            </a:r>
            <a:endParaRPr sz="1300">
              <a:latin typeface="Courier New" panose="02070309020205020404"/>
              <a:cs typeface="Courier New" panose="02070309020205020404"/>
            </a:endParaRPr>
          </a:p>
          <a:p>
            <a:pPr marL="375285">
              <a:lnSpc>
                <a:spcPct val="100000"/>
              </a:lnSpc>
              <a:spcBef>
                <a:spcPts val="15"/>
              </a:spcBef>
            </a:pPr>
            <a:r>
              <a:rPr sz="13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replicas:</a:t>
            </a:r>
            <a:r>
              <a:rPr sz="1300" b="1" spc="-4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300" spc="-50" dirty="0">
                <a:latin typeface="Courier New" panose="02070309020205020404"/>
                <a:cs typeface="Courier New" panose="02070309020205020404"/>
              </a:rPr>
              <a:t>3</a:t>
            </a:r>
            <a:endParaRPr sz="1300">
              <a:latin typeface="Courier New" panose="02070309020205020404"/>
              <a:cs typeface="Courier New" panose="02070309020205020404"/>
            </a:endParaRPr>
          </a:p>
          <a:p>
            <a:pPr marL="375285">
              <a:lnSpc>
                <a:spcPct val="100000"/>
              </a:lnSpc>
              <a:spcBef>
                <a:spcPts val="15"/>
              </a:spcBef>
            </a:pPr>
            <a:r>
              <a:rPr sz="13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strategy:</a:t>
            </a:r>
            <a:endParaRPr sz="1300">
              <a:latin typeface="Courier New" panose="02070309020205020404"/>
              <a:cs typeface="Courier New" panose="02070309020205020404"/>
            </a:endParaRPr>
          </a:p>
          <a:p>
            <a:pPr marL="573405">
              <a:lnSpc>
                <a:spcPct val="100000"/>
              </a:lnSpc>
              <a:spcBef>
                <a:spcPts val="15"/>
              </a:spcBef>
            </a:pPr>
            <a:r>
              <a:rPr sz="13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type:</a:t>
            </a:r>
            <a:r>
              <a:rPr sz="1300" b="1" spc="-2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300" spc="-10" dirty="0">
                <a:latin typeface="Courier New" panose="02070309020205020404"/>
                <a:cs typeface="Courier New" panose="02070309020205020404"/>
              </a:rPr>
              <a:t>RollingUpdate</a:t>
            </a:r>
            <a:endParaRPr sz="13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85307" y="3047455"/>
            <a:ext cx="2679700" cy="839893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4450">
              <a:lnSpc>
                <a:spcPts val="1460"/>
              </a:lnSpc>
            </a:pPr>
            <a:r>
              <a:rPr sz="13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rollingUpdate:</a:t>
            </a:r>
            <a:endParaRPr sz="1300">
              <a:latin typeface="Courier New" panose="02070309020205020404"/>
              <a:cs typeface="Courier New" panose="02070309020205020404"/>
            </a:endParaRPr>
          </a:p>
          <a:p>
            <a:pPr marL="238760">
              <a:lnSpc>
                <a:spcPct val="100000"/>
              </a:lnSpc>
              <a:spcBef>
                <a:spcPts val="15"/>
              </a:spcBef>
            </a:pPr>
            <a:r>
              <a:rPr sz="13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maxSurge:</a:t>
            </a:r>
            <a:r>
              <a:rPr sz="1300" b="1" spc="-4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300" spc="-50" dirty="0">
                <a:latin typeface="Courier New" panose="02070309020205020404"/>
                <a:cs typeface="Courier New" panose="02070309020205020404"/>
              </a:rPr>
              <a:t>2</a:t>
            </a:r>
            <a:endParaRPr sz="1300">
              <a:latin typeface="Courier New" panose="02070309020205020404"/>
              <a:cs typeface="Courier New" panose="02070309020205020404"/>
            </a:endParaRPr>
          </a:p>
          <a:p>
            <a:pPr marL="238760">
              <a:lnSpc>
                <a:spcPct val="100000"/>
              </a:lnSpc>
              <a:spcBef>
                <a:spcPts val="15"/>
              </a:spcBef>
            </a:pPr>
            <a:r>
              <a:rPr sz="13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maxUnavailable:</a:t>
            </a:r>
            <a:r>
              <a:rPr sz="1300" b="1" spc="-7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300" spc="-50" dirty="0">
                <a:latin typeface="Courier New" panose="02070309020205020404"/>
                <a:cs typeface="Courier New" panose="02070309020205020404"/>
              </a:rPr>
              <a:t>0</a:t>
            </a:r>
            <a:endParaRPr sz="13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496153" y="3412389"/>
            <a:ext cx="1150620" cy="110067"/>
            <a:chOff x="4496153" y="3412389"/>
            <a:chExt cx="1150620" cy="110067"/>
          </a:xfrm>
        </p:grpSpPr>
        <p:sp>
          <p:nvSpPr>
            <p:cNvPr id="8" name="object 8"/>
            <p:cNvSpPr/>
            <p:nvPr/>
          </p:nvSpPr>
          <p:spPr>
            <a:xfrm>
              <a:off x="4624121" y="3467043"/>
              <a:ext cx="1022773" cy="0"/>
            </a:xfrm>
            <a:custGeom>
              <a:avLst/>
              <a:gdLst/>
              <a:ahLst/>
              <a:cxnLst/>
              <a:rect l="l" t="t" r="r" b="b"/>
              <a:pathLst>
                <a:path w="767079">
                  <a:moveTo>
                    <a:pt x="7664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6153" y="3412389"/>
              <a:ext cx="140667" cy="109307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802264" y="3135347"/>
            <a:ext cx="2537460" cy="59774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35890" marR="5080" indent="-123825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 panose="020B0604020202020204"/>
                <a:cs typeface="Arial" panose="020B0604020202020204"/>
              </a:rPr>
              <a:t>Determines</a:t>
            </a:r>
            <a:r>
              <a:rPr sz="14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how</a:t>
            </a:r>
            <a:r>
              <a:rPr sz="1400" spc="-10" dirty="0">
                <a:latin typeface="Arial" panose="020B0604020202020204"/>
                <a:cs typeface="Arial" panose="020B0604020202020204"/>
              </a:rPr>
              <a:t> update </a:t>
            </a:r>
            <a:r>
              <a:rPr sz="1400" dirty="0">
                <a:latin typeface="Arial" panose="020B0604020202020204"/>
                <a:cs typeface="Arial" panose="020B0604020202020204"/>
              </a:rPr>
              <a:t>should</a:t>
            </a:r>
            <a:r>
              <a:rPr sz="14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be</a:t>
            </a:r>
            <a:r>
              <a:rPr sz="14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latin typeface="Arial" panose="020B0604020202020204"/>
                <a:cs typeface="Arial" panose="020B0604020202020204"/>
              </a:rPr>
              <a:t>performed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2 · ROLLING UPDATES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Rolling Updates and Rollback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10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Rolling Updates &amp; Rollback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A Deployment performs zero-downtime upgrades by gradually replacing Pods one ReplicaSet at a time. CKAD tests maxSurge, maxUnavailable, rollout pause/resume, history inspection and rollback — often as a timed multi-step question.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Tune the rolling-update strategy, trigger an image update, inspect history, pause/resume, then roll back.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create · k patch · k set · k rollout · » Pausing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10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Rolling Updates and Rollback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Create the initial Deployment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deployment web --image=nginx:1.24 --replicas=4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rollout status deployment/web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Tune the rolling-update strategy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patch deployment web -p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'{"spec":{"strategy":{"rollingUpdate":{"maxSurge":1,"maxUnavailable":1}}}}'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Trigger an image update and watch the rollout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25195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5195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1596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set image deployment/web nginx=nginx:1.25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rollout status deployment/web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rs -l app=web        # old RS drains to 0, new RS ramps to 4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10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Rolling Updates and Rollback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View history, pause, batch changes, resume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rollout history deployment/web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rollout pause deployment/web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set image deployment/web nginx=nginx:1.26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set env deployment/web APP_ENV=production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rollout resume deployment/web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5 — Roll back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726179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26179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790187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rollout undo deployment/web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rollout undo deployment/web --to-revision=1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6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Pausing batches multiple mutations into a single new ReplicaSet — one rollout, not two. rollout undo reverts to the previous (or a specified) revision instantly.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10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Rolling Updates and Rollback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rollout history deployment/web lists each revision, and k rollout undo returns the Deployment to the prior image with zero downtime.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 panose="020B0604020202020204"/>
              </a:rPr>
              <a:t>Lunch Break</a:t>
            </a:r>
            <a:endParaRPr sz="4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6FEB"/>
                </a:solidFill>
                <a:latin typeface="Arial" panose="020B0604020202020204"/>
              </a:rPr>
              <a:t>1 hour</a:t>
            </a:r>
            <a:endParaRPr sz="2200" b="1">
              <a:solidFill>
                <a:srgbClr val="1F6FE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TOPIC 3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Blue/Green &amp; Canary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Release strategies built from Deployments + Services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SAFE RELEASES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Beyond the Default Rollout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Blue/Green runs two complete versions; a Service selector switch flips 100% of traffic atomically.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Canary sends a small slice of traffic to the new version by running it at a low replica ratio.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Both are built from plain Deployments and Services using labels — no extra tooling for CKAD.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Rollback is instant: re-patch the selector (blue/green) or scale the canary back down.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85" dirty="0"/>
              <a:t>Blue/Green</a:t>
            </a:r>
            <a:r>
              <a:rPr spc="-60" dirty="0"/>
              <a:t> </a:t>
            </a:r>
            <a:r>
              <a:rPr spc="120" dirty="0"/>
              <a:t>Deployment</a:t>
            </a:r>
            <a:r>
              <a:rPr spc="-60" dirty="0"/>
              <a:t> </a:t>
            </a:r>
            <a:r>
              <a:rPr spc="95" dirty="0"/>
              <a:t>Strategy</a:t>
            </a:r>
            <a:endParaRPr spc="95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Deployment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object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1600" b="0" spc="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new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version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1600" b="0" spc="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created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alongside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24899" y="1899633"/>
            <a:ext cx="7426099" cy="4410077"/>
          </a:xfrm>
          <a:prstGeom prst="rect">
            <a:avLst/>
          </a:prstGeom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45" dirty="0"/>
              <a:t>Canary</a:t>
            </a:r>
            <a:r>
              <a:rPr spc="-70" dirty="0"/>
              <a:t> </a:t>
            </a:r>
            <a:r>
              <a:rPr spc="120" dirty="0"/>
              <a:t>Deployment</a:t>
            </a:r>
            <a:r>
              <a:rPr spc="-70" dirty="0"/>
              <a:t> </a:t>
            </a:r>
            <a:r>
              <a:rPr spc="95" dirty="0"/>
              <a:t>Strategy</a:t>
            </a:r>
            <a:endParaRPr spc="95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6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Two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Deployment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objects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different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traffic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distribution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92500" y="2044865"/>
            <a:ext cx="8890932" cy="3939932"/>
          </a:xfrm>
          <a:prstGeom prst="rect">
            <a:avLst/>
          </a:prstGeom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2 · BLUE/GREEN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Blue/Green Deployment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11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Blue/Green Deployment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Blue/Green keeps two complete copies of the app alive at once. A Service selector switch flips 100% of traffic from blue to green in one atomic operation — with instant rollback if anything breaks.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Deploy blue (live) and green (idle), smoke-test green, flip the Service selector, then roll back with one patch.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apply · GREEN_POD=$(k get · k patch · » Cutover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11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Blue/Green Deployment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Deploy blue (current production) behind a Service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Deployment web-blue (labels app=web, version=blue) + Service 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selector: {app: web, version: blue}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apply -f blue.yaml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pods -l app=web --show-labels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Deploy green (next version, no live traffic yet)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Deployment web-green (labels app=web, version=green), nginx:1.25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apply -f green.yaml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pods -l app=web --show-labels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Smoke-test green directly before cutover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81431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1431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878324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GREEN_POD=$(k get pod -l version=green -o jsonpath='{.items[0].metadata.name}')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exec $GREEN_POD -- curl -sI localhost:80 | head -2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11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Blue/Green Deployment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Flip the Service to green (atomic cutover)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patch service web -p '{"spec":{"selector":{"app":"web","version":"green"}}}'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describe svc web | grep Selector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5 — Roll back instantly if needed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242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patch service web -p '{"spec":{"selector":{"app":"web","version":"blue"}}}'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680459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Cutover and rollback are both a single kubectl patch service selector update — atomic, milliseconds, no Pod churn. Blue stays running as an instant fallback.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11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Blue/Green Deployment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After the patch, k describe svc web | grep Selector shows version=green, and patching it back to version=blue restores the old version instantly.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2 · CANARY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Canary Deployment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12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Canary Deployment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A canary release sends a small fraction of live traffic to a new version while the bulk stays on stable. In Kubernetes the split is approximated by replica ratios behind one broad Service selector — no special tooling required.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Run a 9-replica stable and 1-replica canary behind one Service, verify the ~10% split, then promote.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apply · k run · k scale · » Traffic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12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Canary Deployment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Stable Deployment (90% of traffic)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Deployment web-stable: replicas 9, labels app=web,track=stable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Service web: selector {app: web}, port 5678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apply -f stable.yaml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Canary Deployment (10% of traffic)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Deployment web-canary: replicas 1, labels app=web,track=canary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apply -f canary.yaml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pods -l app=web --show-labels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6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Verify the traffic split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4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4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2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run probe --image=busybox --restart=Never -it --rm -- sh -c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'for i in $(seq 1 30); do wget -qO- web:5678; done | sort | uniq -c'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~27 stable, ~3 canary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12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Canary Deployment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Promote: scale up canary, retire stable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scale deployment web-canary --replicas=9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scale deployment web-stable --replicas=0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Traffic split is approximated by replica ratio (9:1 ≈ 90/10). Promotion is just kubectl scale on both Deployments — no Service change. For precise percentage splits use a service mesh (Istio/Linkerd) — beyond CKAD scope.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12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Canary Deployment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The probe loop returns roughly 90% stable and 10% canary, and after scaling, all traffic shifts to the canary version with no Service edit.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AUTOSCALING · HPA vs VPA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Types of Autoscalers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HPA — Horizontal</a:t>
            </a:r>
            <a:endParaRPr sz="1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VPA — Vertical</a:t>
            </a:r>
            <a:endParaRPr sz="16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Horizontal Pod Autoscaler (HPA)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Scales the number of Pod replicas based on CPU/memory thresholds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Standard Kubernetes feature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Uses the metrics-server component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Vertical Pod Autoscaler (VPA)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Scales CPU/memory allocation for existing Pods from historic metrics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Provided by cloud providers as an add-on or installed manually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Both autoscalers require metrics-server and resource requests/limits on Pods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HPA · CONCEPT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Horizontal Pod Autoscaler (HPA)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The HPA is a Kubernetes primitive that queries the metrics server at regular intervals.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It compares current resource utilisation against the defined threshold.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If utilisation exceeds the threshold → HPA increases the replica count (scale out).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If utilisation drops below the threshold → HPA decreases the replica count (scale in).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The HPA targets a Deployment (or ReplicaSet) via scaleTargetRef.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HPA · CPU SCALING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Autoscaling a Deployment by CPU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The HPA monitors average CPU utilisation across all running replicas.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Example: threshold = 80% CPU, current = 15% → no scale-out needed.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Example: threshold = 80% CPU, current = 95% → HPA adds replicas.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Scaling decisions respect minReplicas and maxReplicas bounds.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kubectl autoscale is the imperative shortcut to create an HPA.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HPA · DECLARATIVE MANIFEST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Horizontal Pod Autoscaler YAML Manifest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HPA targeting a Deployment, scaling on CPU utilisation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352044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3520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autoscaling/v2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HorizontalPodAutoscaler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app-cache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scaleTargetRef: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apiVersion: apps/v1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kind: Deployment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name: app-cache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minReplicas: 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maxReplicas: 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metrics: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type: Resource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resource: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name: cpu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target: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type: Utilization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averageUtilization: 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HPA · KUBECTL GET HPA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Inspecting the Horizontal Pod Autoscaler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List HPAs — shows current utilisation vs threshold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hpa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    REFERENCE               TARGETS    MINPODS  MAXPODS  REPLICAS  AGE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app-cache   Deployment/app-cache    15%/80%    3        5        3         2m14s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8575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Describe for detailed events and scaling history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204972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04972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68980"/>
            <a:ext cx="10323576" cy="242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describe hpa app-cache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 panose="020B0604020202020204"/>
              </a:rPr>
              <a:t>EXERCISE</a:t>
            </a:r>
            <a:endParaRPr sz="18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83464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 panose="020B0604020202020204"/>
              </a:rPr>
              <a:t>Creating a Horizontal Pod Autoscaler for a Deployment</a:t>
            </a:r>
            <a:endParaRPr sz="36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 panose="020B0604020202020204"/>
              </a:rPr>
              <a:t>Tea Break</a:t>
            </a:r>
            <a:endParaRPr sz="4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 panose="020B0604020202020204"/>
              </a:rPr>
              <a:t>15 minutes</a:t>
            </a:r>
            <a:endParaRPr sz="2200" b="1">
              <a:solidFill>
                <a:srgbClr val="10B981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TOPIC 4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Helm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The Kubernetes package manager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PACKAGE &amp; RELEASE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Charts, Releases &amp; Revisions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chart is a bundle of templated YAML; a release is one deployed instance of a chart.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Workflow: repo add → install → upgrade → rollback → uninstall.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--set overrides values at install/upgrade; --reuse-values keeps prior overrides.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helm history tracks every revision; helm get manifest shows what was actually applied.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75" dirty="0"/>
              <a:t>What</a:t>
            </a:r>
            <a:r>
              <a:rPr spc="-120" dirty="0"/>
              <a:t> </a:t>
            </a:r>
            <a:r>
              <a:rPr dirty="0"/>
              <a:t>is</a:t>
            </a:r>
            <a:r>
              <a:rPr spc="-120" dirty="0"/>
              <a:t> </a:t>
            </a:r>
            <a:r>
              <a:rPr spc="45" dirty="0"/>
              <a:t>Helm?</a:t>
            </a:r>
            <a:endParaRPr spc="45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0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Package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6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manager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6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templating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engine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set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manifests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0095" y="1813816"/>
            <a:ext cx="10288693" cy="2980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15875" indent="-351790">
              <a:lnSpc>
                <a:spcPct val="113000"/>
              </a:lnSpc>
              <a:spcBef>
                <a:spcPts val="100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 panose="020B0604020202020204"/>
                <a:cs typeface="Arial" panose="020B0604020202020204"/>
              </a:rPr>
              <a:t>The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artifact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produced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by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the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Helm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executable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is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a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latin typeface="Arial" panose="020B0604020202020204"/>
                <a:cs typeface="Arial" panose="020B0604020202020204"/>
              </a:rPr>
              <a:t>so-</a:t>
            </a:r>
            <a:r>
              <a:rPr sz="1600" dirty="0">
                <a:latin typeface="Arial" panose="020B0604020202020204"/>
                <a:cs typeface="Arial" panose="020B0604020202020204"/>
              </a:rPr>
              <a:t>called</a:t>
            </a:r>
            <a:r>
              <a:rPr sz="16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600" i="1" dirty="0">
                <a:latin typeface="Arial" panose="020B0604020202020204"/>
                <a:cs typeface="Arial" panose="020B0604020202020204"/>
              </a:rPr>
              <a:t>chart</a:t>
            </a:r>
            <a:r>
              <a:rPr sz="1600" i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i="1" dirty="0">
                <a:latin typeface="Arial" panose="020B0604020202020204"/>
                <a:cs typeface="Arial" panose="020B0604020202020204"/>
              </a:rPr>
              <a:t>file</a:t>
            </a:r>
            <a:r>
              <a:rPr sz="1600" i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bundling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the </a:t>
            </a:r>
            <a:r>
              <a:rPr sz="1600" dirty="0">
                <a:latin typeface="Arial" panose="020B0604020202020204"/>
                <a:cs typeface="Arial" panose="020B0604020202020204"/>
              </a:rPr>
              <a:t>manifests</a:t>
            </a:r>
            <a:r>
              <a:rPr sz="16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that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comprise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latin typeface="Arial" panose="020B0604020202020204"/>
                <a:cs typeface="Arial" panose="020B0604020202020204"/>
              </a:rPr>
              <a:t>the</a:t>
            </a:r>
            <a:r>
              <a:rPr sz="16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API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resources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of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an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latin typeface="Arial" panose="020B0604020202020204"/>
                <a:cs typeface="Arial" panose="020B0604020202020204"/>
              </a:rPr>
              <a:t>application.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 panose="020B0604020202020204"/>
              <a:buChar char="●"/>
            </a:pPr>
            <a:endParaRPr sz="1600">
              <a:latin typeface="Arial" panose="020B0604020202020204"/>
              <a:cs typeface="Arial" panose="020B0604020202020204"/>
            </a:endParaRPr>
          </a:p>
          <a:p>
            <a:pPr marL="363855" marR="5080" indent="-351790">
              <a:lnSpc>
                <a:spcPct val="113000"/>
              </a:lnSpc>
              <a:spcBef>
                <a:spcPts val="5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 panose="020B0604020202020204"/>
                <a:cs typeface="Arial" panose="020B0604020202020204"/>
              </a:rPr>
              <a:t>Chart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files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can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be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distributed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to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a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chart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repository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e.g.</a:t>
            </a:r>
            <a:r>
              <a:rPr sz="16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600" u="heavy" dirty="0">
                <a:solidFill>
                  <a:srgbClr val="D30020"/>
                </a:solidFill>
                <a:uFill>
                  <a:solidFill>
                    <a:srgbClr val="D30020"/>
                  </a:solidFill>
                </a:uFill>
                <a:latin typeface="Arial" panose="020B0604020202020204"/>
                <a:cs typeface="Arial" panose="020B0604020202020204"/>
                <a:hlinkClick r:id="rId1"/>
              </a:rPr>
              <a:t>central</a:t>
            </a:r>
            <a:r>
              <a:rPr sz="1600" u="heavy" spc="-25" dirty="0">
                <a:solidFill>
                  <a:srgbClr val="D30020"/>
                </a:solidFill>
                <a:uFill>
                  <a:solidFill>
                    <a:srgbClr val="D30020"/>
                  </a:solidFill>
                </a:uFill>
                <a:latin typeface="Arial" panose="020B0604020202020204"/>
                <a:cs typeface="Arial" panose="020B0604020202020204"/>
                <a:hlinkClick r:id="rId1"/>
              </a:rPr>
              <a:t> </a:t>
            </a:r>
            <a:r>
              <a:rPr sz="1600" u="heavy" dirty="0">
                <a:solidFill>
                  <a:srgbClr val="D30020"/>
                </a:solidFill>
                <a:uFill>
                  <a:solidFill>
                    <a:srgbClr val="D30020"/>
                  </a:solidFill>
                </a:uFill>
                <a:latin typeface="Arial" panose="020B0604020202020204"/>
                <a:cs typeface="Arial" panose="020B0604020202020204"/>
                <a:hlinkClick r:id="rId1"/>
              </a:rPr>
              <a:t>chart</a:t>
            </a:r>
            <a:r>
              <a:rPr sz="1600" u="heavy" spc="-30" dirty="0">
                <a:solidFill>
                  <a:srgbClr val="D30020"/>
                </a:solidFill>
                <a:uFill>
                  <a:solidFill>
                    <a:srgbClr val="D30020"/>
                  </a:solidFill>
                </a:uFill>
                <a:latin typeface="Arial" panose="020B0604020202020204"/>
                <a:cs typeface="Arial" panose="020B0604020202020204"/>
                <a:hlinkClick r:id="rId1"/>
              </a:rPr>
              <a:t> </a:t>
            </a:r>
            <a:r>
              <a:rPr sz="1600" u="heavy" dirty="0">
                <a:solidFill>
                  <a:srgbClr val="D30020"/>
                </a:solidFill>
                <a:uFill>
                  <a:solidFill>
                    <a:srgbClr val="D30020"/>
                  </a:solidFill>
                </a:uFill>
                <a:latin typeface="Arial" panose="020B0604020202020204"/>
                <a:cs typeface="Arial" panose="020B0604020202020204"/>
                <a:hlinkClick r:id="rId1"/>
              </a:rPr>
              <a:t>repository</a:t>
            </a:r>
            <a:r>
              <a:rPr sz="1600" spc="-20" dirty="0">
                <a:solidFill>
                  <a:srgbClr val="D3002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and </a:t>
            </a:r>
            <a:r>
              <a:rPr sz="1600" dirty="0">
                <a:latin typeface="Arial" panose="020B0604020202020204"/>
                <a:cs typeface="Arial" panose="020B0604020202020204"/>
              </a:rPr>
              <a:t>consumed</a:t>
            </a:r>
            <a:r>
              <a:rPr sz="16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from</a:t>
            </a:r>
            <a:r>
              <a:rPr sz="16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there</a:t>
            </a:r>
            <a:r>
              <a:rPr sz="16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(e.g.,</a:t>
            </a:r>
            <a:r>
              <a:rPr sz="16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for</a:t>
            </a:r>
            <a:r>
              <a:rPr sz="16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running</a:t>
            </a:r>
            <a:r>
              <a:rPr sz="16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Grafana</a:t>
            </a:r>
            <a:r>
              <a:rPr sz="16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or</a:t>
            </a:r>
            <a:r>
              <a:rPr sz="16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latin typeface="Arial" panose="020B0604020202020204"/>
                <a:cs typeface="Arial" panose="020B0604020202020204"/>
              </a:rPr>
              <a:t>PostgreSQL).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 panose="020B0604020202020204"/>
              <a:buChar char="●"/>
            </a:pPr>
            <a:endParaRPr sz="1600">
              <a:latin typeface="Arial" panose="020B0604020202020204"/>
              <a:cs typeface="Arial" panose="020B0604020202020204"/>
            </a:endParaRPr>
          </a:p>
          <a:p>
            <a:pPr marL="363855" marR="193040" indent="-351790">
              <a:lnSpc>
                <a:spcPct val="113000"/>
              </a:lnSpc>
              <a:spcBef>
                <a:spcPts val="5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 panose="020B0604020202020204"/>
                <a:cs typeface="Arial" panose="020B0604020202020204"/>
              </a:rPr>
              <a:t>At</a:t>
            </a:r>
            <a:r>
              <a:rPr sz="16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runtime,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it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replaces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placeholders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in</a:t>
            </a:r>
            <a:r>
              <a:rPr sz="16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35" dirty="0">
                <a:latin typeface="Arial" panose="020B0604020202020204"/>
                <a:cs typeface="Arial" panose="020B0604020202020204"/>
              </a:rPr>
              <a:t>YAML</a:t>
            </a:r>
            <a:r>
              <a:rPr sz="1600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template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files</a:t>
            </a:r>
            <a:r>
              <a:rPr sz="16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with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actual,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end-</a:t>
            </a:r>
            <a:r>
              <a:rPr sz="1600" spc="-20" dirty="0">
                <a:latin typeface="Arial" panose="020B0604020202020204"/>
                <a:cs typeface="Arial" panose="020B0604020202020204"/>
              </a:rPr>
              <a:t>user </a:t>
            </a:r>
            <a:r>
              <a:rPr sz="1600" dirty="0">
                <a:latin typeface="Arial" panose="020B0604020202020204"/>
                <a:cs typeface="Arial" panose="020B0604020202020204"/>
              </a:rPr>
              <a:t>defined</a:t>
            </a:r>
            <a:r>
              <a:rPr sz="16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latin typeface="Arial" panose="020B0604020202020204"/>
                <a:cs typeface="Arial" panose="020B0604020202020204"/>
              </a:rPr>
              <a:t>values.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867" y="5152865"/>
            <a:ext cx="1186235" cy="1186235"/>
          </a:xfrm>
          <a:prstGeom prst="rect">
            <a:avLst/>
          </a:prstGeom>
        </p:spPr>
      </p:pic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30" dirty="0"/>
              <a:t>Standard</a:t>
            </a:r>
            <a:r>
              <a:rPr spc="-100" dirty="0"/>
              <a:t> </a:t>
            </a:r>
            <a:r>
              <a:rPr spc="125" dirty="0"/>
              <a:t>Chart</a:t>
            </a:r>
            <a:r>
              <a:rPr spc="-100" dirty="0"/>
              <a:t> </a:t>
            </a:r>
            <a:r>
              <a:rPr spc="60" dirty="0"/>
              <a:t>Structure</a:t>
            </a:r>
            <a:endParaRPr spc="6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Predefined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directory</a:t>
            </a:r>
            <a:r>
              <a:rPr sz="1600" b="0" spc="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structure</a:t>
            </a:r>
            <a:r>
              <a:rPr sz="1600" b="0" spc="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1600" b="0" spc="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mandatory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-2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Chart.yaml</a:t>
            </a:r>
            <a:r>
              <a:rPr sz="1600" b="0" spc="-665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0" spc="16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600" b="0" spc="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values.yaml</a:t>
            </a:r>
            <a:endParaRPr sz="1600">
              <a:latin typeface="Courier New" panose="02070309020205020404"/>
              <a:cs typeface="Courier New" panose="020703090202050204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22424" y="1810508"/>
            <a:ext cx="5554400" cy="2630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66700" y="2600299"/>
            <a:ext cx="1502833" cy="347980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90"/>
              </a:spcBef>
            </a:pPr>
            <a:r>
              <a:rPr sz="1300" spc="-10" dirty="0">
                <a:latin typeface="Courier New" panose="02070309020205020404"/>
                <a:cs typeface="Courier New" panose="02070309020205020404"/>
              </a:rPr>
              <a:t>Chart.yaml</a:t>
            </a:r>
            <a:endParaRPr sz="13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3867" y="1874933"/>
            <a:ext cx="5402580" cy="2478193"/>
          </a:xfrm>
          <a:prstGeom prst="rect">
            <a:avLst/>
          </a:prstGeom>
          <a:solidFill>
            <a:srgbClr val="F6F6F7"/>
          </a:solidFill>
        </p:spPr>
        <p:txBody>
          <a:bodyPr vert="horz" wrap="square" lIns="0" tIns="154940" rIns="0" bIns="0" rtlCol="0">
            <a:spAutoFit/>
          </a:bodyPr>
          <a:lstStyle/>
          <a:p>
            <a:pPr marL="165735">
              <a:lnSpc>
                <a:spcPct val="100000"/>
              </a:lnSpc>
              <a:spcBef>
                <a:spcPts val="1220"/>
              </a:spcBef>
            </a:pPr>
            <a:r>
              <a:rPr sz="1300" b="1" dirty="0">
                <a:latin typeface="Courier New" panose="02070309020205020404"/>
                <a:cs typeface="Courier New" panose="02070309020205020404"/>
              </a:rPr>
              <a:t>$</a:t>
            </a:r>
            <a:r>
              <a:rPr sz="1300" b="1" spc="-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300" b="1" spc="-20" dirty="0">
                <a:latin typeface="Courier New" panose="02070309020205020404"/>
                <a:cs typeface="Courier New" panose="02070309020205020404"/>
              </a:rPr>
              <a:t>tree</a:t>
            </a:r>
            <a:endParaRPr sz="1300">
              <a:latin typeface="Courier New" panose="02070309020205020404"/>
              <a:cs typeface="Courier New" panose="02070309020205020404"/>
            </a:endParaRPr>
          </a:p>
          <a:p>
            <a:pPr marL="165735">
              <a:lnSpc>
                <a:spcPct val="100000"/>
              </a:lnSpc>
              <a:spcBef>
                <a:spcPts val="15"/>
              </a:spcBef>
            </a:pPr>
            <a:r>
              <a:rPr sz="1300" spc="-50" dirty="0">
                <a:latin typeface="Courier New" panose="02070309020205020404"/>
                <a:cs typeface="Courier New" panose="02070309020205020404"/>
              </a:rPr>
              <a:t>.</a:t>
            </a:r>
            <a:endParaRPr sz="1300">
              <a:latin typeface="Courier New" panose="02070309020205020404"/>
              <a:cs typeface="Courier New" panose="02070309020205020404"/>
            </a:endParaRPr>
          </a:p>
          <a:p>
            <a:pPr marL="165735">
              <a:lnSpc>
                <a:spcPct val="100000"/>
              </a:lnSpc>
              <a:spcBef>
                <a:spcPts val="15"/>
              </a:spcBef>
            </a:pPr>
            <a:r>
              <a:rPr sz="1300" spc="-25" dirty="0">
                <a:latin typeface="Courier New" panose="02070309020205020404"/>
                <a:cs typeface="Courier New" panose="02070309020205020404"/>
              </a:rPr>
              <a:t>├──</a:t>
            </a:r>
            <a:endParaRPr sz="1300">
              <a:latin typeface="Courier New" panose="02070309020205020404"/>
              <a:cs typeface="Courier New" panose="02070309020205020404"/>
            </a:endParaRPr>
          </a:p>
          <a:p>
            <a:pPr marL="165735">
              <a:lnSpc>
                <a:spcPct val="100000"/>
              </a:lnSpc>
              <a:spcBef>
                <a:spcPts val="15"/>
              </a:spcBef>
            </a:pPr>
            <a:r>
              <a:rPr sz="1300" dirty="0">
                <a:latin typeface="Courier New" panose="02070309020205020404"/>
                <a:cs typeface="Courier New" panose="02070309020205020404"/>
              </a:rPr>
              <a:t>├──</a:t>
            </a:r>
            <a:r>
              <a:rPr sz="1300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300" spc="-10" dirty="0">
                <a:latin typeface="Courier New" panose="02070309020205020404"/>
                <a:cs typeface="Courier New" panose="02070309020205020404"/>
              </a:rPr>
              <a:t>templates</a:t>
            </a:r>
            <a:endParaRPr sz="1300">
              <a:latin typeface="Courier New" panose="02070309020205020404"/>
              <a:cs typeface="Courier New" panose="02070309020205020404"/>
            </a:endParaRPr>
          </a:p>
          <a:p>
            <a:pPr marL="165735">
              <a:lnSpc>
                <a:spcPct val="100000"/>
              </a:lnSpc>
              <a:spcBef>
                <a:spcPts val="15"/>
              </a:spcBef>
              <a:tabLst>
                <a:tab pos="561975" algn="l"/>
              </a:tabLst>
            </a:pPr>
            <a:r>
              <a:rPr sz="1300" spc="-50" dirty="0">
                <a:latin typeface="Courier New" panose="02070309020205020404"/>
                <a:cs typeface="Courier New" panose="02070309020205020404"/>
              </a:rPr>
              <a:t>│</a:t>
            </a:r>
            <a:r>
              <a:rPr sz="1300" dirty="0">
                <a:latin typeface="Courier New" panose="02070309020205020404"/>
                <a:cs typeface="Courier New" panose="02070309020205020404"/>
              </a:rPr>
              <a:t>	├──</a:t>
            </a:r>
            <a:r>
              <a:rPr sz="1300" spc="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300" spc="-10" dirty="0">
                <a:latin typeface="Courier New" panose="02070309020205020404"/>
                <a:cs typeface="Courier New" panose="02070309020205020404"/>
              </a:rPr>
              <a:t>web-app-pod-template.yaml</a:t>
            </a:r>
            <a:endParaRPr sz="1300">
              <a:latin typeface="Courier New" panose="02070309020205020404"/>
              <a:cs typeface="Courier New" panose="02070309020205020404"/>
            </a:endParaRPr>
          </a:p>
          <a:p>
            <a:pPr marL="165735">
              <a:lnSpc>
                <a:spcPct val="100000"/>
              </a:lnSpc>
              <a:spcBef>
                <a:spcPts val="15"/>
              </a:spcBef>
              <a:tabLst>
                <a:tab pos="561975" algn="l"/>
              </a:tabLst>
            </a:pPr>
            <a:r>
              <a:rPr sz="1300" spc="-50" dirty="0">
                <a:latin typeface="Courier New" panose="02070309020205020404"/>
                <a:cs typeface="Courier New" panose="02070309020205020404"/>
              </a:rPr>
              <a:t>│</a:t>
            </a:r>
            <a:r>
              <a:rPr sz="1300" dirty="0">
                <a:latin typeface="Courier New" panose="02070309020205020404"/>
                <a:cs typeface="Courier New" panose="02070309020205020404"/>
              </a:rPr>
              <a:t>	└──</a:t>
            </a:r>
            <a:r>
              <a:rPr sz="1300" spc="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300" spc="-10" dirty="0">
                <a:latin typeface="Courier New" panose="02070309020205020404"/>
                <a:cs typeface="Courier New" panose="02070309020205020404"/>
              </a:rPr>
              <a:t>web-app-service-template.yaml</a:t>
            </a:r>
            <a:endParaRPr sz="1300">
              <a:latin typeface="Courier New" panose="02070309020205020404"/>
              <a:cs typeface="Courier New" panose="02070309020205020404"/>
            </a:endParaRPr>
          </a:p>
          <a:p>
            <a:pPr marL="165735">
              <a:lnSpc>
                <a:spcPct val="100000"/>
              </a:lnSpc>
              <a:spcBef>
                <a:spcPts val="15"/>
              </a:spcBef>
            </a:pPr>
            <a:r>
              <a:rPr sz="1300" spc="-25" dirty="0">
                <a:latin typeface="Courier New" panose="02070309020205020404"/>
                <a:cs typeface="Courier New" panose="02070309020205020404"/>
              </a:rPr>
              <a:t>└──</a:t>
            </a:r>
            <a:endParaRPr sz="13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66700" y="3665200"/>
            <a:ext cx="1605280" cy="347980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Courier New" panose="02070309020205020404"/>
                <a:cs typeface="Courier New" panose="02070309020205020404"/>
              </a:rPr>
              <a:t>values.yaml</a:t>
            </a:r>
            <a:endParaRPr sz="1300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2 · HELM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Helm — Install, Upgrade, Rollback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13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Helm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Helm is the Kubernetes package manager. A chart is a bundle of templated YAML; a release is a deployed instance. CKAD tests install, upgrade, rollback, list and value overrides — all under exam time pressure.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Add a chart repo, install a release with overrides, inspect it, upgrade, roll back, then uninstall.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helm repo · helm install · helm get · helm upgrade · » `--reuse-values`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13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Helm — Install, Upgrade, Rollback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Add a chart repository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repo add bitnami https://charts.bitnami.com/bitnami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repo update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search repo bitnami/nginx | head -5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Install a release with value overrides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install web bitnami/nginx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--set service.type=ClusterIP --set replicaCount=2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list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6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Inspect the generated manifests and values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4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4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2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get manifest web | head -40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get values 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13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Helm — Install, Upgrade, Rollback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Upgrade, then roll back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upgrade web bitnami/nginx --set replicaCount=4 --reuse-values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history 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rollback web 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uninstall 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--reuse-values preserves prior overrides while changing only the new one. helm history &lt;release&gt; tracks every revision; rollback creates a new revision rather than deleting history.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13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Helm — Install, Upgrade, Rollback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helm history web lists each revision with its status, and helm rollback web 1 returns the release to its first revision as a new history entry.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TOPIC 5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Kustomize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Environment overlays without templating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REUSE WITHOUT TEMPLATES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Base + Overlays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Kustomize reuses one base set of manifests and layers environment-specific changes on top.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namePrefix and commonLabels are applied to every resource in the overlay.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The images block overrides image tags without editing the base files; patches do strategic merges.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Built into kubectl: kubectl apply -k and kubectl kustomize — no extra binary required.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75" dirty="0"/>
              <a:t>What</a:t>
            </a:r>
            <a:r>
              <a:rPr spc="-120" dirty="0"/>
              <a:t> </a:t>
            </a:r>
            <a:r>
              <a:rPr dirty="0"/>
              <a:t>is</a:t>
            </a:r>
            <a:r>
              <a:rPr spc="-120" dirty="0"/>
              <a:t> </a:t>
            </a:r>
            <a:r>
              <a:rPr spc="-10" dirty="0"/>
              <a:t>Kustomize?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Customizing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application</a:t>
            </a:r>
            <a:r>
              <a:rPr sz="1600" b="0" spc="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manifests</a:t>
            </a:r>
            <a:r>
              <a:rPr sz="1600" b="0" spc="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without</a:t>
            </a:r>
            <a:r>
              <a:rPr sz="1600" b="0" spc="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templates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0095" y="1813816"/>
            <a:ext cx="10459720" cy="33485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5080" indent="-351790">
              <a:lnSpc>
                <a:spcPct val="113000"/>
              </a:lnSpc>
              <a:spcBef>
                <a:spcPts val="100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 panose="020B0604020202020204"/>
                <a:cs typeface="Arial" panose="020B0604020202020204"/>
              </a:rPr>
              <a:t>Writing</a:t>
            </a:r>
            <a:r>
              <a:rPr sz="16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manifests</a:t>
            </a:r>
            <a:r>
              <a:rPr sz="16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for</a:t>
            </a:r>
            <a:r>
              <a:rPr sz="16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application</a:t>
            </a:r>
            <a:r>
              <a:rPr sz="16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stacks</a:t>
            </a:r>
            <a:r>
              <a:rPr sz="16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is</a:t>
            </a:r>
            <a:r>
              <a:rPr sz="16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latin typeface="Arial" panose="020B0604020202020204"/>
                <a:cs typeface="Arial" panose="020B0604020202020204"/>
              </a:rPr>
              <a:t>straightforward,</a:t>
            </a:r>
            <a:r>
              <a:rPr sz="16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however,</a:t>
            </a:r>
            <a:r>
              <a:rPr sz="16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deploying</a:t>
            </a:r>
            <a:r>
              <a:rPr sz="16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20" dirty="0">
                <a:latin typeface="Arial" panose="020B0604020202020204"/>
                <a:cs typeface="Arial" panose="020B0604020202020204"/>
              </a:rPr>
              <a:t>them </a:t>
            </a:r>
            <a:r>
              <a:rPr sz="1600" dirty="0">
                <a:latin typeface="Arial" panose="020B0604020202020204"/>
                <a:cs typeface="Arial" panose="020B0604020202020204"/>
              </a:rPr>
              <a:t>to</a:t>
            </a:r>
            <a:r>
              <a:rPr sz="16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latin typeface="Arial" panose="020B0604020202020204"/>
                <a:cs typeface="Arial" panose="020B0604020202020204"/>
              </a:rPr>
              <a:t>different</a:t>
            </a:r>
            <a:r>
              <a:rPr sz="16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Kubernetes</a:t>
            </a:r>
            <a:r>
              <a:rPr sz="16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runtime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environments</a:t>
            </a:r>
            <a:r>
              <a:rPr sz="16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with</a:t>
            </a:r>
            <a:r>
              <a:rPr sz="16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varying</a:t>
            </a:r>
            <a:r>
              <a:rPr sz="16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configuration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gets</a:t>
            </a:r>
            <a:r>
              <a:rPr sz="16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latin typeface="Arial" panose="020B0604020202020204"/>
                <a:cs typeface="Arial" panose="020B0604020202020204"/>
              </a:rPr>
              <a:t>tricky.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 panose="020B0604020202020204"/>
              <a:buChar char="●"/>
            </a:pPr>
            <a:endParaRPr sz="1600">
              <a:latin typeface="Arial" panose="020B0604020202020204"/>
              <a:cs typeface="Arial" panose="020B0604020202020204"/>
            </a:endParaRPr>
          </a:p>
          <a:p>
            <a:pPr marL="363855" marR="462915" indent="-351790">
              <a:lnSpc>
                <a:spcPct val="113000"/>
              </a:lnSpc>
              <a:spcBef>
                <a:spcPts val="5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 panose="020B0604020202020204"/>
                <a:cs typeface="Arial" panose="020B0604020202020204"/>
              </a:rPr>
              <a:t>Instead</a:t>
            </a:r>
            <a:r>
              <a:rPr sz="16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of</a:t>
            </a:r>
            <a:r>
              <a:rPr sz="16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copying</a:t>
            </a:r>
            <a:r>
              <a:rPr sz="16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and</a:t>
            </a:r>
            <a:r>
              <a:rPr sz="16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modifying</a:t>
            </a:r>
            <a:r>
              <a:rPr sz="16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manifests</a:t>
            </a:r>
            <a:r>
              <a:rPr sz="16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per</a:t>
            </a:r>
            <a:r>
              <a:rPr sz="16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environment,</a:t>
            </a:r>
            <a:r>
              <a:rPr sz="16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you</a:t>
            </a:r>
            <a:r>
              <a:rPr sz="16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can</a:t>
            </a:r>
            <a:r>
              <a:rPr sz="16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use </a:t>
            </a:r>
            <a:r>
              <a:rPr sz="1600" dirty="0">
                <a:latin typeface="Arial" panose="020B0604020202020204"/>
                <a:cs typeface="Arial" panose="020B0604020202020204"/>
              </a:rPr>
              <a:t>kustomize</a:t>
            </a:r>
            <a:r>
              <a:rPr sz="16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to</a:t>
            </a:r>
            <a:r>
              <a:rPr sz="16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merge</a:t>
            </a:r>
            <a:r>
              <a:rPr sz="16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configuration</a:t>
            </a:r>
            <a:r>
              <a:rPr sz="16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change.</a:t>
            </a:r>
            <a:r>
              <a:rPr sz="16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Kustomize</a:t>
            </a:r>
            <a:r>
              <a:rPr sz="16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does</a:t>
            </a:r>
            <a:r>
              <a:rPr sz="16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not</a:t>
            </a:r>
            <a:r>
              <a:rPr sz="16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require</a:t>
            </a:r>
            <a:r>
              <a:rPr sz="16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using</a:t>
            </a:r>
            <a:r>
              <a:rPr sz="16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50" dirty="0">
                <a:latin typeface="Arial" panose="020B0604020202020204"/>
                <a:cs typeface="Arial" panose="020B0604020202020204"/>
              </a:rPr>
              <a:t>a </a:t>
            </a:r>
            <a:r>
              <a:rPr sz="1600" dirty="0">
                <a:latin typeface="Arial" panose="020B0604020202020204"/>
                <a:cs typeface="Arial" panose="020B0604020202020204"/>
              </a:rPr>
              <a:t>template</a:t>
            </a:r>
            <a:r>
              <a:rPr sz="16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engine</a:t>
            </a:r>
            <a:r>
              <a:rPr sz="16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or</a:t>
            </a:r>
            <a:r>
              <a:rPr sz="16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changing</a:t>
            </a:r>
            <a:r>
              <a:rPr sz="16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the</a:t>
            </a:r>
            <a:r>
              <a:rPr sz="16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original</a:t>
            </a:r>
            <a:r>
              <a:rPr sz="16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latin typeface="Arial" panose="020B0604020202020204"/>
                <a:cs typeface="Arial" panose="020B0604020202020204"/>
              </a:rPr>
              <a:t>manifests.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 panose="020B0604020202020204"/>
              <a:buChar char="●"/>
            </a:pPr>
            <a:endParaRPr sz="1600">
              <a:latin typeface="Arial" panose="020B0604020202020204"/>
              <a:cs typeface="Arial" panose="020B0604020202020204"/>
            </a:endParaRPr>
          </a:p>
          <a:p>
            <a:pPr marL="363855" marR="613410" indent="-351790">
              <a:lnSpc>
                <a:spcPct val="113000"/>
              </a:lnSpc>
              <a:spcBef>
                <a:spcPts val="5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 panose="020B0604020202020204"/>
                <a:cs typeface="Arial" panose="020B0604020202020204"/>
              </a:rPr>
              <a:t>Kustomize</a:t>
            </a:r>
            <a:r>
              <a:rPr sz="16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can</a:t>
            </a:r>
            <a:r>
              <a:rPr sz="16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be</a:t>
            </a:r>
            <a:r>
              <a:rPr sz="16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used</a:t>
            </a:r>
            <a:r>
              <a:rPr sz="16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as</a:t>
            </a:r>
            <a:r>
              <a:rPr sz="16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a</a:t>
            </a:r>
            <a:r>
              <a:rPr sz="16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subcommand/flag</a:t>
            </a:r>
            <a:r>
              <a:rPr sz="16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of </a:t>
            </a:r>
            <a:r>
              <a:rPr sz="1600" spc="-20" dirty="0">
                <a:latin typeface="Courier New" panose="02070309020205020404"/>
                <a:cs typeface="Courier New" panose="02070309020205020404"/>
              </a:rPr>
              <a:t>kubectl</a:t>
            </a:r>
            <a:r>
              <a:rPr sz="1600" spc="-6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or</a:t>
            </a:r>
            <a:r>
              <a:rPr sz="16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as</a:t>
            </a:r>
            <a:r>
              <a:rPr sz="16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a</a:t>
            </a:r>
            <a:r>
              <a:rPr sz="16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latin typeface="Arial" panose="020B0604020202020204"/>
                <a:cs typeface="Arial" panose="020B0604020202020204"/>
              </a:rPr>
              <a:t>separate </a:t>
            </a:r>
            <a:r>
              <a:rPr sz="1600" u="heavy" spc="-10" dirty="0">
                <a:solidFill>
                  <a:srgbClr val="D30020"/>
                </a:solidFill>
                <a:uFill>
                  <a:solidFill>
                    <a:srgbClr val="D30020"/>
                  </a:solidFill>
                </a:uFill>
                <a:latin typeface="Arial" panose="020B0604020202020204"/>
                <a:cs typeface="Arial" panose="020B0604020202020204"/>
                <a:hlinkClick r:id="rId1"/>
              </a:rPr>
              <a:t>executable</a:t>
            </a:r>
            <a:r>
              <a:rPr sz="1600" spc="-10" dirty="0">
                <a:latin typeface="Arial" panose="020B0604020202020204"/>
                <a:cs typeface="Arial" panose="020B0604020202020204"/>
              </a:rPr>
              <a:t>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69417" y="5223433"/>
            <a:ext cx="1060899" cy="1060899"/>
          </a:xfrm>
          <a:prstGeom prst="rect">
            <a:avLst/>
          </a:prstGeom>
        </p:spPr>
      </p:pic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80" dirty="0"/>
              <a:t>Environment</a:t>
            </a:r>
            <a:r>
              <a:rPr spc="-90" dirty="0"/>
              <a:t> </a:t>
            </a:r>
            <a:r>
              <a:rPr spc="65" dirty="0"/>
              <a:t>Kustomize</a:t>
            </a:r>
            <a:r>
              <a:rPr spc="-90" dirty="0"/>
              <a:t> </a:t>
            </a:r>
            <a:r>
              <a:rPr spc="70" dirty="0"/>
              <a:t>Setup</a:t>
            </a:r>
            <a:endParaRPr spc="7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Subdirectories</a:t>
            </a:r>
            <a:r>
              <a:rPr sz="1600" b="0" spc="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contain</a:t>
            </a:r>
            <a:r>
              <a:rPr sz="1600" b="0" spc="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environment-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specific</a:t>
            </a:r>
            <a:r>
              <a:rPr sz="1600" b="0" spc="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configuration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23724" y="1810508"/>
            <a:ext cx="5009727" cy="4219787"/>
            <a:chOff x="623724" y="1810508"/>
            <a:chExt cx="5009727" cy="4219787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23724" y="1810508"/>
              <a:ext cx="5009600" cy="42192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95167" y="1874932"/>
              <a:ext cx="4857327" cy="4067387"/>
            </a:xfrm>
            <a:custGeom>
              <a:avLst/>
              <a:gdLst/>
              <a:ahLst/>
              <a:cxnLst/>
              <a:rect l="l" t="t" r="r" b="b"/>
              <a:pathLst>
                <a:path w="3642995" h="3050540">
                  <a:moveTo>
                    <a:pt x="3642899" y="3050099"/>
                  </a:moveTo>
                  <a:lnTo>
                    <a:pt x="0" y="3050099"/>
                  </a:lnTo>
                  <a:lnTo>
                    <a:pt x="0" y="0"/>
                  </a:lnTo>
                  <a:lnTo>
                    <a:pt x="3642899" y="0"/>
                  </a:lnTo>
                  <a:lnTo>
                    <a:pt x="3642899" y="3050099"/>
                  </a:lnTo>
                  <a:close/>
                </a:path>
              </a:pathLst>
            </a:custGeom>
            <a:solidFill>
              <a:srgbClr val="F6F6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899667" y="1961529"/>
            <a:ext cx="4260427" cy="20099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Courier New" panose="02070309020205020404"/>
                <a:cs typeface="Courier New" panose="02070309020205020404"/>
              </a:rPr>
              <a:t>.</a:t>
            </a:r>
            <a:endParaRPr sz="16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600" dirty="0">
                <a:latin typeface="Courier New" panose="02070309020205020404"/>
                <a:cs typeface="Courier New" panose="02070309020205020404"/>
              </a:rPr>
              <a:t>├──</a:t>
            </a:r>
            <a:r>
              <a:rPr sz="1600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spc="-20" dirty="0">
                <a:latin typeface="Courier New" panose="02070309020205020404"/>
                <a:cs typeface="Courier New" panose="02070309020205020404"/>
              </a:rPr>
              <a:t>base</a:t>
            </a:r>
            <a:endParaRPr sz="16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  <a:tabLst>
                <a:tab pos="499745" algn="l"/>
              </a:tabLst>
            </a:pPr>
            <a:r>
              <a:rPr sz="1600" spc="-50" dirty="0">
                <a:latin typeface="Courier New" panose="02070309020205020404"/>
                <a:cs typeface="Courier New" panose="02070309020205020404"/>
              </a:rPr>
              <a:t>│</a:t>
            </a:r>
            <a:r>
              <a:rPr sz="1600" dirty="0">
                <a:latin typeface="Courier New" panose="02070309020205020404"/>
                <a:cs typeface="Courier New" panose="02070309020205020404"/>
              </a:rPr>
              <a:t>	├──</a:t>
            </a:r>
            <a:r>
              <a:rPr sz="1600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spc="-10" dirty="0">
                <a:latin typeface="Courier New" panose="02070309020205020404"/>
                <a:cs typeface="Courier New" panose="02070309020205020404"/>
              </a:rPr>
              <a:t>deployment.yaml</a:t>
            </a:r>
            <a:endParaRPr sz="16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  <a:tabLst>
                <a:tab pos="499745" algn="l"/>
              </a:tabLst>
            </a:pPr>
            <a:r>
              <a:rPr sz="1600" spc="-50" dirty="0">
                <a:latin typeface="Courier New" panose="02070309020205020404"/>
                <a:cs typeface="Courier New" panose="02070309020205020404"/>
              </a:rPr>
              <a:t>│</a:t>
            </a:r>
            <a:r>
              <a:rPr sz="1600" dirty="0">
                <a:latin typeface="Courier New" panose="02070309020205020404"/>
                <a:cs typeface="Courier New" panose="02070309020205020404"/>
              </a:rPr>
              <a:t>	├──</a:t>
            </a:r>
            <a:r>
              <a:rPr sz="1600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spc="-10" dirty="0">
                <a:latin typeface="Courier New" panose="02070309020205020404"/>
                <a:cs typeface="Courier New" panose="02070309020205020404"/>
              </a:rPr>
              <a:t>kustomization.yaml</a:t>
            </a:r>
            <a:endParaRPr sz="16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  <a:tabLst>
                <a:tab pos="499745" algn="l"/>
              </a:tabLst>
            </a:pPr>
            <a:r>
              <a:rPr sz="1600" spc="-50" dirty="0">
                <a:latin typeface="Courier New" panose="02070309020205020404"/>
                <a:cs typeface="Courier New" panose="02070309020205020404"/>
              </a:rPr>
              <a:t>│</a:t>
            </a:r>
            <a:r>
              <a:rPr sz="1600" dirty="0">
                <a:latin typeface="Courier New" panose="02070309020205020404"/>
                <a:cs typeface="Courier New" panose="02070309020205020404"/>
              </a:rPr>
              <a:t>	└──</a:t>
            </a:r>
            <a:r>
              <a:rPr sz="1600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spc="-10" dirty="0">
                <a:latin typeface="Courier New" panose="02070309020205020404"/>
                <a:cs typeface="Courier New" panose="02070309020205020404"/>
              </a:rPr>
              <a:t>service.yaml</a:t>
            </a:r>
            <a:endParaRPr sz="16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600" dirty="0">
                <a:latin typeface="Courier New" panose="02070309020205020404"/>
                <a:cs typeface="Courier New" panose="02070309020205020404"/>
              </a:rPr>
              <a:t>├──</a:t>
            </a:r>
            <a:r>
              <a:rPr sz="1600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spc="-25" dirty="0">
                <a:latin typeface="Courier New" panose="02070309020205020404"/>
                <a:cs typeface="Courier New" panose="02070309020205020404"/>
              </a:rPr>
              <a:t>dev</a:t>
            </a:r>
            <a:endParaRPr sz="1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9667" y="3942729"/>
            <a:ext cx="4260427" cy="6891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9745" algn="l"/>
              </a:tabLst>
            </a:pPr>
            <a:r>
              <a:rPr sz="1600" spc="-50" dirty="0">
                <a:latin typeface="Courier New" panose="02070309020205020404"/>
                <a:cs typeface="Courier New" panose="02070309020205020404"/>
              </a:rPr>
              <a:t>│</a:t>
            </a:r>
            <a:r>
              <a:rPr sz="1600" dirty="0">
                <a:latin typeface="Courier New" panose="02070309020205020404"/>
                <a:cs typeface="Courier New" panose="02070309020205020404"/>
              </a:rPr>
              <a:t>	├──</a:t>
            </a:r>
            <a:r>
              <a:rPr sz="1600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spc="-10" dirty="0">
                <a:latin typeface="Courier New" panose="02070309020205020404"/>
                <a:cs typeface="Courier New" panose="02070309020205020404"/>
              </a:rPr>
              <a:t>config.properties</a:t>
            </a:r>
            <a:endParaRPr sz="16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  <a:tabLst>
                <a:tab pos="499745" algn="l"/>
              </a:tabLst>
            </a:pPr>
            <a:r>
              <a:rPr sz="1600" spc="-50" dirty="0">
                <a:latin typeface="Courier New" panose="02070309020205020404"/>
                <a:cs typeface="Courier New" panose="02070309020205020404"/>
              </a:rPr>
              <a:t>│</a:t>
            </a:r>
            <a:r>
              <a:rPr sz="1600" dirty="0">
                <a:latin typeface="Courier New" panose="02070309020205020404"/>
                <a:cs typeface="Courier New" panose="02070309020205020404"/>
              </a:rPr>
              <a:t>	└──</a:t>
            </a:r>
            <a:r>
              <a:rPr sz="1600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spc="-10" dirty="0">
                <a:latin typeface="Courier New" panose="02070309020205020404"/>
                <a:cs typeface="Courier New" panose="02070309020205020404"/>
              </a:rPr>
              <a:t>kustomization.yaml</a:t>
            </a:r>
            <a:endParaRPr sz="1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9667" y="4603129"/>
            <a:ext cx="1334347" cy="3589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ourier New" panose="02070309020205020404"/>
                <a:cs typeface="Courier New" panose="02070309020205020404"/>
              </a:rPr>
              <a:t>└──</a:t>
            </a:r>
            <a:r>
              <a:rPr sz="1600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spc="-20" dirty="0">
                <a:latin typeface="Courier New" panose="02070309020205020404"/>
                <a:cs typeface="Courier New" panose="02070309020205020404"/>
              </a:rPr>
              <a:t>prod</a:t>
            </a:r>
            <a:endParaRPr sz="1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49907" y="4933329"/>
            <a:ext cx="3610187" cy="6891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ourier New" panose="02070309020205020404"/>
                <a:cs typeface="Courier New" panose="02070309020205020404"/>
              </a:rPr>
              <a:t>├──</a:t>
            </a:r>
            <a:r>
              <a:rPr sz="1600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spc="-10" dirty="0">
                <a:latin typeface="Courier New" panose="02070309020205020404"/>
                <a:cs typeface="Courier New" panose="02070309020205020404"/>
              </a:rPr>
              <a:t>config.properties</a:t>
            </a:r>
            <a:endParaRPr sz="16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600" dirty="0">
                <a:latin typeface="Courier New" panose="02070309020205020404"/>
                <a:cs typeface="Courier New" panose="02070309020205020404"/>
              </a:rPr>
              <a:t>└──</a:t>
            </a:r>
            <a:r>
              <a:rPr sz="1600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spc="-10" dirty="0">
                <a:latin typeface="Courier New" panose="02070309020205020404"/>
                <a:cs typeface="Courier New" panose="02070309020205020404"/>
              </a:rPr>
              <a:t>kustomization.yaml</a:t>
            </a:r>
            <a:endParaRPr sz="16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376265" y="3651299"/>
            <a:ext cx="5621867" cy="2159000"/>
            <a:chOff x="1376265" y="3651299"/>
            <a:chExt cx="5621867" cy="2159000"/>
          </a:xfrm>
        </p:grpSpPr>
        <p:sp>
          <p:nvSpPr>
            <p:cNvPr id="11" name="object 11"/>
            <p:cNvSpPr/>
            <p:nvPr/>
          </p:nvSpPr>
          <p:spPr>
            <a:xfrm>
              <a:off x="1388965" y="3663999"/>
              <a:ext cx="3906520" cy="2133600"/>
            </a:xfrm>
            <a:custGeom>
              <a:avLst/>
              <a:gdLst/>
              <a:ahLst/>
              <a:cxnLst/>
              <a:rect l="l" t="t" r="r" b="b"/>
              <a:pathLst>
                <a:path w="2929890" h="1600200">
                  <a:moveTo>
                    <a:pt x="0" y="0"/>
                  </a:moveTo>
                  <a:lnTo>
                    <a:pt x="2929799" y="0"/>
                  </a:lnTo>
                  <a:lnTo>
                    <a:pt x="2929799" y="1599899"/>
                  </a:lnTo>
                  <a:lnTo>
                    <a:pt x="0" y="1599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447967" y="4730599"/>
              <a:ext cx="1550247" cy="0"/>
            </a:xfrm>
            <a:custGeom>
              <a:avLst/>
              <a:gdLst/>
              <a:ahLst/>
              <a:cxnLst/>
              <a:rect l="l" t="t" r="r" b="b"/>
              <a:pathLst>
                <a:path w="1162685">
                  <a:moveTo>
                    <a:pt x="11621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19999" y="4675945"/>
              <a:ext cx="140667" cy="109307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172011" y="4414084"/>
            <a:ext cx="2569633" cy="87714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-635" algn="ctr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 panose="020B0604020202020204"/>
                <a:cs typeface="Arial" panose="020B0604020202020204"/>
              </a:rPr>
              <a:t>Create</a:t>
            </a:r>
            <a:r>
              <a:rPr sz="14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a</a:t>
            </a:r>
            <a:r>
              <a:rPr sz="1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latin typeface="Arial" panose="020B0604020202020204"/>
                <a:cs typeface="Arial" panose="020B0604020202020204"/>
              </a:rPr>
              <a:t>dedicated </a:t>
            </a:r>
            <a:r>
              <a:rPr sz="1400" dirty="0">
                <a:latin typeface="Arial" panose="020B0604020202020204"/>
                <a:cs typeface="Arial" panose="020B0604020202020204"/>
              </a:rPr>
              <a:t>directory</a:t>
            </a:r>
            <a:r>
              <a:rPr sz="1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+</a:t>
            </a:r>
            <a:r>
              <a:rPr sz="14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latin typeface="Arial" panose="020B0604020202020204"/>
                <a:cs typeface="Arial" panose="020B0604020202020204"/>
              </a:rPr>
              <a:t>configuration </a:t>
            </a:r>
            <a:r>
              <a:rPr sz="1400" dirty="0">
                <a:latin typeface="Arial" panose="020B0604020202020204"/>
                <a:cs typeface="Arial" panose="020B0604020202020204"/>
              </a:rPr>
              <a:t>per</a:t>
            </a:r>
            <a:r>
              <a:rPr sz="14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latin typeface="Arial" panose="020B0604020202020204"/>
                <a:cs typeface="Arial" panose="020B0604020202020204"/>
              </a:rPr>
              <a:t>environment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2 · KUSTOMIZE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Kustomize Overlays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14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Kustomize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Kustomize reuses a single base set of manifests and applies environment-specific overlays without templating. It is built into kubectl (-k). CKAD tests namePrefix, commonLabels, images and strategic-merge patches.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Build a base, add dev and prod overlays (prefix, labels, image tag, replica patch), preview, then apply.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resources: · kubectl kustomize · » `namePrefix`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14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Kustomize Overlays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Base kustomization (shared by all environments)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base/kustomization.yaml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resources: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deployment.yaml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service.yaml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Dev overlay (name prefix + common label)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1179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overlays/dev/kustomization.yaml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resources: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../../base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namePrefix: dev-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commonLabels: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env: 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14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Kustomize Overlays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Prod overlay (image bump + replica patch)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overlays/prod/kustomization.yaml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resources: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../../base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namePrefix: prod-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commonLabels: {env: prod}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images: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name: nginx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newTag: "1.26"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patches: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path: replica-patch.yaml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4279392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Preview, then apply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663440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663440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727448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kustomize overlays/prod | grep -E "name:|replicas:|image:"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apply -k overlays/dev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apply -k overlays/prod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14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Kustomize Overlays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namePrefix and commonLabels apply to every resource in the overlay. The images block overrides tags without editing base files. apply -k / kubectl kustomize are built into kubectl — no extra binary.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14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Kustomize Overlays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kubectl kustomize overlays/prod shows name prod-web, 5 replicas and nginx:1.26, while the dev overlay stays at 1 replica and nginx:1.25.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 panose="020B0604020202020204"/>
              </a:rPr>
              <a:t>Tea Break</a:t>
            </a:r>
            <a:endParaRPr sz="4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 panose="020B0604020202020204"/>
              </a:rPr>
              <a:t>15 minutes</a:t>
            </a:r>
            <a:endParaRPr sz="2200" b="1">
              <a:solidFill>
                <a:srgbClr val="10B981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TOPIC 6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DaemonSets &amp; StatefulSets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Node-wide agents &amp; stable-identity workloads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WHEN DEPLOYMENT ISN'T ENOUGH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Specialised Controllers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DaemonSet runs exactly one Pod per matching node — log collectors, CNI agents, node exporters.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StatefulSet gives Pods stable names (db-0, db-1) and ordered, graceful start/stop.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StatefulSet needs a headless Service (clusterIP: None) for per-Pod DNS.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Scale-down always removes the highest ordinal first; scale-up adds the next in order.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THREE WORKLOAD SHAPES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Pick the Right Controller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Deployment</a:t>
            </a:r>
            <a:endParaRPr sz="19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Stateless, interchangeable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Any number of replicas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Rolling updates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 panose="020B0604020202020204"/>
              </a:rPr>
              <a:t>DaemonSet</a:t>
            </a:r>
            <a:endParaRPr sz="19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One Pod per node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Node-level agents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Scales with the cluster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 panose="020B0604020202020204"/>
              </a:rPr>
              <a:t>StatefulSet</a:t>
            </a:r>
            <a:endParaRPr sz="19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Stable identity + storage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Ordered start/stop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Databases, queues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WORKLOAD CONTROLLERS · NODE-WIDE vs STABLE IDENTITY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DaemonSet vs StatefulSet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166360" cy="36576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75104"/>
            <a:ext cx="5166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DaemonSet — one Pod per node</a:t>
            </a:r>
            <a:endParaRPr sz="15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188720" y="2514600"/>
            <a:ext cx="4343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898648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 panose="020B0604020202020204"/>
              </a:rPr>
              <a:t>node-1</a:t>
            </a:r>
            <a:endParaRPr sz="12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566160" y="2624328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8" y="2624328"/>
            <a:ext cx="160934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 panose="020B0604020202020204"/>
              </a:rPr>
              <a:t>agent Pod</a:t>
            </a:r>
            <a:endParaRPr sz="12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188720" y="3429000"/>
            <a:ext cx="4343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3813048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 panose="020B0604020202020204"/>
              </a:rPr>
              <a:t>node-2</a:t>
            </a:r>
            <a:endParaRPr sz="12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566160" y="3538728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8" y="3538728"/>
            <a:ext cx="160934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 panose="020B0604020202020204"/>
              </a:rPr>
              <a:t>agent Pod</a:t>
            </a:r>
            <a:endParaRPr sz="12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188720" y="4343400"/>
            <a:ext cx="4343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4727448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 panose="020B0604020202020204"/>
              </a:rPr>
              <a:t>node-3</a:t>
            </a:r>
            <a:endParaRPr sz="12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566160" y="4453128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5888" y="4453128"/>
            <a:ext cx="160934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 panose="020B0604020202020204"/>
              </a:rPr>
              <a:t>agent Pod</a:t>
            </a:r>
            <a:endParaRPr sz="12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63640" y="1828800"/>
            <a:ext cx="5166360" cy="36576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975104"/>
            <a:ext cx="5166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 panose="020B0604020202020204"/>
              </a:rPr>
              <a:t>StatefulSet — ordered, stable names</a:t>
            </a:r>
            <a:endParaRPr sz="15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543800" y="2468880"/>
            <a:ext cx="260604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53528" y="2468880"/>
            <a:ext cx="238658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 panose="020B0604020202020204"/>
              </a:rPr>
              <a:t>headless Service (db)</a:t>
            </a:r>
            <a:endParaRPr sz="1200" b="1">
              <a:solidFill>
                <a:srgbClr val="161B26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 panose="020B0604020202020204"/>
              </a:rPr>
              <a:t>clusterIP: None</a:t>
            </a:r>
            <a:endParaRPr sz="10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903720" y="3337560"/>
            <a:ext cx="3886200" cy="5486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13448" y="3337560"/>
            <a:ext cx="366674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7A3E"/>
                </a:solidFill>
                <a:latin typeface="Arial" panose="020B0604020202020204"/>
              </a:rPr>
              <a:t>db-0</a:t>
            </a:r>
            <a:endParaRPr sz="1300" b="1">
              <a:solidFill>
                <a:srgbClr val="127A3E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 panose="020B0604020202020204"/>
              </a:rPr>
              <a:t>db-0.db.svc.cluster.local</a:t>
            </a:r>
            <a:endParaRPr sz="9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903720" y="3995928"/>
            <a:ext cx="3886200" cy="5486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13448" y="3995928"/>
            <a:ext cx="366674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7A3E"/>
                </a:solidFill>
                <a:latin typeface="Arial" panose="020B0604020202020204"/>
              </a:rPr>
              <a:t>db-1</a:t>
            </a:r>
            <a:endParaRPr sz="1300" b="1">
              <a:solidFill>
                <a:srgbClr val="127A3E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 panose="020B0604020202020204"/>
              </a:rPr>
              <a:t>db-1.db.svc.cluster.local</a:t>
            </a:r>
            <a:endParaRPr sz="9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903720" y="4654296"/>
            <a:ext cx="3886200" cy="5486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13448" y="4654296"/>
            <a:ext cx="366674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7A3E"/>
                </a:solidFill>
                <a:latin typeface="Arial" panose="020B0604020202020204"/>
              </a:rPr>
              <a:t>db-2</a:t>
            </a:r>
            <a:endParaRPr sz="1300" b="1">
              <a:solidFill>
                <a:srgbClr val="127A3E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 panose="020B0604020202020204"/>
              </a:rPr>
              <a:t>db-2.db.svc.cluster.local</a:t>
            </a:r>
            <a:endParaRPr sz="9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263640" y="5102352"/>
            <a:ext cx="5166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B6372"/>
                </a:solidFill>
                <a:latin typeface="Arial" panose="020B0604020202020204"/>
              </a:rPr>
              <a:t>created db-0→db-2 · deleted db-2→db-0</a:t>
            </a:r>
            <a:endParaRPr sz="10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DaemonSet = </a:t>
            </a:r>
            <a:r>
              <a:rPr sz="1300" b="1">
                <a:solidFill>
                  <a:srgbClr val="161B26"/>
                </a:solidFill>
                <a:latin typeface="Arial" panose="020B0604020202020204"/>
              </a:rPr>
              <a:t>one Pod per matching node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; StatefulSet = </a:t>
            </a:r>
            <a:r>
              <a:rPr sz="1300" b="1">
                <a:solidFill>
                  <a:srgbClr val="161B26"/>
                </a:solidFill>
                <a:latin typeface="Arial" panose="020B0604020202020204"/>
              </a:rPr>
              <a:t>stable identity + ordered start/stop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2 · DAEMON/STATEFULSET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DaemonSets and StatefulSets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15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DaemonSets &amp; StatefulSets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A DaemonSet runs exactly one Pod per matching node (log collectors, CNI agents). A StatefulSet gives Pods stable identities and ordered start/stop (databases). CKAD expects you to know when to use each and write the YAML.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Run a DaemonSet on every node, then a StatefulSet with a headless Service, stable DNS and ordered scaling.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apply · nslookup db-0.db.default.svc.cluster.local · » DaemonSet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15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DaemonSets and StatefulSets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DaemonSet on every node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DaemonSet node-agent, image busybox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apply -f ds.yaml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ds,pods -l app=node-agent -o wide   # DESIRED = node count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Headless Service for the StatefulSet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Service db: clusterIP: None, selector app=db, port 5432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apply -f headless.yaml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StatefulSet with stable identities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StatefulSet db: serviceName db, replicas 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apply -f sts.yaml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rollout status sts/db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pods -l app=db        # db-0 → db-1 → db-2 in order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15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DaemonSets and StatefulSets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Verify stable per-Pod DNS and scale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nslookup db-0.db.default.svc.cluster.local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scale sts db --replicas=4    # adds db-3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scale sts db --replicas=2    # removes db-3 then db-2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DaemonSet = one Pod per matching node. StatefulSet = stable names (db-0, db-1) and ordered start/stop; a headless Service (clusterIP: None) gives each Pod its own DNS. Scale-down always removes the highest ordinal first.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15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DaemonSets and StatefulSets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get pods -l app=db shows db-0, db-1, db-2 created in order, and nslookup db-0.db.default.svc.cluster.local resolves to a single Pod IP.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 panose="020B0604020202020204"/>
              </a:rPr>
              <a:t>SCHEDULING · TAINTS &amp; TOLERATIONS</a:t>
            </a:r>
            <a:endParaRPr sz="1400" b="1">
              <a:solidFill>
                <a:srgbClr val="F59E0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Taints &amp; Tolerations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11155680" cy="118872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  <a:latin typeface="Arial" panose="020B0604020202020204"/>
              </a:rPr>
              <a:t>Taint</a:t>
            </a:r>
            <a:r>
              <a:rPr sz="1400" b="0">
                <a:solidFill>
                  <a:srgbClr val="161B26"/>
                </a:solidFill>
                <a:latin typeface="Arial" panose="020B0604020202020204"/>
              </a:rPr>
              <a:t> — mark a Node to repel Pods that do not tolerate it.</a:t>
            </a:r>
            <a:endParaRPr sz="1400" b="0">
              <a:solidFill>
                <a:srgbClr val="161B26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Toleration</a:t>
            </a:r>
            <a:r>
              <a:rPr sz="1400" b="0">
                <a:solidFill>
                  <a:srgbClr val="161B26"/>
                </a:solidFill>
                <a:latin typeface="Arial" panose="020B0604020202020204"/>
              </a:rPr>
              <a:t> — added to a Pod to allow it to schedule onto tainted Nodes.</a:t>
            </a:r>
            <a:endParaRPr sz="14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3017520"/>
            <a:ext cx="3474720" cy="2651760"/>
          </a:xfrm>
          <a:prstGeom prst="roundRect">
            <a:avLst>
              <a:gd name="adj" fmla="val 6000"/>
            </a:avLst>
          </a:prstGeom>
          <a:solidFill>
            <a:srgbClr val="FFEED6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 panose="020B0604020202020204"/>
              </a:rPr>
              <a:t>Node (tainted)</a:t>
            </a:r>
            <a:endParaRPr sz="1400" b="1">
              <a:solidFill>
                <a:srgbClr val="F59E0B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3108960" cy="54864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11880"/>
            <a:ext cx="310896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  <a:latin typeface="Arial" panose="020B0604020202020204"/>
              </a:rPr>
              <a:t>Taint: gpu=true:NoSchedule</a:t>
            </a:r>
            <a:endParaRPr sz="1200" b="0">
              <a:solidFill>
                <a:srgbClr val="F59E0B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754880" y="3017520"/>
            <a:ext cx="2743200" cy="100584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31546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Pod (no toleration)</a:t>
            </a:r>
            <a:endParaRPr sz="13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37760" y="34747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? schedule here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cxnSp>
        <p:nvCxnSpPr>
          <p:cNvPr id="18" name="Connector 17"/>
          <p:cNvCxnSpPr/>
          <p:nvPr/>
        </p:nvCxnSpPr>
        <p:spPr>
          <a:xfrm flipH="1">
            <a:off x="4023360" y="3520440"/>
            <a:ext cx="731520" cy="0"/>
          </a:xfrm>
          <a:prstGeom prst="line">
            <a:avLst/>
          </a:prstGeom>
          <a:ln w="2540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931920" y="32918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EA580C"/>
                </a:solidFill>
                <a:latin typeface="Arial" panose="020B0604020202020204"/>
              </a:rPr>
              <a:t>BLOCKED</a:t>
            </a:r>
            <a:endParaRPr sz="1000" b="1">
              <a:solidFill>
                <a:srgbClr val="EA580C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754880" y="4343400"/>
            <a:ext cx="2743200" cy="1188720"/>
          </a:xfrm>
          <a:prstGeom prst="roundRect">
            <a:avLst>
              <a:gd name="adj" fmla="val 6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44348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Pod (with toleration)</a:t>
            </a:r>
            <a:endParaRPr sz="13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937760" y="4754880"/>
            <a:ext cx="2377440" cy="502920"/>
          </a:xfrm>
          <a:prstGeom prst="roundRect">
            <a:avLst>
              <a:gd name="adj" fmla="val 6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4754880"/>
            <a:ext cx="237744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  <a:latin typeface="Arial" panose="020B0604020202020204"/>
              </a:rPr>
              <a:t>gpu=true:NoSchedule</a:t>
            </a:r>
            <a:endParaRPr sz="1100" b="0">
              <a:solidFill>
                <a:srgbClr val="10B981"/>
              </a:solidFill>
              <a:latin typeface="Arial" panose="020B0604020202020204"/>
            </a:endParaRPr>
          </a:p>
        </p:txBody>
      </p:sp>
      <p:cxnSp>
        <p:nvCxnSpPr>
          <p:cNvPr id="24" name="Connector 23"/>
          <p:cNvCxnSpPr/>
          <p:nvPr/>
        </p:nvCxnSpPr>
        <p:spPr>
          <a:xfrm flipH="1">
            <a:off x="4023360" y="4937760"/>
            <a:ext cx="7315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840480" y="47091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  <a:latin typeface="Arial" panose="020B0604020202020204"/>
              </a:rPr>
              <a:t>ALLOWED</a:t>
            </a:r>
            <a:endParaRPr sz="10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503920" y="3017520"/>
            <a:ext cx="3200400" cy="2651760"/>
          </a:xfrm>
          <a:prstGeom prst="roundRect">
            <a:avLst>
              <a:gd name="adj" fmla="val 6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31546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Exam Tip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686800" y="3520440"/>
            <a:ext cx="274320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200">
                <a:solidFill>
                  <a:srgbClr val="161B26"/>
                </a:solidFill>
                <a:latin typeface="Arial" panose="020B0604020202020204"/>
              </a:rPr>
              <a:t>Taints repel Pods from Nodes</a:t>
            </a:r>
            <a:endParaRPr sz="12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200">
                <a:solidFill>
                  <a:srgbClr val="161B26"/>
                </a:solidFill>
                <a:latin typeface="Arial" panose="020B0604020202020204"/>
              </a:rPr>
              <a:t>Tolerations let a Pod tolerate a taint</a:t>
            </a:r>
            <a:endParaRPr sz="12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200">
                <a:solidFill>
                  <a:srgbClr val="161B26"/>
                </a:solidFill>
                <a:latin typeface="Arial" panose="020B0604020202020204"/>
              </a:rPr>
              <a:t>A Pod with a toleration MAY go to a tainted node — it's not forced</a:t>
            </a:r>
            <a:endParaRPr sz="12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 panose="020B0604020202020204"/>
              </a:rPr>
              <a:t>SCHEDULING · TAINT EFFECTS</a:t>
            </a:r>
            <a:endParaRPr sz="1400" b="1">
              <a:solidFill>
                <a:srgbClr val="F59E0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Taint Effects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11155680" cy="1325880"/>
          </a:xfrm>
          <a:prstGeom prst="roundRect">
            <a:avLst>
              <a:gd name="adj" fmla="val 6000"/>
            </a:avLst>
          </a:prstGeom>
          <a:solidFill>
            <a:srgbClr val="FFEED6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2560320" cy="1097280"/>
          </a:xfrm>
          <a:prstGeom prst="roundRect">
            <a:avLst>
              <a:gd name="adj" fmla="val 6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2560320" cy="10972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20204"/>
              </a:rPr>
              <a:t>NoSchedule</a:t>
            </a:r>
            <a:endParaRPr sz="14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83280" y="196596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 panose="020B0604020202020204"/>
              </a:rPr>
              <a:t>New Pods without matching toleration are NOT scheduled here.
Already-running Pods are unaffected.</a:t>
            </a:r>
            <a:endParaRPr sz="13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0"/>
            <a:ext cx="11155680" cy="132588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3291840"/>
            <a:ext cx="2560320" cy="109728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91840"/>
            <a:ext cx="2560320" cy="10972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20204"/>
              </a:rPr>
              <a:t>PreferNoSchedule</a:t>
            </a:r>
            <a:endParaRPr sz="14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83280" y="347472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 panose="020B0604020202020204"/>
              </a:rPr>
              <a:t>Scheduler TRIES to avoid placing Pods here, but will if no other option exists.
Soft constraint.</a:t>
            </a:r>
            <a:endParaRPr sz="13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48640" y="4709160"/>
            <a:ext cx="11155680" cy="1325880"/>
          </a:xfrm>
          <a:prstGeom prst="roundRect">
            <a:avLst>
              <a:gd name="adj" fmla="val 6000"/>
            </a:avLst>
          </a:prstGeom>
          <a:solidFill>
            <a:srgbClr val="EEE8FD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4800600"/>
            <a:ext cx="2560320" cy="109728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800600"/>
            <a:ext cx="2560320" cy="10972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20204"/>
              </a:rPr>
              <a:t>NoExecute</a:t>
            </a:r>
            <a:endParaRPr sz="14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383280" y="49834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 panose="020B0604020202020204"/>
              </a:rPr>
              <a:t>New Pods are not scheduled AND existing Pods without toleration are EVICTED.
Use tolerationSeconds for grace period.</a:t>
            </a:r>
            <a:endParaRPr sz="13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kubectl taint nodes node1 gpu=true:NoSchedule    |    Remove:  kubectl taint nodes node1 gpu=true:NoSchedule-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 panose="020B0604020202020204"/>
              </a:rPr>
              <a:t>SCHEDULING · TOLERATIONS YAML</a:t>
            </a:r>
            <a:endParaRPr sz="1400" b="1">
              <a:solidFill>
                <a:srgbClr val="F59E0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Tolerations in a Pod Spec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Adding a taint to a Node</a:t>
            </a:r>
            <a:endParaRPr sz="1300" b="1">
              <a:solidFill>
                <a:srgbClr val="F59E0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521207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52120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taint nodes node1 gpu=true:NoSchedule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taint nodes node1 gpu=true:NoSchedule-   # remove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7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Toleration in the Pod spec</a:t>
            </a:r>
            <a:endParaRPr sz="1300" b="1">
              <a:solidFill>
                <a:srgbClr val="F59E0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017519"/>
            <a:ext cx="10652760" cy="183337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017519"/>
            <a:ext cx="82296" cy="18333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081527"/>
            <a:ext cx="10323576" cy="1741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tolerations: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key: "gpu"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operator: "Equal"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value: "true"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effect: "NoSchedule"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name: gpu-job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image: cuda:11.0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SCHEDULING · NODE AFFINITY</a:t>
            </a:r>
            <a:endParaRPr sz="14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Node Affinity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11155680" cy="1097280"/>
          </a:xfrm>
          <a:prstGeom prst="roundRect">
            <a:avLst>
              <a:gd name="adj" fmla="val 6000"/>
            </a:avLst>
          </a:prstGeom>
          <a:solidFill>
            <a:srgbClr val="EEE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Node Affinity</a:t>
            </a:r>
            <a:r>
              <a:rPr sz="1400" b="0">
                <a:solidFill>
                  <a:srgbClr val="161B26"/>
                </a:solidFill>
                <a:latin typeface="Arial" panose="020B0604020202020204"/>
              </a:rPr>
              <a:t> constrains which Nodes a Pod can be scheduled on, based on Node labels.</a:t>
            </a:r>
            <a:endParaRPr sz="1400" b="0">
              <a:solidFill>
                <a:srgbClr val="161B26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More expressive than nodeSelector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 — supports operators: In, NotIn, Exists, DoesNotExist, Gt, Lt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2880360"/>
            <a:ext cx="5212080" cy="310896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B1220"/>
                </a:solidFill>
                <a:latin typeface="Arial" panose="020B0604020202020204"/>
              </a:rPr>
              <a:t>nodeSelector (simple)</a:t>
            </a:r>
            <a:endParaRPr sz="1500" b="1">
              <a:solidFill>
                <a:srgbClr val="0B1220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31520" y="3429000"/>
            <a:ext cx="4846320" cy="7086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429000"/>
            <a:ext cx="82296" cy="7086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493008"/>
            <a:ext cx="451713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nodeSelector: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disktype: ssd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4617720"/>
            <a:ext cx="484632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B1220"/>
                </a:solidFill>
                <a:latin typeface="Arial" panose="020B0604020202020204"/>
              </a:rPr>
              <a:t>•  </a:t>
            </a:r>
            <a:r>
              <a:rPr sz="1200">
                <a:solidFill>
                  <a:srgbClr val="161B26"/>
                </a:solidFill>
                <a:latin typeface="Arial" panose="020B0604020202020204"/>
              </a:rPr>
              <a:t>Key=value match only</a:t>
            </a:r>
            <a:endParaRPr sz="12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B1220"/>
                </a:solidFill>
                <a:latin typeface="Arial" panose="020B0604020202020204"/>
              </a:rPr>
              <a:t>•  </a:t>
            </a:r>
            <a:r>
              <a:rPr sz="1200">
                <a:solidFill>
                  <a:srgbClr val="161B26"/>
                </a:solidFill>
                <a:latin typeface="Arial" panose="020B0604020202020204"/>
              </a:rPr>
              <a:t>No operator support</a:t>
            </a:r>
            <a:endParaRPr sz="12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B1220"/>
                </a:solidFill>
                <a:latin typeface="Arial" panose="020B0604020202020204"/>
              </a:rPr>
              <a:t>•  </a:t>
            </a:r>
            <a:r>
              <a:rPr sz="1200">
                <a:solidFill>
                  <a:srgbClr val="161B26"/>
                </a:solidFill>
                <a:latin typeface="Arial" panose="020B0604020202020204"/>
              </a:rPr>
              <a:t>Cannot express 'not in' or 'exists'</a:t>
            </a:r>
            <a:endParaRPr sz="12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309360" y="2880360"/>
            <a:ext cx="5394960" cy="3108960"/>
          </a:xfrm>
          <a:prstGeom prst="roundRect">
            <a:avLst>
              <a:gd name="adj" fmla="val 6000"/>
            </a:avLst>
          </a:prstGeom>
          <a:solidFill>
            <a:srgbClr val="EEE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971800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 panose="020B0604020202020204"/>
              </a:rPr>
              <a:t>Node Affinity (expressive)</a:t>
            </a:r>
            <a:endParaRPr sz="15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92240" y="3429000"/>
            <a:ext cx="5029200" cy="183337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92240" y="3429000"/>
            <a:ext cx="82296" cy="18333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11696" y="3493008"/>
            <a:ext cx="4700016" cy="1741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affinity: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nodeAffinity: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required...: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nodeSelectorTerms: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- matchExpressions: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- key: disktype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  operator: In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  values: [ssd, nvme]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SCHEDULING · NODE AFFINITY TYPES</a:t>
            </a:r>
            <a:endParaRPr sz="14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Node Affinity Types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requiredDuringSchedulingIgnoredDuringExecution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Hard constraint — Pod WILL NOT schedule if no matching node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Use when workload requires specific hardware (GPU, SSD)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preferredDuringSchedulingIgnoredDuringExecution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Soft constraint — scheduler PREFERS matching nodes but places elsewhere if needed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Use when you want to spread workloads across zones if possible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IgnoredDuringExecution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Both types ignore affinity rules for already-running Pods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Combine multiple matchExpressions for fine-grained control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Expressions within a nodeSelectorTerm are ANDed; multiple terms are ORed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WRAP-UP</a:t>
            </a:r>
            <a:endParaRPr sz="1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 panose="020B0604020202020204"/>
              </a:rPr>
              <a:t>Day 2 done — you can deploy, scale and upgrade applications.</a:t>
            </a:r>
            <a:endParaRPr sz="3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 panose="020B0604020202020204"/>
              </a:rPr>
              <a:t>Tomorrow: Observability and Configuration &amp; Security — probes, logging, ConfigMaps, Secrets, RBAC.</a:t>
            </a:r>
            <a:endParaRPr sz="20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COURSE SLIDES</a:t>
            </a:r>
            <a:endParaRPr sz="1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61B26"/>
                </a:solidFill>
                <a:latin typeface="Arial" panose="020B0604020202020204"/>
              </a:rPr>
              <a:t>Certified Kubernetes Application Developer (CKAD)</a:t>
            </a:r>
            <a:endParaRPr sz="44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41248" y="452628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WSQ Course Code: TGS-2025053212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 panose="020B0604020202020204"/>
              </a:rPr>
              <a:t>Conducted by Tertiary Infotech Academy Pte Ltd  ·  UEN 201200696W</a:t>
            </a:r>
            <a:endParaRPr sz="14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 panose="020B0604020202020204"/>
              </a:rPr>
              <a:t>© 2026 Tertiary Infotech Academy Pte Ltd. All rights reserved.  ·  www.tertiarycourses.com.sg</a:t>
            </a:r>
            <a:endParaRPr sz="100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DAY 3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Observability + Config &amp; Security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Probes · Logging · Metrics · Debug · ConfigMaps · Secrets · SecurityContext · RBAC  (CKAD Domains 3 &amp; 4 — 40%)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 panose="020B0604020202020204"/>
              </a:rPr>
              <a:t>03</a:t>
            </a: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TRAQOM · SSG DIGITAL ATTENDANCE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Digital Attendance (Mandatory)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760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It is mandatory to take the AM, PM and Assessment digital attendance for WSQ-funded courses.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The trainer displays the digital attendance QR code from the SSG portal.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Scan the QR code with your phone camera and submit your attendance.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A minimum of 75% attendance is required for assessment and funding.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4389120" cy="27432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2148840"/>
            <a:ext cx="1005840" cy="10058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atten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6936" y="2420416"/>
            <a:ext cx="462688" cy="4626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40" y="3337560"/>
            <a:ext cx="3840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 panose="020B0604020202020204"/>
              </a:rPr>
              <a:t>Minimum 75%</a:t>
            </a:r>
            <a:endParaRPr sz="2600" b="1">
              <a:solidFill>
                <a:srgbClr val="1F6FEB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 panose="020B0604020202020204"/>
              </a:rPr>
              <a:t>attendance required</a:t>
            </a:r>
            <a:endParaRPr sz="2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DAY 3 OBJECTIVES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Recap &amp; Today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Yesterday (Domain 2): Deployments, rollouts, release strategies, Helm, Kustomize, Daemon/StatefulSet.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Morning — Domain 3 Observability (15%): probes, logging, metrics, debugging, API deprecations.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Afternoon — Domain 4 Configuration &amp; Security (25%): ConfigMaps, Secrets, securityContext, RBAC, quotas.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Together these two domains are 40% of the CKAD exam — the largest single day.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DOMAIN 3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Observability &amp; Maintenance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Probes · logging · metrics · debugging · API versions (15%)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TOPIC 1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Health Probes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liveness · readiness · startup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CONTAINER HEALTH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Three Probes, Three Jobs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livenessProbe — restarts the container when it has hung or deadlocked.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readinessProbe — removes the Pod from Service endpoints until it can serve traffic (no restart).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startupProbe — gives slow apps time to boot; it blocks the other two until it succeeds.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Each probe uses one handler: httpGet, tcpSocket or exec — pick by what the container exposes.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65" dirty="0"/>
              <a:t>Readiness</a:t>
            </a:r>
            <a:r>
              <a:rPr spc="-85" dirty="0"/>
              <a:t> </a:t>
            </a:r>
            <a:r>
              <a:rPr spc="-10" dirty="0"/>
              <a:t>Probe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"Is</a:t>
            </a:r>
            <a:r>
              <a:rPr sz="1600" b="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application</a:t>
            </a:r>
            <a:r>
              <a:rPr sz="1600" b="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ready</a:t>
            </a:r>
            <a:r>
              <a:rPr sz="1600" b="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600" b="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handle</a:t>
            </a:r>
            <a:r>
              <a:rPr sz="1600" b="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requests?"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59167" y="2639147"/>
            <a:ext cx="10189732" cy="2763152"/>
          </a:xfrm>
          <a:prstGeom prst="rect">
            <a:avLst/>
          </a:prstGeom>
        </p:spPr>
      </p:pic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Liveness</a:t>
            </a:r>
            <a:r>
              <a:rPr spc="-100" dirty="0"/>
              <a:t> </a:t>
            </a:r>
            <a:r>
              <a:rPr spc="-10" dirty="0"/>
              <a:t>Probe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"Does</a:t>
            </a:r>
            <a:r>
              <a:rPr sz="1600" b="0" spc="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600" b="0" spc="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application</a:t>
            </a:r>
            <a:r>
              <a:rPr sz="1600" b="0" spc="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still</a:t>
            </a:r>
            <a:r>
              <a:rPr sz="1600" b="0" spc="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function</a:t>
            </a:r>
            <a:r>
              <a:rPr sz="1600" b="0" spc="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without</a:t>
            </a:r>
            <a:r>
              <a:rPr sz="1600" b="0" spc="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errors?"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30545" y="2375600"/>
            <a:ext cx="8321379" cy="3521300"/>
          </a:xfrm>
          <a:prstGeom prst="rect">
            <a:avLst/>
          </a:prstGeom>
        </p:spPr>
      </p:pic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95" dirty="0"/>
              <a:t>Startup</a:t>
            </a:r>
            <a:r>
              <a:rPr spc="-95" dirty="0"/>
              <a:t> </a:t>
            </a:r>
            <a:r>
              <a:rPr spc="-10" dirty="0"/>
              <a:t>Probe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6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"Legacy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application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2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may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need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longer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7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start.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Hold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off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7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liveness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6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probing."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42867" y="2723533"/>
            <a:ext cx="9990201" cy="2458765"/>
          </a:xfrm>
          <a:prstGeom prst="rect">
            <a:avLst/>
          </a:prstGeom>
        </p:spPr>
      </p:pic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3 · PROBES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Liveness, Readiness &amp; Startup Probes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16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Probes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Kubernetes uses three probes to manage health: livenessProbe restarts a failed container, readinessProbe removes it from Service endpoints, startupProbe gives slow apps time to boot. CKAD tests all three handlers (httpGet, tcpSocket, exec) and timing.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Add HTTP readiness+liveness probes, trigger a liveness restart, add a TCP probe, then a startupProbe with exec.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readinessProbe: · k exec · startupProbe: · » Three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16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Liveness, Readiness &amp; Startup Probes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HTTP liveness + readiness probe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83337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8333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741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readinessProbe: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httpGet: {path: /, port: 80}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initialDelaySeconds: 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periodSeconds: 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livenessProbe: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httpGet: {path: /, port: 80}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initialDelaySeconds: 10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periodSeconds: 10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failureThreshold: 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40919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Trigger a liveness failure (watch RESTARTS climb)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4759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4759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5399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exec web-probes -- rm /usr/share/nginx/html/index.html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sleep 35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 web-probes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16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Liveness, Readiness &amp; Startup Probes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TCP socket probe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readinessProbe: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tcpSocket: {port: 6379}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periodSeconds: 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startupProbe for slow-starting apps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startupProbe: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exec: {command: ["cat", "/tmp/ready"]}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failureThreshold: 30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periodSeconds: 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Three handlers — httpGet, tcpSocket, exec. readinessProbe failure removes the Pod from Service endpoints without restarting it; livenessProbe failure restarts the container; startupProbe blocks the other two until the app is initialised.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16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Liveness, Readiness &amp; Startup Probes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Deleting the index page makes the liveness probe fail three times and the container restarts (RESTARTS increments), while the TCP and startup Pods reach READY 1/1.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TOPIC 2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Logging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kubectl logs — your first debugging tool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OBSERVABILITY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Reading Container Logs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Logs are whatever the container writes to stdout/stderr; the kubelet captures and serves them.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--tail=N for recent lines; -f to stream live (like tail -f).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--previous reads the prior terminated container — the key to diagnosing CrashLoopBackOff.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-c &lt;container&gt; selects one container; -l &lt;selector&gt; aggregates logs across matching Pods.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LOGGING · stdout/stderr → kubelet → kubectl logs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Where Logs Come From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56032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560320"/>
            <a:ext cx="306324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70048"/>
            <a:ext cx="2843784" cy="1627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 panose="020B0604020202020204"/>
              </a:rPr>
              <a:t>Pod</a:t>
            </a:r>
            <a:endParaRPr sz="1600" b="1">
              <a:solidFill>
                <a:srgbClr val="161B26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app + sidecar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write to stdout/stderr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3840480" y="3227832"/>
            <a:ext cx="731520" cy="402336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24942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 panose="020B0604020202020204"/>
              </a:rPr>
              <a:t>captured</a:t>
            </a:r>
            <a:endParaRPr sz="10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72000" y="256032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560320"/>
            <a:ext cx="3063240" cy="9144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670048"/>
            <a:ext cx="2843784" cy="1627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 panose="020B0604020202020204"/>
              </a:rPr>
              <a:t>Node</a:t>
            </a:r>
            <a:endParaRPr sz="1600" b="1">
              <a:solidFill>
                <a:srgbClr val="161B26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container runtime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/var/log/pods/…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7635240" y="3227832"/>
            <a:ext cx="731520" cy="402336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24942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 panose="020B0604020202020204"/>
              </a:rPr>
              <a:t>kubelet serves</a:t>
            </a:r>
            <a:endParaRPr sz="10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366760" y="256032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60" y="2560320"/>
            <a:ext cx="306324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2670048"/>
            <a:ext cx="2843784" cy="1627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 panose="020B0604020202020204"/>
              </a:rPr>
              <a:t>kubectl logs</a:t>
            </a:r>
            <a:endParaRPr sz="1600" b="1">
              <a:solidFill>
                <a:srgbClr val="161B26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-c &lt;name&gt; · -l &lt;sel&gt;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--previous · -f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Logs are whatever the container prints to </a:t>
            </a:r>
            <a:r>
              <a:rPr sz="1300" b="1">
                <a:solidFill>
                  <a:srgbClr val="161B26"/>
                </a:solidFill>
                <a:latin typeface="Arial" panose="020B0604020202020204"/>
              </a:rPr>
              <a:t>stdout/stderr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. Use </a:t>
            </a:r>
            <a:r>
              <a:rPr sz="1300" b="1">
                <a:solidFill>
                  <a:srgbClr val="161B26"/>
                </a:solidFill>
                <a:latin typeface="Arial" panose="020B0604020202020204"/>
              </a:rPr>
              <a:t>--previous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 for a crashed container.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3 · LOGGING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Container Logging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17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Logging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kubectl logs is the first debugging tool on the exam. Read logs from single and multi-container Pods, follow a live stream, retrieve logs from a crashed container, and aggregate logs across a Deployment.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Read and tail logs, stream with -f, recover crash logs with --previous, then aggregate by container and label.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logs · » `--tail=N`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17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Container Logging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Read recent lines and follow a live stream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noisy --tail=10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-f noisy &amp;        # -f streams like tail -f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kill %1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Retrieve logs from a crashed container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242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crasher --previous | head -5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2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Multi-container Pod logs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251960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51960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15968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multi -c app | head -3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multi -c sidecar | head -3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multi --all-containers=true --prefix=true | head -8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17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Container Logging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Aggregate logs across a Deployment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deployment/fleet --tail=3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-l app=fleet --prefix=true --tail=2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--tail=N for recent lines, -f to stream, --previous for crash loops, -c &lt;name&gt; for a specific container, -l &lt;selector&gt; to aggregate matching Pods. --prefix=true labels each line with [pod/container].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17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Container Logging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logs crasher --previous shows the message printed before the crash, and k logs -l app=fleet --prefix=true interleaves lines from all three Pods.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 panose="020B0604020202020204"/>
              </a:rPr>
              <a:t>Tea Break</a:t>
            </a:r>
            <a:endParaRPr sz="4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 panose="020B0604020202020204"/>
              </a:rPr>
              <a:t>15 minutes</a:t>
            </a:r>
            <a:endParaRPr sz="2200" b="1">
              <a:solidFill>
                <a:srgbClr val="10B981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TOPIC 3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Metrics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kubectl top &amp; the metrics-server add-on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MEASURE IT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Resource Usage at a Glance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kubectl top shows live CPU and memory for nodes and Pods — it requires metrics-server.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metrics-server scrapes each kubelet's cAdvisor and serves the aggregated Metrics API.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Sort with --sort-by=cpu / --sort-by=memory; span all namespaces with -A.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On Killercoda's self-signed certs, patch the Deployment with --kubelet-insecure-tls.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75" dirty="0"/>
              <a:t>What</a:t>
            </a:r>
            <a:r>
              <a:rPr spc="-105" dirty="0"/>
              <a:t> </a:t>
            </a:r>
            <a:r>
              <a:rPr dirty="0"/>
              <a:t>is</a:t>
            </a:r>
            <a:r>
              <a:rPr spc="-105" dirty="0"/>
              <a:t> </a:t>
            </a:r>
            <a:r>
              <a:rPr spc="130" dirty="0"/>
              <a:t>the</a:t>
            </a:r>
            <a:r>
              <a:rPr spc="-105" dirty="0"/>
              <a:t> </a:t>
            </a:r>
            <a:r>
              <a:rPr spc="70" dirty="0"/>
              <a:t>Metrics</a:t>
            </a:r>
            <a:r>
              <a:rPr spc="-105" dirty="0"/>
              <a:t> </a:t>
            </a:r>
            <a:r>
              <a:rPr spc="-10" dirty="0"/>
              <a:t>Server?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Cluster-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wide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resource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metrics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aggregator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0095" y="1813816"/>
            <a:ext cx="9877212" cy="18753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90170" indent="-351790" algn="just">
              <a:lnSpc>
                <a:spcPct val="113000"/>
              </a:lnSpc>
              <a:spcBef>
                <a:spcPts val="100"/>
              </a:spcBef>
              <a:buChar char="●"/>
              <a:tabLst>
                <a:tab pos="363855" algn="l"/>
                <a:tab pos="365760" algn="l"/>
              </a:tabLst>
            </a:pPr>
            <a:r>
              <a:rPr sz="1600" dirty="0">
                <a:latin typeface="Arial" panose="020B0604020202020204"/>
                <a:cs typeface="Arial" panose="020B0604020202020204"/>
              </a:rPr>
              <a:t>	Gathers</a:t>
            </a:r>
            <a:r>
              <a:rPr sz="16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resource</a:t>
            </a:r>
            <a:r>
              <a:rPr sz="16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consumption</a:t>
            </a:r>
            <a:r>
              <a:rPr sz="16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metrics</a:t>
            </a:r>
            <a:r>
              <a:rPr sz="16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on</a:t>
            </a:r>
            <a:r>
              <a:rPr sz="16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nodes,</a:t>
            </a:r>
            <a:r>
              <a:rPr sz="16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e.g.</a:t>
            </a:r>
            <a:r>
              <a:rPr sz="16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CPU</a:t>
            </a:r>
            <a:r>
              <a:rPr sz="16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and</a:t>
            </a:r>
            <a:r>
              <a:rPr sz="16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20" dirty="0">
                <a:latin typeface="Arial" panose="020B0604020202020204"/>
                <a:cs typeface="Arial" panose="020B0604020202020204"/>
              </a:rPr>
              <a:t>memory.</a:t>
            </a:r>
            <a:r>
              <a:rPr sz="16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The </a:t>
            </a:r>
            <a:r>
              <a:rPr sz="1600" dirty="0">
                <a:latin typeface="Arial" panose="020B0604020202020204"/>
                <a:cs typeface="Arial" panose="020B0604020202020204"/>
              </a:rPr>
              <a:t>kubelet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sends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those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metrics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to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the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Kubernetes</a:t>
            </a:r>
            <a:r>
              <a:rPr sz="1600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API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server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and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exposes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20" dirty="0">
                <a:latin typeface="Arial" panose="020B0604020202020204"/>
                <a:cs typeface="Arial" panose="020B0604020202020204"/>
              </a:rPr>
              <a:t>them </a:t>
            </a:r>
            <a:r>
              <a:rPr sz="1600" dirty="0">
                <a:latin typeface="Arial" panose="020B0604020202020204"/>
                <a:cs typeface="Arial" panose="020B0604020202020204"/>
              </a:rPr>
              <a:t>through</a:t>
            </a:r>
            <a:r>
              <a:rPr sz="16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the</a:t>
            </a:r>
            <a:r>
              <a:rPr sz="16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600" u="heavy" spc="-10" dirty="0">
                <a:solidFill>
                  <a:srgbClr val="D30020"/>
                </a:solidFill>
                <a:uFill>
                  <a:solidFill>
                    <a:srgbClr val="D30020"/>
                  </a:solidFill>
                </a:uFill>
                <a:latin typeface="Arial" panose="020B0604020202020204"/>
                <a:cs typeface="Arial" panose="020B0604020202020204"/>
                <a:hlinkClick r:id="rId1"/>
              </a:rPr>
              <a:t>Metrics</a:t>
            </a:r>
            <a:r>
              <a:rPr sz="1600" u="heavy" spc="-100" dirty="0">
                <a:solidFill>
                  <a:srgbClr val="D30020"/>
                </a:solidFill>
                <a:uFill>
                  <a:solidFill>
                    <a:srgbClr val="D30020"/>
                  </a:solidFill>
                </a:uFill>
                <a:latin typeface="Arial" panose="020B0604020202020204"/>
                <a:cs typeface="Arial" panose="020B0604020202020204"/>
                <a:hlinkClick r:id="rId1"/>
              </a:rPr>
              <a:t> </a:t>
            </a:r>
            <a:r>
              <a:rPr sz="1600" u="heavy" spc="-20" dirty="0">
                <a:solidFill>
                  <a:srgbClr val="D30020"/>
                </a:solidFill>
                <a:uFill>
                  <a:solidFill>
                    <a:srgbClr val="D30020"/>
                  </a:solidFill>
                </a:uFill>
                <a:latin typeface="Arial" panose="020B0604020202020204"/>
                <a:cs typeface="Arial" panose="020B0604020202020204"/>
                <a:hlinkClick r:id="rId1"/>
              </a:rPr>
              <a:t>API</a:t>
            </a:r>
            <a:r>
              <a:rPr sz="1600" spc="-20" dirty="0">
                <a:latin typeface="Arial" panose="020B0604020202020204"/>
                <a:cs typeface="Arial" panose="020B0604020202020204"/>
              </a:rPr>
              <a:t>.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585"/>
              </a:spcBef>
              <a:buFont typeface="Arial" panose="020B0604020202020204"/>
              <a:buChar char="●"/>
            </a:pPr>
            <a:endParaRPr sz="1600">
              <a:latin typeface="Arial" panose="020B0604020202020204"/>
              <a:cs typeface="Arial" panose="020B0604020202020204"/>
            </a:endParaRPr>
          </a:p>
          <a:p>
            <a:pPr marL="363855" indent="-351155">
              <a:lnSpc>
                <a:spcPct val="100000"/>
              </a:lnSpc>
              <a:spcBef>
                <a:spcPts val="5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 panose="020B0604020202020204"/>
                <a:cs typeface="Arial" panose="020B0604020202020204"/>
              </a:rPr>
              <a:t>The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metrics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server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stores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data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in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memory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and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does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not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persist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data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over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latin typeface="Arial" panose="020B0604020202020204"/>
                <a:cs typeface="Arial" panose="020B0604020202020204"/>
              </a:rPr>
              <a:t>time.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2883" y="4160533"/>
            <a:ext cx="3990168" cy="2240267"/>
          </a:xfrm>
          <a:prstGeom prst="rect">
            <a:avLst/>
          </a:prstGeom>
        </p:spPr>
      </p:pic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3 · METRICS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kubectl top and Metrics Server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18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Metrics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kubectl top shows real-time CPU and memory for nodes and Pods. It requires the metrics-server add-on. CKAD tests installing metrics-server, reading node/Pod metrics, and sorting by resource usage.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Install metrics-server, read node metrics, generate CPU load, then sort Pod metrics by CPU and memory.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kubectl apply · k top · k run · » `kubectl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18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kubectl top and Metrics Server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Install metrics-server (and trust kubelet certs on Killercoda)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apply -f https://github.com/kubernetes-sigs/metrics-server/releases/latest/download/components.yaml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patch -n kube-system deployment metrics-server --type=json -p='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[{"op":"add","path":"/spec/template/spec/containers/0/args/-","value":"--kubelet-insecure-tls"}]'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until kubectl top node 2&gt;/dev/null; do sleep 5; done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Top nodes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242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top node        # CPU cores/% and memory bytes/% per node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4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Generate load, then top Pods sorted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2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2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20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run cpu-burner --image=busybox -- sh -c 'while true; do :; done'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sleep 30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top pod --sort-by=cpu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top pod --sort-by=memory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top pod -A --sort-by=cpu | head -10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18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kubectl top and Metrics Server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kubectl top needs metrics-server running. --kubelet-insecure-tls is required on Killercoda's self-signed certs. cpu-burner should top the CPU sort; -A spans all namespaces.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18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kubectl top and Metrics Server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After ~30s, k top node reports CPU/memory and k top pod --sort-by=cpu lists cpu-burner at the top of the usage ranking.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TOPIC 4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Debugging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Diagnose and fix broken workloads under time pressure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TROUBLESHOOTING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The Three Failures You Will See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ImagePullBackOff — wrong image name/tag; confirm in describe → Events, then fix and recreate.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CrashLoopBackOff — container exits non-zero; read kubectl logs --previous.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OOMKilled — exceeded the memory limit; raise resources.limits.memory.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kubectl get events --sort-by=.lastTimestamp and kubectl debug (ephemeral container) are your fast tools.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70" dirty="0"/>
              <a:t>Common</a:t>
            </a:r>
            <a:r>
              <a:rPr spc="-75" dirty="0"/>
              <a:t> </a:t>
            </a:r>
            <a:r>
              <a:rPr dirty="0"/>
              <a:t>Pod</a:t>
            </a:r>
            <a:r>
              <a:rPr spc="-70" dirty="0"/>
              <a:t> </a:t>
            </a:r>
            <a:r>
              <a:rPr spc="-30" dirty="0"/>
              <a:t>Error</a:t>
            </a:r>
            <a:r>
              <a:rPr spc="-75" dirty="0"/>
              <a:t> </a:t>
            </a:r>
            <a:r>
              <a:rPr spc="65" dirty="0"/>
              <a:t>Statuses</a:t>
            </a:r>
            <a:endParaRPr spc="65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Poorly-</a:t>
            </a:r>
            <a:r>
              <a:rPr sz="1600" b="0" spc="1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documented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Kubernetes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7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docs,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encountered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often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practice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75825" y="3584143"/>
            <a:ext cx="10977033" cy="967740"/>
          </a:xfrm>
          <a:custGeom>
            <a:avLst/>
            <a:gdLst/>
            <a:ahLst/>
            <a:cxnLst/>
            <a:rect l="l" t="t" r="r" b="b"/>
            <a:pathLst>
              <a:path w="8232775" h="725804">
                <a:moveTo>
                  <a:pt x="8232648" y="0"/>
                </a:moveTo>
                <a:lnTo>
                  <a:pt x="4133075" y="0"/>
                </a:lnTo>
                <a:lnTo>
                  <a:pt x="2652052" y="0"/>
                </a:lnTo>
                <a:lnTo>
                  <a:pt x="0" y="0"/>
                </a:lnTo>
                <a:lnTo>
                  <a:pt x="0" y="725779"/>
                </a:lnTo>
                <a:lnTo>
                  <a:pt x="2652052" y="725779"/>
                </a:lnTo>
                <a:lnTo>
                  <a:pt x="4133075" y="725779"/>
                </a:lnTo>
                <a:lnTo>
                  <a:pt x="8232648" y="725779"/>
                </a:lnTo>
                <a:lnTo>
                  <a:pt x="8232648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97350" y="1404074"/>
          <a:ext cx="8323580" cy="29102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6840"/>
                <a:gridCol w="1480819"/>
                <a:gridCol w="4099559"/>
              </a:tblGrid>
              <a:tr h="55308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Status</a:t>
                      </a:r>
                      <a:endParaRPr sz="1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67005" marB="0">
                    <a:lnR w="9525">
                      <a:solidFill>
                        <a:srgbClr val="F3F3F3"/>
                      </a:solidFill>
                      <a:prstDash val="solid"/>
                    </a:lnR>
                    <a:lnB w="38100">
                      <a:solidFill>
                        <a:srgbClr val="660000"/>
                      </a:solidFill>
                      <a:prstDash val="solid"/>
                    </a:lnB>
                    <a:solidFill>
                      <a:srgbClr val="D30020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Root</a:t>
                      </a:r>
                      <a:r>
                        <a:rPr sz="1400" spc="-2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Cause</a:t>
                      </a:r>
                      <a:endParaRPr sz="1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67005" marB="0">
                    <a:lnL w="9525">
                      <a:solidFill>
                        <a:srgbClr val="F3F3F3"/>
                      </a:solidFill>
                      <a:prstDash val="solid"/>
                    </a:lnL>
                    <a:lnR w="9525">
                      <a:solidFill>
                        <a:srgbClr val="F3F3F3"/>
                      </a:solidFill>
                      <a:prstDash val="solid"/>
                    </a:lnR>
                    <a:lnB w="38100">
                      <a:solidFill>
                        <a:srgbClr val="660000"/>
                      </a:solidFill>
                      <a:prstDash val="solid"/>
                    </a:lnB>
                    <a:solidFill>
                      <a:srgbClr val="D30020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Potential</a:t>
                      </a:r>
                      <a:r>
                        <a:rPr sz="1400" spc="-4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Fix</a:t>
                      </a:r>
                      <a:endParaRPr sz="1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67005" marB="0">
                    <a:lnL w="9525">
                      <a:solidFill>
                        <a:srgbClr val="F3F3F3"/>
                      </a:solidFill>
                      <a:prstDash val="solid"/>
                    </a:lnL>
                    <a:lnR w="9525">
                      <a:solidFill>
                        <a:srgbClr val="F3F3F3"/>
                      </a:solidFill>
                      <a:prstDash val="solid"/>
                    </a:lnR>
                    <a:lnB w="38100">
                      <a:solidFill>
                        <a:srgbClr val="660000"/>
                      </a:solidFill>
                      <a:prstDash val="solid"/>
                    </a:lnB>
                    <a:solidFill>
                      <a:srgbClr val="D30020"/>
                    </a:solidFill>
                  </a:tcPr>
                </a:tc>
              </a:tr>
              <a:tr h="722630">
                <a:tc>
                  <a:txBody>
                    <a:bodyPr/>
                    <a:lstStyle/>
                    <a:p>
                      <a:pPr marL="90170">
                        <a:lnSpc>
                          <a:spcPts val="1430"/>
                        </a:lnSpc>
                        <a:spcBef>
                          <a:spcPts val="625"/>
                        </a:spcBef>
                      </a:pPr>
                      <a:r>
                        <a:rPr sz="1200" spc="-20" dirty="0">
                          <a:latin typeface="Courier New" panose="02070309020205020404"/>
                          <a:cs typeface="Courier New" panose="02070309020205020404"/>
                        </a:rPr>
                        <a:t>ImagePullBackOff</a:t>
                      </a:r>
                      <a:r>
                        <a:rPr sz="1200" spc="-26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200" spc="-35" dirty="0">
                          <a:latin typeface="Arial" panose="020B0604020202020204"/>
                          <a:cs typeface="Arial" panose="020B0604020202020204"/>
                        </a:rPr>
                        <a:t>or</a:t>
                      </a:r>
                      <a:endParaRPr sz="12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90170">
                        <a:lnSpc>
                          <a:spcPts val="1435"/>
                        </a:lnSpc>
                      </a:pPr>
                      <a:r>
                        <a:rPr sz="1200" spc="-10" dirty="0">
                          <a:latin typeface="Courier New" panose="02070309020205020404"/>
                          <a:cs typeface="Courier New" panose="02070309020205020404"/>
                        </a:rPr>
                        <a:t>ErrImagePull</a:t>
                      </a:r>
                      <a:endParaRPr sz="12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79375" marB="0">
                    <a:lnR w="9525">
                      <a:solidFill>
                        <a:srgbClr val="F3F3F3"/>
                      </a:solidFill>
                      <a:prstDash val="solid"/>
                    </a:lnR>
                    <a:lnT w="38100">
                      <a:solidFill>
                        <a:srgbClr val="66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725" marR="92075">
                        <a:lnSpc>
                          <a:spcPts val="1430"/>
                        </a:lnSpc>
                        <a:spcBef>
                          <a:spcPts val="680"/>
                        </a:spcBef>
                      </a:pP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Image</a:t>
                      </a:r>
                      <a:r>
                        <a:rPr sz="1200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could</a:t>
                      </a:r>
                      <a:r>
                        <a:rPr sz="1200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not</a:t>
                      </a:r>
                      <a:r>
                        <a:rPr sz="1200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spc="-25" dirty="0">
                          <a:latin typeface="Arial" panose="020B0604020202020204"/>
                          <a:cs typeface="Arial" panose="020B0604020202020204"/>
                        </a:rPr>
                        <a:t>be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pulled</a:t>
                      </a:r>
                      <a:r>
                        <a:rPr sz="1200" spc="-3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spc="-20" dirty="0">
                          <a:latin typeface="Arial" panose="020B0604020202020204"/>
                          <a:cs typeface="Arial" panose="020B0604020202020204"/>
                        </a:rPr>
                        <a:t>from</a:t>
                      </a:r>
                      <a:r>
                        <a:rPr sz="1200" spc="50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spc="-10" dirty="0">
                          <a:latin typeface="Arial" panose="020B0604020202020204"/>
                          <a:cs typeface="Arial" panose="020B0604020202020204"/>
                        </a:rPr>
                        <a:t>registry.</a:t>
                      </a:r>
                      <a:endParaRPr sz="1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86360" marB="0">
                    <a:lnL w="9525">
                      <a:solidFill>
                        <a:srgbClr val="F3F3F3"/>
                      </a:solidFill>
                      <a:prstDash val="solid"/>
                    </a:lnL>
                    <a:lnR w="9525">
                      <a:solidFill>
                        <a:srgbClr val="F3F3F3"/>
                      </a:solidFill>
                      <a:prstDash val="solid"/>
                    </a:lnR>
                    <a:lnT w="38100">
                      <a:solidFill>
                        <a:srgbClr val="66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725" marR="95885">
                        <a:lnSpc>
                          <a:spcPts val="1430"/>
                        </a:lnSpc>
                        <a:spcBef>
                          <a:spcPts val="680"/>
                        </a:spcBef>
                      </a:pP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Check</a:t>
                      </a:r>
                      <a:r>
                        <a:rPr sz="1200" spc="-3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correct</a:t>
                      </a:r>
                      <a:r>
                        <a:rPr sz="1200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image</a:t>
                      </a:r>
                      <a:r>
                        <a:rPr sz="1200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name,</a:t>
                      </a:r>
                      <a:r>
                        <a:rPr sz="1200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check</a:t>
                      </a:r>
                      <a:r>
                        <a:rPr sz="1200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that</a:t>
                      </a:r>
                      <a:r>
                        <a:rPr sz="1200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image</a:t>
                      </a:r>
                      <a:r>
                        <a:rPr sz="1200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name</a:t>
                      </a:r>
                      <a:r>
                        <a:rPr sz="1200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spc="-10" dirty="0">
                          <a:latin typeface="Arial" panose="020B0604020202020204"/>
                          <a:cs typeface="Arial" panose="020B0604020202020204"/>
                        </a:rPr>
                        <a:t>exists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in</a:t>
                      </a:r>
                      <a:r>
                        <a:rPr sz="1200" spc="-10" dirty="0">
                          <a:latin typeface="Arial" panose="020B0604020202020204"/>
                          <a:cs typeface="Arial" panose="020B0604020202020204"/>
                        </a:rPr>
                        <a:t> registry,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verify</a:t>
                      </a:r>
                      <a:r>
                        <a:rPr sz="1200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network</a:t>
                      </a:r>
                      <a:r>
                        <a:rPr sz="1200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access</a:t>
                      </a:r>
                      <a:r>
                        <a:rPr sz="1200" spc="-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from</a:t>
                      </a:r>
                      <a:r>
                        <a:rPr sz="1200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node</a:t>
                      </a:r>
                      <a:r>
                        <a:rPr sz="1200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to</a:t>
                      </a:r>
                      <a:r>
                        <a:rPr sz="1200" spc="-10" dirty="0">
                          <a:latin typeface="Arial" panose="020B0604020202020204"/>
                          <a:cs typeface="Arial" panose="020B0604020202020204"/>
                        </a:rPr>
                        <a:t> registry,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ensure</a:t>
                      </a:r>
                      <a:r>
                        <a:rPr sz="1200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proper</a:t>
                      </a:r>
                      <a:r>
                        <a:rPr sz="120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spc="-10" dirty="0">
                          <a:latin typeface="Arial" panose="020B0604020202020204"/>
                          <a:cs typeface="Arial" panose="020B0604020202020204"/>
                        </a:rPr>
                        <a:t>authentication.</a:t>
                      </a:r>
                      <a:endParaRPr sz="1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86360" marB="0">
                    <a:lnL w="9525">
                      <a:solidFill>
                        <a:srgbClr val="F3F3F3"/>
                      </a:solidFill>
                      <a:prstDash val="solid"/>
                    </a:lnL>
                    <a:lnR w="9525">
                      <a:solidFill>
                        <a:srgbClr val="F3F3F3"/>
                      </a:solidFill>
                      <a:prstDash val="solid"/>
                    </a:lnR>
                    <a:lnT w="38100">
                      <a:solidFill>
                        <a:srgbClr val="660000"/>
                      </a:solidFill>
                      <a:prstDash val="solid"/>
                    </a:lnT>
                  </a:tcPr>
                </a:tc>
              </a:tr>
              <a:tr h="7251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200" spc="-10" dirty="0">
                          <a:latin typeface="Courier New" panose="02070309020205020404"/>
                          <a:cs typeface="Courier New" panose="02070309020205020404"/>
                        </a:rPr>
                        <a:t>CrashLoopBackOff</a:t>
                      </a:r>
                      <a:endParaRPr sz="12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81915" marB="0"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 marR="143510">
                        <a:lnSpc>
                          <a:spcPts val="1430"/>
                        </a:lnSpc>
                        <a:spcBef>
                          <a:spcPts val="705"/>
                        </a:spcBef>
                      </a:pP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Application</a:t>
                      </a:r>
                      <a:r>
                        <a:rPr sz="1200" spc="-5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spc="-25" dirty="0">
                          <a:latin typeface="Arial" panose="020B0604020202020204"/>
                          <a:cs typeface="Arial" panose="020B0604020202020204"/>
                        </a:rPr>
                        <a:t>or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command</a:t>
                      </a:r>
                      <a:r>
                        <a:rPr sz="1200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run</a:t>
                      </a:r>
                      <a:r>
                        <a:rPr sz="1200" spc="-25" dirty="0">
                          <a:latin typeface="Arial" panose="020B0604020202020204"/>
                          <a:cs typeface="Arial" panose="020B0604020202020204"/>
                        </a:rPr>
                        <a:t> in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container</a:t>
                      </a:r>
                      <a:r>
                        <a:rPr sz="120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spc="-10" dirty="0">
                          <a:latin typeface="Arial" panose="020B0604020202020204"/>
                          <a:cs typeface="Arial" panose="020B0604020202020204"/>
                        </a:rPr>
                        <a:t>crashes.</a:t>
                      </a:r>
                      <a:endParaRPr sz="1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8953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 marR="163195">
                        <a:lnSpc>
                          <a:spcPts val="1430"/>
                        </a:lnSpc>
                        <a:spcBef>
                          <a:spcPts val="705"/>
                        </a:spcBef>
                      </a:pP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Check</a:t>
                      </a:r>
                      <a:r>
                        <a:rPr sz="1200" spc="-3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command</a:t>
                      </a:r>
                      <a:r>
                        <a:rPr sz="1200" spc="-3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executed</a:t>
                      </a:r>
                      <a:r>
                        <a:rPr sz="1200" spc="-3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in</a:t>
                      </a:r>
                      <a:r>
                        <a:rPr sz="1200" spc="-3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container,</a:t>
                      </a:r>
                      <a:r>
                        <a:rPr sz="1200" spc="-3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ensure</a:t>
                      </a:r>
                      <a:r>
                        <a:rPr sz="1200" spc="-3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spc="-20" dirty="0">
                          <a:latin typeface="Arial" panose="020B0604020202020204"/>
                          <a:cs typeface="Arial" panose="020B0604020202020204"/>
                        </a:rPr>
                        <a:t>that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image</a:t>
                      </a:r>
                      <a:r>
                        <a:rPr sz="1200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can</a:t>
                      </a:r>
                      <a:r>
                        <a:rPr sz="1200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properly</a:t>
                      </a:r>
                      <a:r>
                        <a:rPr sz="1200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execute</a:t>
                      </a:r>
                      <a:r>
                        <a:rPr sz="1200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(e.g.,</a:t>
                      </a:r>
                      <a:r>
                        <a:rPr sz="1200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by</a:t>
                      </a:r>
                      <a:r>
                        <a:rPr sz="1200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creating</a:t>
                      </a:r>
                      <a:r>
                        <a:rPr sz="1200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1200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spc="-10" dirty="0">
                          <a:latin typeface="Arial" panose="020B0604020202020204"/>
                          <a:cs typeface="Arial" panose="020B0604020202020204"/>
                        </a:rPr>
                        <a:t>container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with</a:t>
                      </a:r>
                      <a:r>
                        <a:rPr sz="120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Docker</a:t>
                      </a:r>
                      <a:r>
                        <a:rPr sz="1200" spc="-10" dirty="0">
                          <a:latin typeface="Arial" panose="020B0604020202020204"/>
                          <a:cs typeface="Arial" panose="020B0604020202020204"/>
                        </a:rPr>
                        <a:t> Engine).</a:t>
                      </a:r>
                      <a:endParaRPr sz="1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8953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</a:tr>
              <a:tr h="909319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200" spc="-10" dirty="0">
                          <a:latin typeface="Courier New" panose="02070309020205020404"/>
                          <a:cs typeface="Courier New" panose="02070309020205020404"/>
                        </a:rPr>
                        <a:t>CreateContainerConfigError</a:t>
                      </a:r>
                      <a:endParaRPr sz="12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81915" marB="0">
                    <a:lnR w="9525">
                      <a:solidFill>
                        <a:srgbClr val="F3F3F3"/>
                      </a:solidFill>
                      <a:prstDash val="solid"/>
                    </a:lnR>
                    <a:lnB w="9525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77165">
                        <a:lnSpc>
                          <a:spcPts val="1430"/>
                        </a:lnSpc>
                        <a:spcBef>
                          <a:spcPts val="705"/>
                        </a:spcBef>
                      </a:pP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ConfigMap</a:t>
                      </a:r>
                      <a:r>
                        <a:rPr sz="1200" spc="-4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spc="-25" dirty="0">
                          <a:latin typeface="Arial" panose="020B0604020202020204"/>
                          <a:cs typeface="Arial" panose="020B0604020202020204"/>
                        </a:rPr>
                        <a:t>or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Secret</a:t>
                      </a:r>
                      <a:r>
                        <a:rPr sz="1200" spc="-3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spc="-10" dirty="0">
                          <a:latin typeface="Arial" panose="020B0604020202020204"/>
                          <a:cs typeface="Arial" panose="020B0604020202020204"/>
                        </a:rPr>
                        <a:t>referenced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by</a:t>
                      </a:r>
                      <a:r>
                        <a:rPr sz="1200" spc="-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spc="-10" dirty="0">
                          <a:latin typeface="Arial" panose="020B0604020202020204"/>
                          <a:cs typeface="Arial" panose="020B0604020202020204"/>
                        </a:rPr>
                        <a:t>container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cannot</a:t>
                      </a:r>
                      <a:r>
                        <a:rPr sz="1200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be</a:t>
                      </a:r>
                      <a:r>
                        <a:rPr sz="1200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spc="-10" dirty="0">
                          <a:latin typeface="Arial" panose="020B0604020202020204"/>
                          <a:cs typeface="Arial" panose="020B0604020202020204"/>
                        </a:rPr>
                        <a:t>found.</a:t>
                      </a:r>
                      <a:endParaRPr sz="1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89535" marB="0">
                    <a:lnL w="9525">
                      <a:solidFill>
                        <a:srgbClr val="F3F3F3"/>
                      </a:solidFill>
                      <a:prstDash val="solid"/>
                    </a:lnL>
                    <a:lnR w="9525">
                      <a:solidFill>
                        <a:srgbClr val="F3F3F3"/>
                      </a:solidFill>
                      <a:prstDash val="solid"/>
                    </a:lnR>
                    <a:lnB w="9525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54940">
                        <a:lnSpc>
                          <a:spcPts val="1430"/>
                        </a:lnSpc>
                        <a:spcBef>
                          <a:spcPts val="705"/>
                        </a:spcBef>
                      </a:pP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Check</a:t>
                      </a:r>
                      <a:r>
                        <a:rPr sz="1200" spc="-3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correct</a:t>
                      </a:r>
                      <a:r>
                        <a:rPr sz="1200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name</a:t>
                      </a:r>
                      <a:r>
                        <a:rPr sz="1200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of</a:t>
                      </a:r>
                      <a:r>
                        <a:rPr sz="1200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the</a:t>
                      </a:r>
                      <a:r>
                        <a:rPr sz="1200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configuration</a:t>
                      </a:r>
                      <a:r>
                        <a:rPr sz="1200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object,</a:t>
                      </a:r>
                      <a:r>
                        <a:rPr sz="1200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verify</a:t>
                      </a:r>
                      <a:r>
                        <a:rPr sz="1200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spc="-25" dirty="0">
                          <a:latin typeface="Arial" panose="020B0604020202020204"/>
                          <a:cs typeface="Arial" panose="020B0604020202020204"/>
                        </a:rPr>
                        <a:t>the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existence</a:t>
                      </a:r>
                      <a:r>
                        <a:rPr sz="1200" spc="-3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of</a:t>
                      </a:r>
                      <a:r>
                        <a:rPr sz="1200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the</a:t>
                      </a:r>
                      <a:r>
                        <a:rPr sz="1200" spc="-3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configuration</a:t>
                      </a:r>
                      <a:r>
                        <a:rPr sz="1200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object</a:t>
                      </a:r>
                      <a:r>
                        <a:rPr sz="1200" spc="-3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in</a:t>
                      </a:r>
                      <a:r>
                        <a:rPr sz="1200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dirty="0">
                          <a:latin typeface="Arial" panose="020B0604020202020204"/>
                          <a:cs typeface="Arial" panose="020B0604020202020204"/>
                        </a:rPr>
                        <a:t>the</a:t>
                      </a:r>
                      <a:r>
                        <a:rPr sz="1200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spc="-10" dirty="0">
                          <a:latin typeface="Arial" panose="020B0604020202020204"/>
                          <a:cs typeface="Arial" panose="020B0604020202020204"/>
                        </a:rPr>
                        <a:t>namespace.</a:t>
                      </a:r>
                      <a:endParaRPr sz="1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89535" marB="0">
                    <a:lnL w="9525">
                      <a:solidFill>
                        <a:srgbClr val="F3F3F3"/>
                      </a:solidFill>
                      <a:prstDash val="solid"/>
                    </a:lnL>
                    <a:lnR w="9525">
                      <a:solidFill>
                        <a:srgbClr val="F3F3F3"/>
                      </a:solidFill>
                      <a:prstDash val="solid"/>
                    </a:lnR>
                    <a:lnB w="9525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3 · DEBUGGING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Debugging Pods and Events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19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Debugging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CKAD regularly includes broken workloads you must diagnose and fix under time pressure. Identify and resolve ImagePullBackOff, CrashLoopBackOff and OOMKilled, and use kubectl debug for live triage.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Diagnose three classic failures with describe/logs/events, then inject an ephemeral debug container.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describe · k get · » ImagePullBackOff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19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Debugging Pods and Events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ImagePullBackOff (wrong image name)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describe pod typo | tail -15      # 'Failed to pull image'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delete pod typo --force --grace-period=0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run typo --image=nginx:1.25       # corrected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CrashLoopBackOff (container exits non-zero)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describe pod crash | grep -A3 "Last State"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crash --previous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OOMKilled (exceeds memory limit)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describe pod hungry | grep -A4 "Last State"   # Reason: OOMKilled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fix: raise resources.limits.memory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19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Debugging Pods and Events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Cluster-wide events + ephemeral debug container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events -A --sort-by=.lastTimestamp | tail -20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events --field-selector type=Warning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debug crash -it --image=busybox --target=crash -- sh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ImagePullBackOff → wrong image/tag. CrashLoopBackOff → use logs --previous. OOMKilled → raise the memory limit. kubectl debug injects an ephemeral container sharing the target's namespaces — vital for distroless images with no shell.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19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Debugging Pods and Events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describe reveals the correct failure reason for each Pod (ImagePullBackOff, CrashLoopBackOff, OOMKilled), and k debug opens a shell inside the running Pod.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TOPIC 5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API Deprecations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Find the right apiVersion with kubectl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STAY CURRENT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APIs Change — Know How to Look Them Up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Old API versions are deprecated and eventually removed (e.g. extensions/v1beta1 Ingress, gone in 1.22).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kubectl api-resources shows the correct apiVersion for every resource in its APIVERSION column.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kubectl api-versions lists every version the cluster serves.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kubectl explain &lt;resource&gt;.&lt;field&gt; --recursive documents fields without leaving the terminal.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Listing</a:t>
            </a:r>
            <a:r>
              <a:rPr spc="-105" dirty="0"/>
              <a:t> </a:t>
            </a:r>
            <a:r>
              <a:rPr spc="105" dirty="0"/>
              <a:t>Available</a:t>
            </a:r>
            <a:r>
              <a:rPr spc="-100" dirty="0"/>
              <a:t> </a:t>
            </a:r>
            <a:r>
              <a:rPr spc="-50" dirty="0"/>
              <a:t>API</a:t>
            </a:r>
            <a:r>
              <a:rPr spc="-105" dirty="0"/>
              <a:t> </a:t>
            </a:r>
            <a:r>
              <a:rPr spc="50" dirty="0"/>
              <a:t>version</a:t>
            </a:r>
            <a:endParaRPr spc="5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-2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kubectl</a:t>
            </a:r>
            <a:r>
              <a:rPr sz="1600" b="0" spc="-635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0" spc="16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can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discover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-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API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version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useable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manifests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94891" y="1935875"/>
            <a:ext cx="5093600" cy="34756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66333" y="2000299"/>
            <a:ext cx="4941993" cy="3324013"/>
          </a:xfrm>
          <a:prstGeom prst="rect">
            <a:avLst/>
          </a:prstGeom>
          <a:solidFill>
            <a:srgbClr val="F6F6F7"/>
          </a:solidFill>
        </p:spPr>
        <p:txBody>
          <a:bodyPr vert="horz" wrap="square" lIns="0" tIns="160020" rIns="0" bIns="0" rtlCol="0">
            <a:spAutoFit/>
          </a:bodyPr>
          <a:lstStyle/>
          <a:p>
            <a:pPr marL="208280" marR="182245">
              <a:lnSpc>
                <a:spcPts val="1650"/>
              </a:lnSpc>
              <a:spcBef>
                <a:spcPts val="1260"/>
              </a:spcBef>
            </a:pPr>
            <a:r>
              <a:rPr sz="1400" b="1" dirty="0">
                <a:latin typeface="Courier New" panose="02070309020205020404"/>
                <a:cs typeface="Courier New" panose="02070309020205020404"/>
              </a:rPr>
              <a:t>$</a:t>
            </a:r>
            <a:r>
              <a:rPr sz="1400" b="1" spc="-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400" b="1" dirty="0">
                <a:latin typeface="Courier New" panose="02070309020205020404"/>
                <a:cs typeface="Courier New" panose="02070309020205020404"/>
              </a:rPr>
              <a:t>kubectl</a:t>
            </a:r>
            <a:r>
              <a:rPr sz="1400" b="1" spc="-10" dirty="0">
                <a:latin typeface="Courier New" panose="02070309020205020404"/>
                <a:cs typeface="Courier New" panose="02070309020205020404"/>
              </a:rPr>
              <a:t> api-versions </a:t>
            </a:r>
            <a:r>
              <a:rPr sz="1400" spc="-10" dirty="0">
                <a:latin typeface="Courier New" panose="02070309020205020404"/>
                <a:cs typeface="Courier New" panose="02070309020205020404"/>
              </a:rPr>
              <a:t>admissionregistration.k8s.io/v1 apiextensions.k8s.io/v1 apiregistration.k8s.io/v1 apps/v1 authentication.k8s.io/v1 authorization.k8s.io/v1 autoscaling/v1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208280">
              <a:lnSpc>
                <a:spcPts val="1585"/>
              </a:lnSpc>
            </a:pPr>
            <a:r>
              <a:rPr sz="1400" spc="-10" dirty="0">
                <a:latin typeface="Courier New" panose="02070309020205020404"/>
                <a:cs typeface="Courier New" panose="02070309020205020404"/>
              </a:rPr>
              <a:t>autoscaling/v2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208280">
              <a:lnSpc>
                <a:spcPts val="1665"/>
              </a:lnSpc>
            </a:pPr>
            <a:r>
              <a:rPr sz="1400" spc="-25" dirty="0">
                <a:latin typeface="Courier New" panose="02070309020205020404"/>
                <a:cs typeface="Courier New" panose="02070309020205020404"/>
              </a:rPr>
              <a:t>...</a:t>
            </a:r>
            <a:endParaRPr sz="1400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3 · API VERSIONS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API Deprecations &amp; kubectl explain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20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API Deprecations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The Kubernetes API evolves — old versions are deprecated and removed. CKAD tests kubectl explain, api-resources and api-versions. You must find the correct apiVersion for any resource on exam day using only kubectl.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List resources and versions, explore schemas with explain, detect a removed API, and look up the current version.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api-resources · k explain · Pod/Service/ConfigMap/Secret/SA/Quota/LimitRange -&gt; · » `kubectl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20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API Deprecations &amp; kubectl explain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List resources, groups and served versions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api-resources --api-group=apps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api-resources --api-group=batch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api-versions | sort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Explore a schema with explain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explain deployment.spec.strategy.rollingUpdate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explain pod.spec.containers.resources --recursive | head -30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Detect a removed API and find the replacement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extensions/v1beta1 Ingress was removed in 1.22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explain ingress --api-version=networking.k8s.io/v1 | head -10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api-resources | grep -i ingress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20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API Deprecations &amp; kubectl explain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Stable apiVersions to memorise (v1.35)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179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Pod/Service/ConfigMap/Secret/SA/Quota/LimitRange  -&gt; 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Deployment/StatefulSet/DaemonSet/ReplicaSet        -&gt; apps/v1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Job/CronJob                                        -&gt; batch/v1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Ingress/NetworkPolicy                              -&gt; networking.k8s.io/v1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Role/RoleBinding/ClusterRole(+Binding)             -&gt; rbac.authorization.k8s.io/v1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HorizontalPodAutoscaler                            -&gt; autoscaling/v2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529584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kubectl api-resources shows the correct apiVersion in its APIVERSION column — the exam-legal way to look it up. kubectl explain &lt;res&gt;.&lt;field&gt; documents fields without leaving the terminal.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20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API Deprecations &amp; kubectl explain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api-resources | grep -i ingress shows networking.k8s.io/v1, and k explain deployment.spec.strategy.rollingUpdate prints the maxSurge/maxUnavailable fields.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 panose="020B0604020202020204"/>
              </a:rPr>
              <a:t>Lunch Break</a:t>
            </a:r>
            <a:endParaRPr sz="4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6FEB"/>
                </a:solidFill>
                <a:latin typeface="Arial" panose="020B0604020202020204"/>
              </a:rPr>
              <a:t>1 hour</a:t>
            </a:r>
            <a:endParaRPr sz="2200" b="1">
              <a:solidFill>
                <a:srgbClr val="1F6FE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DOMAIN 4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Configuration &amp; Security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ConfigMaps · Secrets · securityContext · ServiceAccounts · RBAC · quotas (25%)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TOPIC 6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ConfigMaps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Inject non-secret configuration into Pods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EXTERNAL CONFIG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Decouple Config from Image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ConfigMap holds non-secret key/value data; create it with --from-literal, --from-file or --from-env-file.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Inject one key with configMapKeyRef, all keys with envFrom, or mount it as a file volume.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Volume-mounted ConfigMaps update live (~60s); env-var injections are fixed at Pod startup.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Keep config out of the image so the same image runs in every environment.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14" dirty="0"/>
              <a:t>Consuming</a:t>
            </a:r>
            <a:r>
              <a:rPr spc="-80" dirty="0"/>
              <a:t> </a:t>
            </a:r>
            <a:r>
              <a:rPr spc="95" dirty="0"/>
              <a:t>Configuration</a:t>
            </a:r>
            <a:r>
              <a:rPr spc="-80" dirty="0"/>
              <a:t> </a:t>
            </a:r>
            <a:r>
              <a:rPr spc="145" dirty="0"/>
              <a:t>Data</a:t>
            </a:r>
            <a:endParaRPr spc="145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Applicable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ConfigMap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6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Secret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96983" y="2076567"/>
            <a:ext cx="6314107" cy="4279200"/>
          </a:xfrm>
          <a:prstGeom prst="rect">
            <a:avLst/>
          </a:prstGeom>
        </p:spPr>
      </p:pic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14" dirty="0"/>
              <a:t>Consuming</a:t>
            </a:r>
            <a:r>
              <a:rPr spc="-100" dirty="0"/>
              <a:t> </a:t>
            </a:r>
            <a:r>
              <a:rPr spc="280" dirty="0"/>
              <a:t>a</a:t>
            </a:r>
            <a:r>
              <a:rPr spc="-95" dirty="0"/>
              <a:t> </a:t>
            </a:r>
            <a:r>
              <a:rPr spc="110" dirty="0"/>
              <a:t>ConfigMap</a:t>
            </a:r>
            <a:r>
              <a:rPr spc="-95" dirty="0"/>
              <a:t> </a:t>
            </a:r>
            <a:r>
              <a:rPr spc="120" dirty="0"/>
              <a:t>as</a:t>
            </a:r>
            <a:r>
              <a:rPr spc="-95" dirty="0"/>
              <a:t> </a:t>
            </a:r>
            <a:r>
              <a:rPr spc="80" dirty="0"/>
              <a:t>Environment</a:t>
            </a:r>
            <a:r>
              <a:rPr spc="-95" dirty="0"/>
              <a:t> </a:t>
            </a:r>
            <a:r>
              <a:rPr spc="95" dirty="0"/>
              <a:t>Variables</a:t>
            </a:r>
            <a:endParaRPr spc="95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Controlling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runtime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behavior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help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simple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values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5157" y="1890741"/>
            <a:ext cx="5392420" cy="3794760"/>
            <a:chOff x="645157" y="1890741"/>
            <a:chExt cx="5392420" cy="379476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45157" y="1890741"/>
              <a:ext cx="5391600" cy="3794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6599" y="1955165"/>
              <a:ext cx="5240020" cy="3642360"/>
            </a:xfrm>
            <a:custGeom>
              <a:avLst/>
              <a:gdLst/>
              <a:ahLst/>
              <a:cxnLst/>
              <a:rect l="l" t="t" r="r" b="b"/>
              <a:pathLst>
                <a:path w="3930015" h="2731770">
                  <a:moveTo>
                    <a:pt x="3929399" y="2731199"/>
                  </a:moveTo>
                  <a:lnTo>
                    <a:pt x="0" y="2731199"/>
                  </a:lnTo>
                  <a:lnTo>
                    <a:pt x="0" y="0"/>
                  </a:lnTo>
                  <a:lnTo>
                    <a:pt x="3929399" y="0"/>
                  </a:lnTo>
                  <a:lnTo>
                    <a:pt x="3929399" y="2731199"/>
                  </a:lnTo>
                  <a:close/>
                </a:path>
              </a:pathLst>
            </a:custGeom>
            <a:solidFill>
              <a:srgbClr val="F6F6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948565" y="2152551"/>
            <a:ext cx="4727787" cy="311234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2032000">
              <a:lnSpc>
                <a:spcPts val="1650"/>
              </a:lnSpc>
              <a:spcBef>
                <a:spcPts val="180"/>
              </a:spcBef>
            </a:pP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apiVersion:</a:t>
            </a:r>
            <a:r>
              <a:rPr sz="1400" b="1" spc="-5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25" dirty="0">
                <a:latin typeface="Courier New" panose="02070309020205020404"/>
                <a:cs typeface="Courier New" panose="02070309020205020404"/>
              </a:rPr>
              <a:t>v1 </a:t>
            </a: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kind:</a:t>
            </a:r>
            <a:r>
              <a:rPr sz="1400" b="1" spc="-2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25" dirty="0">
                <a:latin typeface="Courier New" panose="02070309020205020404"/>
                <a:cs typeface="Courier New" panose="02070309020205020404"/>
              </a:rPr>
              <a:t>Pod </a:t>
            </a:r>
            <a:r>
              <a:rPr sz="14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metadata: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226060">
              <a:lnSpc>
                <a:spcPts val="1585"/>
              </a:lnSpc>
            </a:pP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name:</a:t>
            </a:r>
            <a:r>
              <a:rPr sz="1400" b="1" spc="-2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10" dirty="0">
                <a:latin typeface="Courier New" panose="02070309020205020404"/>
                <a:cs typeface="Courier New" panose="02070309020205020404"/>
              </a:rPr>
              <a:t>backend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1650"/>
              </a:lnSpc>
            </a:pPr>
            <a:r>
              <a:rPr sz="14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spec: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226060">
              <a:lnSpc>
                <a:spcPts val="1650"/>
              </a:lnSpc>
            </a:pPr>
            <a:r>
              <a:rPr sz="14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containers: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226060">
              <a:lnSpc>
                <a:spcPts val="1650"/>
              </a:lnSpc>
            </a:pP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-</a:t>
            </a:r>
            <a:r>
              <a:rPr sz="1400" b="1" spc="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image:</a:t>
            </a:r>
            <a:r>
              <a:rPr sz="1400" b="1" spc="1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10" dirty="0">
                <a:latin typeface="Courier New" panose="02070309020205020404"/>
                <a:cs typeface="Courier New" panose="02070309020205020404"/>
              </a:rPr>
              <a:t>bmuschko/web-app:1.0.1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439420">
              <a:lnSpc>
                <a:spcPts val="1650"/>
              </a:lnSpc>
            </a:pP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name:</a:t>
            </a:r>
            <a:r>
              <a:rPr sz="1400" b="1" spc="-2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10" dirty="0">
                <a:latin typeface="Courier New" panose="02070309020205020404"/>
                <a:cs typeface="Courier New" panose="02070309020205020404"/>
              </a:rPr>
              <a:t>backend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439420">
              <a:lnSpc>
                <a:spcPts val="1650"/>
              </a:lnSpc>
            </a:pPr>
            <a:r>
              <a:rPr sz="14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envFrom: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866140" marR="1071880" indent="-426720">
              <a:lnSpc>
                <a:spcPts val="1650"/>
              </a:lnSpc>
              <a:spcBef>
                <a:spcPts val="65"/>
              </a:spcBef>
            </a:pP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-</a:t>
            </a:r>
            <a:r>
              <a:rPr sz="1400" b="1" spc="-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configMapRef: </a:t>
            </a: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name:</a:t>
            </a:r>
            <a:r>
              <a:rPr sz="14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10" dirty="0">
                <a:latin typeface="Courier New" panose="02070309020205020404"/>
                <a:cs typeface="Courier New" panose="02070309020205020404"/>
              </a:rPr>
              <a:t>db-config</a:t>
            </a:r>
            <a:endParaRPr sz="1400">
              <a:latin typeface="Courier New" panose="02070309020205020404"/>
              <a:cs typeface="Courier New" panose="02070309020205020404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88157" y="1890741"/>
            <a:ext cx="5075200" cy="14404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759599" y="1955167"/>
            <a:ext cx="4923367" cy="1288625"/>
          </a:xfrm>
          <a:prstGeom prst="rect">
            <a:avLst/>
          </a:prstGeom>
          <a:solidFill>
            <a:srgbClr val="F6F6F7"/>
          </a:solidFill>
        </p:spPr>
        <p:txBody>
          <a:bodyPr vert="horz" wrap="square" lIns="0" tIns="124460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980"/>
              </a:spcBef>
            </a:pPr>
            <a:r>
              <a:rPr sz="1300" b="1" dirty="0">
                <a:latin typeface="Courier New" panose="02070309020205020404"/>
                <a:cs typeface="Courier New" panose="02070309020205020404"/>
              </a:rPr>
              <a:t>$</a:t>
            </a:r>
            <a:r>
              <a:rPr sz="1300" b="1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300" b="1" dirty="0">
                <a:latin typeface="Courier New" panose="02070309020205020404"/>
                <a:cs typeface="Courier New" panose="02070309020205020404"/>
              </a:rPr>
              <a:t>kubectl</a:t>
            </a:r>
            <a:r>
              <a:rPr sz="1300" b="1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300" b="1" dirty="0">
                <a:latin typeface="Courier New" panose="02070309020205020404"/>
                <a:cs typeface="Courier New" panose="02070309020205020404"/>
              </a:rPr>
              <a:t>exec</a:t>
            </a:r>
            <a:r>
              <a:rPr sz="1300" b="1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300" b="1" spc="-10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300" b="1" dirty="0">
                <a:latin typeface="Courier New" panose="02070309020205020404"/>
                <a:cs typeface="Courier New" panose="02070309020205020404"/>
              </a:rPr>
              <a:t>it</a:t>
            </a:r>
            <a:r>
              <a:rPr sz="1300" b="1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300" b="1" dirty="0">
                <a:latin typeface="Courier New" panose="02070309020205020404"/>
                <a:cs typeface="Courier New" panose="02070309020205020404"/>
              </a:rPr>
              <a:t>backend</a:t>
            </a:r>
            <a:r>
              <a:rPr sz="1300" b="1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300" b="1" spc="-10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300" b="1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300" b="1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300" b="1" spc="-25" dirty="0">
                <a:latin typeface="Courier New" panose="02070309020205020404"/>
                <a:cs typeface="Courier New" panose="02070309020205020404"/>
              </a:rPr>
              <a:t>env</a:t>
            </a:r>
            <a:endParaRPr sz="13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48200" y="2401332"/>
            <a:ext cx="3000587" cy="597745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5725">
              <a:lnSpc>
                <a:spcPts val="1480"/>
              </a:lnSpc>
            </a:pPr>
            <a:r>
              <a:rPr sz="1300" spc="-10" dirty="0">
                <a:latin typeface="Courier New" panose="02070309020205020404"/>
                <a:cs typeface="Courier New" panose="02070309020205020404"/>
              </a:rPr>
              <a:t>DB_HOST=mysql-service</a:t>
            </a:r>
            <a:endParaRPr sz="1300">
              <a:latin typeface="Courier New" panose="02070309020205020404"/>
              <a:cs typeface="Courier New" panose="02070309020205020404"/>
            </a:endParaRPr>
          </a:p>
          <a:p>
            <a:pPr marL="85725">
              <a:lnSpc>
                <a:spcPct val="100000"/>
              </a:lnSpc>
              <a:spcBef>
                <a:spcPts val="15"/>
              </a:spcBef>
            </a:pPr>
            <a:r>
              <a:rPr sz="1300" spc="-10" dirty="0">
                <a:latin typeface="Courier New" panose="02070309020205020404"/>
                <a:cs typeface="Courier New" panose="02070309020205020404"/>
              </a:rPr>
              <a:t>DB_USER=backend</a:t>
            </a:r>
            <a:endParaRPr sz="13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413100" y="3215563"/>
            <a:ext cx="6822440" cy="2150533"/>
            <a:chOff x="1413100" y="3215563"/>
            <a:chExt cx="6822440" cy="2150533"/>
          </a:xfrm>
        </p:grpSpPr>
        <p:sp>
          <p:nvSpPr>
            <p:cNvPr id="11" name="object 11"/>
            <p:cNvSpPr/>
            <p:nvPr/>
          </p:nvSpPr>
          <p:spPr>
            <a:xfrm>
              <a:off x="4592500" y="3343521"/>
              <a:ext cx="3588173" cy="1803400"/>
            </a:xfrm>
            <a:custGeom>
              <a:avLst/>
              <a:gdLst/>
              <a:ahLst/>
              <a:cxnLst/>
              <a:rect l="l" t="t" r="r" b="b"/>
              <a:pathLst>
                <a:path w="2691129" h="1352550">
                  <a:moveTo>
                    <a:pt x="0" y="1352408"/>
                  </a:moveTo>
                  <a:lnTo>
                    <a:pt x="2691126" y="1352408"/>
                  </a:lnTo>
                  <a:lnTo>
                    <a:pt x="2691126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26017" y="3215563"/>
              <a:ext cx="109301" cy="14116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25800" y="4405039"/>
              <a:ext cx="2902373" cy="948267"/>
            </a:xfrm>
            <a:custGeom>
              <a:avLst/>
              <a:gdLst/>
              <a:ahLst/>
              <a:cxnLst/>
              <a:rect l="l" t="t" r="r" b="b"/>
              <a:pathLst>
                <a:path w="2176780" h="711200">
                  <a:moveTo>
                    <a:pt x="0" y="0"/>
                  </a:moveTo>
                  <a:lnTo>
                    <a:pt x="2176499" y="0"/>
                  </a:lnTo>
                  <a:lnTo>
                    <a:pt x="2176499" y="710699"/>
                  </a:lnTo>
                  <a:lnTo>
                    <a:pt x="0" y="7106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3 · CONFIGMAPS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ConfigMaps — Env &amp; Volume Injection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21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ConfigMaps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ConfigMaps inject non-secret configuration into Pods. CKAD tests all three injection styles: a single env var (configMapKeyRef), bulk env vars (envFrom), and file-based volume mounts — and that only file mounts update live.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Create ConfigMaps three ways, inject one key, inject all keys with envFrom, mount as files, then update live.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create · env: · envFrom: · volumeMounts: · » Creation: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21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ConfigMaps — Env &amp; Volume Injection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Create ConfigMaps three ways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configmap app-cfg --from-literal=COLOR=blue --from-literal=GREETING=hello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configmap app-conf --from-file=app.conf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configmap app-env  --from-env-file=env.list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Inject a single key as an env var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env: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name: COLOR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valueFrom: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configMapKeyRef: {name: app-cfg, key: COLOR}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Inject all keys with envFrom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81431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1431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878324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envFrom: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configMapRef: {name: app-cfg}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configMapRef: {name: app-env}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21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ConfigMaps — Env &amp; Volume Injection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Mount a ConfigMap as a file volume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volumeMounts: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{name: cfg, mountPath: /etc/app}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volumes: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name: cfg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configMap: {name: app-conf}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Creation: --from-literal, --from-file, --from-env-file. Consumption: configMapKeyRef (one key), envFrom (all keys), volume mount (file per key). Volume-mounted ConfigMaps update live (~60s); env-var injections are fixed at Pod startup and need a restart.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21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ConfigMaps — Env &amp; Volume Injection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The single-key Pod logs COLOR=blue, the envFrom Pod shows all four variables, and the mounted ConfigMap appears as files under /etc/app.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TOPIC 7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Secrets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Sensitive configuration, guarded by RBAC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SENSITIVE DATA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Secrets vs ConfigMaps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Secrets work like ConfigMaps but values are base64-encoded and access is more tightly controlled.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Types: generic, tls (kubernetes.io/tls) and docker-registry (for imagePullSecrets).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Inject with envFrom: secretRef (all keys) or secretKeyRef (one key); mount with defaultMode: 0400.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Base64 is not encryption — restrict access with RBAC and enable encryption at rest.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14" dirty="0"/>
              <a:t>Consuming</a:t>
            </a:r>
            <a:r>
              <a:rPr spc="-95" dirty="0"/>
              <a:t> </a:t>
            </a:r>
            <a:r>
              <a:rPr spc="280" dirty="0"/>
              <a:t>a</a:t>
            </a:r>
            <a:r>
              <a:rPr spc="-95" dirty="0"/>
              <a:t> </a:t>
            </a:r>
            <a:r>
              <a:rPr spc="60" dirty="0"/>
              <a:t>Secret</a:t>
            </a:r>
            <a:r>
              <a:rPr spc="-95" dirty="0"/>
              <a:t> </a:t>
            </a:r>
            <a:r>
              <a:rPr spc="120" dirty="0"/>
              <a:t>as</a:t>
            </a:r>
            <a:r>
              <a:rPr spc="-95" dirty="0"/>
              <a:t> </a:t>
            </a:r>
            <a:r>
              <a:rPr spc="80" dirty="0"/>
              <a:t>Environment</a:t>
            </a:r>
            <a:r>
              <a:rPr spc="-95" dirty="0"/>
              <a:t> </a:t>
            </a:r>
            <a:r>
              <a:rPr spc="95" dirty="0"/>
              <a:t>Variables</a:t>
            </a:r>
            <a:endParaRPr spc="95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Accessed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values</a:t>
            </a:r>
            <a:r>
              <a:rPr sz="1600" b="0" spc="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1600" b="0" spc="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base64-decoded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5157" y="1890741"/>
            <a:ext cx="5392420" cy="3794760"/>
            <a:chOff x="645157" y="1890741"/>
            <a:chExt cx="5392420" cy="379476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45157" y="1890741"/>
              <a:ext cx="5391600" cy="3794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6599" y="1955165"/>
              <a:ext cx="5240020" cy="3642360"/>
            </a:xfrm>
            <a:custGeom>
              <a:avLst/>
              <a:gdLst/>
              <a:ahLst/>
              <a:cxnLst/>
              <a:rect l="l" t="t" r="r" b="b"/>
              <a:pathLst>
                <a:path w="3930015" h="2731770">
                  <a:moveTo>
                    <a:pt x="3929399" y="2731199"/>
                  </a:moveTo>
                  <a:lnTo>
                    <a:pt x="0" y="2731199"/>
                  </a:lnTo>
                  <a:lnTo>
                    <a:pt x="0" y="0"/>
                  </a:lnTo>
                  <a:lnTo>
                    <a:pt x="3929399" y="0"/>
                  </a:lnTo>
                  <a:lnTo>
                    <a:pt x="3929399" y="2731199"/>
                  </a:lnTo>
                  <a:close/>
                </a:path>
              </a:pathLst>
            </a:custGeom>
            <a:solidFill>
              <a:srgbClr val="F6F6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948565" y="2152551"/>
            <a:ext cx="4727787" cy="227414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2032000">
              <a:lnSpc>
                <a:spcPts val="1650"/>
              </a:lnSpc>
              <a:spcBef>
                <a:spcPts val="180"/>
              </a:spcBef>
            </a:pP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apiVersion:</a:t>
            </a:r>
            <a:r>
              <a:rPr sz="1400" b="1" spc="-5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25" dirty="0">
                <a:latin typeface="Courier New" panose="02070309020205020404"/>
                <a:cs typeface="Courier New" panose="02070309020205020404"/>
              </a:rPr>
              <a:t>v1 </a:t>
            </a: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kind:</a:t>
            </a:r>
            <a:r>
              <a:rPr sz="1400" b="1" spc="-2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25" dirty="0">
                <a:latin typeface="Courier New" panose="02070309020205020404"/>
                <a:cs typeface="Courier New" panose="02070309020205020404"/>
              </a:rPr>
              <a:t>Pod </a:t>
            </a:r>
            <a:r>
              <a:rPr sz="14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metadata: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226060">
              <a:lnSpc>
                <a:spcPts val="1585"/>
              </a:lnSpc>
            </a:pP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name:</a:t>
            </a:r>
            <a:r>
              <a:rPr sz="1400" b="1" spc="-2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10" dirty="0">
                <a:latin typeface="Courier New" panose="02070309020205020404"/>
                <a:cs typeface="Courier New" panose="02070309020205020404"/>
              </a:rPr>
              <a:t>backend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1650"/>
              </a:lnSpc>
            </a:pPr>
            <a:r>
              <a:rPr sz="14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spec: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226060">
              <a:lnSpc>
                <a:spcPts val="1650"/>
              </a:lnSpc>
            </a:pPr>
            <a:r>
              <a:rPr sz="14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containers: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226060">
              <a:lnSpc>
                <a:spcPts val="1650"/>
              </a:lnSpc>
            </a:pP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-</a:t>
            </a:r>
            <a:r>
              <a:rPr sz="1400" b="1" spc="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image:</a:t>
            </a:r>
            <a:r>
              <a:rPr sz="1400" b="1" spc="1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10" dirty="0">
                <a:latin typeface="Courier New" panose="02070309020205020404"/>
                <a:cs typeface="Courier New" panose="02070309020205020404"/>
              </a:rPr>
              <a:t>bmuschko/web-app:1.0.1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439420">
              <a:lnSpc>
                <a:spcPts val="1665"/>
              </a:lnSpc>
            </a:pP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name:</a:t>
            </a:r>
            <a:r>
              <a:rPr sz="1400" b="1" spc="-2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10" dirty="0">
                <a:latin typeface="Courier New" panose="02070309020205020404"/>
                <a:cs typeface="Courier New" panose="02070309020205020404"/>
              </a:rPr>
              <a:t>backend</a:t>
            </a:r>
            <a:endParaRPr sz="1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17527" y="4387751"/>
            <a:ext cx="2594185" cy="8771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65"/>
              </a:lnSpc>
              <a:spcBef>
                <a:spcPts val="100"/>
              </a:spcBef>
            </a:pPr>
            <a:r>
              <a:rPr sz="14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envFrom: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-</a:t>
            </a:r>
            <a:r>
              <a:rPr sz="1400" b="1" spc="-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secretRef: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439420">
              <a:lnSpc>
                <a:spcPts val="1665"/>
              </a:lnSpc>
            </a:pP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name:</a:t>
            </a:r>
            <a:r>
              <a:rPr sz="1400" b="1" spc="-2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10" dirty="0">
                <a:latin typeface="Courier New" panose="02070309020205020404"/>
                <a:cs typeface="Courier New" panose="02070309020205020404"/>
              </a:rPr>
              <a:t>mysecret</a:t>
            </a:r>
            <a:endParaRPr sz="1400">
              <a:latin typeface="Courier New" panose="02070309020205020404"/>
              <a:cs typeface="Courier New" panose="02070309020205020404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88157" y="1890741"/>
            <a:ext cx="5064800" cy="11500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759599" y="1955167"/>
            <a:ext cx="4913205" cy="998220"/>
          </a:xfrm>
          <a:prstGeom prst="rect">
            <a:avLst/>
          </a:prstGeom>
          <a:solidFill>
            <a:srgbClr val="F6F6F7"/>
          </a:solidFill>
        </p:spPr>
        <p:txBody>
          <a:bodyPr vert="horz" wrap="square" lIns="0" tIns="124460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980"/>
              </a:spcBef>
            </a:pPr>
            <a:r>
              <a:rPr sz="1300" b="1" dirty="0">
                <a:latin typeface="Courier New" panose="02070309020205020404"/>
                <a:cs typeface="Courier New" panose="02070309020205020404"/>
              </a:rPr>
              <a:t>$</a:t>
            </a:r>
            <a:r>
              <a:rPr sz="1300" b="1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300" b="1" dirty="0">
                <a:latin typeface="Courier New" panose="02070309020205020404"/>
                <a:cs typeface="Courier New" panose="02070309020205020404"/>
              </a:rPr>
              <a:t>kubectl</a:t>
            </a:r>
            <a:r>
              <a:rPr sz="1300" b="1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300" b="1" dirty="0">
                <a:latin typeface="Courier New" panose="02070309020205020404"/>
                <a:cs typeface="Courier New" panose="02070309020205020404"/>
              </a:rPr>
              <a:t>exec</a:t>
            </a:r>
            <a:r>
              <a:rPr sz="1300" b="1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300" b="1" spc="-10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300" b="1" dirty="0">
                <a:latin typeface="Courier New" panose="02070309020205020404"/>
                <a:cs typeface="Courier New" panose="02070309020205020404"/>
              </a:rPr>
              <a:t>it</a:t>
            </a:r>
            <a:r>
              <a:rPr sz="1300" b="1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300" b="1" dirty="0">
                <a:latin typeface="Courier New" panose="02070309020205020404"/>
                <a:cs typeface="Courier New" panose="02070309020205020404"/>
              </a:rPr>
              <a:t>backend</a:t>
            </a:r>
            <a:r>
              <a:rPr sz="1300" b="1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300" b="1" spc="-10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300" b="1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300" b="1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300" b="1" spc="-25" dirty="0">
                <a:latin typeface="Courier New" panose="02070309020205020404"/>
                <a:cs typeface="Courier New" panose="02070309020205020404"/>
              </a:rPr>
              <a:t>env</a:t>
            </a:r>
            <a:endParaRPr sz="13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94100" y="2432991"/>
            <a:ext cx="1452880" cy="284480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0800">
              <a:lnSpc>
                <a:spcPts val="1295"/>
              </a:lnSpc>
            </a:pPr>
            <a:r>
              <a:rPr sz="1300" spc="-10" dirty="0">
                <a:latin typeface="Courier New" panose="02070309020205020404"/>
                <a:cs typeface="Courier New" panose="02070309020205020404"/>
              </a:rPr>
              <a:t>pwd=s3cre!</a:t>
            </a:r>
            <a:endParaRPr sz="13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413267" y="3215563"/>
            <a:ext cx="6588760" cy="2181013"/>
            <a:chOff x="1413267" y="3215563"/>
            <a:chExt cx="6588760" cy="2181013"/>
          </a:xfrm>
        </p:grpSpPr>
        <p:sp>
          <p:nvSpPr>
            <p:cNvPr id="12" name="object 12"/>
            <p:cNvSpPr/>
            <p:nvPr/>
          </p:nvSpPr>
          <p:spPr>
            <a:xfrm>
              <a:off x="4359033" y="3343521"/>
              <a:ext cx="3588173" cy="1803400"/>
            </a:xfrm>
            <a:custGeom>
              <a:avLst/>
              <a:gdLst/>
              <a:ahLst/>
              <a:cxnLst/>
              <a:rect l="l" t="t" r="r" b="b"/>
              <a:pathLst>
                <a:path w="2691129" h="1352550">
                  <a:moveTo>
                    <a:pt x="0" y="1352408"/>
                  </a:moveTo>
                  <a:lnTo>
                    <a:pt x="2691126" y="1352408"/>
                  </a:lnTo>
                  <a:lnTo>
                    <a:pt x="2691126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92551" y="3215563"/>
              <a:ext cx="109301" cy="14116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425967" y="4435565"/>
              <a:ext cx="2786380" cy="948267"/>
            </a:xfrm>
            <a:custGeom>
              <a:avLst/>
              <a:gdLst/>
              <a:ahLst/>
              <a:cxnLst/>
              <a:rect l="l" t="t" r="r" b="b"/>
              <a:pathLst>
                <a:path w="2089785" h="711200">
                  <a:moveTo>
                    <a:pt x="0" y="0"/>
                  </a:moveTo>
                  <a:lnTo>
                    <a:pt x="2089499" y="0"/>
                  </a:lnTo>
                  <a:lnTo>
                    <a:pt x="2089499" y="710699"/>
                  </a:lnTo>
                  <a:lnTo>
                    <a:pt x="0" y="7106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14" dirty="0"/>
              <a:t>Consuming</a:t>
            </a:r>
            <a:r>
              <a:rPr spc="-105" dirty="0"/>
              <a:t> </a:t>
            </a:r>
            <a:r>
              <a:rPr spc="280" dirty="0"/>
              <a:t>a</a:t>
            </a:r>
            <a:r>
              <a:rPr spc="-95" dirty="0"/>
              <a:t> </a:t>
            </a:r>
            <a:r>
              <a:rPr spc="60" dirty="0"/>
              <a:t>Secret</a:t>
            </a:r>
            <a:r>
              <a:rPr spc="-95" dirty="0"/>
              <a:t> </a:t>
            </a:r>
            <a:r>
              <a:rPr spc="120" dirty="0"/>
              <a:t>as</a:t>
            </a:r>
            <a:r>
              <a:rPr spc="-95" dirty="0"/>
              <a:t> </a:t>
            </a:r>
            <a:r>
              <a:rPr spc="280" dirty="0"/>
              <a:t>a</a:t>
            </a:r>
            <a:r>
              <a:rPr spc="-90" dirty="0"/>
              <a:t> </a:t>
            </a:r>
            <a:r>
              <a:rPr spc="114" dirty="0"/>
              <a:t>Volume</a:t>
            </a:r>
            <a:endParaRPr spc="114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 </a:t>
            </a:r>
            <a:r>
              <a:rPr sz="1600" b="0" spc="1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good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choice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processing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machine-</a:t>
            </a:r>
            <a:r>
              <a:rPr sz="1600" b="0" spc="1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readable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configuration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file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5157" y="1890741"/>
            <a:ext cx="4715933" cy="4213013"/>
            <a:chOff x="645157" y="1890741"/>
            <a:chExt cx="4715933" cy="4213013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45157" y="1890741"/>
              <a:ext cx="4715600" cy="42128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6599" y="1955165"/>
              <a:ext cx="4563533" cy="4060613"/>
            </a:xfrm>
            <a:custGeom>
              <a:avLst/>
              <a:gdLst/>
              <a:ahLst/>
              <a:cxnLst/>
              <a:rect l="l" t="t" r="r" b="b"/>
              <a:pathLst>
                <a:path w="3422650" h="3045460">
                  <a:moveTo>
                    <a:pt x="3422399" y="3045299"/>
                  </a:moveTo>
                  <a:lnTo>
                    <a:pt x="0" y="3045299"/>
                  </a:lnTo>
                  <a:lnTo>
                    <a:pt x="0" y="0"/>
                  </a:lnTo>
                  <a:lnTo>
                    <a:pt x="3422399" y="0"/>
                  </a:lnTo>
                  <a:lnTo>
                    <a:pt x="3422399" y="3045299"/>
                  </a:lnTo>
                  <a:close/>
                </a:path>
              </a:pathLst>
            </a:custGeom>
            <a:solidFill>
              <a:srgbClr val="F6F6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1109980">
              <a:lnSpc>
                <a:spcPct val="102000"/>
              </a:lnSpc>
              <a:spcBef>
                <a:spcPts val="70"/>
              </a:spcBef>
            </a:pPr>
            <a:r>
              <a:rPr dirty="0"/>
              <a:t>apiVersion:</a:t>
            </a:r>
            <a:r>
              <a:rPr spc="-130" dirty="0"/>
              <a:t> </a:t>
            </a:r>
            <a:r>
              <a:rPr b="0" spc="-25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v1 </a:t>
            </a:r>
            <a:r>
              <a:rPr dirty="0"/>
              <a:t>kind:</a:t>
            </a:r>
            <a:r>
              <a:rPr spc="-60" dirty="0"/>
              <a:t> </a:t>
            </a:r>
            <a:r>
              <a:rPr b="0" spc="-25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Pod </a:t>
            </a:r>
            <a:r>
              <a:rPr spc="-10" dirty="0"/>
              <a:t>metadata:</a:t>
            </a:r>
            <a:endParaRPr spc="-10" dirty="0"/>
          </a:p>
          <a:p>
            <a:pPr marL="184150">
              <a:lnSpc>
                <a:spcPct val="100000"/>
              </a:lnSpc>
              <a:spcBef>
                <a:spcPts val="30"/>
              </a:spcBef>
            </a:pPr>
            <a:r>
              <a:rPr dirty="0"/>
              <a:t>name:</a:t>
            </a:r>
            <a:r>
              <a:rPr spc="-60" dirty="0"/>
              <a:t> </a:t>
            </a:r>
            <a:r>
              <a:rPr b="0" spc="-1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backend</a:t>
            </a:r>
            <a:endParaRPr b="0" spc="-10" dirty="0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spec:</a:t>
            </a:r>
            <a:endParaRPr spc="-10" dirty="0"/>
          </a:p>
          <a:p>
            <a:pPr marL="18034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containers:</a:t>
            </a:r>
            <a:endParaRPr spc="-10" dirty="0"/>
          </a:p>
          <a:p>
            <a:pPr marL="527050" indent="-179070">
              <a:lnSpc>
                <a:spcPct val="100000"/>
              </a:lnSpc>
              <a:spcBef>
                <a:spcPts val="30"/>
              </a:spcBef>
              <a:buClr>
                <a:srgbClr val="000000"/>
              </a:buClr>
              <a:buFont typeface="Courier New" panose="02070309020205020404"/>
              <a:buChar char="-"/>
              <a:tabLst>
                <a:tab pos="527050" algn="l"/>
              </a:tabLst>
            </a:pPr>
            <a:r>
              <a:rPr dirty="0"/>
              <a:t>name:</a:t>
            </a:r>
            <a:r>
              <a:rPr spc="-60" dirty="0"/>
              <a:t> </a:t>
            </a:r>
            <a:r>
              <a:rPr b="0" spc="-1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backend</a:t>
            </a:r>
            <a:endParaRPr b="0" spc="-10" dirty="0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  <a:p>
            <a:pPr marL="52705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image: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b="0" spc="-2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bmuschko/web-</a:t>
            </a:r>
            <a:r>
              <a:rPr b="0" spc="-1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app:1.0.1</a:t>
            </a:r>
            <a:endParaRPr b="0" spc="-10" dirty="0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  <a:p>
            <a:pPr marL="52705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volumeMounts:</a:t>
            </a:r>
            <a:endParaRPr spc="-10" dirty="0"/>
          </a:p>
          <a:p>
            <a:pPr marL="698500" marR="5080" indent="-183515">
              <a:lnSpc>
                <a:spcPct val="102000"/>
              </a:lnSpc>
            </a:pPr>
            <a:r>
              <a:rPr b="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-</a:t>
            </a:r>
            <a:r>
              <a:rPr b="0" spc="105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dirty="0"/>
              <a:t>name:</a:t>
            </a:r>
            <a:r>
              <a:rPr spc="-20" dirty="0"/>
              <a:t> </a:t>
            </a:r>
            <a:r>
              <a:rPr b="0" spc="-2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ssh-</a:t>
            </a:r>
            <a:r>
              <a:rPr b="0" spc="-1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volume </a:t>
            </a:r>
            <a:r>
              <a:rPr dirty="0"/>
              <a:t>mountPath:</a:t>
            </a:r>
            <a:r>
              <a:rPr spc="-120" dirty="0"/>
              <a:t> </a:t>
            </a:r>
            <a:r>
              <a:rPr b="0" spc="-1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/var/app </a:t>
            </a:r>
            <a:r>
              <a:rPr dirty="0"/>
              <a:t>readOnly:</a:t>
            </a:r>
            <a:r>
              <a:rPr spc="-105" dirty="0"/>
              <a:t> </a:t>
            </a:r>
            <a:r>
              <a:rPr b="0" spc="-2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true</a:t>
            </a:r>
            <a:endParaRPr b="0" spc="-20" dirty="0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  <a:p>
            <a:pPr marL="18415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volumes:</a:t>
            </a:r>
            <a:endParaRPr spc="-10" dirty="0"/>
          </a:p>
          <a:p>
            <a:pPr marL="527050" indent="-179070">
              <a:lnSpc>
                <a:spcPct val="100000"/>
              </a:lnSpc>
              <a:spcBef>
                <a:spcPts val="30"/>
              </a:spcBef>
              <a:buClr>
                <a:srgbClr val="000000"/>
              </a:buClr>
              <a:buFont typeface="Courier New" panose="02070309020205020404"/>
              <a:buChar char="-"/>
              <a:tabLst>
                <a:tab pos="527050" algn="l"/>
              </a:tabLst>
            </a:pPr>
            <a:r>
              <a:rPr dirty="0"/>
              <a:t>name:</a:t>
            </a:r>
            <a:r>
              <a:rPr spc="-25" dirty="0"/>
              <a:t> </a:t>
            </a:r>
            <a:r>
              <a:rPr b="0" spc="-2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ssh-</a:t>
            </a:r>
            <a:r>
              <a:rPr b="0" spc="-1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volume</a:t>
            </a:r>
            <a:endParaRPr b="0" spc="-10" dirty="0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  <a:p>
            <a:pPr marL="698500" marR="675005" indent="-172085">
              <a:lnSpc>
                <a:spcPct val="102000"/>
              </a:lnSpc>
            </a:pPr>
            <a:r>
              <a:rPr spc="-10" dirty="0"/>
              <a:t>secret: secretName: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0" spc="-2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secret-ssh-auth</a:t>
            </a:r>
            <a:endParaRPr b="0" spc="-20" dirty="0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0557" y="1890741"/>
            <a:ext cx="5512800" cy="32560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091999" y="1955167"/>
            <a:ext cx="5361093" cy="3103880"/>
          </a:xfrm>
          <a:prstGeom prst="rect">
            <a:avLst/>
          </a:prstGeom>
          <a:solidFill>
            <a:srgbClr val="F6F6F7"/>
          </a:solidFill>
        </p:spPr>
        <p:txBody>
          <a:bodyPr vert="horz" wrap="square" lIns="0" tIns="137795" rIns="0" bIns="0" rtlCol="0">
            <a:spAutoFit/>
          </a:bodyPr>
          <a:lstStyle/>
          <a:p>
            <a:pPr marL="146685">
              <a:lnSpc>
                <a:spcPts val="1430"/>
              </a:lnSpc>
              <a:spcBef>
                <a:spcPts val="1085"/>
              </a:spcBef>
            </a:pPr>
            <a:r>
              <a:rPr sz="1200" b="1" dirty="0">
                <a:latin typeface="Courier New" panose="02070309020205020404"/>
                <a:cs typeface="Courier New" panose="02070309020205020404"/>
              </a:rPr>
              <a:t>$</a:t>
            </a:r>
            <a:r>
              <a:rPr sz="1200" b="1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kubectl</a:t>
            </a:r>
            <a:r>
              <a:rPr sz="1200" b="1" spc="-4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exec</a:t>
            </a:r>
            <a:r>
              <a:rPr sz="1200" b="1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spc="-20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it</a:t>
            </a:r>
            <a:r>
              <a:rPr sz="1200" b="1" spc="-4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backend</a:t>
            </a:r>
            <a:r>
              <a:rPr sz="1200" b="1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spc="-20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200" b="1" spc="-4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spc="-10" dirty="0">
                <a:latin typeface="Courier New" panose="02070309020205020404"/>
                <a:cs typeface="Courier New" panose="02070309020205020404"/>
              </a:rPr>
              <a:t>/bin/sh</a:t>
            </a:r>
            <a:endParaRPr sz="1200">
              <a:latin typeface="Courier New" panose="02070309020205020404"/>
              <a:cs typeface="Courier New" panose="02070309020205020404"/>
            </a:endParaRPr>
          </a:p>
          <a:p>
            <a:pPr marL="146685" marR="2402205">
              <a:lnSpc>
                <a:spcPts val="1430"/>
              </a:lnSpc>
              <a:spcBef>
                <a:spcPts val="50"/>
              </a:spcBef>
            </a:pPr>
            <a:r>
              <a:rPr sz="1200" dirty="0">
                <a:latin typeface="Courier New" panose="02070309020205020404"/>
                <a:cs typeface="Courier New" panose="02070309020205020404"/>
              </a:rPr>
              <a:t>#</a:t>
            </a:r>
            <a:r>
              <a:rPr sz="1200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ls</a:t>
            </a:r>
            <a:r>
              <a:rPr sz="1200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20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l</a:t>
            </a:r>
            <a:r>
              <a:rPr sz="1200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10" dirty="0">
                <a:latin typeface="Courier New" panose="02070309020205020404"/>
                <a:cs typeface="Courier New" panose="02070309020205020404"/>
              </a:rPr>
              <a:t>/var/app </a:t>
            </a:r>
            <a:r>
              <a:rPr sz="1200" spc="-20" dirty="0">
                <a:latin typeface="Courier New" panose="02070309020205020404"/>
                <a:cs typeface="Courier New" panose="02070309020205020404"/>
              </a:rPr>
              <a:t>ssh-</a:t>
            </a:r>
            <a:r>
              <a:rPr sz="1200" spc="-10" dirty="0">
                <a:latin typeface="Courier New" panose="02070309020205020404"/>
                <a:cs typeface="Courier New" panose="02070309020205020404"/>
              </a:rPr>
              <a:t>privatekey</a:t>
            </a:r>
            <a:endParaRPr sz="12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64208" y="2889500"/>
            <a:ext cx="5141805" cy="2058247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ts val="1275"/>
              </a:lnSpc>
            </a:pPr>
            <a:r>
              <a:rPr sz="1200" dirty="0">
                <a:latin typeface="Courier New" panose="02070309020205020404"/>
                <a:cs typeface="Courier New" panose="02070309020205020404"/>
              </a:rPr>
              <a:t>#</a:t>
            </a:r>
            <a:r>
              <a:rPr sz="1200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cat</a:t>
            </a:r>
            <a:r>
              <a:rPr sz="1200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20" dirty="0">
                <a:latin typeface="Courier New" panose="02070309020205020404"/>
                <a:cs typeface="Courier New" panose="02070309020205020404"/>
              </a:rPr>
              <a:t>/var/app/ssh-</a:t>
            </a:r>
            <a:r>
              <a:rPr sz="1200" spc="-10" dirty="0">
                <a:latin typeface="Courier New" panose="02070309020205020404"/>
                <a:cs typeface="Courier New" panose="02070309020205020404"/>
              </a:rPr>
              <a:t>privatekey</a:t>
            </a:r>
            <a:endParaRPr sz="1200">
              <a:latin typeface="Courier New" panose="02070309020205020404"/>
              <a:cs typeface="Courier New" panose="02070309020205020404"/>
            </a:endParaRPr>
          </a:p>
          <a:p>
            <a:pPr marL="92710" marR="920115">
              <a:lnSpc>
                <a:spcPts val="1430"/>
              </a:lnSpc>
              <a:spcBef>
                <a:spcPts val="45"/>
              </a:spcBef>
            </a:pPr>
            <a:r>
              <a:rPr sz="1200" spc="-20" dirty="0">
                <a:latin typeface="Courier New" panose="02070309020205020404"/>
                <a:cs typeface="Courier New" panose="02070309020205020404"/>
              </a:rPr>
              <a:t>-----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BEGIN</a:t>
            </a:r>
            <a:r>
              <a:rPr sz="1200" spc="-3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RSA</a:t>
            </a:r>
            <a:r>
              <a:rPr sz="1200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PRIVATE</a:t>
            </a:r>
            <a:r>
              <a:rPr sz="1200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20" dirty="0">
                <a:latin typeface="Courier New" panose="02070309020205020404"/>
                <a:cs typeface="Courier New" panose="02070309020205020404"/>
              </a:rPr>
              <a:t>KEY----</a:t>
            </a:r>
            <a:r>
              <a:rPr sz="1200" spc="-50" dirty="0">
                <a:latin typeface="Courier New" panose="02070309020205020404"/>
                <a:cs typeface="Courier New" panose="02070309020205020404"/>
              </a:rPr>
              <a:t>- </a:t>
            </a:r>
            <a:r>
              <a:rPr sz="1200" spc="-20" dirty="0">
                <a:latin typeface="Courier New" panose="02070309020205020404"/>
                <a:cs typeface="Courier New" panose="02070309020205020404"/>
              </a:rPr>
              <a:t>Proc-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Type:</a:t>
            </a:r>
            <a:r>
              <a:rPr sz="1200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10" dirty="0">
                <a:latin typeface="Courier New" panose="02070309020205020404"/>
                <a:cs typeface="Courier New" panose="02070309020205020404"/>
              </a:rPr>
              <a:t>4,ENCRYPTED</a:t>
            </a:r>
            <a:endParaRPr sz="1200">
              <a:latin typeface="Courier New" panose="02070309020205020404"/>
              <a:cs typeface="Courier New" panose="02070309020205020404"/>
            </a:endParaRPr>
          </a:p>
          <a:p>
            <a:pPr marL="92710">
              <a:lnSpc>
                <a:spcPts val="1365"/>
              </a:lnSpc>
            </a:pPr>
            <a:r>
              <a:rPr sz="1200" spc="-20" dirty="0">
                <a:latin typeface="Courier New" panose="02070309020205020404"/>
                <a:cs typeface="Courier New" panose="02070309020205020404"/>
              </a:rPr>
              <a:t>DEK-</a:t>
            </a:r>
            <a:r>
              <a:rPr sz="1200" spc="-10" dirty="0">
                <a:latin typeface="Courier New" panose="02070309020205020404"/>
                <a:cs typeface="Courier New" panose="02070309020205020404"/>
              </a:rPr>
              <a:t>Info:</a:t>
            </a:r>
            <a:endParaRPr sz="1200">
              <a:latin typeface="Courier New" panose="02070309020205020404"/>
              <a:cs typeface="Courier New" panose="02070309020205020404"/>
            </a:endParaRPr>
          </a:p>
          <a:p>
            <a:pPr marL="92710" marR="97155">
              <a:lnSpc>
                <a:spcPts val="1430"/>
              </a:lnSpc>
              <a:spcBef>
                <a:spcPts val="50"/>
              </a:spcBef>
            </a:pPr>
            <a:r>
              <a:rPr sz="1200" spc="-20" dirty="0">
                <a:latin typeface="Courier New" panose="02070309020205020404"/>
                <a:cs typeface="Courier New" panose="02070309020205020404"/>
              </a:rPr>
              <a:t>AES-128-</a:t>
            </a:r>
            <a:r>
              <a:rPr sz="1200" spc="-10" dirty="0">
                <a:latin typeface="Courier New" panose="02070309020205020404"/>
                <a:cs typeface="Courier New" panose="02070309020205020404"/>
              </a:rPr>
              <a:t>CBC,8734C9153079F2E8497C8075289E </a:t>
            </a:r>
            <a:r>
              <a:rPr sz="1200" spc="-20" dirty="0">
                <a:latin typeface="Courier New" panose="02070309020205020404"/>
                <a:cs typeface="Courier New" panose="02070309020205020404"/>
              </a:rPr>
              <a:t>BBF1</a:t>
            </a:r>
            <a:endParaRPr sz="1200">
              <a:latin typeface="Courier New" panose="02070309020205020404"/>
              <a:cs typeface="Courier New" panose="02070309020205020404"/>
            </a:endParaRPr>
          </a:p>
          <a:p>
            <a:pPr marL="92710">
              <a:lnSpc>
                <a:spcPts val="1365"/>
              </a:lnSpc>
            </a:pPr>
            <a:r>
              <a:rPr sz="1200" spc="-25" dirty="0">
                <a:latin typeface="Courier New" panose="02070309020205020404"/>
                <a:cs typeface="Courier New" panose="02070309020205020404"/>
              </a:rPr>
              <a:t>...</a:t>
            </a:r>
            <a:endParaRPr sz="1200">
              <a:latin typeface="Courier New" panose="02070309020205020404"/>
              <a:cs typeface="Courier New" panose="02070309020205020404"/>
            </a:endParaRPr>
          </a:p>
          <a:p>
            <a:pPr marL="92710">
              <a:lnSpc>
                <a:spcPts val="1435"/>
              </a:lnSpc>
            </a:pPr>
            <a:r>
              <a:rPr sz="1200" spc="-20" dirty="0">
                <a:latin typeface="Courier New" panose="02070309020205020404"/>
                <a:cs typeface="Courier New" panose="02070309020205020404"/>
              </a:rPr>
              <a:t>-----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END</a:t>
            </a:r>
            <a:r>
              <a:rPr sz="1200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RSA</a:t>
            </a:r>
            <a:r>
              <a:rPr sz="120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PRIVATE</a:t>
            </a:r>
            <a:r>
              <a:rPr sz="1200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20" dirty="0">
                <a:latin typeface="Courier New" panose="02070309020205020404"/>
                <a:cs typeface="Courier New" panose="02070309020205020404"/>
              </a:rPr>
              <a:t>KEY----</a:t>
            </a:r>
            <a:r>
              <a:rPr sz="1200" spc="-50" dirty="0">
                <a:latin typeface="Courier New" panose="02070309020205020404"/>
                <a:cs typeface="Courier New" panose="02070309020205020404"/>
              </a:rPr>
              <a:t>-</a:t>
            </a:r>
            <a:endParaRPr sz="12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604067" y="3957600"/>
            <a:ext cx="4263813" cy="941493"/>
            <a:chOff x="1604067" y="3957600"/>
            <a:chExt cx="4263813" cy="941493"/>
          </a:xfrm>
        </p:grpSpPr>
        <p:sp>
          <p:nvSpPr>
            <p:cNvPr id="11" name="object 11"/>
            <p:cNvSpPr/>
            <p:nvPr/>
          </p:nvSpPr>
          <p:spPr>
            <a:xfrm>
              <a:off x="1616767" y="3970300"/>
              <a:ext cx="2515447" cy="916093"/>
            </a:xfrm>
            <a:custGeom>
              <a:avLst/>
              <a:gdLst/>
              <a:ahLst/>
              <a:cxnLst/>
              <a:rect l="l" t="t" r="r" b="b"/>
              <a:pathLst>
                <a:path w="1886585" h="687070">
                  <a:moveTo>
                    <a:pt x="0" y="0"/>
                  </a:moveTo>
                  <a:lnTo>
                    <a:pt x="1886399" y="0"/>
                  </a:lnTo>
                  <a:lnTo>
                    <a:pt x="1886399" y="686699"/>
                  </a:lnTo>
                  <a:lnTo>
                    <a:pt x="0" y="6866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276232" y="4429700"/>
              <a:ext cx="1463887" cy="847"/>
            </a:xfrm>
            <a:custGeom>
              <a:avLst/>
              <a:gdLst/>
              <a:ahLst/>
              <a:cxnLst/>
              <a:rect l="l" t="t" r="r" b="b"/>
              <a:pathLst>
                <a:path w="1097914" h="635">
                  <a:moveTo>
                    <a:pt x="0" y="0"/>
                  </a:moveTo>
                  <a:lnTo>
                    <a:pt x="605999" y="0"/>
                  </a:lnTo>
                  <a:lnTo>
                    <a:pt x="605999" y="599"/>
                  </a:lnTo>
                  <a:lnTo>
                    <a:pt x="1097699" y="59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27133" y="4375845"/>
              <a:ext cx="140667" cy="1093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3 · SECRETS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Secrets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22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Secrets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Secrets are like ConfigMaps but base64-encoded with stricter access. CKAD tests generic, tls and docker-registry types, env-var injection, file mounts with defaultMode, and decoding values. Secrets are not encrypted — protect them with RBAC.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Create a generic Secret, decode it, inject as env vars, mount with 0400 mode, then create tls and docker-registry Secrets.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create · envFrom: · volumes: · » Types: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22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Secrets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Create a generic Secret and decode a value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secret generic db-cred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--from-literal=DB_USER=admin --from-literal=DB_PASS=s3cr3t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secret db-cred -o jsonpath='{.data.DB_PASS}' | base64 -d; echo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Inject Secret keys as env vars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envFrom: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secretRef: {name: db-cred}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Mount a Secret as files with restrictive mode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volumes: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name: 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secret: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secretName: db-cred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defaultMode: 0400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22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Secrets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TLS and docker-registry Secrets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secret tls demo-tls --cert=tls.crt --key=tls.key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secret docker-registry myreg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--docker-server=registry.example.com --docker-username=u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--docker-password=p --docker-email=u@example.com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Types: generic, tls (kubernetes.io/tls), docker-registry. envFrom: secretRef injects all keys; secretKeyRef injects one. Reference a registry Secret via spec.imagePullSecrets. Base64 ≠ encryption — restrict with RBAC.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22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Secrets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base64 -d on .data.DB_PASS returns s3cr3t, the mounted Secret files are mode 0400, and the tls Secret reports type kubernetes.io/tls.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 panose="020B0604020202020204"/>
              </a:rPr>
              <a:t>Tea Break</a:t>
            </a:r>
            <a:endParaRPr sz="4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 panose="020B0604020202020204"/>
              </a:rPr>
              <a:t>15 minutes</a:t>
            </a:r>
            <a:endParaRPr sz="2200" b="1">
              <a:solidFill>
                <a:srgbClr val="10B981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TOPIC 8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SecurityContext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Control container identity &amp; privileges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LEAST PRIVILEGE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Run Containers Safely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securityContext sets the user, group and privileges a container runs with.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Pod-level applies to all containers; container-level overrides one container.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runAsNonRoot: true blocks any image whose default user is root.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Hardened pattern: readOnlyRootFilesystem + capabilities.drop:[ALL] + allowPrivilegeEscalation:false.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70" dirty="0"/>
              <a:t>Defining</a:t>
            </a:r>
            <a:r>
              <a:rPr spc="-85" dirty="0"/>
              <a:t> </a:t>
            </a:r>
            <a:r>
              <a:rPr spc="280" dirty="0"/>
              <a:t>a</a:t>
            </a:r>
            <a:r>
              <a:rPr spc="-85" dirty="0"/>
              <a:t> </a:t>
            </a:r>
            <a:r>
              <a:rPr spc="55" dirty="0"/>
              <a:t>Security</a:t>
            </a:r>
            <a:r>
              <a:rPr spc="-85" dirty="0"/>
              <a:t> </a:t>
            </a:r>
            <a:r>
              <a:rPr spc="75" dirty="0"/>
              <a:t>Context</a:t>
            </a:r>
            <a:endParaRPr spc="75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Pod-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6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and/or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container-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level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definition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5157" y="1849841"/>
            <a:ext cx="4106333" cy="4529667"/>
            <a:chOff x="645157" y="1849841"/>
            <a:chExt cx="4106333" cy="4529667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45157" y="1849841"/>
              <a:ext cx="4105600" cy="45296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6599" y="1914267"/>
              <a:ext cx="3953933" cy="4377267"/>
            </a:xfrm>
            <a:custGeom>
              <a:avLst/>
              <a:gdLst/>
              <a:ahLst/>
              <a:cxnLst/>
              <a:rect l="l" t="t" r="r" b="b"/>
              <a:pathLst>
                <a:path w="2965450" h="3282950">
                  <a:moveTo>
                    <a:pt x="2964899" y="3282899"/>
                  </a:moveTo>
                  <a:lnTo>
                    <a:pt x="0" y="3282899"/>
                  </a:lnTo>
                  <a:lnTo>
                    <a:pt x="0" y="0"/>
                  </a:lnTo>
                  <a:lnTo>
                    <a:pt x="2964899" y="0"/>
                  </a:lnTo>
                  <a:lnTo>
                    <a:pt x="2964899" y="3282899"/>
                  </a:lnTo>
                  <a:close/>
                </a:path>
              </a:pathLst>
            </a:custGeom>
            <a:solidFill>
              <a:srgbClr val="F6F6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996433" y="2089073"/>
            <a:ext cx="2351193" cy="1242907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461645">
              <a:lnSpc>
                <a:spcPts val="1430"/>
              </a:lnSpc>
              <a:spcBef>
                <a:spcPts val="155"/>
              </a:spcBef>
            </a:pPr>
            <a:r>
              <a:rPr sz="12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apiVersion:</a:t>
            </a:r>
            <a:r>
              <a:rPr sz="1200" b="1" spc="-13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25" dirty="0">
                <a:latin typeface="Courier New" panose="02070309020205020404"/>
                <a:cs typeface="Courier New" panose="02070309020205020404"/>
              </a:rPr>
              <a:t>v1 </a:t>
            </a:r>
            <a:r>
              <a:rPr sz="12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kind:</a:t>
            </a:r>
            <a:r>
              <a:rPr sz="1200" b="1" spc="-6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25" dirty="0">
                <a:latin typeface="Courier New" panose="02070309020205020404"/>
                <a:cs typeface="Courier New" panose="02070309020205020404"/>
              </a:rPr>
              <a:t>Pod </a:t>
            </a:r>
            <a:r>
              <a:rPr sz="12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metadata:</a:t>
            </a:r>
            <a:endParaRPr sz="1200">
              <a:latin typeface="Courier New" panose="02070309020205020404"/>
              <a:cs typeface="Courier New" panose="02070309020205020404"/>
            </a:endParaRPr>
          </a:p>
          <a:p>
            <a:pPr marL="195580">
              <a:lnSpc>
                <a:spcPts val="1360"/>
              </a:lnSpc>
            </a:pPr>
            <a:r>
              <a:rPr sz="12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name:</a:t>
            </a:r>
            <a:r>
              <a:rPr sz="1200" b="1" spc="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20" dirty="0">
                <a:latin typeface="Courier New" panose="02070309020205020404"/>
                <a:cs typeface="Courier New" panose="02070309020205020404"/>
              </a:rPr>
              <a:t>secured-</a:t>
            </a:r>
            <a:r>
              <a:rPr sz="1200" spc="-25" dirty="0">
                <a:latin typeface="Courier New" panose="02070309020205020404"/>
                <a:cs typeface="Courier New" panose="02070309020205020404"/>
              </a:rPr>
              <a:t>pod</a:t>
            </a:r>
            <a:endParaRPr sz="12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1435"/>
              </a:lnSpc>
            </a:pPr>
            <a:r>
              <a:rPr sz="12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spec:</a:t>
            </a:r>
            <a:endParaRPr sz="12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3765" y="3334299"/>
            <a:ext cx="2136140" cy="534247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4610">
              <a:lnSpc>
                <a:spcPts val="1305"/>
              </a:lnSpc>
            </a:pPr>
            <a:r>
              <a:rPr sz="12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securityContext:</a:t>
            </a:r>
            <a:endParaRPr sz="1200">
              <a:latin typeface="Courier New" panose="02070309020205020404"/>
              <a:cs typeface="Courier New" panose="02070309020205020404"/>
            </a:endParaRPr>
          </a:p>
          <a:p>
            <a:pPr marL="237490">
              <a:lnSpc>
                <a:spcPts val="1435"/>
              </a:lnSpc>
            </a:pPr>
            <a:r>
              <a:rPr sz="12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fsGroup:</a:t>
            </a:r>
            <a:r>
              <a:rPr sz="1200" b="1" spc="-9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20" dirty="0">
                <a:latin typeface="Courier New" panose="02070309020205020404"/>
                <a:cs typeface="Courier New" panose="02070309020205020404"/>
              </a:rPr>
              <a:t>3000</a:t>
            </a:r>
            <a:endParaRPr sz="12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40273" y="3778173"/>
            <a:ext cx="1985433" cy="10016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volumes:</a:t>
            </a:r>
            <a:endParaRPr sz="12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1425"/>
              </a:lnSpc>
            </a:pPr>
            <a:r>
              <a:rPr sz="1200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200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name:</a:t>
            </a:r>
            <a:r>
              <a:rPr sz="12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20" dirty="0">
                <a:latin typeface="Courier New" panose="02070309020205020404"/>
                <a:cs typeface="Courier New" panose="02070309020205020404"/>
              </a:rPr>
              <a:t>data-</a:t>
            </a:r>
            <a:r>
              <a:rPr sz="1200" spc="-25" dirty="0">
                <a:latin typeface="Courier New" panose="02070309020205020404"/>
                <a:cs typeface="Courier New" panose="02070309020205020404"/>
              </a:rPr>
              <a:t>vol</a:t>
            </a:r>
            <a:endParaRPr sz="1200">
              <a:latin typeface="Courier New" panose="02070309020205020404"/>
              <a:cs typeface="Courier New" panose="02070309020205020404"/>
            </a:endParaRPr>
          </a:p>
          <a:p>
            <a:pPr marL="195580">
              <a:lnSpc>
                <a:spcPts val="1425"/>
              </a:lnSpc>
            </a:pPr>
            <a:r>
              <a:rPr sz="12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emptyDir:</a:t>
            </a:r>
            <a:r>
              <a:rPr sz="1200" b="1" spc="-1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25" dirty="0">
                <a:latin typeface="Courier New" panose="02070309020205020404"/>
                <a:cs typeface="Courier New" panose="02070309020205020404"/>
              </a:rPr>
              <a:t>{}</a:t>
            </a:r>
            <a:endParaRPr sz="12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1435"/>
              </a:lnSpc>
            </a:pPr>
            <a:r>
              <a:rPr sz="12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containers:</a:t>
            </a:r>
            <a:endParaRPr sz="12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40273" y="4743373"/>
            <a:ext cx="3082713" cy="1242907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95580" marR="5080" indent="-183515">
              <a:lnSpc>
                <a:spcPts val="1430"/>
              </a:lnSpc>
              <a:spcBef>
                <a:spcPts val="155"/>
              </a:spcBef>
            </a:pPr>
            <a:r>
              <a:rPr sz="1200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200" spc="-4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image:</a:t>
            </a:r>
            <a:r>
              <a:rPr sz="1200" b="1" spc="-4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10" dirty="0">
                <a:latin typeface="Courier New" panose="02070309020205020404"/>
                <a:cs typeface="Courier New" panose="02070309020205020404"/>
              </a:rPr>
              <a:t>nginx:1.18.0 </a:t>
            </a:r>
            <a:r>
              <a:rPr sz="12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name:</a:t>
            </a:r>
            <a:r>
              <a:rPr sz="1200" b="1" spc="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20" dirty="0">
                <a:latin typeface="Courier New" panose="02070309020205020404"/>
                <a:cs typeface="Courier New" panose="02070309020205020404"/>
              </a:rPr>
              <a:t>secured-</a:t>
            </a:r>
            <a:r>
              <a:rPr sz="1200" spc="-10" dirty="0">
                <a:latin typeface="Courier New" panose="02070309020205020404"/>
                <a:cs typeface="Courier New" panose="02070309020205020404"/>
              </a:rPr>
              <a:t>container </a:t>
            </a:r>
            <a:r>
              <a:rPr sz="12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volumeMounts:</a:t>
            </a:r>
            <a:endParaRPr sz="1200">
              <a:latin typeface="Courier New" panose="02070309020205020404"/>
              <a:cs typeface="Courier New" panose="02070309020205020404"/>
            </a:endParaRPr>
          </a:p>
          <a:p>
            <a:pPr marL="195580">
              <a:lnSpc>
                <a:spcPts val="1360"/>
              </a:lnSpc>
            </a:pPr>
            <a:r>
              <a:rPr sz="1200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200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name:</a:t>
            </a:r>
            <a:r>
              <a:rPr sz="12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20" dirty="0">
                <a:latin typeface="Courier New" panose="02070309020205020404"/>
                <a:cs typeface="Courier New" panose="02070309020205020404"/>
              </a:rPr>
              <a:t>data-</a:t>
            </a:r>
            <a:r>
              <a:rPr sz="1200" spc="-25" dirty="0">
                <a:latin typeface="Courier New" panose="02070309020205020404"/>
                <a:cs typeface="Courier New" panose="02070309020205020404"/>
              </a:rPr>
              <a:t>vol</a:t>
            </a:r>
            <a:endParaRPr sz="1200">
              <a:latin typeface="Courier New" panose="02070309020205020404"/>
              <a:cs typeface="Courier New" panose="02070309020205020404"/>
            </a:endParaRPr>
          </a:p>
          <a:p>
            <a:pPr marL="378460">
              <a:lnSpc>
                <a:spcPts val="1435"/>
              </a:lnSpc>
            </a:pPr>
            <a:r>
              <a:rPr sz="12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mountPath:</a:t>
            </a:r>
            <a:r>
              <a:rPr sz="1200" b="1" spc="-12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10" dirty="0">
                <a:latin typeface="Courier New" panose="02070309020205020404"/>
                <a:cs typeface="Courier New" panose="02070309020205020404"/>
              </a:rPr>
              <a:t>/data/app</a:t>
            </a:r>
            <a:endParaRPr sz="12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480225" y="3531251"/>
            <a:ext cx="2438400" cy="110067"/>
            <a:chOff x="3480225" y="3531251"/>
            <a:chExt cx="2438400" cy="110067"/>
          </a:xfrm>
        </p:grpSpPr>
        <p:sp>
          <p:nvSpPr>
            <p:cNvPr id="11" name="object 11"/>
            <p:cNvSpPr/>
            <p:nvPr/>
          </p:nvSpPr>
          <p:spPr>
            <a:xfrm>
              <a:off x="3608193" y="3585905"/>
              <a:ext cx="2309707" cy="0"/>
            </a:xfrm>
            <a:custGeom>
              <a:avLst/>
              <a:gdLst/>
              <a:ahLst/>
              <a:cxnLst/>
              <a:rect l="l" t="t" r="r" b="b"/>
              <a:pathLst>
                <a:path w="1732279">
                  <a:moveTo>
                    <a:pt x="1732200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80225" y="3531251"/>
              <a:ext cx="140667" cy="109307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6011341" y="3281312"/>
            <a:ext cx="3774440" cy="643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 panose="020B0604020202020204"/>
                <a:cs typeface="Arial" panose="020B0604020202020204"/>
              </a:rPr>
              <a:t>Defined</a:t>
            </a:r>
            <a:r>
              <a:rPr sz="15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latin typeface="Arial" panose="020B0604020202020204"/>
                <a:cs typeface="Arial" panose="020B0604020202020204"/>
              </a:rPr>
              <a:t>on</a:t>
            </a:r>
            <a:r>
              <a:rPr sz="15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latin typeface="Arial" panose="020B0604020202020204"/>
                <a:cs typeface="Arial" panose="020B0604020202020204"/>
              </a:rPr>
              <a:t>the</a:t>
            </a:r>
            <a:r>
              <a:rPr sz="15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500" spc="-20" dirty="0">
                <a:latin typeface="Arial" panose="020B0604020202020204"/>
                <a:cs typeface="Arial" panose="020B0604020202020204"/>
              </a:rPr>
              <a:t>Pod-</a:t>
            </a:r>
            <a:r>
              <a:rPr sz="1500" dirty="0">
                <a:latin typeface="Arial" panose="020B0604020202020204"/>
                <a:cs typeface="Arial" panose="020B0604020202020204"/>
              </a:rPr>
              <a:t>level</a:t>
            </a:r>
            <a:r>
              <a:rPr sz="15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latin typeface="Arial" panose="020B0604020202020204"/>
                <a:cs typeface="Arial" panose="020B0604020202020204"/>
              </a:rPr>
              <a:t>(applies </a:t>
            </a:r>
            <a:r>
              <a:rPr sz="1500" dirty="0">
                <a:latin typeface="Arial" panose="020B0604020202020204"/>
                <a:cs typeface="Arial" panose="020B0604020202020204"/>
              </a:rPr>
              <a:t>to</a:t>
            </a:r>
            <a:r>
              <a:rPr sz="15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latin typeface="Arial" panose="020B0604020202020204"/>
                <a:cs typeface="Arial" panose="020B0604020202020204"/>
              </a:rPr>
              <a:t>all</a:t>
            </a:r>
            <a:r>
              <a:rPr sz="15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latin typeface="Arial" panose="020B0604020202020204"/>
                <a:cs typeface="Arial" panose="020B0604020202020204"/>
              </a:rPr>
              <a:t>containers)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3 · SECURITYCONTEXT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SecurityContext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23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SecurityContext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securityContext controls the identity and privileges of containers. CKAD asks you to enforce non-root execution, a read-only root filesystem and dropped Linux capabilities — at Pod level (all containers) or container level (one override).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Run as a set user/group, enforce runAsNonRoot, lock the root filesystem, then drop all capabilities.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securityContext: · » Pod-level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23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SecurityContext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Run as a specific user and group (Pod level)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securityContext: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runAsUser: 1000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runAsGroup: 3000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fsGroup: 2000     # applies to volume mounts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Enforce runAsNonRoot (blocks root images)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securityContext: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runAsNonRoot: true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nginx runs as root -&gt; Pod refuses to start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Read-only root filesystem (container level)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81431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1431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878324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securityContext: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readOnlyRootFilesystem: true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mount an emptyDir for any writable path (e.g. /tmp)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23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SecurityContext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Drop Linux capabilities (hardened container)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securityContext: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capabilities: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drop: ["ALL"]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add: ["NET_BIND_SERVICE"]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allowPrivilegeEscalation: false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Pod-level securityContext applies to all containers; container-level overrides one. The CKAD hardened pattern = runAsNonRoot: true + readOnlyRootFilesystem: true + capabilities.drop: [ALL] + allowPrivilegeEscalation: false.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23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SecurityContext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The non-root Pod logs uid=1000 gid=3000, the runAsNonRoot nginx Pod refuses to start, and writes to the read-only root filesystem are rejected.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TOPIC 9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ServiceAccounts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The identity a Pod presents to the API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WHO AM I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Pod Identity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Every Pod runs as a ServiceAccount — the default one has minimal permissions.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spec.serviceAccountName attaches a dedicated ServiceAccount to a Pod.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token, CA cert and namespace are projected into /var/run/secrets/kubernetes.io/serviceaccount/.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automountServiceAccountToken: false enforces least privilege; kubectl create token mints short-lived tokens.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Service</a:t>
            </a:r>
            <a:r>
              <a:rPr spc="15" dirty="0"/>
              <a:t> </a:t>
            </a:r>
            <a:r>
              <a:rPr spc="80" dirty="0"/>
              <a:t>Account</a:t>
            </a:r>
            <a:r>
              <a:rPr spc="20" dirty="0"/>
              <a:t> </a:t>
            </a:r>
            <a:r>
              <a:rPr spc="120" dirty="0"/>
              <a:t>as</a:t>
            </a:r>
            <a:r>
              <a:rPr spc="20" dirty="0"/>
              <a:t> </a:t>
            </a:r>
            <a:r>
              <a:rPr spc="60" dirty="0"/>
              <a:t>Subject</a:t>
            </a:r>
            <a:endParaRPr spc="6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Pod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assign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6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Account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6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name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39516" y="3658233"/>
            <a:ext cx="10704768" cy="1162465"/>
          </a:xfrm>
          <a:prstGeom prst="rect">
            <a:avLst/>
          </a:prstGeom>
        </p:spPr>
      </p:pic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3 · SERVICEACCOUNTS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ServiceAccounts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24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ServiceAccounts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Every Pod runs as a ServiceAccount; the default one has minimal RBAC. CKAD tests creating dedicated ServiceAccounts, attaching them to Pods, disabling the auto-mounted token, and requesting short-lived tokens with kubectl create token.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Create a ServiceAccount, attach it to a Pod, inspect the projected token, disable auto-mount, then mint a token.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create · k exec · k patch · TOKEN=$(k create · » `spec.serviceAccountName`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24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ServiceAccounts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Create a ServiceAccount and attach it to a Pod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serviceaccount app-sa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Pod 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serviceAccountName: app-sa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 app -o jsonpath='{.spec.serviceAccountName}'; echo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Inspect the auto-mounted token inside the Pod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726179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26179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790187"/>
            <a:ext cx="10323576" cy="242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exec app -- ls /var/run/secrets/kubernetes.io/serviceaccount/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Disable token auto-mount (least privilege)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3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3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1"/>
            <a:ext cx="10323576" cy="242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patch sa app-sa -p '{"automountServiceAccountToken": false}'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24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ServiceAccounts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Request a short-lived ad-hoc token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TOKEN=$(k create token app-sa --duration=1h)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echo $TOKEN | cut -c1-60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spec.serviceAccountName attaches a custom SA. Token, CA and namespace are projected under /var/run/secrets/kubernetes.io/serviceaccount/. automountServiceAccountToken: false enforces least privilege; kubectl create token replaces the old Secret-backed tokens (removed in 1.24+).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24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ServiceAccounts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get pod app -o jsonpath='{.spec.serviceAccountName}' returns app-sa, and kubectl create token app-sa prints a short-lived JWT.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TOPIC 10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RBAC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Who can do what, on which resources, where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AUTHORIZATION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Role-Based Access Control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Role/ClusterRole lists allowed verbs (get, list, create, delete…) on resources.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RoleBinding/ClusterRoleBinding ties that Role to a subject (ServiceAccount, user or group).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Role + RoleBinding = one namespace; ClusterRole + ClusterRoleBinding = cluster-wide.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ClusterRole + RoleBinding limits a cluster role's verbs to a single namespace.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Validate without logging in: kubectl auth can-i &lt;verb&gt; &lt;resource&gt; --as=&lt;identity&gt;.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-95" dirty="0"/>
              <a:t>RBAC</a:t>
            </a:r>
            <a:r>
              <a:rPr spc="-80" dirty="0"/>
              <a:t> </a:t>
            </a:r>
            <a:r>
              <a:rPr spc="85" dirty="0"/>
              <a:t>High-Level</a:t>
            </a:r>
            <a:r>
              <a:rPr spc="-80" dirty="0"/>
              <a:t> </a:t>
            </a:r>
            <a:r>
              <a:rPr spc="70" dirty="0"/>
              <a:t>Overview</a:t>
            </a:r>
            <a:endParaRPr spc="7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Three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7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key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elements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understanding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concept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359533" y="2429367"/>
            <a:ext cx="9356865" cy="2965999"/>
          </a:xfrm>
          <a:prstGeom prst="rect">
            <a:avLst/>
          </a:prstGeom>
        </p:spPr>
      </p:pic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85" dirty="0"/>
              <a:t>Involved</a:t>
            </a:r>
            <a:r>
              <a:rPr spc="-85" dirty="0"/>
              <a:t> </a:t>
            </a:r>
            <a:r>
              <a:rPr spc="-95" dirty="0"/>
              <a:t>RBAC</a:t>
            </a:r>
            <a:r>
              <a:rPr spc="-85" dirty="0"/>
              <a:t> </a:t>
            </a:r>
            <a:r>
              <a:rPr spc="45" dirty="0"/>
              <a:t>Primitives</a:t>
            </a:r>
            <a:endParaRPr spc="45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6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Restrict</a:t>
            </a:r>
            <a:r>
              <a:rPr sz="1600" b="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access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600" b="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certain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operations</a:t>
            </a:r>
            <a:r>
              <a:rPr sz="1600" b="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-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API</a:t>
            </a:r>
            <a:r>
              <a:rPr sz="1600" b="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resources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1600" b="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subjects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25064" y="2291633"/>
            <a:ext cx="9825799" cy="3280400"/>
          </a:xfrm>
          <a:prstGeom prst="rect">
            <a:avLst/>
          </a:prstGeom>
        </p:spPr>
      </p:pic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RBAC · ARCHITECTURE</a:t>
            </a:r>
            <a:endParaRPr sz="14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RBAC — Role-Based Access Control Model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11064240" cy="4114800"/>
          </a:xfrm>
          <a:prstGeom prst="roundRect">
            <a:avLst>
              <a:gd name="adj" fmla="val 6000"/>
            </a:avLst>
          </a:prstGeom>
          <a:solidFill>
            <a:srgbClr val="EEE8F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 panose="020B0604020202020204"/>
              </a:rPr>
              <a:t>Kubernetes Cluster</a:t>
            </a:r>
            <a:endParaRPr sz="11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2960" y="2606040"/>
            <a:ext cx="2560320" cy="96012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06040"/>
            <a:ext cx="2560320" cy="9601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Subject
(User / Group
/ ServiceAccount)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17720" y="2606040"/>
            <a:ext cx="2560320" cy="960120"/>
          </a:xfrm>
          <a:prstGeom prst="roundRect">
            <a:avLst>
              <a:gd name="adj" fmla="val 6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606040"/>
            <a:ext cx="2560320" cy="9601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RoleBinding
/
ClusterRoleBinding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412480" y="2606040"/>
            <a:ext cx="2560320" cy="96012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606040"/>
            <a:ext cx="2560320" cy="9601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Role
/
ClusterRole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3383280" y="3086100"/>
            <a:ext cx="1234440" cy="0"/>
          </a:xfrm>
          <a:prstGeom prst="line">
            <a:avLst/>
          </a:prstGeom>
          <a:ln w="25400">
            <a:solidFill>
              <a:srgbClr val="1F6FEB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178040" y="3086100"/>
            <a:ext cx="1234440" cy="0"/>
          </a:xfrm>
          <a:prstGeom prst="line">
            <a:avLst/>
          </a:prstGeom>
          <a:ln w="25400">
            <a:solidFill>
              <a:srgbClr val="10B98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429000" y="269748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F6FEB"/>
                </a:solidFill>
                <a:latin typeface="Arial" panose="020B0604020202020204"/>
              </a:rPr>
              <a:t>binds subject</a:t>
            </a:r>
            <a:endParaRPr sz="1000" b="0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223760" y="269748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0B981"/>
                </a:solidFill>
                <a:latin typeface="Arial" panose="020B0604020202020204"/>
              </a:rPr>
              <a:t>references</a:t>
            </a:r>
            <a:endParaRPr sz="1000" b="0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955279" y="3931920"/>
            <a:ext cx="3291840" cy="594360"/>
          </a:xfrm>
          <a:prstGeom prst="roundRect">
            <a:avLst>
              <a:gd name="adj" fmla="val 6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3931920"/>
            <a:ext cx="3291840" cy="5943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200" b="0">
                <a:solidFill>
                  <a:srgbClr val="161B26"/>
                </a:solidFill>
                <a:latin typeface="Arial" panose="020B0604020202020204"/>
              </a:rPr>
              <a:t>Rules:  verbs (get, list, create…)
+ resources (pods, services…)</a:t>
            </a:r>
            <a:endParaRPr sz="12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22960" y="5120640"/>
            <a:ext cx="4114800" cy="502920"/>
          </a:xfrm>
          <a:prstGeom prst="roundRect">
            <a:avLst>
              <a:gd name="adj" fmla="val 6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120640"/>
            <a:ext cx="41148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0">
                <a:solidFill>
                  <a:srgbClr val="1F6FEB"/>
                </a:solidFill>
                <a:latin typeface="Arial" panose="020B0604020202020204"/>
              </a:rPr>
              <a:t>Role + RoleBinding → namespace-scoped</a:t>
            </a:r>
            <a:endParaRPr sz="1200" b="0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217920" y="5120640"/>
            <a:ext cx="4846320" cy="502920"/>
          </a:xfrm>
          <a:prstGeom prst="roundRect">
            <a:avLst>
              <a:gd name="adj" fmla="val 6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5120640"/>
            <a:ext cx="484632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0">
                <a:solidFill>
                  <a:srgbClr val="10B981"/>
                </a:solidFill>
                <a:latin typeface="Arial" panose="020B0604020202020204"/>
              </a:rPr>
              <a:t>ClusterRole + ClusterRoleBinding → cluster-scoped</a:t>
            </a:r>
            <a:endParaRPr sz="1200" b="0">
              <a:solidFill>
                <a:srgbClr val="10B981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RBAC · SCOPE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Role vs ClusterRole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Role (Namespace-scoped)</a:t>
            </a:r>
            <a:endParaRPr sz="1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ClusterRole (Cluster-scoped)</a:t>
            </a:r>
            <a:endParaRPr sz="16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Scoped to a single namespace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kubectl get roles -n &lt;ns&gt;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Common uses: app-specific read/write access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Example: allow listing pods in 'default' namespace only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Paired with RoleBinding in the same namespace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Applies across all namespaces (or non-namespaced resources)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kubectl get clusterroles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Common uses: admin, monitoring, ingress controller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Example: allow listing nodes, PVs, namespaces cluster-wide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Paired with ClusterRoleBinding or namespaced RoleBinding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RBAC · DECLARATIVE YAML</a:t>
            </a:r>
            <a:endParaRPr sz="14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Defining a Role and RoleBinding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 panose="020B0604020202020204"/>
              </a:rPr>
              <a:t>Role: grant read access to pods in the 'dev' namespace</a:t>
            </a:r>
            <a:endParaRPr sz="13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83337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8333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741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rbac.authorization.k8s.io/v1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Role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namespace: 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pod-reader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rules: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apiGroups: [""]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resources: ["pods"]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verbs: ["get", "list", "watch"]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982212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 panose="020B0604020202020204"/>
              </a:rPr>
              <a:t>RoleBinding: bind the Role to a ServiceAccount</a:t>
            </a:r>
            <a:endParaRPr sz="13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329684"/>
            <a:ext cx="10652760" cy="25831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329684"/>
            <a:ext cx="82296" cy="25831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393692"/>
            <a:ext cx="10323576" cy="24917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rbac.authorization.k8s.io/v1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RoleBinding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read-pods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namespace: 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subjects: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kind: ServiceAccount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my-app-sa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namespace: 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roleRef: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kind: Role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pod-reader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apiGroup: rbac.authorization.k8s.io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RBAC · CLUSTER-WIDE</a:t>
            </a:r>
            <a:endParaRPr sz="14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ClusterRole and ClusterRoleBinding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 panose="020B0604020202020204"/>
              </a:rPr>
              <a:t>ClusterRole: read access to nodes (non-namespaced resource)</a:t>
            </a:r>
            <a:endParaRPr sz="13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645919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rbac.authorization.k8s.io/v1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ClusterRole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node-reader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rules: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apiGroups: [""]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resources: ["nodes"]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verbs: ["get", "list"]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794759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 panose="020B0604020202020204"/>
              </a:rPr>
              <a:t>ClusterRoleBinding: bind to a user</a:t>
            </a:r>
            <a:endParaRPr sz="13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142231"/>
            <a:ext cx="10652760" cy="23957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42231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206239"/>
            <a:ext cx="10323576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rbac.authorization.k8s.io/v1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ClusterRoleBinding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read-nodes-global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subjects: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kind: User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jane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apiGroup: rbac.authorization.k8s.io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roleRef: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kind: ClusterRole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node-reader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apiGroup: rbac.authorization.k8s.io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RBAC · EXAM COMMANDS</a:t>
            </a:r>
            <a:endParaRPr sz="14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RBAC — Essential kubectl Commands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 panose="020B0604020202020204"/>
              </a:rPr>
              <a:t>Create a Role imperatively (quick in exam)</a:t>
            </a:r>
            <a:endParaRPr sz="13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89611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create role pod-reader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--verb=get,list,watch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--resource=pods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--namespace=dev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044952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 panose="020B0604020202020204"/>
              </a:rPr>
              <a:t>Bind the Role to a ServiceAccount</a:t>
            </a:r>
            <a:endParaRPr sz="13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92424"/>
            <a:ext cx="10652760" cy="89611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92424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56432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create rolebinding read-pods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--role=pod-reader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--serviceaccount=dev:my-app-sa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--namespace=dev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48970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 panose="020B0604020202020204"/>
              </a:rPr>
              <a:t>Check permissions for a ServiceAccount (auth can-i)</a:t>
            </a:r>
            <a:endParaRPr sz="13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837176"/>
            <a:ext cx="10652760" cy="89611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37176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901184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auth can-i list pods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--as=system:serviceaccount:dev:my-app-sa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--namespace=dev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yes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3 · RBAC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RBAC — Roles &amp; RoleBindings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25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RBAC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RBAC controls who can do what on which resources. CKAD tests creating Roles, ClusterRoles, RoleBindings and ClusterRoleBindings imperatively, and validating with kubectl auth can-i --as. Know namespace- vs cluster-scope.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Create a Role + RoleBinding for a ServiceAccount, validate with can-i, then a ClusterRole bound two ways.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create · k auth · » Role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25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RBAC — Roles &amp; RoleBindings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Role: namespace-scoped permissions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role pod-reader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--verb=get,list,watch --resource=pods -n 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RoleBinding: link Role to a ServiceAccount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rolebinding viewer-binding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--role=pod-reader --serviceaccount=dev:viewer -n 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Validate with kubectl auth can-i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25195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5195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1596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auth can-i list pods   -n dev     --as=system:serviceaccount:dev:viewer  # yes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auth can-i delete pods -n dev     --as=system:serviceaccount:dev:viewer  # no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auth can-i list pods   -n default --as=system:serviceaccount:dev:viewer  # no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25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RBAC — Roles &amp; RoleBindings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ClusterRole bound cluster-wide vs to one namespace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clusterrole node-reader --verb=get,list --resource=nodes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clusterrolebinding nodes-binding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--clusterrole=node-reader --serviceaccount=dev:nodes-sa   # all namespaces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rolebinding dev-node-reader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--clusterrole=node-reader --serviceaccount=dev:viewer -n dev  # only 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Role + RoleBinding = namespace-scoped. ClusterRole + ClusterRoleBinding = cluster-wide. ClusterRole + RoleBinding = the cluster role's verbs limited to one namespace. kubectl auth can-i &lt;verb&gt; &lt;res&gt; --as=&lt;identity&gt; validates without logging in.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25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RBAC — Roles &amp; RoleBindings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auth can-i list pods -n dev --as=system:serviceaccount:dev:viewer returns yes while delete pods and cross-namespace list return no.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SECURITY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Authentication and Authorization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Access control for the Kubernetes API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 panose="020B0604020202020204"/>
              </a:rPr>
              <a:t>6</a:t>
            </a: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API SERVER · REQUEST PIPELINE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Processing a Request to the API Server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Every client request to the API server passes four sequential phases: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Authentication — who is the caller?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Authorization — is the caller allowed to perform this action?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Admission Control — is the request well-formed and valid?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Validation — schema validation of the requested resource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All four phases must pass for the request to be processed.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API SERVER · PHASES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API Request Processing Phases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Authentication: Validates the identity of the caller using a supported strategy, e.g. client certificates or bearer tokens.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Authorization: Determines if the authenticated identity may perform the requested verb + HTTP path. Typically implemented with RBAC.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Admission Controller: Verifies the request is well-formed and may mutate or reject it before processing. Ensures the resource definition is valid.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AUTHENTICATION · KUBECONFIG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Authentication via Credentials in Kubeconfig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The kubeconfig file at $HOME/.kube/config is used by kubectl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352044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3520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Config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clusters: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cluster: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certificate-authority: /home/user/.minikube/ca.crt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server: https://127.0.0.1:58936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minikube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contexts: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context: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cluster: minikube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user: bmuschko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bmuschko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current-context: bmuschko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users: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name: bmuschko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user: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client-certificate-data: REDACTED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client-key-data: REDACTED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AUTHENTICATION · KUBECTL CONFIG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Managing Kubeconfig and Current Context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View the full kubeconfig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config view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Config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current-context: bmuschko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...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232403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Show and switch the active context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579875"/>
            <a:ext cx="10652760" cy="1645919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79875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43883"/>
            <a:ext cx="10323576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config current-context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bmuschko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config use-context johndoe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Switched to context "johndoe".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config current-context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johndoe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EXTENDING KUBERNETES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Custom Resource Definitions (CRDs)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Extending the Kubernetes API with custom primitives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 panose="020B0604020202020204"/>
              </a:rPr>
              <a:t>7</a:t>
            </a: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CRD · DEFINITION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What is a Custom Resource Definition (CRD)?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Some use cases with custom requirements cannot be fulfilled with built-in Kubernetes primitives.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A CRD allows you to define, create, and persist objects for custom primitives and expose them via the Kubernetes API.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CRDs are combined with controllers to implement custom logic. The combination is called the Operator pattern.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OPERATOR PATTERN · CRD + CONTROLLER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The Operator Pattern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An Operator = CRD + Controller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The CRD extends the Kubernetes API with a new object type (schema, validation, versioning).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The Controller is a reconciliation loop that watches for CRD instances via the API server and implements the custom business logic.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Operators are deployed as Pods in the cluster and interact with the API server continuously.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Example operators: Prometheus Operator, cert-manager, Kafka Operator.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CRD · EXAMPLE USE CASE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Example CRD — Smoke Testing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Requirement: A web-based application stack deployed via a Deployment. A Service routes traffic to the Pods.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Desired functionality: After deployment, run a quick smoke test against the Service's DNS name. Send the result to an external dashboard.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Goal: Implement the Operator pattern (CRD + controller) for this use case.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Custom Kind: SmokeTest — attributes: service, path, timeout, retries.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CRD · SCHEMA DEFINITION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CRD YAML Manifest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Defines the schema for the custom SmokeTest object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52075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52075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51160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apiextensions.k8s.io/v1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CustomResourceDefinition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smoketests.stable.bmuschko.com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group: stable.bmuschko.com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versions: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name: 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served: true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storage: true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schema: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openAPIV3Schema: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type: object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properties: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  type: object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  properties: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    service: {type: string}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    path:    {type: string}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    timeout: {type: integer}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    retries: {type: integer}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scope: Namespaced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plural: smoketests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singular: smoketest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kind: SmokeTest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shortNames: [st]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CRD · INSTANTIATION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Custom Resource Object YAML Manifest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An instance of the SmokeTest custom kind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83337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8333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741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stable.bmuschko.com/v1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SmokeTest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backend-smoke-test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service: backend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path: /health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timeout: 600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retries: 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CRD · KUBECTL APPLY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Creating the CRD and Custom Object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Create the CRD first, then create instances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apply -f smoketest-crd.yaml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customresourcedefinition.apiextensions.k8s.io/smoketests.stable.bmuschko.com created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apply -f backend-smoke-test.yaml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smoketest.stable.bmuschko.com/backend-smoke-test created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CRD · INSPECTION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Discovering CRDs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List all installed CRDs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crds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                            CREATED AT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smoketests.stable.bmuschko.com      2023-05-04T14:49:40Z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8575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Discover custom resource types via api-resources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2049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049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68980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api-resources --api-group=stable.bmuschko.com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    SHORTNAMES  APIVERSION                  NAMESPACED  KIND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smoketests  st          stable.bmuschko.com/v1      true        SmokeTest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OPERATOR PATTERN · CONTROLLER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Controller Implementation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You can CRUD custom resource objects, but no smoke-test logic is initiated without a controller.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A controller acts as a reconciliation process: it polls for new SmokeTest objects via the API server and executes the smoke test, sending results to the external service.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Controllers are typically written in Go or Python using a Kubernetes client library (e.g. client-go, kubernetes-client).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 panose="020B0604020202020204"/>
              </a:rPr>
              <a:t>EXERCISE</a:t>
            </a:r>
            <a:endParaRPr sz="18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83464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 panose="020B0604020202020204"/>
              </a:rPr>
              <a:t>Defining and Interacting with a CRD</a:t>
            </a:r>
            <a:endParaRPr sz="36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 panose="020B0604020202020204"/>
              </a:rPr>
              <a:t>EXAM PREP · KEY TAKEAWAYS</a:t>
            </a:r>
            <a:endParaRPr sz="1400" b="1">
              <a:solidFill>
                <a:srgbClr val="F59E0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Exam Essentials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You are not expected to implement a CRD schema yourself. Know how to discover and use them.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Use kubectl get crds to list installed CRDs, and kubectl api-resources --api-group=&lt;group&gt; to see their types.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Create objects from a CRD schema exactly as you would for built-in resources: kubectl apply -f &lt;manifest&gt;.yaml.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Controller implementations are out-of-scope for the CKAD exam.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 panose="020B0604020202020204"/>
              </a:rPr>
              <a:t>Tea Break</a:t>
            </a:r>
            <a:endParaRPr sz="4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 panose="020B0604020202020204"/>
              </a:rPr>
              <a:t>15 minutes</a:t>
            </a:r>
            <a:endParaRPr sz="2200" b="1">
              <a:solidFill>
                <a:srgbClr val="10B981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TOPIC 11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Quotas &amp; Limits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Cap namespace usage &amp; per-container resources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GUARDRAILS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Govern Resource Consumption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ResourceQuota caps the aggregate resources a namespace can consume (pods, requests, limits).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LimitRange enforces per-container defaults, defaultRequests and maximums.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Without a LimitRange, Pods with no resource block are rejected in a quota-enforced namespace.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kubectl describe quota shows Used vs Hard — the primary troubleshooting view.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65" dirty="0"/>
              <a:t>ResourceQuota</a:t>
            </a:r>
            <a:r>
              <a:rPr spc="-70" dirty="0"/>
              <a:t> </a:t>
            </a:r>
            <a:r>
              <a:rPr spc="-90" dirty="0"/>
              <a:t>YAML</a:t>
            </a:r>
            <a:r>
              <a:rPr spc="-65" dirty="0"/>
              <a:t> </a:t>
            </a:r>
            <a:r>
              <a:rPr spc="85" dirty="0"/>
              <a:t>Manifest</a:t>
            </a:r>
            <a:endParaRPr spc="85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Limits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4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#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objects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6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aggregate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container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resource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consumption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94891" y="1834275"/>
            <a:ext cx="4708800" cy="40692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66333" y="1898699"/>
            <a:ext cx="4556760" cy="3917527"/>
          </a:xfrm>
          <a:prstGeom prst="rect">
            <a:avLst/>
          </a:prstGeom>
          <a:solidFill>
            <a:srgbClr val="F6F6F7"/>
          </a:solidFill>
        </p:spPr>
        <p:txBody>
          <a:bodyPr vert="horz" wrap="square" lIns="0" tIns="160020" rIns="0" bIns="0" rtlCol="0">
            <a:spAutoFit/>
          </a:bodyPr>
          <a:lstStyle/>
          <a:p>
            <a:pPr marL="208280" marR="1174115">
              <a:lnSpc>
                <a:spcPts val="1650"/>
              </a:lnSpc>
              <a:spcBef>
                <a:spcPts val="1260"/>
              </a:spcBef>
            </a:pP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apiVersion:</a:t>
            </a:r>
            <a:r>
              <a:rPr sz="1400" b="1" spc="-5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25" dirty="0">
                <a:latin typeface="Courier New" panose="02070309020205020404"/>
                <a:cs typeface="Courier New" panose="02070309020205020404"/>
              </a:rPr>
              <a:t>v1 </a:t>
            </a: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kind:</a:t>
            </a:r>
            <a:r>
              <a:rPr sz="1400" b="1" spc="-2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10" dirty="0">
                <a:latin typeface="Courier New" panose="02070309020205020404"/>
                <a:cs typeface="Courier New" panose="02070309020205020404"/>
              </a:rPr>
              <a:t>ResourceQuota </a:t>
            </a:r>
            <a:r>
              <a:rPr sz="14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metadata: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421640">
              <a:lnSpc>
                <a:spcPts val="1585"/>
              </a:lnSpc>
            </a:pP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name:</a:t>
            </a:r>
            <a:r>
              <a:rPr sz="1400" b="1" spc="1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10" dirty="0">
                <a:latin typeface="Courier New" panose="02070309020205020404"/>
                <a:cs typeface="Courier New" panose="02070309020205020404"/>
              </a:rPr>
              <a:t>awesome-quota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425450">
              <a:lnSpc>
                <a:spcPts val="1650"/>
              </a:lnSpc>
            </a:pP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namespace:</a:t>
            </a:r>
            <a:r>
              <a:rPr sz="1400" b="1" spc="-2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10" dirty="0">
                <a:latin typeface="Courier New" panose="02070309020205020404"/>
                <a:cs typeface="Courier New" panose="02070309020205020404"/>
              </a:rPr>
              <a:t>team-awesome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208280">
              <a:lnSpc>
                <a:spcPts val="1665"/>
              </a:lnSpc>
            </a:pPr>
            <a:r>
              <a:rPr sz="14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spec:</a:t>
            </a:r>
            <a:endParaRPr sz="1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9500" y="3814100"/>
            <a:ext cx="3821007" cy="1783080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1915">
              <a:lnSpc>
                <a:spcPts val="1435"/>
              </a:lnSpc>
            </a:pPr>
            <a:r>
              <a:rPr sz="14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hard: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295275">
              <a:lnSpc>
                <a:spcPts val="1650"/>
              </a:lnSpc>
            </a:pP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pods:</a:t>
            </a:r>
            <a:r>
              <a:rPr sz="1400" b="1" spc="-2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50" dirty="0">
                <a:latin typeface="Courier New" panose="02070309020205020404"/>
                <a:cs typeface="Courier New" panose="02070309020205020404"/>
              </a:rPr>
              <a:t>2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295275" marR="109220">
              <a:lnSpc>
                <a:spcPts val="1650"/>
              </a:lnSpc>
              <a:spcBef>
                <a:spcPts val="65"/>
              </a:spcBef>
            </a:pP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requests.cpu:</a:t>
            </a:r>
            <a:r>
              <a:rPr sz="1400" b="1" spc="-7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b="1" spc="-25" dirty="0">
                <a:solidFill>
                  <a:srgbClr val="D15E35"/>
                </a:solidFill>
                <a:latin typeface="Courier New" panose="02070309020205020404"/>
                <a:cs typeface="Courier New" panose="02070309020205020404"/>
              </a:rPr>
              <a:t>"1" </a:t>
            </a: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requests.memory:</a:t>
            </a:r>
            <a:r>
              <a:rPr sz="1400" b="1" spc="-8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10" dirty="0">
                <a:latin typeface="Courier New" panose="02070309020205020404"/>
                <a:cs typeface="Courier New" panose="02070309020205020404"/>
              </a:rPr>
              <a:t>1024Mi </a:t>
            </a: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limits.cpu:</a:t>
            </a:r>
            <a:r>
              <a:rPr sz="1400" b="1" spc="-6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b="1" spc="-25" dirty="0">
                <a:solidFill>
                  <a:srgbClr val="D15E35"/>
                </a:solidFill>
                <a:latin typeface="Courier New" panose="02070309020205020404"/>
                <a:cs typeface="Courier New" panose="02070309020205020404"/>
              </a:rPr>
              <a:t>"4" </a:t>
            </a: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limits.memory:</a:t>
            </a:r>
            <a:r>
              <a:rPr sz="1400" b="1" spc="-7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10" dirty="0">
                <a:latin typeface="Courier New" panose="02070309020205020404"/>
                <a:cs typeface="Courier New" panose="02070309020205020404"/>
              </a:rPr>
              <a:t>4096Mi</a:t>
            </a:r>
            <a:endParaRPr sz="1400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75" dirty="0"/>
              <a:t>What</a:t>
            </a:r>
            <a:r>
              <a:rPr spc="-114" dirty="0"/>
              <a:t> </a:t>
            </a:r>
            <a:r>
              <a:rPr dirty="0"/>
              <a:t>is</a:t>
            </a:r>
            <a:r>
              <a:rPr spc="-110" dirty="0"/>
              <a:t> </a:t>
            </a:r>
            <a:r>
              <a:rPr spc="280" dirty="0"/>
              <a:t>a</a:t>
            </a:r>
            <a:r>
              <a:rPr spc="-114" dirty="0"/>
              <a:t> </a:t>
            </a:r>
            <a:r>
              <a:rPr spc="-10" dirty="0"/>
              <a:t>LimitRange?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9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Constraints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defaults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resource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allocations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object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type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0095" y="1813816"/>
            <a:ext cx="10541845" cy="37168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15240" indent="-351790">
              <a:lnSpc>
                <a:spcPct val="113000"/>
              </a:lnSpc>
              <a:spcBef>
                <a:spcPts val="100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 panose="020B0604020202020204"/>
                <a:cs typeface="Arial" panose="020B0604020202020204"/>
              </a:rPr>
              <a:t>Enforces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minimum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and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maximum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compute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resources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usage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per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Pod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or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container</a:t>
            </a:r>
            <a:r>
              <a:rPr sz="16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in </a:t>
            </a:r>
            <a:r>
              <a:rPr sz="1600" dirty="0">
                <a:latin typeface="Arial" panose="020B0604020202020204"/>
                <a:cs typeface="Arial" panose="020B0604020202020204"/>
              </a:rPr>
              <a:t>a</a:t>
            </a:r>
            <a:r>
              <a:rPr sz="16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latin typeface="Arial" panose="020B0604020202020204"/>
                <a:cs typeface="Arial" panose="020B0604020202020204"/>
              </a:rPr>
              <a:t>namespace.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 panose="020B0604020202020204"/>
              <a:buChar char="●"/>
            </a:pPr>
            <a:endParaRPr sz="1600">
              <a:latin typeface="Arial" panose="020B0604020202020204"/>
              <a:cs typeface="Arial" panose="020B0604020202020204"/>
            </a:endParaRPr>
          </a:p>
          <a:p>
            <a:pPr marL="363855" marR="165100" indent="-351790">
              <a:lnSpc>
                <a:spcPct val="113000"/>
              </a:lnSpc>
              <a:spcBef>
                <a:spcPts val="5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 panose="020B0604020202020204"/>
                <a:cs typeface="Arial" panose="020B0604020202020204"/>
              </a:rPr>
              <a:t>Enforces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minimum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and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maximum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storage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request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per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latin typeface="Arial" panose="020B0604020202020204"/>
                <a:cs typeface="Arial" panose="020B0604020202020204"/>
              </a:rPr>
              <a:t>PersistentVolumeClaim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in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50" dirty="0">
                <a:latin typeface="Arial" panose="020B0604020202020204"/>
                <a:cs typeface="Arial" panose="020B0604020202020204"/>
              </a:rPr>
              <a:t>a </a:t>
            </a:r>
            <a:r>
              <a:rPr sz="1600" spc="-10" dirty="0">
                <a:latin typeface="Arial" panose="020B0604020202020204"/>
                <a:cs typeface="Arial" panose="020B0604020202020204"/>
              </a:rPr>
              <a:t>namespace.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585"/>
              </a:spcBef>
              <a:buFont typeface="Arial" panose="020B0604020202020204"/>
              <a:buChar char="●"/>
            </a:pPr>
            <a:endParaRPr sz="1600">
              <a:latin typeface="Arial" panose="020B0604020202020204"/>
              <a:cs typeface="Arial" panose="020B0604020202020204"/>
            </a:endParaRPr>
          </a:p>
          <a:p>
            <a:pPr marL="363855" indent="-351155">
              <a:lnSpc>
                <a:spcPct val="100000"/>
              </a:lnSpc>
              <a:spcBef>
                <a:spcPts val="5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 panose="020B0604020202020204"/>
                <a:cs typeface="Arial" panose="020B0604020202020204"/>
              </a:rPr>
              <a:t>Enforces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a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ratio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between</a:t>
            </a:r>
            <a:r>
              <a:rPr sz="16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request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and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limit</a:t>
            </a:r>
            <a:r>
              <a:rPr sz="16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for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a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resource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in</a:t>
            </a:r>
            <a:r>
              <a:rPr sz="16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a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latin typeface="Arial" panose="020B0604020202020204"/>
                <a:cs typeface="Arial" panose="020B0604020202020204"/>
              </a:rPr>
              <a:t>namespace.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 panose="020B0604020202020204"/>
              <a:buChar char="●"/>
            </a:pPr>
            <a:endParaRPr sz="1600">
              <a:latin typeface="Arial" panose="020B0604020202020204"/>
              <a:cs typeface="Arial" panose="020B0604020202020204"/>
            </a:endParaRPr>
          </a:p>
          <a:p>
            <a:pPr marL="363855" marR="5080" indent="-351790">
              <a:lnSpc>
                <a:spcPct val="113000"/>
              </a:lnSpc>
              <a:spcBef>
                <a:spcPts val="5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 panose="020B0604020202020204"/>
                <a:cs typeface="Arial" panose="020B0604020202020204"/>
              </a:rPr>
              <a:t>Set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default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requests/limits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for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compute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resources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in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a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namespace</a:t>
            </a:r>
            <a:r>
              <a:rPr sz="16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and</a:t>
            </a:r>
            <a:r>
              <a:rPr sz="1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latin typeface="Arial" panose="020B0604020202020204"/>
                <a:cs typeface="Arial" panose="020B0604020202020204"/>
              </a:rPr>
              <a:t>automatically </a:t>
            </a:r>
            <a:r>
              <a:rPr sz="1600" dirty="0">
                <a:latin typeface="Arial" panose="020B0604020202020204"/>
                <a:cs typeface="Arial" panose="020B0604020202020204"/>
              </a:rPr>
              <a:t>injects</a:t>
            </a:r>
            <a:r>
              <a:rPr sz="16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them</a:t>
            </a:r>
            <a:r>
              <a:rPr sz="16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into</a:t>
            </a:r>
            <a:r>
              <a:rPr sz="16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containers</a:t>
            </a:r>
            <a:r>
              <a:rPr sz="16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" panose="020B0604020202020204"/>
                <a:cs typeface="Arial" panose="020B0604020202020204"/>
              </a:rPr>
              <a:t>at</a:t>
            </a:r>
            <a:r>
              <a:rPr sz="16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600" spc="-10" dirty="0">
                <a:latin typeface="Arial" panose="020B0604020202020204"/>
                <a:cs typeface="Arial" panose="020B0604020202020204"/>
              </a:rPr>
              <a:t>runtime.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3 · QUOTAS &amp; LIMITS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ResourceQuota &amp; LimitRange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26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Quotas &amp; Limits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ResourceQuota caps the total resources used across a namespace; LimitRange enforces per-container defaults and maximums. CKAD tests both — write the YAML, apply them, and understand the rejection error messages.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Apply a ResourceQuota and a LimitRange, watch defaults get injected, then violate the max and the quota.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spec: · k run · for i · » ResourceQuota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26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ResourceQuota &amp; LimitRange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ResourceQuota: namespace-wide ceilings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45846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45846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3670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hard: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pods: "5"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requests.cpu: "1"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requests.memory: 1Gi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limits.cpu: "2"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limits.memory: 2Gi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71703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LimitRange: per-container defaults and maximums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101083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01083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165091"/>
            <a:ext cx="10323576" cy="1179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limits: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type: Container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default:        {cpu: 200m, memory: 256Mi}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defaultRequest: {cpu: 100m, memory: 128Mi}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max:            {cpu: 500m, memory: 512Mi}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26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ResourceQuota &amp; LimitRange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Defaults injected; max enforced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run a --image=nginx:1.25 -n team-a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 a -n team-a -o jsonpath='{.spec.containers[0].resources}'; echo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a container requesting cpu:1 is rejected: 'maximum cpu per Container is 500m'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Exceed the quota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for i in 1 2 3 4; do k run quota-$i --image=nginx:1.25 -n team-a; done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run quota-5 --image=nginx:1.25 -n team-a   # 'exceeded quota: team-a-quota'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describe quota team-a-quota -n team-a       # Used vs Hard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6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ResourceQuota limits aggregate usage; exceeding it rejects new Pods. LimitRange enforces per-container min/max/defaults. Without a LimitRange, Pods with no resource block cannot be created in a quota-enforced namespace.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26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ResourceQuota &amp; LimitRange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A Pod with no resource block gets requests/limits injected by the LimitRange, the 6th Pod is rejected with exceeded quota, and describe quota shows Used vs Hard.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RESOURCE MANAGEMENT · OVERVIEW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Managing Resources for Objects and Namespaces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Containers should declare a minimum amount of resources needed (requests) and a maximum allowed (limits).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Application developers should right-size resources with load tests or by monitoring production consumption.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ResourceQuota enforces resource consumption at the namespace level.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LimitRange constrains or defaults resource allocations for individual objects (Pod, PVC).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RESOURCE MANAGEMENT · UNITS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Resource Units in Kubernetes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CPU is measured in millicores (m).  Example: 600m = 0.6 CPU cores.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Memory is measured in bytes using fixed-point numbers or power-of-two suffixes: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Ki = kibibytes  •  Mi = mebibytes  •  Gi = gibibytes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K = kilobytes   •  M = megabytes   •  G = gigabytes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Example: 256Mi = 268,435,456 bytes.  See the official docs for full details.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RESOURCE REQUESTS · DEFINITION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Container Resource Requests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Containers declare a minimum amount of resources via spec.containers[].resources.requests.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Resource types: CPU, memory, huge pages, ephemeral storage.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The scheduler uses requests to decide which node can run the Pod.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If no node has enough capacity → the Pod stays Pending with status PodExceedsFreeCPU or PodExceedsFreeMemory.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RESOURCE REQUESTS · SCHEDULING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Example Scheduling Scenario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The scheduler finds a node whose available CPU and memory ≥ the Pod's requests.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Example: Pod requests 1 CPU + 256 Mi memory. Node must have at least that available.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Requests do not cap actual usage — they are scheduling guarantees only.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Once scheduled, actual usage can exceed requests (up to the limit).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RESOURCE REQUESTS · OPTIONS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Container Resource Requests — Options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resources.requests.cpu   — minimum CPU in cores or millicores  (e.g. "1" or "500m")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resources.requests.memory — minimum memory in bytes with suffix  (e.g. "256Mi")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resources.requests.ephemeral-storage — minimum local ephemeral storage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resources.requests.hugepages-&lt;size&gt; — huge page allocation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Values are per container, not per Pod.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RESOURCE REQUESTS · DECLARATIVE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Container Resource Requests YAML Manifest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Minimum resource amounts declared for a container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277063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27706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2679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Pod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rate-limiter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name: business-app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image: bmuschko/nodejs-business-app:1.0.0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ports: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containerPort: 8080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resources: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requests: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memory: "256Mi"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cpu: "1"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RESOURCE LIMITS · DEFINITION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Container Resource Limits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Containers declare a maximum amount of resources via spec.containers[].resources.limits.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Resource types: CPU, memory, huge pages, ephemeral storage.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The container runtime enforces limits at runtime. Behaviour when exceeded: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CPU limit exceeded → process is throttled (not killed)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Memory limit exceeded → container may be OOMKilled (Out Of Memory)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RESOURCE LIMITS · OPTIONS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Container Resource Limits — Options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resources.limits.cpu   — maximum CPU in cores or millicores  (e.g. "2" or "1000m")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resources.limits.memory — maximum memory in bytes with suffix  (e.g. "512Mi")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resources.limits.ephemeral-storage — maximum local ephemeral storage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resources.limits.hugepages-&lt;size&gt; — maximum huge pages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Best practice: always set both requests and limits for every container.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RESOURCE LIMITS · DECLARATIVE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Container Resource Limits YAML Manifest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Maximum resource amounts declared for a container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277063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27706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2679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Pod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rate-limiter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name: business-app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image: bmuschko/nodejs-business-app:1.0.0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ports: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containerPort: 8080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resources: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limits: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memory: "512Mi"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cpu: "2"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RESOURCE MANAGEMENT · INSPECT NODE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Pod Scheduling Details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Find the node a Pod was scheduled on, then inspect its resource usage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645919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pod rate-limiter -o yaml | grep nodeName: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nodeName: worker-3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describe node worker-3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...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Non-terminated Pods: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Namespace  Name          CPU Requests  CPU Limits  Memory Requests  Memory Limits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default    rate-limiter  1250m (62%)   0 (0%)      256Mi (6%)       512Mi (13%)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RESOURCE MANAGEMENT · BEST PRACTICE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Container Resource Requests &amp; Limits — Combined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It is best practice to define both requests and limits for every container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220827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22082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21168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name: business-app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image: bmuschko/nodejs-business-app:1.0.0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resources: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requests: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memory: "256Mi"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cpu: "1"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limits: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memory: "512Mi"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cpu: "2"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 panose="020B0604020202020204"/>
              </a:rPr>
              <a:t>EXERCISE</a:t>
            </a:r>
            <a:endParaRPr sz="18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83464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 panose="020B0604020202020204"/>
              </a:rPr>
              <a:t>Defining Container Resource Requests and Limits</a:t>
            </a:r>
            <a:endParaRPr sz="36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WRAP-UP</a:t>
            </a:r>
            <a:endParaRPr sz="1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 panose="020B0604020202020204"/>
              </a:rPr>
              <a:t>Day 3 done — you can observe, configure and secure applications.</a:t>
            </a:r>
            <a:endParaRPr sz="3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 panose="020B0604020202020204"/>
              </a:rPr>
              <a:t>Tomorrow (half day): Services &amp; Networking, then the final assessment.</a:t>
            </a:r>
            <a:endParaRPr sz="20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COURSE SLIDES</a:t>
            </a:r>
            <a:endParaRPr sz="1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61B26"/>
                </a:solidFill>
                <a:latin typeface="Arial" panose="020B0604020202020204"/>
              </a:rPr>
              <a:t>Certified Kubernetes Application Developer (CKAD)</a:t>
            </a:r>
            <a:endParaRPr sz="44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41248" y="452628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WSQ Course Code: TGS-2025053212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 panose="020B0604020202020204"/>
              </a:rPr>
              <a:t>Conducted by Tertiary Infotech Academy Pte Ltd  ·  UEN 201200696W</a:t>
            </a:r>
            <a:endParaRPr sz="14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 panose="020B0604020202020204"/>
              </a:rPr>
              <a:t>© 2026 Tertiary Infotech Academy Pte Ltd. All rights reserved.  ·  www.tertiarycourses.com.sg</a:t>
            </a:r>
            <a:endParaRPr sz="100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DAY 4  (½ day)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Services &amp; Networking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Services · Service DNS · Ingress with TLS · NetworkPolicy  (CKAD Domain 5 — 20%)  +  Final Assessment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 panose="020B0604020202020204"/>
              </a:rPr>
              <a:t>04</a:t>
            </a: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TRAQOM · SSG DIGITAL ATTENDANCE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Digital Attendance (Mandatory)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760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It is mandatory to take the AM, PM and Assessment digital attendance for WSQ-funded courses.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The trainer displays the digital attendance QR code from the SSG portal.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Scan the QR code with your phone camera and submit your attendance.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A minimum of 75% attendance is required for assessment and funding.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4389120" cy="27432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2148840"/>
            <a:ext cx="1005840" cy="10058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atten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6936" y="2420416"/>
            <a:ext cx="462688" cy="4626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40" y="3337560"/>
            <a:ext cx="3840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 panose="020B0604020202020204"/>
              </a:rPr>
              <a:t>Minimum 75%</a:t>
            </a:r>
            <a:endParaRPr sz="2600" b="1">
              <a:solidFill>
                <a:srgbClr val="1F6FEB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 panose="020B0604020202020204"/>
              </a:rPr>
              <a:t>attendance required</a:t>
            </a:r>
            <a:endParaRPr sz="2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DAY 4 OBJECTIVES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Recap &amp; Today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So far: design &amp; build (D1), deployment (D2), observability and config &amp; security (D3).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This morning — Domain 5 Services &amp; Networking (20%): how Pods are reached and isolated.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Services and DNS for stable in-cluster addressing; Ingress for HTTP/HTTPS; NetworkPolicy for isolation.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From 1:00 PM — mock-exam practice; the final written assessment starts at 2:00 PM.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TOPIC 1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Services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Stable virtual IPs &amp; DNS for a set of Pods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SERVICE DISCOVERY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Why Services?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Pod IPs are ephemeral — a Service gives a stable virtual IP and DNS name in front of matching Pods.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ClusterIP (default) is in-cluster only; NodePort opens a port on every node; LoadBalancer asks the cloud for an external IP.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Service finds its Pods by label selector; the matching set is tracked as EndpointSlices.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Empty Endpoints almost always means a selector/label mismatch — the most common Service bug.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THREE WAYS TO EXPOSE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Choosing a Service Type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 panose="020B0604020202020204"/>
              </a:rPr>
              <a:t>ClusterIP</a:t>
            </a:r>
            <a:endParaRPr sz="19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In-cluster only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Stable virtual IP + DNS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Default type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NodePort</a:t>
            </a:r>
            <a:endParaRPr sz="19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Port on every node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30000–32767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Reachable from outside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 panose="020B0604020202020204"/>
              </a:rPr>
              <a:t>LoadBalancer</a:t>
            </a:r>
            <a:endParaRPr sz="19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Cloud external IP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Builds on NodePort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One Service, public entry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Service</a:t>
            </a:r>
            <a:r>
              <a:rPr spc="75" dirty="0"/>
              <a:t> </a:t>
            </a:r>
            <a:r>
              <a:rPr spc="80" dirty="0"/>
              <a:t>Type </a:t>
            </a:r>
            <a:r>
              <a:rPr spc="90" dirty="0"/>
              <a:t>Inheritance</a:t>
            </a:r>
            <a:endParaRPr spc="9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6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Services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build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top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other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39216" y="2026733"/>
            <a:ext cx="7397501" cy="4203667"/>
          </a:xfrm>
          <a:prstGeom prst="rect">
            <a:avLst/>
          </a:prstGeom>
        </p:spPr>
      </p:pic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ClusterIP</a:t>
            </a:r>
            <a:r>
              <a:rPr spc="225" dirty="0"/>
              <a:t> </a:t>
            </a:r>
            <a:r>
              <a:rPr dirty="0"/>
              <a:t>Service</a:t>
            </a:r>
            <a:r>
              <a:rPr spc="229" dirty="0"/>
              <a:t> </a:t>
            </a:r>
            <a:r>
              <a:rPr spc="60" dirty="0"/>
              <a:t>Type</a:t>
            </a:r>
            <a:endParaRPr spc="6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6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Only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reachable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from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within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6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cluster,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e.g. </a:t>
            </a:r>
            <a:r>
              <a:rPr sz="1600" b="0" spc="1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another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Pod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894097" y="2019765"/>
            <a:ext cx="4287732" cy="4208965"/>
          </a:xfrm>
          <a:prstGeom prst="rect">
            <a:avLst/>
          </a:prstGeom>
        </p:spPr>
      </p:pic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50" dirty="0"/>
              <a:t>NodePort</a:t>
            </a:r>
            <a:r>
              <a:rPr spc="85" dirty="0"/>
              <a:t> </a:t>
            </a:r>
            <a:r>
              <a:rPr dirty="0"/>
              <a:t>Service</a:t>
            </a:r>
            <a:r>
              <a:rPr spc="85" dirty="0"/>
              <a:t> </a:t>
            </a:r>
            <a:r>
              <a:rPr spc="60" dirty="0"/>
              <a:t>Type</a:t>
            </a:r>
            <a:endParaRPr spc="6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3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Can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resolved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from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outside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Kubernetes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cluster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778479" y="2031817"/>
            <a:ext cx="4518973" cy="3875632"/>
          </a:xfrm>
          <a:prstGeom prst="rect">
            <a:avLst/>
          </a:prstGeom>
        </p:spPr>
      </p:pic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75" dirty="0"/>
              <a:t>LoadBalancer</a:t>
            </a:r>
            <a:r>
              <a:rPr spc="95" dirty="0"/>
              <a:t> </a:t>
            </a:r>
            <a:r>
              <a:rPr dirty="0"/>
              <a:t>Service</a:t>
            </a:r>
            <a:r>
              <a:rPr spc="95" dirty="0"/>
              <a:t> </a:t>
            </a:r>
            <a:r>
              <a:rPr spc="60" dirty="0"/>
              <a:t>Type</a:t>
            </a:r>
            <a:endParaRPr spc="6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Routes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traffic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from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existing,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external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load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balancer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Service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388817" y="2037801"/>
            <a:ext cx="3298300" cy="4214499"/>
          </a:xfrm>
          <a:prstGeom prst="rect">
            <a:avLst/>
          </a:prstGeom>
        </p:spPr>
      </p:pic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SERVICES · PORT MAPPING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 Port Mapping — port, targetPort, nodePort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Three port fields: port (Service), targetPort (Pod container), nodePort (Node)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25831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25831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24917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Service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web-svc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type: NodePort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selector: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app: 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ports: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port: 80          # port clients use to reach the Service (ClusterIP)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targetPort: 8080   # port the container listens on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nodePort: 30080    # port opened on every Node (30000-32767)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             # omit nodePort for ClusterIP; not needed for LoadBalancer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473202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Expose a deployment as a Service in one command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5079492"/>
            <a:ext cx="10652760" cy="89611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5079492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5143500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expose deployment web --port=80 --target-port=8080 --type=NodePort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svc 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TYPE       CLUSTER-IP    PORT(S)        AGE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web    NodePort   10.96.1.50    80:30080/TCP   5s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SERVICES · DNS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 DNS — How Pods Resolve Services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10972800" cy="68580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10972800" cy="6858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 panose="020B0604020202020204"/>
              </a:rPr>
              <a:t>&lt;service-name&gt;.&lt;namespace&gt;.svc.cluster.local</a:t>
            </a:r>
            <a:endParaRPr sz="2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94360" y="2514600"/>
            <a:ext cx="2194560" cy="594360"/>
          </a:xfrm>
          <a:prstGeom prst="roundRect">
            <a:avLst>
              <a:gd name="adj" fmla="val 6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514600"/>
            <a:ext cx="2194560" cy="5943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</a:rPr>
              <a:t>web-svc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32004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F6FEB"/>
                </a:solidFill>
                <a:latin typeface="Arial" panose="020B0604020202020204"/>
              </a:rPr>
              <a:t>service
name</a:t>
            </a:r>
            <a:endParaRPr sz="1100" b="0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017520" y="2514600"/>
            <a:ext cx="2194560" cy="59436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2514600"/>
            <a:ext cx="2194560" cy="5943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</a:rPr>
              <a:t>production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17520" y="32004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0B981"/>
                </a:solidFill>
                <a:latin typeface="Arial" panose="020B0604020202020204"/>
              </a:rPr>
              <a:t>namespace</a:t>
            </a:r>
            <a:endParaRPr sz="1100" b="0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760720" y="2514600"/>
            <a:ext cx="2194560" cy="59436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2514600"/>
            <a:ext cx="2194560" cy="5943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</a:rPr>
              <a:t>svc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760720" y="32004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C3AED"/>
                </a:solidFill>
                <a:latin typeface="Arial" panose="020B0604020202020204"/>
              </a:rPr>
              <a:t>resource
type</a:t>
            </a:r>
            <a:endParaRPr sz="1100" b="0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818120" y="2514600"/>
            <a:ext cx="2194560" cy="594360"/>
          </a:xfrm>
          <a:prstGeom prst="roundRect">
            <a:avLst>
              <a:gd name="adj" fmla="val 6000"/>
            </a:avLst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2514600"/>
            <a:ext cx="2194560" cy="5943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</a:rPr>
              <a:t>cluster.local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18120" y="32004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cluster
domain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697480" y="260604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5B6372"/>
                </a:solidFill>
                <a:latin typeface="Arial" panose="020B0604020202020204"/>
              </a:rPr>
              <a:t>.</a:t>
            </a:r>
            <a:endParaRPr sz="2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40680" y="260604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5B6372"/>
                </a:solidFill>
                <a:latin typeface="Arial" panose="020B0604020202020204"/>
              </a:rPr>
              <a:t>.</a:t>
            </a:r>
            <a:endParaRPr sz="2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98079" y="260604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5B6372"/>
                </a:solidFill>
                <a:latin typeface="Arial" panose="020B0604020202020204"/>
              </a:rPr>
              <a:t>.</a:t>
            </a:r>
            <a:endParaRPr sz="2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698480" y="260604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5B6372"/>
                </a:solidFill>
                <a:latin typeface="Arial" panose="020B0604020202020204"/>
              </a:rPr>
              <a:t>.</a:t>
            </a:r>
            <a:endParaRPr sz="2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94360" y="3840480"/>
            <a:ext cx="10972800" cy="196596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931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Short forms (within same namespace)</a:t>
            </a:r>
            <a:endParaRPr sz="13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22960" y="4297680"/>
            <a:ext cx="10332720" cy="1645919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4297680"/>
            <a:ext cx="82296" cy="1645919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2416" y="4361688"/>
            <a:ext cx="10003536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From a pod in the SAME namespace — just use the service name: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curl http://web-svc/api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From a pod in a DIFFERENT namespace — include the namespace: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curl http://web-svc.production/api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Full FQDN always works: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curl http://web-svc.production.svc.cluster.local/api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SERVICES · LABEL SELECTOR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 Selector Matches Pod Labels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3474720" cy="2743200"/>
          </a:xfrm>
          <a:prstGeom prst="roundRect">
            <a:avLst>
              <a:gd name="adj" fmla="val 6000"/>
            </a:avLst>
          </a:prstGeom>
          <a:solidFill>
            <a:srgbClr val="EAF1FE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Service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2960" y="2331720"/>
            <a:ext cx="3108960" cy="1458467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331720"/>
            <a:ext cx="82296" cy="1458467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2395728"/>
            <a:ext cx="2779776" cy="13670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selector: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app: backend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tier: api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ports: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port: 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targetPort: 8080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4114800" y="3200400"/>
            <a:ext cx="1371600" cy="0"/>
          </a:xfrm>
          <a:prstGeom prst="line">
            <a:avLst/>
          </a:prstGeom>
          <a:ln w="25400">
            <a:solidFill>
              <a:srgbClr val="1F6FEB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60520" y="28346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 panose="020B0604020202020204"/>
              </a:rPr>
              <a:t>matches</a:t>
            </a:r>
            <a:endParaRPr sz="12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486400" y="1828800"/>
            <a:ext cx="2926080" cy="2011680"/>
          </a:xfrm>
          <a:prstGeom prst="roundRect">
            <a:avLst>
              <a:gd name="adj" fmla="val 6000"/>
            </a:avLst>
          </a:prstGeom>
          <a:solidFill>
            <a:srgbClr val="E8F7EE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19202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Pod A  ✓ Selected</a:t>
            </a:r>
            <a:endParaRPr sz="13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669280" y="2286000"/>
            <a:ext cx="2560320" cy="7086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0" y="2286000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88736" y="2350008"/>
            <a:ext cx="223113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labels: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app: backend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tier: api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486400" y="4114800"/>
            <a:ext cx="2926080" cy="155448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42062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Pod B  ✗ Not Selected</a:t>
            </a:r>
            <a:endParaRPr sz="13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669280" y="4526280"/>
            <a:ext cx="2560320" cy="521207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0" y="4526280"/>
            <a:ext cx="82296" cy="521207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8736" y="4590288"/>
            <a:ext cx="223113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labels: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app: frontend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4114800" y="2834640"/>
            <a:ext cx="1371600" cy="0"/>
          </a:xfrm>
          <a:prstGeom prst="line">
            <a:avLst/>
          </a:prstGeom>
          <a:ln w="25400">
            <a:solidFill>
              <a:srgbClr val="10B98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160520" y="25146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0B981"/>
                </a:solidFill>
                <a:latin typeface="Arial" panose="020B0604020202020204"/>
              </a:rPr>
              <a:t>selects &amp;
routes to</a:t>
            </a:r>
            <a:endParaRPr sz="1000" b="0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686800" y="2560320"/>
            <a:ext cx="2926080" cy="50292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2560320"/>
            <a:ext cx="292608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kubectl get endpoints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686800" y="315468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 panose="020B0604020202020204"/>
              </a:rPr>
              <a:t>Lists the IPs of all matching Pods.
Empty = selector mismatch —
first place to debug!</a:t>
            </a:r>
            <a:endParaRPr sz="1200" b="0">
              <a:solidFill>
                <a:srgbClr val="161B26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SERVICES · COMPARISON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Services — Quick Reference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Service Types</a:t>
            </a:r>
            <a:endParaRPr sz="1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When to Use</a:t>
            </a:r>
            <a:endParaRPr sz="16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ClusterIP (default): internal VIP, cluster-only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kubectl create service clusterip my-svc --tcp=80:8080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NodePort: extends ClusterIP + opens port 30000-32767 on every node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kubectl create service nodeport my-svc --tcp=80:8080 --node-port=30080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LoadBalancer: extends NodePort + provisions cloud LB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ExternalName: DNS CNAME alias to external hostname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Use ClusterIP when only pods inside the cluster need access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Use NodePort for simple external access without a cloud provider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Use LoadBalancer in managed cloud environments (GKE, EKS, AKS)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Headless service (clusterIP: None): no VIP — direct pod DNS records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kubectl create service clusterip my-svc --clusterip=None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Check: kubectl get svc -A   |   kubectl describe svc &lt;name&gt;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4 · SERVICES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Services — ClusterIP, NodePort, LoadBalancer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27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Services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A Service gives a stable virtual IP and DNS name to a set of Pods. CKAD requires fluency with ClusterIP, NodePort and LoadBalancer types, kubectl expose, endpoint debugging and the selector-mismatch pattern.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Expose a Deployment as ClusterIP, NodePort and LoadBalancer, inspect EndpointSlices, then debug a selector mismatch.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create · k expose · k patch · » ClusterIP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27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Services — ClusterIP, NodePort, LoadBalancer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Backend Deployment + ClusterIP Service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deployment web --image=nginx:1.25 --replicas=3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expose deployment web --port=80 --target-port=80 --name=web-cip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describe svc web-cip | grep -E "IP:|Endpoints:"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NodePort (a port on every node)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expose deployment web --port=80 --target-port=80 --type=NodePort --name=web-np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PORT=$(k get svc web-np -o jsonpath='{.spec.ports[0].nodePort}')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curl -s http://localhost:$PORT | head -3   # 30000-32767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6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LoadBalancer + EndpointSlices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4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4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2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expose deployment web --port=80 --type=LoadBalancer --name=web-lb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endpointslices -l kubernetes.io/service-name=web-cip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27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Services — ClusterIP, NodePort, LoadBalancer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Debug a selector mismatch (the #1 Service bug)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patch svc web-cip -p '{"spec":{"selector":{"app":"does-not-exist"}}}'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endpoints web-cip        # empty = no Pod matches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patch svc web-cip -p '{"spec":{"selector":{"app":"web"}}}'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ClusterIP = in-cluster only; NodePort = a port on every node; LoadBalancer = a cloud LB. Empty Endpoints almost always means the selector does not match Pod labels. EndpointSlices (v1.21+) succeed Endpoints.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27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Services — ClusterIP, NodePort, LoadBalancer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describe svc web-cip lists three endpoint IPs, the NodePort serves the page on localhost:$PORT, and a bad selector empties the Endpoints until it is fixed.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TROUBLESHOOTING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Troubleshooting Services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Built-in mechanisms for identifying the root cause of a failure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 panose="020B0604020202020204"/>
              </a:rPr>
              <a:t>8</a:t>
            </a: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TROUBLESHOOTING SERVICES · STEP 1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Checking Service Connectivity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Identify the Service type and attempt to connect to it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service echoserver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    TYPE       CLUSTER-IP      EXTERNAL-IP  PORT(S)    AGE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echoserver  ClusterIP  10.96.254.0     &lt;none&gt;       8080/TCP   8s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8575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Run a temporary Pod and attempt to reach the Service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204972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04972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68980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run tmp --image=busybox --restart=Never -it --rm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 wget echoserver:8080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Connecting to echoserver (10.96.254.0:8080)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wget: can't connect to remote host (10.96.254.0:8080): Connection refused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pod "tmp" deleted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TROUBLESHOOTING SERVICES · STEP 2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Verifying Endpoints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No endpoints = label selector does not match any Pod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endpoints echoserver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    ENDPOINTS  AGE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echoserver  &lt;none&gt;     63s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8575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Correct configuration exposes Pod IP addresses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2049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049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68980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endpoints echoserver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    ENDPOINTS                          AGE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echoserver  10.244.0.3:8080,10.244.0.4:8080   63s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TROUBLESHOOTING SERVICES · STEP 3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Checking Label Selection and Port Assignment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Inspect the Service — verify Selector and TargetPort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645919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describe service echoserver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Name:      echoserver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Selector:  app=echoserver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Type:      ClusterIP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IP:        10.111.148.223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Port:      8080/TCP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TargetPort: 8080/TCP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Endpoints: 10.244.0.3:8080,10.244.0.4:8080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794759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Compare with Pod labels — they must match the Selector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142231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42231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206239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describe pod echoserver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Labels:  app=echoserver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echoserver: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Port: 8080/TCP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TROUBLESHOOTING SERVICES · STEP 4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Checking Network Policies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Check for NetworkPolicies that may block ingress traffic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45846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45846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3670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networkpolicies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No resources found in default namespace.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If policies exist, inspect them: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networkpolicies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               POD-SELECTOR  AGE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default-deny-ingress   &lt;none&gt;        9s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607307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A default-deny-ingress policy blocks ALL ingress — may need an allow rule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TROUBLESHOOTING SERVICES · STEP 5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Ensuring Pod Functionality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Check Pod status — even 'Running' may hide container problems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645919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pods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    READY  STATUS        RESTARTS  AGE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echoserver  0/1    ErrImagePull  0         2s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After fix: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pods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    READY  STATUS   RESTARTS  AGE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echoserver  1/1    Running  0         5s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794759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Exec into the Pod or use logs to verify the application is actually serving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142231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42231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206239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logs echoserver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exec -it echoserver -- wget -qO- localhost:8080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 panose="020B0604020202020204"/>
              </a:rPr>
              <a:t>EXERCISE</a:t>
            </a:r>
            <a:endParaRPr sz="18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83464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 panose="020B0604020202020204"/>
              </a:rPr>
              <a:t>Troubleshooting a Service</a:t>
            </a:r>
            <a:endParaRPr sz="36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 panose="020B0604020202020204"/>
              </a:rPr>
              <a:t>EXAM PREP · KEY TAKEAWAYS</a:t>
            </a:r>
            <a:endParaRPr sz="1400" b="1">
              <a:solidFill>
                <a:srgbClr val="F59E0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Exam Essentials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Service misconfiguration is a common failure. Any misconfiguration prevents traffic from reaching the target Pods.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Common causes: incorrect label selector (Service selector must match Pod labels), wrong port or targetPort assignment.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Use kubectl get endpoints &lt;service&gt; to verify the Service has resolved Pod IP:port pairs.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Check for NetworkPolicies that may block ingress traffic to the Pod.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Verify the Pod itself is healthy: check status, logs, and exec a test request from inside the cluster.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TOPIC 2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Service DNS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How CoreDNS resolves Services and Pods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CLUSTER DNS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Names, Not IPs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CoreDNS gives every Service a name: &lt;service&gt;.&lt;namespace&gt;.svc.cluster.local.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Within the same namespace the short name resolves via the Pod's search list.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Cross-namespace you need at least &lt;service&gt;.&lt;namespace&gt;; the full FQDN always works.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headless Service (clusterIP: None) returns every Pod IP instead of a single virtual IP.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60" dirty="0"/>
              <a:t>Discovering</a:t>
            </a:r>
            <a:r>
              <a:rPr spc="-30" dirty="0"/>
              <a:t> </a:t>
            </a:r>
            <a:r>
              <a:rPr spc="130" dirty="0"/>
              <a:t>the</a:t>
            </a:r>
            <a:r>
              <a:rPr spc="-30" dirty="0"/>
              <a:t> </a:t>
            </a:r>
            <a:r>
              <a:rPr dirty="0"/>
              <a:t>Service</a:t>
            </a:r>
            <a:r>
              <a:rPr spc="-25" dirty="0"/>
              <a:t> </a:t>
            </a:r>
            <a:r>
              <a:rPr spc="125" dirty="0"/>
              <a:t>by</a:t>
            </a:r>
            <a:r>
              <a:rPr spc="-30" dirty="0"/>
              <a:t> </a:t>
            </a:r>
            <a:r>
              <a:rPr spc="-45" dirty="0"/>
              <a:t>DNS</a:t>
            </a:r>
            <a:r>
              <a:rPr spc="-30" dirty="0"/>
              <a:t> </a:t>
            </a:r>
            <a:r>
              <a:rPr spc="-10" dirty="0"/>
              <a:t>Lookup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7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Kubernetes’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-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DNS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7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maps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cluster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-10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IP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address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6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6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name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07224" y="1814008"/>
            <a:ext cx="9799320" cy="1783080"/>
            <a:chOff x="607224" y="1814008"/>
            <a:chExt cx="9799320" cy="178308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07224" y="1814008"/>
              <a:ext cx="9799200" cy="17824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78665" y="1878433"/>
              <a:ext cx="9646920" cy="1630680"/>
            </a:xfrm>
            <a:custGeom>
              <a:avLst/>
              <a:gdLst/>
              <a:ahLst/>
              <a:cxnLst/>
              <a:rect l="l" t="t" r="r" b="b"/>
              <a:pathLst>
                <a:path w="7235190" h="1223010">
                  <a:moveTo>
                    <a:pt x="7235099" y="1222499"/>
                  </a:moveTo>
                  <a:lnTo>
                    <a:pt x="0" y="1222499"/>
                  </a:lnTo>
                  <a:lnTo>
                    <a:pt x="0" y="0"/>
                  </a:lnTo>
                  <a:lnTo>
                    <a:pt x="7235099" y="0"/>
                  </a:lnTo>
                  <a:lnTo>
                    <a:pt x="7235099" y="1222499"/>
                  </a:lnTo>
                  <a:close/>
                </a:path>
              </a:pathLst>
            </a:custGeom>
            <a:solidFill>
              <a:srgbClr val="F6F6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958499" y="2076493"/>
            <a:ext cx="7338907" cy="5452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ourier New" panose="02070309020205020404"/>
                <a:cs typeface="Courier New" panose="02070309020205020404"/>
              </a:rPr>
              <a:t>$</a:t>
            </a:r>
            <a:r>
              <a:rPr sz="1200" b="1" spc="-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kubectl</a:t>
            </a:r>
            <a:r>
              <a:rPr sz="1200" b="1" spc="-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run</a:t>
            </a:r>
            <a:r>
              <a:rPr sz="1200" b="1" spc="-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tmp</a:t>
            </a:r>
            <a:r>
              <a:rPr sz="1200" b="1" spc="-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spc="-20" dirty="0">
                <a:latin typeface="Courier New" panose="02070309020205020404"/>
                <a:cs typeface="Courier New" panose="02070309020205020404"/>
              </a:rPr>
              <a:t>--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image=busybox</a:t>
            </a:r>
            <a:r>
              <a:rPr sz="1200" b="1" spc="-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spc="-20" dirty="0">
                <a:latin typeface="Courier New" panose="02070309020205020404"/>
                <a:cs typeface="Courier New" panose="02070309020205020404"/>
              </a:rPr>
              <a:t>--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restart=Never</a:t>
            </a:r>
            <a:r>
              <a:rPr sz="1200" b="1" spc="-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spc="-20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it</a:t>
            </a:r>
            <a:r>
              <a:rPr sz="1200" b="1" spc="-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spc="-20" dirty="0">
                <a:latin typeface="Courier New" panose="02070309020205020404"/>
                <a:cs typeface="Courier New" panose="02070309020205020404"/>
              </a:rPr>
              <a:t>--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rm</a:t>
            </a:r>
            <a:r>
              <a:rPr sz="1200" b="1" spc="-5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300" spc="-700" dirty="0">
                <a:latin typeface="Lucida Grande"/>
                <a:cs typeface="Lucida Grande"/>
              </a:rPr>
              <a:t>↵</a:t>
            </a:r>
            <a:endParaRPr sz="1300">
              <a:latin typeface="Lucida Grande"/>
              <a:cs typeface="Lucida Grande"/>
            </a:endParaRPr>
          </a:p>
          <a:p>
            <a:pPr marL="195580">
              <a:lnSpc>
                <a:spcPct val="100000"/>
              </a:lnSpc>
              <a:spcBef>
                <a:spcPts val="20"/>
              </a:spcBef>
            </a:pPr>
            <a:r>
              <a:rPr sz="1200" b="1" spc="-20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200" b="1" spc="-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spc="-20" dirty="0">
                <a:latin typeface="Courier New" panose="02070309020205020404"/>
                <a:cs typeface="Courier New" panose="02070309020205020404"/>
              </a:rPr>
              <a:t>wget</a:t>
            </a:r>
            <a:endParaRPr sz="12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9100" y="2361700"/>
            <a:ext cx="5127413" cy="287867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1275">
              <a:lnSpc>
                <a:spcPts val="1435"/>
              </a:lnSpc>
            </a:pPr>
            <a:r>
              <a:rPr sz="1200" b="1" spc="-10" dirty="0">
                <a:latin typeface="Courier New" panose="02070309020205020404"/>
                <a:cs typeface="Courier New" panose="02070309020205020404"/>
              </a:rPr>
              <a:t>echoserver.default.svc.cluster.local:8080</a:t>
            </a:r>
            <a:endParaRPr sz="12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8499" y="2585171"/>
            <a:ext cx="9055945" cy="5190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sz="1200" dirty="0">
                <a:latin typeface="Courier New" panose="02070309020205020404"/>
                <a:cs typeface="Courier New" panose="02070309020205020404"/>
              </a:rPr>
              <a:t>Connecting</a:t>
            </a:r>
            <a:r>
              <a:rPr sz="1200" spc="-8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to</a:t>
            </a:r>
            <a:r>
              <a:rPr sz="1200" spc="-8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10" dirty="0">
                <a:latin typeface="Courier New" panose="02070309020205020404"/>
                <a:cs typeface="Courier New" panose="02070309020205020404"/>
              </a:rPr>
              <a:t>echoserver.default.svc.cluster.local:8080</a:t>
            </a:r>
            <a:r>
              <a:rPr sz="1200" spc="-8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10" dirty="0">
                <a:latin typeface="Courier New" panose="02070309020205020404"/>
                <a:cs typeface="Courier New" panose="02070309020205020404"/>
              </a:rPr>
              <a:t>(10.96.254.0:8080)</a:t>
            </a:r>
            <a:endParaRPr sz="12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1435"/>
              </a:lnSpc>
            </a:pPr>
            <a:r>
              <a:rPr sz="1200" spc="-25" dirty="0">
                <a:latin typeface="Courier New" panose="02070309020205020404"/>
                <a:cs typeface="Courier New" panose="02070309020205020404"/>
              </a:rPr>
              <a:t>...</a:t>
            </a:r>
            <a:endParaRPr sz="12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794245" y="2982805"/>
            <a:ext cx="2749127" cy="1639147"/>
            <a:chOff x="2794245" y="2982805"/>
            <a:chExt cx="2749127" cy="1639147"/>
          </a:xfrm>
        </p:grpSpPr>
        <p:sp>
          <p:nvSpPr>
            <p:cNvPr id="10" name="object 10"/>
            <p:cNvSpPr/>
            <p:nvPr/>
          </p:nvSpPr>
          <p:spPr>
            <a:xfrm>
              <a:off x="2848899" y="3110905"/>
              <a:ext cx="0" cy="822113"/>
            </a:xfrm>
            <a:custGeom>
              <a:avLst/>
              <a:gdLst/>
              <a:ahLst/>
              <a:cxnLst/>
              <a:rect l="l" t="t" r="r" b="b"/>
              <a:pathLst>
                <a:path h="616585">
                  <a:moveTo>
                    <a:pt x="0" y="6161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94245" y="2982939"/>
              <a:ext cx="109307" cy="14066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062009" y="3110772"/>
              <a:ext cx="0" cy="1498600"/>
            </a:xfrm>
            <a:custGeom>
              <a:avLst/>
              <a:gdLst/>
              <a:ahLst/>
              <a:cxnLst/>
              <a:rect l="l" t="t" r="r" b="b"/>
              <a:pathLst>
                <a:path h="1123950">
                  <a:moveTo>
                    <a:pt x="0" y="11237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7355" y="2982805"/>
              <a:ext cx="109307" cy="14066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674365" y="3110965"/>
              <a:ext cx="855980" cy="1309792"/>
            </a:xfrm>
            <a:custGeom>
              <a:avLst/>
              <a:gdLst/>
              <a:ahLst/>
              <a:cxnLst/>
              <a:rect l="l" t="t" r="r" b="b"/>
              <a:pathLst>
                <a:path w="641985" h="982345">
                  <a:moveTo>
                    <a:pt x="641699" y="981899"/>
                  </a:moveTo>
                  <a:lnTo>
                    <a:pt x="0" y="981899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711" y="2982999"/>
              <a:ext cx="109308" cy="14066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2107695" y="3983957"/>
            <a:ext cx="1483360" cy="3183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 panose="020B0604020202020204"/>
                <a:cs typeface="Arial" panose="020B0604020202020204"/>
              </a:rPr>
              <a:t>Service</a:t>
            </a:r>
            <a:r>
              <a:rPr sz="14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20" dirty="0">
                <a:latin typeface="Arial" panose="020B0604020202020204"/>
                <a:cs typeface="Arial" panose="020B0604020202020204"/>
              </a:rPr>
              <a:t>name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12943" y="4088041"/>
            <a:ext cx="3869267" cy="905087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743075">
              <a:lnSpc>
                <a:spcPct val="100000"/>
              </a:lnSpc>
              <a:spcBef>
                <a:spcPts val="990"/>
              </a:spcBef>
            </a:pPr>
            <a:r>
              <a:rPr sz="1400" dirty="0">
                <a:latin typeface="Arial" panose="020B0604020202020204"/>
                <a:cs typeface="Arial" panose="020B0604020202020204"/>
              </a:rPr>
              <a:t>Resource</a:t>
            </a:r>
            <a:r>
              <a:rPr sz="14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20" dirty="0">
                <a:latin typeface="Arial" panose="020B0604020202020204"/>
                <a:cs typeface="Arial" panose="020B0604020202020204"/>
              </a:rPr>
              <a:t>type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400" spc="-10" dirty="0">
                <a:latin typeface="Arial" panose="020B0604020202020204"/>
                <a:cs typeface="Arial" panose="020B0604020202020204"/>
              </a:rPr>
              <a:t>Namespace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775081" y="2983097"/>
            <a:ext cx="1180253" cy="966047"/>
            <a:chOff x="5775081" y="2983097"/>
            <a:chExt cx="1180253" cy="966047"/>
          </a:xfrm>
        </p:grpSpPr>
        <p:sp>
          <p:nvSpPr>
            <p:cNvPr id="19" name="object 19"/>
            <p:cNvSpPr/>
            <p:nvPr/>
          </p:nvSpPr>
          <p:spPr>
            <a:xfrm>
              <a:off x="5829735" y="3111063"/>
              <a:ext cx="1112520" cy="825500"/>
            </a:xfrm>
            <a:custGeom>
              <a:avLst/>
              <a:gdLst/>
              <a:ahLst/>
              <a:cxnLst/>
              <a:rect l="l" t="t" r="r" b="b"/>
              <a:pathLst>
                <a:path w="834389" h="619125">
                  <a:moveTo>
                    <a:pt x="834073" y="618602"/>
                  </a:moveTo>
                  <a:lnTo>
                    <a:pt x="0" y="618602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75081" y="2983097"/>
              <a:ext cx="109305" cy="140968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056508" y="3754551"/>
            <a:ext cx="2269067" cy="3183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 panose="020B0604020202020204"/>
                <a:cs typeface="Arial" panose="020B0604020202020204"/>
              </a:rPr>
              <a:t>Cluster-specific</a:t>
            </a:r>
            <a:r>
              <a:rPr sz="14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latin typeface="Arial" panose="020B0604020202020204"/>
                <a:cs typeface="Arial" panose="020B0604020202020204"/>
              </a:rPr>
              <a:t>suffix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4 · SERVICE DNS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 DNS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28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Service DNS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CoreDNS gives every Service a stable DNS name: &lt;service&gt;.&lt;namespace&gt;.svc.cluster.local. CKAD tests cross-namespace resolution, Pod DNS records, headless Services, and reading /etc/resolv.conf to understand ndots:5.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Resolve a Service by short name and FQDN, cross namespaces, read a Pod DNS record and /etc/resolv.conf, then a headless Service.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-n · nslookup web · cat /etc/resolv.conf · » FQDN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28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 DNS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Resolve from the same namespace (short name)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-n app run client --image=busybox --restart=Never -it --rm --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sh -c 'nslookup web; wget -qO- web | head -3'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Resolve from a different namespace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nslookup web              # fails cross-namespace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nslookup web.app          # works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nslookup web.app.svc.cluster.local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Pod DNS record and resolv.conf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Pod A-record: &lt;dashed-ip&gt;.&lt;namespace&gt;.pod.cluster.local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cat /etc/resolv.conf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search app.svc.cluster.local svc.cluster.local cluster.local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ndots:5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28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 DNS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Headless Service returns all Pod IPs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-n app create service clusterip headless --clusterip="None" --tcp=80:80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nslookup headless.app    # returns every Pod IP, not one VIP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FQDN = &lt;service&gt;.&lt;namespace&gt;.svc.cluster.local. Short names resolve via the search list within the namespace; cross-namespace needs &lt;service&gt;.&lt;namespace&gt;. ndots:5 is why short names check the search list before an absolute lookup. Headless (clusterIP: None) returns per-Pod IPs.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28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 DNS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nslookup web works in-namespace but needs web.app cross-namespace, and the headless Service resolves to all backing Pod IPs.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SERVICES · HEADLESS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Headless Services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11155680" cy="1097280"/>
          </a:xfrm>
          <a:prstGeom prst="roundRect">
            <a:avLst>
              <a:gd name="adj" fmla="val 6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19072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Headless Service</a:t>
            </a:r>
            <a:r>
              <a:rPr sz="1400" b="0">
                <a:solidFill>
                  <a:srgbClr val="161B26"/>
                </a:solidFill>
                <a:latin typeface="Arial" panose="020B0604020202020204"/>
              </a:rPr>
              <a:t> — a Service with </a:t>
            </a:r>
            <a:r>
              <a:rPr sz="1400" b="1">
                <a:solidFill>
                  <a:srgbClr val="0B1220"/>
                </a:solidFill>
                <a:latin typeface="Arial" panose="020B0604020202020204"/>
              </a:rPr>
              <a:t>clusterIP: None</a:t>
            </a:r>
            <a:r>
              <a:rPr sz="1400" b="0">
                <a:solidFill>
                  <a:srgbClr val="161B26"/>
                </a:solidFill>
                <a:latin typeface="Arial" panose="020B0604020202020204"/>
              </a:rPr>
              <a:t>. No virtual IP; DNS resolves directly to Pod IPs.</a:t>
            </a:r>
            <a:endParaRPr sz="14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212080" cy="315468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Regular ClusterIP Service</a:t>
            </a:r>
            <a:endParaRPr sz="15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3364992"/>
            <a:ext cx="48463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DNS → single virtual IP (kube-proxy load-balances)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Client never sees individual Pod IPs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Best for: stateless services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309360" y="2834640"/>
            <a:ext cx="5394960" cy="3154680"/>
          </a:xfrm>
          <a:prstGeom prst="roundRect">
            <a:avLst>
              <a:gd name="adj" fmla="val 6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926080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 panose="020B0604020202020204"/>
              </a:rPr>
              <a:t>Headless Service (clusterIP: None)</a:t>
            </a:r>
            <a:endParaRPr sz="15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92240" y="3364992"/>
            <a:ext cx="5029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DNS → returns A record per Pod IP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Client discovers and connects to individual Pods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Best for: StatefulSets, databases, peer discovery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SERVICES · HEADLESS YAML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Headless Service — YAML and DNS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Set clusterIP: None to create a headless service</a:t>
            </a:r>
            <a:endParaRPr sz="13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202082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Service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mysql-headless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clusterIP: None          # &lt;-- this makes it headless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selector: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app: mysql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ports: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port: 3306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416966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DNS — each Pod gets its own A record (used with StatefulSets)</a:t>
            </a:r>
            <a:endParaRPr sz="13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517136"/>
            <a:ext cx="10652760" cy="89611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517136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581144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StatefulSet pod DNS pattern: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&lt;pod-name&gt;.&lt;service-name&gt;.&lt;namespace&gt;.svc.cluster.local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mysql-0.mysql-headless.default.svc.cluster.local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mysql-1.mysql-headless.default.svc.cluster.local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 panose="020B0604020202020204"/>
              </a:rPr>
              <a:t>Tea Break</a:t>
            </a:r>
            <a:endParaRPr sz="4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 panose="020B0604020202020204"/>
              </a:rPr>
              <a:t>15 minutes</a:t>
            </a:r>
            <a:endParaRPr sz="2200" b="1">
              <a:solidFill>
                <a:srgbClr val="10B981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TOPIC 3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Ingress &amp; TLS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Layer-7 HTTP/HTTPS routing into the cluster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L7 ROUTING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One Entry Point, Many Rules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An Ingress defines host- and path-based HTTP/HTTPS rules that forward to backend Services.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An Ingress controller (e.g. ingress-nginx) must be running; ingressClassName selects it.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TLS terminates at the controller — tls.secretName points at a kubernetes.io/tls Secret.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pathType: Prefix matches a path and everything below it; Exact requires an exact match.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apiVersion is networking.k8s.io/v1 (extensions/v1beta1 was removed in 1.22).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Ingress</a:t>
            </a:r>
            <a:r>
              <a:rPr spc="75" dirty="0"/>
              <a:t> </a:t>
            </a:r>
            <a:r>
              <a:rPr spc="50" dirty="0"/>
              <a:t>Traffic</a:t>
            </a:r>
            <a:r>
              <a:rPr spc="80" dirty="0"/>
              <a:t> </a:t>
            </a:r>
            <a:r>
              <a:rPr spc="40" dirty="0"/>
              <a:t>Routing</a:t>
            </a:r>
            <a:endParaRPr spc="4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context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6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path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is </a:t>
            </a:r>
            <a:r>
              <a:rPr sz="1600" b="0" spc="19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mapped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backend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(Service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8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name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6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port)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95367" y="4836627"/>
            <a:ext cx="745067" cy="2370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latin typeface="Courier New" panose="02070309020205020404"/>
                <a:cs typeface="Courier New" panose="02070309020205020404"/>
              </a:rPr>
              <a:t>/health</a:t>
            </a:r>
            <a:endParaRPr sz="1000">
              <a:latin typeface="Courier New" panose="02070309020205020404"/>
              <a:cs typeface="Courier New" panose="020703090202050204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75831" y="2199200"/>
            <a:ext cx="10653067" cy="3423932"/>
          </a:xfrm>
          <a:prstGeom prst="rect">
            <a:avLst/>
          </a:prstGeom>
        </p:spPr>
      </p:pic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INGRESS · MOTIVATION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Why Ingress? Services vs Ingress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 panose="020B0604020202020204"/>
              </a:rPr>
              <a:t>Without Ingress (Services only)</a:t>
            </a:r>
            <a:endParaRPr sz="1600" b="1">
              <a:solidFill>
                <a:srgbClr val="F59E0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With Ingress</a:t>
            </a:r>
            <a:endParaRPr sz="16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One Service = one IP/port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LoadBalancer Service = one cloud LB per service (expensive)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No SSL/TLS termination at Service level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No host/path-based routing with Services alone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Many services = many public IPs to manage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Single entry point for all HTTP(S) traffic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L7 routing: route by hostname or URL path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example.com/api  →  api-service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example.com/web  →  web-service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TLS termination: one cert handles all services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Requires an IngressController (nginx, traefik, AWS ALB…)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INGRESS · ARCHITECTURE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Ingress — L7 Routing Architecture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2240280"/>
            <a:ext cx="1600200" cy="100584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  <a:latin typeface="Arial" panose="020B0604020202020204"/>
              </a:rPr>
              <a:t>Internet</a:t>
            </a:r>
            <a:endParaRPr sz="1000" b="1">
              <a:solidFill>
                <a:srgbClr val="F59E0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2514600"/>
            <a:ext cx="1280160" cy="50292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14600"/>
            <a:ext cx="128016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 panose="020B0604020202020204"/>
              </a:rPr>
              <a:t>HTTPS :443</a:t>
            </a:r>
            <a:endParaRPr sz="1200" b="1">
              <a:solidFill>
                <a:srgbClr val="161B26"/>
              </a:solidFill>
              <a:latin typeface="Arial" panose="020B0604020202020204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2057400" y="2743200"/>
            <a:ext cx="914400" cy="0"/>
          </a:xfrm>
          <a:prstGeom prst="line">
            <a:avLst/>
          </a:prstGeom>
          <a:ln w="25400">
            <a:solidFill>
              <a:srgbClr val="F59E0B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71800" y="2011680"/>
            <a:ext cx="2560320" cy="1463040"/>
          </a:xfrm>
          <a:prstGeom prst="roundRect">
            <a:avLst>
              <a:gd name="adj" fmla="val 6000"/>
            </a:avLst>
          </a:prstGeom>
          <a:solidFill>
            <a:srgbClr val="EAF1FE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210312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Ingress Controller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54680" y="2450592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 panose="020B0604020202020204"/>
              </a:rPr>
              <a:t>Reads Ingress rules,
terminates TLS,
proxies requests</a:t>
            </a:r>
            <a:endParaRPr sz="1100" b="0">
              <a:solidFill>
                <a:srgbClr val="161B26"/>
              </a:solidFill>
              <a:latin typeface="Arial" panose="020B0604020202020204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532120" y="2743200"/>
            <a:ext cx="868680" cy="0"/>
          </a:xfrm>
          <a:prstGeom prst="line">
            <a:avLst/>
          </a:prstGeom>
          <a:ln w="25400">
            <a:solidFill>
              <a:srgbClr val="1F6FEB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532120" y="242316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 panose="020B0604020202020204"/>
              </a:rPr>
              <a:t>routes</a:t>
            </a:r>
            <a:endParaRPr sz="10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0" y="1691640"/>
            <a:ext cx="5212080" cy="411480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7830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 panose="020B0604020202020204"/>
              </a:rPr>
              <a:t>Ingress Rules  (host + path → service)</a:t>
            </a:r>
            <a:endParaRPr sz="12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583680" y="2148840"/>
            <a:ext cx="4754880" cy="530352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148840"/>
            <a:ext cx="4754880" cy="530352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 panose="020B0604020202020204"/>
              </a:rPr>
              <a:t>/api  →  api-service:8080</a:t>
            </a:r>
            <a:endParaRPr sz="1300" b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83680" y="2788920"/>
            <a:ext cx="4754880" cy="530352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788920"/>
            <a:ext cx="4754880" cy="530352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 panose="020B0604020202020204"/>
              </a:rPr>
              <a:t>/web  →  web-service:80</a:t>
            </a:r>
            <a:endParaRPr sz="1300" b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583680" y="3429000"/>
            <a:ext cx="4754880" cy="530352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429000"/>
            <a:ext cx="4754880" cy="530352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 panose="020B0604020202020204"/>
              </a:rPr>
              <a:t>admin.example.com  →  admin-service:9000</a:t>
            </a:r>
            <a:endParaRPr sz="1300" b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2971800" y="3977639"/>
            <a:ext cx="2560320" cy="502920"/>
          </a:xfrm>
          <a:prstGeom prst="roundRect">
            <a:avLst>
              <a:gd name="adj" fmla="val 6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3977639"/>
            <a:ext cx="256032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0">
                <a:solidFill>
                  <a:srgbClr val="1F6FEB"/>
                </a:solidFill>
                <a:latin typeface="Arial" panose="020B0604020202020204"/>
              </a:rPr>
              <a:t>TLS terminates here — upstream is plain HTTP</a:t>
            </a:r>
            <a:endParaRPr sz="1100" b="0">
              <a:solidFill>
                <a:srgbClr val="1F6FE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INGRESS · DECLARATIVE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Ingress YAML — Anatomy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Path-based routing for two services on the same host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44577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44577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43662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networking.k8s.io/v1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Ingress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app-ingress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annotations: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nginx.ingress.kubernetes.io/rewrite-target: /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ingressClassName: nginx          # which IngressController to use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tls: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hosts: [example.com]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secretName: tls-secret          # kubectl create secret tls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rules: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host: example.com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http: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paths: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- path: /api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pathType: Prefix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backend: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service: {name: api-svc, port: {number: 8080}}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- path: /web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pathType: Prefix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backend: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service: {name: web-svc, port: {number: 80}}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INGRESS · INGRESSCLASS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IngressClass and IngressController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An IngressController is a running Pod (e.g. nginx, traefik) that reads Ingress rules and configures its proxy.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An IngressClass links an Ingress resource to a specific IngressController.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spec.ingressClassName: nginx  →  handled by the nginx IngressController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If only one IngressClass exists it can be marked as default (isDefaultClass: true).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Check available classes:  kubectl get ingressclass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CKAD exam: IngressClass is usually pre-configured — just reference it in your Ingress spec.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Troubleshoot:  kubectl describe ingress &lt;name&gt;  — check Events for routing errors.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4 · INGRESS &amp; TLS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Ingress with TLS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29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Ingress &amp; TLS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An Ingress provides Layer-7 HTTP/HTTPS routing: hostname and path rules forwarding to backend Services. CKAD tests installing a controller, TLS Secrets, host routing and path-based routing with pathType.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Install ingress-nginx, create a TLS Secret, write a host+TLS Ingress, test HTTPS, then add a path-based rule.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create · apiVersion: networking.k8s.io/v1 · curl -k · » Ingress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29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Ingress with TLS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Backend Service + TLS Secret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deployment web --image=hashicorp/http-echo --replicas=2 -- -text=hello-ingress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expose deployment web --port=5678 --target-port=5678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secret tls demo-tls --cert=tls.crt --key=tls.key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29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Ingress with TLS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Ingress with TLS and host routing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95808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9580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8666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networking.k8s.io/v1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Ingress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 {name: demo}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ingressClassName: nginx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tls: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hosts: [demo.local]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secretName: demo-tls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rules: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host: demo.local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http: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paths: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- path: /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pathType: Prefix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backend: {service: {name: web, port: {number: 5678}}}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29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Ingress with TLS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Test HTTPS routing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curl -k --resolve demo.local:$HTTPS_PORT:127.0.0.1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https://demo.local:$HTTPS_PORT/        # hello-ingress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Add path-based routing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add a second rule: path /v2 -&gt; service v2:5678 (pathType: Prefix)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curl -k --resolve demo.local:$HTTPS_PORT:127.0.0.1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https://demo.local:$HTTPS_PORT/v2       # hello-v2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Ingress apiVersion is networking.k8s.io/v1. ingressClassName selects the controller; tls.secretName must point at a kubernetes.io/tls Secret; pathType: Prefix matches a path and everything below it. --resolve + -k let curl test without real DNS or a valid cert.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29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Ingress with TLS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curl https://demo.local:$HTTPS_PORT/ returns hello-ingress over TLS, and the /v2 path returns hello-v2 after the second rule is added.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TOPIC 4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NetworkPolicy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Allow-list Pod-to-Pod traffic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NETWORK ISOLATION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Restrict the Default Open Network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By default every Pod can talk to every other Pod — NetworkPolicies allow-list specific traffic.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Default-deny: podSelector: {} with policyTypes:[Ingress] and no ingress rules blocks all inbound.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Allow by podSelector (Pods by label) or namespaceSelector (whole namespaces) in from/to.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Egress works the same way — the classic exam pattern is 'deny all egress except DNS (port 53)'.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Policies are additive: multiple policies combine with logical OR on their allow rules.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80" dirty="0"/>
              <a:t>Example</a:t>
            </a:r>
            <a:r>
              <a:rPr spc="-80" dirty="0"/>
              <a:t> </a:t>
            </a:r>
            <a:r>
              <a:rPr spc="80" dirty="0"/>
              <a:t>Network</a:t>
            </a:r>
            <a:r>
              <a:rPr spc="-80" dirty="0"/>
              <a:t> </a:t>
            </a:r>
            <a:r>
              <a:rPr spc="-10" dirty="0"/>
              <a:t>Policy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7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Restricting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access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6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payment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processor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Pod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from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other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Pods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31000" y="2972367"/>
            <a:ext cx="10013928" cy="1625399"/>
          </a:xfrm>
          <a:prstGeom prst="rect">
            <a:avLst/>
          </a:prstGeom>
        </p:spPr>
      </p:pic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90" dirty="0"/>
              <a:t>Default</a:t>
            </a:r>
            <a:r>
              <a:rPr spc="-90" dirty="0"/>
              <a:t> </a:t>
            </a:r>
            <a:r>
              <a:rPr spc="85" dirty="0"/>
              <a:t>Deny</a:t>
            </a:r>
            <a:r>
              <a:rPr spc="-85" dirty="0"/>
              <a:t> </a:t>
            </a:r>
            <a:r>
              <a:rPr spc="80" dirty="0"/>
              <a:t>Network</a:t>
            </a:r>
            <a:r>
              <a:rPr spc="-85" dirty="0"/>
              <a:t> </a:t>
            </a:r>
            <a:r>
              <a:rPr spc="-10" dirty="0"/>
              <a:t>Policies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8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Network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policies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additive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5157" y="1890741"/>
            <a:ext cx="4891193" cy="3081020"/>
            <a:chOff x="645157" y="1890741"/>
            <a:chExt cx="4891193" cy="308102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45157" y="1890741"/>
              <a:ext cx="4891200" cy="30808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6599" y="1955165"/>
              <a:ext cx="4738793" cy="2928620"/>
            </a:xfrm>
            <a:custGeom>
              <a:avLst/>
              <a:gdLst/>
              <a:ahLst/>
              <a:cxnLst/>
              <a:rect l="l" t="t" r="r" b="b"/>
              <a:pathLst>
                <a:path w="3554095" h="2196465">
                  <a:moveTo>
                    <a:pt x="3554099" y="2196299"/>
                  </a:moveTo>
                  <a:lnTo>
                    <a:pt x="0" y="2196299"/>
                  </a:lnTo>
                  <a:lnTo>
                    <a:pt x="0" y="0"/>
                  </a:lnTo>
                  <a:lnTo>
                    <a:pt x="3554099" y="0"/>
                  </a:lnTo>
                  <a:lnTo>
                    <a:pt x="3554099" y="2196299"/>
                  </a:lnTo>
                  <a:close/>
                </a:path>
              </a:pathLst>
            </a:custGeom>
            <a:solidFill>
              <a:srgbClr val="F6F6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948565" y="2153227"/>
            <a:ext cx="4260427" cy="1364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apiVersion:</a:t>
            </a:r>
            <a:r>
              <a:rPr sz="1300" b="1" spc="-5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300" spc="-10" dirty="0">
                <a:latin typeface="Courier New" panose="02070309020205020404"/>
                <a:cs typeface="Courier New" panose="02070309020205020404"/>
              </a:rPr>
              <a:t>networking.k8s.io/v1</a:t>
            </a:r>
            <a:endParaRPr sz="13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3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kind:</a:t>
            </a:r>
            <a:r>
              <a:rPr sz="1300" b="1" spc="-2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300" spc="-10" dirty="0">
                <a:latin typeface="Courier New" panose="02070309020205020404"/>
                <a:cs typeface="Courier New" panose="02070309020205020404"/>
              </a:rPr>
              <a:t>NetworkPolicy</a:t>
            </a:r>
            <a:endParaRPr sz="13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3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metadata:</a:t>
            </a:r>
            <a:endParaRPr sz="1300">
              <a:latin typeface="Courier New" panose="02070309020205020404"/>
              <a:cs typeface="Courier New" panose="02070309020205020404"/>
            </a:endParaRPr>
          </a:p>
          <a:p>
            <a:pPr marL="210820">
              <a:lnSpc>
                <a:spcPct val="100000"/>
              </a:lnSpc>
              <a:spcBef>
                <a:spcPts val="15"/>
              </a:spcBef>
            </a:pPr>
            <a:r>
              <a:rPr sz="13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name:</a:t>
            </a:r>
            <a:r>
              <a:rPr sz="1300" b="1" spc="4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300" spc="-10" dirty="0">
                <a:latin typeface="Courier New" panose="02070309020205020404"/>
                <a:cs typeface="Courier New" panose="02070309020205020404"/>
              </a:rPr>
              <a:t>default-deny-</a:t>
            </a:r>
            <a:r>
              <a:rPr sz="1300" spc="-25" dirty="0">
                <a:latin typeface="Courier New" panose="02070309020205020404"/>
                <a:cs typeface="Courier New" panose="02070309020205020404"/>
              </a:rPr>
              <a:t>all</a:t>
            </a:r>
            <a:endParaRPr sz="13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3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spec:</a:t>
            </a:r>
            <a:endParaRPr sz="13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4433" y="3538300"/>
            <a:ext cx="2106507" cy="284480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355"/>
              </a:lnSpc>
            </a:pPr>
            <a:r>
              <a:rPr sz="13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podSelector:</a:t>
            </a:r>
            <a:r>
              <a:rPr sz="1300" b="1" spc="-6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300" spc="-25" dirty="0">
                <a:latin typeface="Courier New" panose="02070309020205020404"/>
                <a:cs typeface="Courier New" panose="02070309020205020404"/>
              </a:rPr>
              <a:t>{}</a:t>
            </a:r>
            <a:endParaRPr sz="13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2727" y="3753428"/>
            <a:ext cx="1618827" cy="2980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policyTypes:</a:t>
            </a:r>
            <a:endParaRPr sz="13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54432" y="4085899"/>
            <a:ext cx="1424940" cy="534247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52730" indent="-196850">
              <a:lnSpc>
                <a:spcPts val="1270"/>
              </a:lnSpc>
              <a:buChar char="-"/>
              <a:tabLst>
                <a:tab pos="252095" algn="l"/>
              </a:tabLst>
            </a:pPr>
            <a:r>
              <a:rPr sz="1300" spc="-10" dirty="0">
                <a:latin typeface="Courier New" panose="02070309020205020404"/>
                <a:cs typeface="Courier New" panose="02070309020205020404"/>
              </a:rPr>
              <a:t>Ingress</a:t>
            </a:r>
            <a:endParaRPr sz="1300">
              <a:latin typeface="Courier New" panose="02070309020205020404"/>
              <a:cs typeface="Courier New" panose="02070309020205020404"/>
            </a:endParaRPr>
          </a:p>
          <a:p>
            <a:pPr marL="252730" indent="-196850">
              <a:lnSpc>
                <a:spcPct val="100000"/>
              </a:lnSpc>
              <a:spcBef>
                <a:spcPts val="15"/>
              </a:spcBef>
              <a:buChar char="-"/>
              <a:tabLst>
                <a:tab pos="252095" algn="l"/>
              </a:tabLst>
            </a:pPr>
            <a:r>
              <a:rPr sz="1300" spc="-10" dirty="0">
                <a:latin typeface="Courier New" panose="02070309020205020404"/>
                <a:cs typeface="Courier New" panose="02070309020205020404"/>
              </a:rPr>
              <a:t>Egress</a:t>
            </a:r>
            <a:endParaRPr sz="13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814912" y="3625645"/>
            <a:ext cx="4441613" cy="2256367"/>
            <a:chOff x="1814912" y="3625645"/>
            <a:chExt cx="4441613" cy="2256367"/>
          </a:xfrm>
        </p:grpSpPr>
        <p:sp>
          <p:nvSpPr>
            <p:cNvPr id="11" name="object 11"/>
            <p:cNvSpPr/>
            <p:nvPr/>
          </p:nvSpPr>
          <p:spPr>
            <a:xfrm>
              <a:off x="3573232" y="3680299"/>
              <a:ext cx="2683933" cy="0"/>
            </a:xfrm>
            <a:custGeom>
              <a:avLst/>
              <a:gdLst/>
              <a:ahLst/>
              <a:cxnLst/>
              <a:rect l="l" t="t" r="r" b="b"/>
              <a:pathLst>
                <a:path w="2012950">
                  <a:moveTo>
                    <a:pt x="20123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45265" y="3625645"/>
              <a:ext cx="140667" cy="10930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869565" y="4955799"/>
              <a:ext cx="882227" cy="913553"/>
            </a:xfrm>
            <a:custGeom>
              <a:avLst/>
              <a:gdLst/>
              <a:ahLst/>
              <a:cxnLst/>
              <a:rect l="l" t="t" r="r" b="b"/>
              <a:pathLst>
                <a:path w="661669" h="685164">
                  <a:moveTo>
                    <a:pt x="661199" y="684899"/>
                  </a:moveTo>
                  <a:lnTo>
                    <a:pt x="0" y="684899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14912" y="4827832"/>
              <a:ext cx="109307" cy="140667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6464080" y="3369184"/>
            <a:ext cx="1970193" cy="59774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 panose="020B0604020202020204"/>
                <a:cs typeface="Arial" panose="020B0604020202020204"/>
              </a:rPr>
              <a:t>Selects</a:t>
            </a:r>
            <a:r>
              <a:rPr sz="14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all</a:t>
            </a:r>
            <a:r>
              <a:rPr sz="14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Pods</a:t>
            </a:r>
            <a:r>
              <a:rPr sz="14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25" dirty="0">
                <a:latin typeface="Arial" panose="020B0604020202020204"/>
                <a:cs typeface="Arial" panose="020B0604020202020204"/>
              </a:rPr>
              <a:t>in </a:t>
            </a:r>
            <a:r>
              <a:rPr sz="1400" dirty="0">
                <a:latin typeface="Arial" panose="020B0604020202020204"/>
                <a:cs typeface="Arial" panose="020B0604020202020204"/>
              </a:rPr>
              <a:t>the</a:t>
            </a:r>
            <a:r>
              <a:rPr sz="1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latin typeface="Arial" panose="020B0604020202020204"/>
                <a:cs typeface="Arial" panose="020B0604020202020204"/>
              </a:rPr>
              <a:t>namespace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43213" y="5543285"/>
            <a:ext cx="2076027" cy="59774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 panose="020B0604020202020204"/>
                <a:cs typeface="Arial" panose="020B0604020202020204"/>
              </a:rPr>
              <a:t>Applies</a:t>
            </a:r>
            <a:r>
              <a:rPr sz="14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in</a:t>
            </a:r>
            <a:r>
              <a:rPr sz="14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latin typeface="Arial" panose="020B0604020202020204"/>
                <a:cs typeface="Arial" panose="020B0604020202020204"/>
              </a:rPr>
              <a:t>incoming </a:t>
            </a:r>
            <a:r>
              <a:rPr sz="1400" dirty="0">
                <a:latin typeface="Arial" panose="020B0604020202020204"/>
                <a:cs typeface="Arial" panose="020B0604020202020204"/>
              </a:rPr>
              <a:t>and</a:t>
            </a:r>
            <a:r>
              <a:rPr sz="14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latin typeface="Arial" panose="020B0604020202020204"/>
                <a:cs typeface="Arial" panose="020B0604020202020204"/>
              </a:rPr>
              <a:t>outgoing</a:t>
            </a:r>
            <a:r>
              <a:rPr sz="14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latin typeface="Arial" panose="020B0604020202020204"/>
                <a:cs typeface="Arial" panose="020B0604020202020204"/>
              </a:rPr>
              <a:t>traffic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NETWORKPOLICY · DEFAULT OPEN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Default: All Pods Can Communicate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11155680" cy="4297680"/>
          </a:xfrm>
          <a:prstGeom prst="roundRect">
            <a:avLst>
              <a:gd name="adj" fmla="val 6000"/>
            </a:avLst>
          </a:prstGeom>
          <a:solidFill>
            <a:srgbClr val="E8F7EE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 panose="020B0604020202020204"/>
              </a:rPr>
              <a:t>Namespace (no NetworkPolicy)</a:t>
            </a:r>
            <a:endParaRPr sz="11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14400" y="233172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31720"/>
            <a:ext cx="164592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frontend
:3000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840480" y="233172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2331720"/>
            <a:ext cx="164592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backend
:8080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766560" y="233172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331720"/>
            <a:ext cx="164592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database
:5432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418320" y="233172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331720"/>
            <a:ext cx="164592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cache
:6379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2560320" y="2706624"/>
            <a:ext cx="640080" cy="0"/>
          </a:xfrm>
          <a:prstGeom prst="line">
            <a:avLst/>
          </a:prstGeom>
          <a:ln w="25400">
            <a:solidFill>
              <a:srgbClr val="5B6372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200400" y="2779776"/>
            <a:ext cx="640080" cy="0"/>
          </a:xfrm>
          <a:prstGeom prst="line">
            <a:avLst/>
          </a:prstGeom>
          <a:ln w="25400">
            <a:solidFill>
              <a:srgbClr val="5B6372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486400" y="2706624"/>
            <a:ext cx="640080" cy="0"/>
          </a:xfrm>
          <a:prstGeom prst="line">
            <a:avLst/>
          </a:prstGeom>
          <a:ln w="25400">
            <a:solidFill>
              <a:srgbClr val="5B6372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126480" y="2779776"/>
            <a:ext cx="640080" cy="0"/>
          </a:xfrm>
          <a:prstGeom prst="line">
            <a:avLst/>
          </a:prstGeom>
          <a:ln w="25400">
            <a:solidFill>
              <a:srgbClr val="5B6372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12480" y="2706624"/>
            <a:ext cx="502920" cy="0"/>
          </a:xfrm>
          <a:prstGeom prst="line">
            <a:avLst/>
          </a:prstGeom>
          <a:ln w="25400">
            <a:solidFill>
              <a:srgbClr val="5B6372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915400" y="2779776"/>
            <a:ext cx="502920" cy="0"/>
          </a:xfrm>
          <a:prstGeom prst="line">
            <a:avLst/>
          </a:prstGeom>
          <a:ln w="25400">
            <a:solidFill>
              <a:srgbClr val="5B6372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743200" y="32461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any pod  ↔  any pod  ↔  any port</a:t>
            </a:r>
            <a:endParaRPr sz="13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94360" y="4663440"/>
            <a:ext cx="10698480" cy="50292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663440"/>
            <a:ext cx="1069848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300" b="0">
                <a:solidFill>
                  <a:srgbClr val="F59E0B"/>
                </a:solidFill>
                <a:latin typeface="Arial" panose="020B0604020202020204"/>
              </a:rPr>
              <a:t>Without NetworkPolicy: every Pod can reach every other Pod on any port — no isolation</a:t>
            </a:r>
            <a:endParaRPr sz="1300" b="0">
              <a:solidFill>
                <a:srgbClr val="F59E0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NETWORKPOLICY · INGRESS RULES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NetworkPolicy — Restrict Ingress Traffic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11155680" cy="310896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 panose="020B0604020202020204"/>
              </a:rPr>
              <a:t>Namespace: production</a:t>
            </a:r>
            <a:endParaRPr sz="11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28600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164592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untrusted
Pod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423160" y="2578608"/>
            <a:ext cx="1371600" cy="164592"/>
          </a:xfrm>
          <a:prstGeom prst="roundRect">
            <a:avLst>
              <a:gd name="adj" fmla="val 6000"/>
            </a:avLst>
          </a:prstGeom>
          <a:solidFill>
            <a:srgbClr val="FFDDDD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242316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CC0000"/>
                </a:solidFill>
                <a:latin typeface="Arial" panose="020B0604020202020204"/>
              </a:rPr>
              <a:t>✗ blocked</a:t>
            </a:r>
            <a:endParaRPr sz="1000" b="1">
              <a:solidFill>
                <a:srgbClr val="CC0000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794760" y="2286000"/>
            <a:ext cx="1828800" cy="77724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60" y="2286000"/>
            <a:ext cx="182880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database
(protected)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58000" y="228600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2286000"/>
            <a:ext cx="164592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backend
Pod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5623560" y="2679192"/>
            <a:ext cx="1234440" cy="0"/>
          </a:xfrm>
          <a:prstGeom prst="line">
            <a:avLst/>
          </a:prstGeom>
          <a:ln w="25400">
            <a:solidFill>
              <a:srgbClr val="10B98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0" y="24231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  <a:latin typeface="Arial" panose="020B0604020202020204"/>
              </a:rPr>
              <a:t>✓ allowed</a:t>
            </a:r>
            <a:endParaRPr sz="10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94360" y="4846320"/>
            <a:ext cx="10972800" cy="183337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4846320"/>
            <a:ext cx="82296" cy="183337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" y="4910328"/>
            <a:ext cx="10643616" cy="1741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NetworkPolicy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podSelector: {matchLabels: {app: database}}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policyTypes: [Ingress]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ingress: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from: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podSelector: {matchLabels: {role: backend}}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ports: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port: 5432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NETWORKPOLICY · EGRESS RULES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NetworkPolicy — Restrict Egress Traffic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Allow backend to reach only the database (port 5432) — block everything else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42702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42702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4178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networking.k8s.io/v1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NetworkPolicy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backend-egress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namespace: production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podSelector: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matchLabels: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role: backend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policyTypes: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Egress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egress: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to: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podSelector: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matchLabels: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app: database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ports: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protocol: TCP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port: 5432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ports:                   # allow DNS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protocol: UDP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port: 53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NETWORKPOLICY · PATTERNS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NetworkPolicy Patterns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Default-deny ingress: select all pods, no ingress rules → blocks all incoming traffic.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kind: NetworkPolicy  spec: podSelector: {}  policyTypes: [Ingress]  ingress: []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Default-deny egress: select all pods, no egress rules → blocks all outgoing traffic.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kind: NetworkPolicy  spec: podSelector: {}  policyTypes: [Egress]  egress: []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Always allow DNS (port 53 UDP) in egress rules, or pods cannot resolve service names.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namespaceSelector: target all pods in a specific namespace (e.g. monitoring).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ipBlock: allow/deny traffic to/from external CIDRs (e.g. 192.168.0.0/16).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4 · NETWORKPOLICY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NetworkPolicy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30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NetworkPolicy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By default every Pod can talk to every other Pod. NetworkPolicies allow-list specific sources and destinations. CKAD regularly includes a NetworkPolicy question — you must write a default-deny and a selective-allow policy from scratch.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Apply default-deny ingress, a selective podSelector allow, an egress DNS-only lockdown, then a cross-namespace allow.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spec: · ingress: · » Default-deny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30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NetworkPolicy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Default deny: block all ingress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podSelector: {}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policyTypes: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Ingress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Selective allow: only role=allowed reaches the backend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podSelector: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matchLabels: {app: backend}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policyTypes: [Ingress]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ingress: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from: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podSelector: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matchLabels: {role: allowed}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ports: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{protocol: TCP, port: 5678}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30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NetworkPolicy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Egress lockdown: allow DNS only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645919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podSelector: {matchLabels: {role: blocked}}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policyTypes: [Egress]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egress: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to: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namespaceSelector: {}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podSelector: {matchLabels: {k8s-app: kube-dns}}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ports: [{protocol: UDP, port: 53}, {protocol: TCP, port: 53}]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904487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Cross-namespace allow (namespaceSelector)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288535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88535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352543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ingress: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from: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namespaceSelector: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matchLabels: {purpose: trusted}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30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NetworkPolicy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Default-deny = podSelector: {} + policyTypes: [Ingress] with no ingress list. podSelector in from matches Pods by label in the same namespace; namespaceSelector matches whole namespaces. Policies are additive — multiple policies combine with logical OR.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30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NetworkPolicy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After the allow policy, client-ok (role=allowed) reaches the backend while client-bad stays blocked, proving the NetworkPolicy is enforced.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COURSE COMPLETE</a:t>
            </a:r>
            <a:endParaRPr sz="16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 panose="020B0604020202020204"/>
              </a:rPr>
              <a:t>All five CKAD domains complete.</a:t>
            </a:r>
            <a:endParaRPr sz="3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 panose="020B0604020202020204"/>
              </a:rPr>
              <a:t>Design &amp; build · Deployment · Observability · Config &amp; Security · Services &amp; Networking.</a:t>
            </a:r>
            <a:endParaRPr sz="20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 panose="020B0604020202020204"/>
              </a:rPr>
              <a:t>EXAM TIPS · ENVIRONMENT</a:t>
            </a:r>
            <a:endParaRPr sz="1400" b="1">
              <a:solidFill>
                <a:srgbClr val="F59E0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CKAD Exam Environment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11155680" cy="82296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 panose="020B0604020202020204"/>
              </a:rPr>
              <a:t>PSI Secure Browser — Remote Desktop</a:t>
            </a:r>
            <a:r>
              <a:rPr sz="1400" b="0">
                <a:solidFill>
                  <a:srgbClr val="161B26"/>
                </a:solidFill>
                <a:latin typeface="Arial" panose="020B0604020202020204"/>
              </a:rPr>
              <a:t>  |  2 hours  |  ~15–20 questions  |  66% pass mark</a:t>
            </a:r>
            <a:endParaRPr sz="14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512064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Single monitor; 1 additional tab allowed (kubernetes.io docs only)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No notes, no bookmarks — docs must be navigated fresh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Allowed: kubernetes.io/docs, kubernetes.io/blog, helm.sh/docs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Remote desktop — use built-in terminal and browser only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Candidate ID verification required before exam starts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0" y="2606040"/>
            <a:ext cx="52120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All questions are practical — live cluster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Multiple contexts — always switch context per question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Partial credit possible — attempt every question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Paste YAML from docs or use --dry-run=client -o yaml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Flag difficult questions and return — time management critical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 panose="020B0604020202020204"/>
              </a:rPr>
              <a:t>EXAM TIPS · KUBECTL SHORTCUTS</a:t>
            </a:r>
            <a:endParaRPr sz="1400" b="1">
              <a:solidFill>
                <a:srgbClr val="F59E0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kubectl Shortcuts for the Exam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Set alias and enable auto-completion (pre-configured in exam)</a:t>
            </a:r>
            <a:endParaRPr sz="1300" b="1">
              <a:solidFill>
                <a:srgbClr val="F59E0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645919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64591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alias k=kubectl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source &lt;(kubectl completion bash)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complete -o default -F __start_kubectl k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     # pods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svc    # services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deploy # deployments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ns     # namespaces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794759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Generate YAML with --dry-run (fastest way to create manifests)</a:t>
            </a:r>
            <a:endParaRPr sz="1300" b="1">
              <a:solidFill>
                <a:srgbClr val="F59E0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142231"/>
            <a:ext cx="10652760" cy="1083563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42231"/>
            <a:ext cx="82296" cy="1083563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206239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run nginx --image=nginx --dry-run=client -o yaml &gt; pod.yaml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deploy myapp --image=myapp:1.0 --dry-run=client -o 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svc clusterip my-svc --tcp=80:80 --dry-run=client -o 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apply -f pod.yaml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delete -f pod.yaml --force --grace-period=0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 panose="020B0604020202020204"/>
              </a:rPr>
              <a:t>EXAM TIPS · CONTEXT &amp; NAMESPACE</a:t>
            </a:r>
            <a:endParaRPr sz="1400" b="1">
              <a:solidFill>
                <a:srgbClr val="F59E0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Working in the Right Context &amp; Namespace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Each exam question specifies a cluster context — switch before solving</a:t>
            </a:r>
            <a:endParaRPr sz="1300" b="1">
              <a:solidFill>
                <a:srgbClr val="F59E0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7086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7086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config get-contexts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config use-context &lt;context-name&gt;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config current-context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8575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Set the default namespace to avoid typing -n every time</a:t>
            </a:r>
            <a:endParaRPr sz="1300" b="1">
              <a:solidFill>
                <a:srgbClr val="F59E0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204972"/>
            <a:ext cx="10652760" cy="7086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04972"/>
            <a:ext cx="82296" cy="7086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68980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config set-context --current --namespace=&lt;namespace&gt;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config view --minify | grep namespace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pods -n kube-system   # one-shot without changing default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 panose="020B0604020202020204"/>
              </a:rPr>
              <a:t>EXAM TIPS · STRATEGY</a:t>
            </a:r>
            <a:endParaRPr sz="1400" b="1">
              <a:solidFill>
                <a:srgbClr val="F59E0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Exam Strategy &amp; Time Management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Read the question fully — note context, namespace, and exact requirements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Switch context FIRST before any kubectl command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Use --dry-run=client -o yaml to generate YAML skeletons, then edit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Faster than writing YAML from scratch every time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Use 'kubectl explain' for YAML field names (no internet needed)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kubectl explain pod.spec.containers.livenessProbe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Flag and skip — if a question takes &gt;5 min, flag and return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Verify after each task: kubectl get / describe to confirm result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Use kubectl api-resources to find short names and API groups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Practice: KillerCoda.com and killer.sh mock exams are the best prep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 panose="020B0604020202020204"/>
              </a:rPr>
              <a:t>Lunch Break</a:t>
            </a:r>
            <a:endParaRPr sz="4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6FEB"/>
                </a:solidFill>
                <a:latin typeface="Arial" panose="020B0604020202020204"/>
              </a:rPr>
              <a:t>1 hour</a:t>
            </a:r>
            <a:endParaRPr sz="2200" b="1">
              <a:solidFill>
                <a:srgbClr val="1F6FE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MOCK EXAM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Mock-Exam Practice — from 1:00 PM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Practise on killer.sh / Killercoda before the graded assessment · ask questions freely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WARM-UP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Mock-Exam Practice (1:00 PM)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Warm-up before the graded assessment — work hands-on questions across all five domains.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Use killer.sh and Killercoda; rehearse the alias k, $do dry-run and kubectl explain workflow.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Time yourself and flag weak areas — the real CKAD is 2 hours, 100% hands-on.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Trainer is available for questions; the final assessment begins at 2:00 PM.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 panose="020B0604020202020204"/>
              </a:rPr>
              <a:t>PRACTICE EXAM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 panose="020B0604020202020204"/>
              </a:rPr>
              <a:t>Take the Online CKAD Practice Exams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729200" cy="4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Reinforce all five CKAD domains with realistic, exam-style questions before exam day.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3 full practice exams · 65 questions · 120-minute timer · 66% pass mark — aligned to CNCF CKAD v1.35.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Practice mode reveals the answer and a full explanation after each question; Exam mode mirrors the real timed test.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Start free with the practice teaser — no credit card required; sign in to unlock the full bundle.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Sign up and practise at: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exams.tertiaryinfotech.com/practice-exams/linuxfoundation/linuxfoundation-ckad</a:t>
            </a:r>
            <a:endParaRPr sz="1500" b="1">
              <a:solidFill>
                <a:srgbClr val="1F6FEB"/>
              </a:solidFill>
              <a:latin typeface="Arial" panose="020B0604020202020204"/>
            </a:endParaRPr>
          </a:p>
        </p:txBody>
      </p:sp>
      <p:pic>
        <p:nvPicPr>
          <p:cNvPr id="8" name="Practice exam 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860500"/>
            <a:ext cx="5943600" cy="41790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9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ASSESSMENT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Final Assessment — from 2:00 PM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Written / MCQ on the LMS · open book · covers all five domains and the hands-on labs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FINAL ASSESSMENT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Assessment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" y="20939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cli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5895" y="2271735"/>
            <a:ext cx="302850" cy="302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65960" y="2093976"/>
            <a:ext cx="39776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 panose="020B0604020202020204"/>
              </a:rPr>
              <a:t>Final Assessment</a:t>
            </a:r>
            <a:endParaRPr sz="1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8136" y="3063240"/>
            <a:ext cx="4636008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Written / MCQ assessment on the LMS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Mock-exam practice from 1:00 PM; final assessment from 2:00 PM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Covers all five CKAD domains and the hands-on labs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Open book — slides, Learner Guide &amp; kubernetes.io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Must be attempted for SSG funding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20256" y="2093976"/>
            <a:ext cx="658368" cy="658368"/>
          </a:xfrm>
          <a:prstGeom prst="ellipse">
            <a:avLst/>
          </a:prstGeom>
          <a:solidFill>
            <a:srgbClr val="0B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2093976"/>
            <a:ext cx="39776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 panose="020B0604020202020204"/>
              </a:rPr>
              <a:t>Funding &amp; Competency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20256" y="3108960"/>
            <a:ext cx="463600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 panose="020B0604020202020204"/>
              </a:rPr>
              <a:t>Minimum 75% attendance</a:t>
            </a:r>
            <a:endParaRPr sz="1500" b="1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 panose="020B0604020202020204"/>
              </a:rPr>
              <a:t>Based on SSG digital attendance records.</a:t>
            </a:r>
            <a:endParaRPr sz="1300" b="0">
              <a:solidFill>
                <a:srgbClr val="CFE0FB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20256" y="4297680"/>
            <a:ext cx="463600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 panose="020B0604020202020204"/>
              </a:rPr>
              <a:t>Assessed as Competent</a:t>
            </a:r>
            <a:endParaRPr sz="1500" b="1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 panose="020B0604020202020204"/>
              </a:rPr>
              <a:t>Pass the written / MCQ assessment.</a:t>
            </a:r>
            <a:endParaRPr sz="1300" b="0">
              <a:solidFill>
                <a:srgbClr val="CFE0FB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ASSESSMENT RULES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Briefing for Assessment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br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198" y="2137318"/>
            <a:ext cx="260788" cy="2607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5648" y="1984248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Clear your space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24128" y="2697480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Keep only approved materials on the table.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1960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648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_b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558" y="2137318"/>
            <a:ext cx="260788" cy="2607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8008" y="1984248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No recording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66488" y="2697480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No photos of the assessment.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6196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884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_br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918" y="2137318"/>
            <a:ext cx="260788" cy="2607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40368" y="1984248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Work individually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08848" y="2697480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No discussion during the assessment.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_br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198" y="4167286"/>
            <a:ext cx="260788" cy="2607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55648" y="4014216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Use the LMS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4128" y="4727448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The assessment is delivered online.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41960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648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_br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9558" y="4167286"/>
            <a:ext cx="260788" cy="2607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98008" y="4014216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Open book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666488" y="4727448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Slides, Learner Guide &amp; kubernetes.io are allowed.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06196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0884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c_br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918" y="4167286"/>
            <a:ext cx="260788" cy="2607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40368" y="4014216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Time's up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308848" y="4727448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Submit when time is up.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THANK YOU</a:t>
            </a:r>
            <a:endParaRPr sz="1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 panose="020B0604020202020204"/>
              </a:rPr>
              <a:t>Thank you — and good luck with the CKAD exam!</a:t>
            </a:r>
            <a:endParaRPr sz="3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 panose="020B0604020202020204"/>
              </a:rPr>
              <a:t>Keep practising on killer.sh and Killercoda; the exam is 2 hours, 100% hands-on.</a:t>
            </a:r>
            <a:endParaRPr sz="20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163654</Words>
  <Application>WPS Presentation</Application>
  <PresentationFormat>On-screen Show (4:3)</PresentationFormat>
  <Paragraphs>6486</Paragraphs>
  <Slides>515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515</vt:i4>
      </vt:variant>
    </vt:vector>
  </HeadingPairs>
  <TitlesOfParts>
    <vt:vector size="52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Consolas</vt:lpstr>
      <vt:lpstr>Courier New</vt:lpstr>
      <vt:lpstr>Lucida Grande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Building and publishing an image, running image in container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Runs a process or application in container(s)</vt:lpstr>
      <vt:lpstr>Indicates operational status of Pod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 Job manages Pods to run the workload</vt:lpstr>
      <vt:lpstr>A CronJob manages Jobs which delegate the workload to Pods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Emerged from Pod requirements</vt:lpstr>
      <vt:lpstr>Initialization logic before main application containers</vt:lpstr>
      <vt:lpstr>"Send a notification of error log contains entries"</vt:lpstr>
      <vt:lpstr>"Transform log data to JSON to make it consumable by external system"</vt:lpstr>
      <vt:lpstr>"OAuth authentication handled by network communication proxy"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Useful for sharing data between containers, or for caching data</vt:lpstr>
      <vt:lpstr>Persist data that outlives a Pod, node, or cluster restart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 Deployment that controls three replicas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Secondary ReplicaSet is created with new version of application</vt:lpstr>
      <vt:lpstr>Runtime behavior can be fine-tuned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Deployment object with new version is created alongside</vt:lpstr>
      <vt:lpstr>Two Deployment objects with different traffic distribution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Package manager and templating engine for a set of manifests</vt:lpstr>
      <vt:lpstr>Predefined directory structure with mandatory Chart.yaml and values.yaml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Customizing application manifests without templates</vt:lpstr>
      <vt:lpstr>Subdirectories contain environment-specific configuration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"Is application ready to handle requests?"</vt:lpstr>
      <vt:lpstr>"Does the application still function without errors?"</vt:lpstr>
      <vt:lpstr>"Legacy application may need longer to start. Hold off on liveness probing."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Cluster-wide resource metrics aggregator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Poorly-documented in Kubernetes docs, encountered often in practice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kubectl can discover API version useable in manifests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Applicable to ConfigMap and Secret</vt:lpstr>
      <vt:lpstr>Controlling runtime behavior with the help of simple values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Accessed values are base64-decoded</vt:lpstr>
      <vt:lpstr>A good choice for processing a machine-readable configuration file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Pod- and/or container-level definition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Pod assign the Service Account by name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Three key elements for understanding concept</vt:lpstr>
      <vt:lpstr>Restrict access to certain operations of API resources for subjects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Limits # of objects and aggregate container resource consumption</vt:lpstr>
      <vt:lpstr>Constraints or defaults the resource allocations for an object type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Services build on top of each other</vt:lpstr>
      <vt:lpstr>Only reachable from within the cluster, e.g. another Pod</vt:lpstr>
      <vt:lpstr>Can be resolved from outside of the Kubernetes cluster</vt:lpstr>
      <vt:lpstr>Routes traffic from existing, external load balancer to Service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Kubernetes’ DNS service maps cluster IP address to Service name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The context path is mapped to a backend (Service name and port)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Restricting access to the payment processor Pod from other Pods</vt:lpstr>
      <vt:lpstr>Network policies are additive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mohan</cp:lastModifiedBy>
  <cp:revision>2</cp:revision>
  <dcterms:created xsi:type="dcterms:W3CDTF">2013-01-27T09:14:00Z</dcterms:created>
  <dcterms:modified xsi:type="dcterms:W3CDTF">2026-07-26T03:44:14Z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158003CE981D4A32B50A7E6E976EF231_12</vt:lpwstr>
  </property>
</Properties>
</file>