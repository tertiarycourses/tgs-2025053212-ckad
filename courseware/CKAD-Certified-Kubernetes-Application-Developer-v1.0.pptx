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1.jpg" ContentType="image/jpg"/>
  <Override PartName="/ppt/media/image104.jpg" ContentType="image/jpg"/>
  <Override PartName="/ppt/media/image114.jpg" ContentType="image/jpg"/>
  <Override PartName="/ppt/media/image121.jpg" ContentType="image/jpg"/>
  <Override PartName="/ppt/media/image122.jpg" ContentType="image/jpg"/>
  <Override PartName="/ppt/media/image123.jpg" ContentType="image/jpg"/>
  <Override PartName="/ppt/media/image137.jpg" ContentType="image/jpg"/>
  <Override PartName="/ppt/media/image157.jpg" ContentType="image/jpg"/>
  <Override PartName="/ppt/media/image161.jpg" ContentType="image/jpg"/>
  <Override PartName="/ppt/media/image163.jpg" ContentType="image/jpg"/>
  <Override PartName="/ppt/media/image208.jpg" ContentType="image/jpg"/>
  <Override PartName="/ppt/media/image209.jpg" ContentType="image/jpg"/>
  <Override PartName="/ppt/media/image210.jpg" ContentType="image/jpg"/>
  <Override PartName="/ppt/media/image215.jpg" ContentType="image/jpg"/>
  <Override PartName="/ppt/media/image239.jpg" ContentType="image/jpg"/>
  <Override PartName="/ppt/media/image240.jpg" ContentType="image/jpg"/>
  <Override PartName="/ppt/media/image251.jpg" ContentType="image/jpg"/>
  <Override PartName="/ppt/media/image269.jpg" ContentType="image/jpg"/>
  <Override PartName="/ppt/media/image305.jpg" ContentType="image/jpg"/>
  <Override PartName="/ppt/media/image306.jpg" ContentType="image/jpg"/>
  <Override PartName="/ppt/media/image312.jpg" ContentType="image/jpg"/>
  <Override PartName="/ppt/media/image315.jpg" ContentType="image/jpg"/>
  <Override PartName="/ppt/media/image325.jpg" ContentType="image/jpg"/>
  <Override PartName="/ppt/media/image331.jpg" ContentType="image/jpg"/>
  <Override PartName="/ppt/media/image42.jpg" ContentType="image/jpg"/>
  <Override PartName="/ppt/media/image43.jpg" ContentType="image/jpg"/>
  <Override PartName="/ppt/media/image44.jpg" ContentType="image/jpg"/>
  <Override PartName="/ppt/media/image45.jpg" ContentType="image/jpg"/>
  <Override PartName="/ppt/media/image48.jpg" ContentType="image/jpg"/>
  <Override PartName="/ppt/media/image75.jpg" ContentType="image/jpg"/>
  <Override PartName="/ppt/media/image89.jpg" ContentType="image/jpg"/>
  <Override PartName="/ppt/media/image9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34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9" r:id="rId350"/>
    <p:sldId id="595" r:id="rId346"/>
    <p:sldId id="596" r:id="rId347"/>
    <p:sldId id="597" r:id="rId348"/>
    <p:sldId id="598" r:id="rId3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13.png"/><Relationship Id="rId7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image" Target="../media/image43.jpg"/><Relationship Id="rId4" Type="http://schemas.openxmlformats.org/officeDocument/2006/relationships/image" Target="../media/image42.jpg"/><Relationship Id="rId5" Type="http://schemas.openxmlformats.org/officeDocument/2006/relationships/image" Target="../media/image45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7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158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1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5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2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2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194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8.jp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9.jp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0.jp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5.jp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9.jp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4.png"/><Relationship Id="rId3" Type="http://schemas.openxmlformats.org/officeDocument/2006/relationships/image" Target="../media/image273.png"/><Relationship Id="rId4" Type="http://schemas.openxmlformats.org/officeDocument/2006/relationships/image" Target="../media/image275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8.png"/><Relationship Id="rId3" Type="http://schemas.openxmlformats.org/officeDocument/2006/relationships/image" Target="../media/image273.png"/><Relationship Id="rId4" Type="http://schemas.openxmlformats.org/officeDocument/2006/relationships/image" Target="../media/image275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3.png"/><Relationship Id="rId3" Type="http://schemas.openxmlformats.org/officeDocument/2006/relationships/image" Target="../media/image291.png"/><Relationship Id="rId4" Type="http://schemas.openxmlformats.org/officeDocument/2006/relationships/image" Target="../media/image141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94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1.jpg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9.jp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0.jp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2.png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5.jpg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6.jpg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2.jpg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5.jpg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310.png"/><Relationship Id="rId4" Type="http://schemas.openxmlformats.org/officeDocument/2006/relationships/image" Target="../media/image311.png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5.jpg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1.jpg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335.png"/><Relationship Id="rId4" Type="http://schemas.openxmlformats.org/officeDocument/2006/relationships/image" Target="../media/image27.png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Certified Kubernetes Application Developer (CKAD)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52628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TGS-2025053212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Version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7607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It is mandatory to take the AM, PM and Assessment digital attendance for WSQ-funded courses.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The trainer displays the digital attendance QR code from the SSG portal.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Scan the QR code with your phone camera and submit your attendance.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A minimum of 75% attendance is required for assessment and funding.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828800"/>
            <a:ext cx="4389120" cy="27432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0" y="2148840"/>
            <a:ext cx="1005840" cy="10058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at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936" y="2420416"/>
            <a:ext cx="462688" cy="4626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8040" y="3337560"/>
            <a:ext cx="3840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Minimum 75%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attendance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83280" cy="3657600"/>
          </a:xfrm>
          <a:prstGeom prst="roundRect">
            <a:avLst>
              <a:gd name="adj" fmla="val 5000"/>
            </a:avLst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51660" y="2194560"/>
            <a:ext cx="1143000" cy="11430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gr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270" y="2503170"/>
            <a:ext cx="525780" cy="5257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3611880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Mohan Pothula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Kubernetes &amp; Cloud-Native Trainer</a:t>
            </a:r>
          </a:p>
        </p:txBody>
      </p:sp>
      <p:sp>
        <p:nvSpPr>
          <p:cNvPr id="12" name="Oval 11"/>
          <p:cNvSpPr/>
          <p:nvPr/>
        </p:nvSpPr>
        <p:spPr>
          <a:xfrm>
            <a:off x="4434840" y="18288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_gr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661" y="2001621"/>
            <a:ext cx="294438" cy="2944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49240" y="1783080"/>
            <a:ext cx="6858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Role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Kubernetes &amp; DevOps trainer at Tertiary Infotech Academy.</a:t>
            </a:r>
          </a:p>
        </p:txBody>
      </p:sp>
      <p:sp>
        <p:nvSpPr>
          <p:cNvPr id="15" name="Oval 14"/>
          <p:cNvSpPr/>
          <p:nvPr/>
        </p:nvSpPr>
        <p:spPr>
          <a:xfrm>
            <a:off x="4434840" y="27432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c_lap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661" y="2916021"/>
            <a:ext cx="294438" cy="29443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49240" y="2697480"/>
            <a:ext cx="6858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Qualifications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Certified Kubernetes Application Developer (CKAD) · CKA · Docker Certified Associate · AWS Solutions Architect.</a:t>
            </a:r>
          </a:p>
        </p:txBody>
      </p:sp>
      <p:sp>
        <p:nvSpPr>
          <p:cNvPr id="18" name="Oval 17"/>
          <p:cNvSpPr/>
          <p:nvPr/>
        </p:nvSpPr>
        <p:spPr>
          <a:xfrm>
            <a:off x="4434840" y="36576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_p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7661" y="3830421"/>
            <a:ext cx="294438" cy="29443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49240" y="3611880"/>
            <a:ext cx="6858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Expertise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Kubernetes · Docker · CI/CD · Cloud-native platform engineering.</a:t>
            </a:r>
          </a:p>
        </p:txBody>
      </p:sp>
      <p:sp>
        <p:nvSpPr>
          <p:cNvPr id="21" name="Oval 20"/>
          <p:cNvSpPr/>
          <p:nvPr/>
        </p:nvSpPr>
        <p:spPr>
          <a:xfrm>
            <a:off x="4434840" y="45720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c_bri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7661" y="4744821"/>
            <a:ext cx="294438" cy="29443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49240" y="4526280"/>
            <a:ext cx="6858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Experience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20+ years across DBS Bank, SingTel, Mediacorp and SPH Media.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83280" cy="3657600"/>
          </a:xfrm>
          <a:prstGeom prst="roundRect">
            <a:avLst>
              <a:gd name="adj" fmla="val 5000"/>
            </a:avLst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51660" y="2194560"/>
            <a:ext cx="1143000" cy="11430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gr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270" y="2503170"/>
            <a:ext cx="525780" cy="5257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3611880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[ Trainer Name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[ Title / Role ]</a:t>
            </a:r>
          </a:p>
        </p:txBody>
      </p:sp>
      <p:sp>
        <p:nvSpPr>
          <p:cNvPr id="12" name="Oval 11"/>
          <p:cNvSpPr/>
          <p:nvPr/>
        </p:nvSpPr>
        <p:spPr>
          <a:xfrm>
            <a:off x="4434840" y="18288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_lap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661" y="2001621"/>
            <a:ext cx="294438" cy="2944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49240" y="1828800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Qualifications: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2136140"/>
            <a:ext cx="3931920" cy="1905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4840" y="27432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_p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7661" y="2916021"/>
            <a:ext cx="294438" cy="2944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49240" y="2743200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Expertise: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920" y="3050540"/>
            <a:ext cx="3931920" cy="1905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34840" y="36576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_bri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7661" y="3830421"/>
            <a:ext cx="294438" cy="29443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349240" y="3657600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Experience: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3964940"/>
            <a:ext cx="3931920" cy="1905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34840" y="45720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_l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7661" y="4744821"/>
            <a:ext cx="294438" cy="29443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349240" y="4572000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Contact / Profile: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60920" y="4879340"/>
            <a:ext cx="3931920" cy="1905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Take a minute to introduce yourself to the class: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20240"/>
            <a:ext cx="336804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40636" y="2212848"/>
            <a:ext cx="841248" cy="8412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person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72" y="2439984"/>
            <a:ext cx="386976" cy="3869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3246120"/>
            <a:ext cx="3002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Your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657600"/>
            <a:ext cx="2855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Your name and organisation / role.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1920240"/>
            <a:ext cx="336804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82996" y="2212848"/>
            <a:ext cx="841248" cy="8412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132" y="2439984"/>
            <a:ext cx="386976" cy="386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02480" y="3246120"/>
            <a:ext cx="3002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Your 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5632" y="3657600"/>
            <a:ext cx="2855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Any experience with Docker, Kubernetes or the cloud.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1960" y="1920240"/>
            <a:ext cx="336804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5356" y="2212848"/>
            <a:ext cx="841248" cy="8412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c_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492" y="2439984"/>
            <a:ext cx="386976" cy="3869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44840" y="3246120"/>
            <a:ext cx="3002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Your goal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7992" y="3657600"/>
            <a:ext cx="2855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Whether you are targeting the CKAD exam or production skills.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g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198" y="2137318"/>
            <a:ext cx="260788" cy="2607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5564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Phones on silent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Set your phone to silent mode.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648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_g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558" y="2137318"/>
            <a:ext cx="260788" cy="2607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9800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Participate actively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648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question is too small — ask freely.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0884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_gr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1918" y="2137318"/>
            <a:ext cx="260788" cy="2607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4036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Mutual respect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884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_gr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98" y="4167286"/>
            <a:ext cx="260788" cy="2607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5564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Be punctual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Return from breaks on time.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6648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_gr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9558" y="4167286"/>
            <a:ext cx="260788" cy="2607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39800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Step out quietly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648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For calls or short breaks.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0884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c_gr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918" y="4167286"/>
            <a:ext cx="260788" cy="26078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04036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75% attendance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884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Required for funding eligibility.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3½ Days, 8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64208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920240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1368" y="1920240"/>
            <a:ext cx="39547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Day 1 · Domain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51760"/>
            <a:ext cx="45948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Application Design &amp; Build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Container images &amp; multi-stage builds (Labs 1–2)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Pods, Jobs &amp; CronJobs (Labs 3–5)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Multi-container Pods &amp; Volumes (Labs 6–8)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6500" y="1664208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42532" y="1920240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0628" y="1920240"/>
            <a:ext cx="39547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Day 2 · Domain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0820" y="2651760"/>
            <a:ext cx="45948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Application Deployment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Deployments, ReplicaSets &amp; rollouts (Labs 9–10)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Blue/green &amp; canary (Labs 11–12)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Helm, Kustomize, Daemon/StatefulSet (Labs 13–15)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68495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3272" y="4224527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1368" y="4224527"/>
            <a:ext cx="39547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Day 3 · Domains 3 &amp;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956047"/>
            <a:ext cx="45948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Observability + Config &amp; Security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Probes, logging, metrics, debug (Labs 16–20)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ConfigMaps, Secrets, SecurityContext (Labs 21–23)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ServiceAccounts, RBAC, Quotas (Labs 24–26)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6500" y="3968495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42532" y="4224527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0628" y="4224527"/>
            <a:ext cx="39547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Day 4 (½) · Domain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0820" y="4956047"/>
            <a:ext cx="45948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Services &amp; Networking + Assessment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Services &amp; Service DNS (Labs 27–28)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Ingress with TLS &amp; NetworkPolicy (Labs 29–30)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1:00 PM mock-exam practice, then final assessment from 2:00 PM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6089904"/>
            <a:ext cx="10652760" cy="384048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6089904"/>
            <a:ext cx="10058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Daily timing:   </a:t>
            </a:r>
            <a:r>
              <a:rPr sz="1200" b="0">
                <a:solidFill>
                  <a:srgbClr val="161B26"/>
                </a:solidFill>
                <a:latin typeface="Arial"/>
              </a:rPr>
              <a:t>9:00am – 6:00pm   ·   1-hour lunch   ·   short tea breaks within each 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69164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1912" y="1691640"/>
            <a:ext cx="98755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LO1   </a:t>
            </a:r>
            <a:r>
              <a:rPr sz="1500" b="0">
                <a:solidFill>
                  <a:srgbClr val="161B26"/>
                </a:solidFill>
                <a:latin typeface="Arial"/>
              </a:rPr>
              <a:t>Build and optimise container images with single- and multi-stage Dockerfiles.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40487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912" y="2404872"/>
            <a:ext cx="98755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LO2   </a:t>
            </a:r>
            <a:r>
              <a:rPr sz="1500" b="0">
                <a:solidFill>
                  <a:srgbClr val="161B26"/>
                </a:solidFill>
                <a:latin typeface="Arial"/>
              </a:rPr>
              <a:t>Create and manage Pods imperatively and declaratively with kubectl and --dry-run.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118104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3118104"/>
            <a:ext cx="98755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LO3   </a:t>
            </a:r>
            <a:r>
              <a:rPr sz="1500" b="0">
                <a:solidFill>
                  <a:srgbClr val="161B26"/>
                </a:solidFill>
                <a:latin typeface="Arial"/>
              </a:rPr>
              <a:t>Run batch workloads with Jobs and scheduled workloads with CronJobs.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83133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3831336"/>
            <a:ext cx="98755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LO4   </a:t>
            </a:r>
            <a:r>
              <a:rPr sz="1500" b="0">
                <a:solidFill>
                  <a:srgbClr val="161B26"/>
                </a:solidFill>
                <a:latin typeface="Arial"/>
              </a:rPr>
              <a:t>Design multi-container Pods using the sidecar and init-container patterns.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54456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4544568"/>
            <a:ext cx="98755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LO5   </a:t>
            </a:r>
            <a:r>
              <a:rPr sz="1500" b="0">
                <a:solidFill>
                  <a:srgbClr val="161B26"/>
                </a:solidFill>
                <a:latin typeface="Arial"/>
              </a:rPr>
              <a:t>Persist and share Pod data with emptyDir, tmpfs and hostPath volumes.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525780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5257800"/>
            <a:ext cx="98755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LO6   </a:t>
            </a:r>
            <a:r>
              <a:rPr sz="1500" b="0">
                <a:solidFill>
                  <a:srgbClr val="161B26"/>
                </a:solidFill>
                <a:latin typeface="Arial"/>
              </a:rPr>
              <a:t>Deploy, scale, observe, secure and network applications across the five CKAD domains.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578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" y="20939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c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895" y="2271735"/>
            <a:ext cx="302850" cy="302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65960" y="2093976"/>
            <a:ext cx="3977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3063240"/>
            <a:ext cx="4636008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Written / MCQ assessment on the LMS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Mock-exam practice from 1:00 PM; final assessment from 2:00 PM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Covers all five CKAD domains and the hands-on labs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Open book — slides, Learner Guide &amp; kubernetes.io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Must be attempted for SSG funding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5257800" cy="3657600"/>
          </a:xfrm>
          <a:prstGeom prst="roundRect">
            <a:avLst>
              <a:gd name="adj" fmla="val 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20256" y="2093976"/>
            <a:ext cx="658368" cy="658368"/>
          </a:xfrm>
          <a:prstGeom prst="ellipse">
            <a:avLst/>
          </a:prstGeom>
          <a:solidFill>
            <a:srgbClr val="0B4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2093976"/>
            <a:ext cx="3977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Funding &amp; Competency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3108960"/>
            <a:ext cx="46360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Minimum 75% attendance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FE0FB"/>
                </a:solidFill>
                <a:latin typeface="Arial"/>
              </a:rPr>
              <a:t>Based on SSG digital attendance records.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0256" y="4297680"/>
            <a:ext cx="46360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Assessed as Competent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FE0FB"/>
                </a:solidFill>
                <a:latin typeface="Arial"/>
              </a:rPr>
              <a:t>Pass the written / MCQ assessment.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ASSESSMENT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b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198" y="2137318"/>
            <a:ext cx="260788" cy="2607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5564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Clear your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Keep only approved materials on the 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648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_b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558" y="2137318"/>
            <a:ext cx="260788" cy="2607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9800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 recording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648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photos of the assessment.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0884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_br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1918" y="2137318"/>
            <a:ext cx="260788" cy="2607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4036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Work individually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884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discussion during the assessment.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_br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98" y="4167286"/>
            <a:ext cx="260788" cy="2607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5564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the LMS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assessment is delivered online.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6648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_gr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9558" y="4167286"/>
            <a:ext cx="260788" cy="2607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39800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648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Slides, Learner Guide &amp; kubernetes.io are allowed.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0884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c_br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918" y="4167286"/>
            <a:ext cx="260788" cy="26078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04036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Time's 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884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Submit when time is up.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Application Design and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Images · Pods · Jobs · CronJobs · Multi-container · Volumes  (CKAD Domain 1 — 20%)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Container Images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Dockerfiles, image layers &amp; multi-stage builds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Container Images?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An image is a read-only blueprint that packages your app with all its dependencies.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container is a running instance of an image — it starts in milliseconds.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Kubernetes never builds images; it pulls them from a registry by name:tag and runs them.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CKAD expects you to read, write and fix Dockerfiles under time pressure.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ONE INSTRUCTION = ONE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Anatomy of a Dockerfile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Base &amp;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FROM — pick a small, pinned base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WORKDIR — set the working dir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COPY / ADD — bring files 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Build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RUN — install dependencies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Each line = one cached layer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Order steps for cache reuse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Runtime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EXPOSE — document the port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ENV — runtime configuration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CMD / ENTRYPOINT — what runs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90" dirty="0"/>
              <a:t>Containerization</a:t>
            </a:r>
            <a:r>
              <a:rPr spc="-40" dirty="0"/>
              <a:t> </a:t>
            </a:r>
            <a:r>
              <a:rPr spc="-10" dirty="0"/>
              <a:t>Process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80" dirty="0">
                <a:solidFill>
                  <a:srgbClr val="666666"/>
                </a:solidFill>
                <a:latin typeface="Arial"/>
                <a:cs typeface="Arial"/>
              </a:rPr>
              <a:t>Building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65" dirty="0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publishing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55" dirty="0">
                <a:solidFill>
                  <a:srgbClr val="666666"/>
                </a:solidFill>
                <a:latin typeface="Arial"/>
                <a:cs typeface="Arial"/>
              </a:rPr>
              <a:t>an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image,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running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65" dirty="0">
                <a:solidFill>
                  <a:srgbClr val="666666"/>
                </a:solidFill>
                <a:latin typeface="Arial"/>
                <a:cs typeface="Arial"/>
              </a:rPr>
              <a:t>image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in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/>
                <a:cs typeface="Arial"/>
              </a:rPr>
              <a:t>container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4467" y="2289196"/>
            <a:ext cx="9723132" cy="35484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SHRINK THE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Single-Stage vs Multi-Stage Builds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Single-stage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Multi-stage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One FROM — build + runtime together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Ships the whole toolchain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Large image (~800 MB for Go)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Bigger attack surface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Multiple FROM stages with AS &lt;name&gt;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COPY --from=builder copies only the binary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Tiny image (~8 MB, distroless)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No shell, no package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CONTAINER IMAGES · ONE DOCKERFILE, TWO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Multi-Stage Build — Shrink the Image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011680"/>
            <a:ext cx="4297680" cy="283464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11680"/>
            <a:ext cx="42976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121408"/>
            <a:ext cx="4078224" cy="2724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Stage 1 — builder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FROM golang:1.22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WORKDIR /src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COPY . .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RUN go build -o /server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Ships compiler + source + modules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257800" y="2926080"/>
            <a:ext cx="1691640" cy="82296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1920240"/>
            <a:ext cx="2057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COPY --from=builder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3794760"/>
            <a:ext cx="2057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only the binary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2011680"/>
            <a:ext cx="4297680" cy="283464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0" y="2011680"/>
            <a:ext cx="429768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42048" y="2121408"/>
            <a:ext cx="4078224" cy="2724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Stage 2 — runtime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FROM gcr.io/distroless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COPY --from=builder /server /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ENTRYPOINT ["/server"]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shell · no package manager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Just your binary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074920"/>
            <a:ext cx="429768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74920"/>
            <a:ext cx="42976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5B6372"/>
                </a:solidFill>
                <a:latin typeface="Arial"/>
              </a:rPr>
              <a:t>~800 MB</a:t>
            </a:r>
            <a:r>
              <a:rPr sz="1300" b="0">
                <a:solidFill>
                  <a:srgbClr val="5B6372"/>
                </a:solidFill>
                <a:latin typeface="Arial"/>
              </a:rPr>
              <a:t>   final image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5074920"/>
            <a:ext cx="429768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5074920"/>
            <a:ext cx="42976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0B981"/>
                </a:solidFill>
                <a:latin typeface="Arial"/>
              </a:rPr>
              <a:t>~8 MB</a:t>
            </a:r>
            <a:r>
              <a:rPr sz="1300" b="0">
                <a:solidFill>
                  <a:srgbClr val="5B6372"/>
                </a:solidFill>
                <a:latin typeface="Arial"/>
              </a:rPr>
              <a:t>   final image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CONTAINER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Container Image with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Container images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a Dockerfile from scratch, build a tagged image, run it locally and inspect its layers. CKAD expects you to read and write Dockerfiles confidently — you may be asked to fix a broken one or produce one under time pressure.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Write a Dockerfile, build and tag an image, run it, then inspect its layers with docker history.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FROM python:3.12-slim · » `EXPOSE` · docker build · docker run · docker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Container Image with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Write the Dockerfile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FROM python:3.12-slim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WORKDIR /app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COPY app.py 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EXPOSE 8080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CMD ["python", "app.py"]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EXPOSE is documentation only — it does not publish the port. -p host:container is what actually opens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38243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Build and tag the image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622291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4622291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686299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docker build -t ckad/hello:1.0 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docker images ckad/hello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Container Image with Docker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Run and test the container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docker run -d --name hello -p 8080:8080 ckad/hello:1.0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curl http://localhost:8080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Inspect the image layers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docker history ckad/hello:1.0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docker rm -f hello &amp;&amp; docker rmi ckad/hello:1.0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Container Image with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curl http://localhost:8080 returns hello from CKAD 2026 lab 1, and docker history shows a distinct layer for each Dockerfile instruction.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CONTAINER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Multi-Stage Dockerfile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Container images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Separate the build stage from the runtime stage to produce images that are 10x smaller and contain no compiler toolchain. Multi-stage builds are a CKAD staple — you must be able to write one from scratch and explain why it shrinks the image.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Build a single-stage baseline, then a multi-stage image with COPY --from and distroless, and compare sizes.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FROM golang:1.22 · docker build · »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Multi-Stage Dockerfile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Single-stage baseline (large image)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FROM golang:1.22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WORKDIR /src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COPY main.go 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RUN go mod init demo &amp;&amp; go build -o app main.go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CMD ["./app"]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Multi-stage Dockerfile (small image)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726179"/>
            <a:ext cx="10652760" cy="202082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26179"/>
            <a:ext cx="82296" cy="20208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790187"/>
            <a:ext cx="10323576" cy="1929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Stage 1: compile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FROM golang:1.22 AS builder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WORKDIR /src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COPY main.go 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RUN go mod init demo &amp;&amp; CGO_ENABLED=0 go build -o /out/app main.go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Stage 2: runtime only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FROM gcr.io/distroless/static-debian12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COPY --from=builder /out/app /app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ENTRYPOINT ["/app"]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Multi-Stage Dockerfile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Build both and compare sizes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docker build -f Dockerfile.single -t demo:single 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docker build -f Dockerfile.multi  -t demo:multi 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docker images | grep demo        # ~800MB  vs  ~8MB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Only the last FROM stage ends up in the final image. CGO_ENABLED=0 produces a static binary that runs in distroless/scratch — no shell, smaller attack surface.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Multi-Stage Dockerfile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docker images | grep demo shows demo:multi roughly 100x smaller than demo:single, and demo:multi still serves hello from multi-stage build.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Pods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smallest deployable unit &amp; the exam-speed kubectl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 Pod?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Pod is the smallest deployable unit — one or more containers sharing network &amp; storage.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Containers in a Pod share an IP and localhost; they can share volumes.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Create Pods imperatively (kubectl run) or declaratively (kubectl apply -f).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Pods are ephemeral — in production you run them via higher-level controllers (Day 2).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GENERATE → EDIT →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CKAD kubectl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Generate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kubectl run / create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with --dry-run=client -o yaml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Scaffold a manifest fast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Edit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Redirect to a .yaml file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Tweak labels, image, command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Version-controllable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Apply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kubectl apply -f file.yaml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Idempotent &amp; repeatable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kubectl describe to verify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75" dirty="0"/>
              <a:t>What</a:t>
            </a:r>
            <a:r>
              <a:rPr spc="-114" dirty="0"/>
              <a:t> </a:t>
            </a:r>
            <a:r>
              <a:rPr dirty="0"/>
              <a:t>is</a:t>
            </a:r>
            <a:r>
              <a:rPr spc="-110" dirty="0"/>
              <a:t> </a:t>
            </a:r>
            <a:r>
              <a:rPr spc="280" dirty="0"/>
              <a:t>a</a:t>
            </a:r>
            <a:r>
              <a:rPr spc="-114" dirty="0"/>
              <a:t> </a:t>
            </a:r>
            <a:r>
              <a:rPr spc="-20" dirty="0"/>
              <a:t>Pod?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Runs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85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600" b="0" spc="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process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/>
                <a:cs typeface="Arial"/>
              </a:rPr>
              <a:t>or</a:t>
            </a:r>
            <a:r>
              <a:rPr sz="1600" b="0" spc="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application</a:t>
            </a:r>
            <a:r>
              <a:rPr sz="1600" b="0" spc="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in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container(s)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25" dirty="0"/>
              <a:t>46</a:t>
            </a:fld>
            <a:endParaRPr spc="25" dirty="0"/>
          </a:p>
        </p:txBody>
      </p:sp>
      <p:sp>
        <p:nvSpPr>
          <p:cNvPr id="3" name="object 3"/>
          <p:cNvSpPr txBox="1"/>
          <p:nvPr/>
        </p:nvSpPr>
        <p:spPr>
          <a:xfrm>
            <a:off x="800095" y="1856996"/>
            <a:ext cx="10238740" cy="2200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indent="-351155">
              <a:lnSpc>
                <a:spcPct val="100000"/>
              </a:lnSpc>
              <a:spcBef>
                <a:spcPts val="100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"/>
                <a:cs typeface="Arial"/>
              </a:rPr>
              <a:t>The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smallest,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most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basic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deployable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objects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Kubernetes.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90"/>
              </a:spcBef>
              <a:buFont typeface="Arial"/>
              <a:buChar char="●"/>
            </a:pPr>
            <a:endParaRPr sz="1600">
              <a:latin typeface="Arial"/>
              <a:cs typeface="Arial"/>
            </a:endParaRPr>
          </a:p>
          <a:p>
            <a:pPr marL="363855" indent="-351155">
              <a:lnSpc>
                <a:spcPct val="100000"/>
              </a:lnSpc>
              <a:buChar char="●"/>
              <a:tabLst>
                <a:tab pos="363855" algn="l"/>
              </a:tabLst>
            </a:pPr>
            <a:r>
              <a:rPr sz="1600" dirty="0">
                <a:latin typeface="Arial"/>
                <a:cs typeface="Arial"/>
              </a:rPr>
              <a:t>It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contains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one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more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containers,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executed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by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configured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container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runtime.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5"/>
              </a:spcBef>
              <a:buFont typeface="Arial"/>
              <a:buChar char="●"/>
            </a:pPr>
            <a:endParaRPr sz="1600">
              <a:latin typeface="Arial"/>
              <a:cs typeface="Arial"/>
            </a:endParaRPr>
          </a:p>
          <a:p>
            <a:pPr marL="363855" marR="80010" indent="-351790">
              <a:lnSpc>
                <a:spcPct val="113300"/>
              </a:lnSpc>
              <a:buChar char="●"/>
              <a:tabLst>
                <a:tab pos="363855" algn="l"/>
              </a:tabLst>
            </a:pPr>
            <a:r>
              <a:rPr sz="1600" dirty="0">
                <a:latin typeface="Arial"/>
                <a:cs typeface="Arial"/>
              </a:rPr>
              <a:t>Kubernetes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enhances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basic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functionality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container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with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features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such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as </a:t>
            </a:r>
            <a:r>
              <a:rPr sz="1600" spc="-10" dirty="0">
                <a:latin typeface="Arial"/>
                <a:cs typeface="Arial"/>
              </a:rPr>
              <a:t>security,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storage,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more.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/>
              <a:t>Pod</a:t>
            </a:r>
            <a:r>
              <a:rPr spc="-60" dirty="0"/>
              <a:t> </a:t>
            </a:r>
            <a:r>
              <a:rPr spc="-55" dirty="0"/>
              <a:t>Life</a:t>
            </a:r>
            <a:r>
              <a:rPr spc="-60" dirty="0"/>
              <a:t> </a:t>
            </a:r>
            <a:r>
              <a:rPr spc="85" dirty="0"/>
              <a:t>Cycle</a:t>
            </a:r>
            <a:r>
              <a:rPr spc="-60" dirty="0"/>
              <a:t> </a:t>
            </a:r>
            <a:r>
              <a:rPr spc="45" dirty="0"/>
              <a:t>Phases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95" dirty="0">
                <a:solidFill>
                  <a:srgbClr val="666666"/>
                </a:solidFill>
                <a:latin typeface="Arial"/>
                <a:cs typeface="Arial"/>
              </a:rPr>
              <a:t>Indicates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/>
                <a:cs typeface="Arial"/>
              </a:rPr>
              <a:t>operational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/>
                <a:cs typeface="Arial"/>
              </a:rPr>
              <a:t>status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of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30" dirty="0">
                <a:solidFill>
                  <a:srgbClr val="666666"/>
                </a:solidFill>
                <a:latin typeface="Arial"/>
                <a:cs typeface="Arial"/>
              </a:rPr>
              <a:t>Pod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6148" y="2240165"/>
            <a:ext cx="6419767" cy="381966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25" dirty="0"/>
              <a:t>51</a:t>
            </a:fld>
            <a:endParaRPr spc="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SET THESE ON EXAM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Exam-Speed kubectl  (kubernetes.io quick reference)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alias k=kubectl  —  set this first; saves keystrokes on every command.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export do="--dry-run=client -o yaml"  —  scaffold any manifest without creating it.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source &lt;(kubectl completion bash); complete -o default -F __start_kubectl k  —  tab-completion.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kubectl get -o wide / -o yaml / -o jsonpath  ·  kubectl describe  ·  kubectl explain — inspect &amp; learn.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and Manage Pods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Pods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The Pod is the smallest schedulable unit in Kubernetes. Create Pods imperatively, generate YAML with --dry-run, edit live manifests, and use the exam-critical $do alias that saves 30+ seconds per question.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Set exam-speed aliases, run Pods imperatively, scaffold YAML with $do, then apply and inspect.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alias k=kubectl · k run · k describe · » `--restart=Never`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and Manage Pods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Set exam-speed aliases (run these first on exam day)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alias k=kubectl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export do="--dry-run=client -o yaml"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Create a Pod imperatively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run web --image=nginx:1.25 --port=80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 web -o wide          # shows node and Pod 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Generate a manifest without creating 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25195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5195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31596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run web2 --image=nginx:1.25 --port=80 $do &gt; web2.yaml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web2.yaml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 web2 --show-labels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and Manage Pods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Inspect a running Pod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describe pod web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 web -o jsonpath='{.status.podIP}'; echo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5 — Override the container command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run sleeper --image=busybox --restart=Never -- sh -c 'sleep 3600'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delete pod web web2 sleeper --force --grace-period=0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0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--restart=Never creates a bare Pod (not a Deployment). Everything after -- becomes the container command. --force --grace-period=0 skips the 30s grace period.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and Manage Pods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get pod web2 --show-labels shows the tier=frontend label, and the --dry-run=client -o yaml workflow produces a valid manifest you can apply.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1 hour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Jobs &amp; CronJobs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Run-to-completion &amp; scheduled batch workloads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RUN TO COMPLETION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Batch Workloads in Kubernetes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Job runs Pods until a set number of successful completions, then stops — it does not restart on success.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CronJob creates Jobs on a schedule using standard cron syntax (*/1 * * * * = every minute).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Job Pod templates must use restartPolicy: Never or OnFailure — never Always.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Trigger a CronJob now with: kubectl create job --from=cronjob/&lt;name&gt; &lt;job-name&gt;.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EXAM-TESTED EVERY SITTING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Fields to Memorise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Job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completions — successes needed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parallelism — Pods at once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backoffLimit — failures allowed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Job (timing)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activeDeadlineSeconds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Hard wall-clock ceiling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Overrides backoffLimit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CronJob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schedule + timeZone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concurrencyPolicy: Allow/Forbid/Replace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successful/failedJobsHistoryLimit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85" dirty="0"/>
              <a:t>Job</a:t>
            </a:r>
            <a:r>
              <a:rPr spc="-95" dirty="0"/>
              <a:t> </a:t>
            </a:r>
            <a:r>
              <a:rPr spc="85" dirty="0"/>
              <a:t>Object</a:t>
            </a:r>
            <a:r>
              <a:rPr spc="-95" dirty="0"/>
              <a:t> </a:t>
            </a:r>
            <a:r>
              <a:rPr spc="75" dirty="0"/>
              <a:t>Hierarchy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/>
                <a:cs typeface="Arial"/>
              </a:rPr>
              <a:t>Job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55" dirty="0">
                <a:solidFill>
                  <a:srgbClr val="666666"/>
                </a:solidFill>
                <a:latin typeface="Arial"/>
                <a:cs typeface="Arial"/>
              </a:rPr>
              <a:t>manages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50" dirty="0">
                <a:solidFill>
                  <a:srgbClr val="666666"/>
                </a:solidFill>
                <a:latin typeface="Arial"/>
                <a:cs typeface="Arial"/>
              </a:rPr>
              <a:t>Pods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/>
                <a:cs typeface="Arial"/>
              </a:rPr>
              <a:t>run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workload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1667" y="2276335"/>
            <a:ext cx="3992565" cy="335696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25" dirty="0"/>
              <a:t>69</a:t>
            </a:fld>
            <a:endParaRPr spc="2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80" dirty="0"/>
              <a:t>CronJob</a:t>
            </a:r>
            <a:r>
              <a:rPr spc="-80" dirty="0"/>
              <a:t> </a:t>
            </a:r>
            <a:r>
              <a:rPr spc="85" dirty="0"/>
              <a:t>Object</a:t>
            </a:r>
            <a:r>
              <a:rPr spc="-80" dirty="0"/>
              <a:t> </a:t>
            </a:r>
            <a:r>
              <a:rPr spc="75" dirty="0"/>
              <a:t>Hierarchy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CronJob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55" dirty="0">
                <a:solidFill>
                  <a:srgbClr val="666666"/>
                </a:solidFill>
                <a:latin typeface="Arial"/>
                <a:cs typeface="Arial"/>
              </a:rPr>
              <a:t>manages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Jobs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/>
                <a:cs typeface="Arial"/>
              </a:rPr>
              <a:t>which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delegate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workload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30" dirty="0">
                <a:solidFill>
                  <a:srgbClr val="666666"/>
                </a:solidFill>
                <a:latin typeface="Arial"/>
                <a:cs typeface="Arial"/>
              </a:rPr>
              <a:t>Pods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24532" y="2208833"/>
            <a:ext cx="2942933" cy="38865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81</a:t>
            </a:fld>
            <a:endParaRPr spc="-2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Jobs — Run-to-Completion Workloads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Batch workloads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 Job runs Pods until a required number of successful completions is reached, then stops. CKAD tests completions, parallelism, backoffLimit and activeDeadlineSeconds in almost every sitting — you must write a Job manifest from memory.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a one-shot Job, a parallel Job with completions, and explore backoffLimit and activeDeadlineSeconds.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create · apiVersion: batch/v1 · k apply · » `restartPolicy: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Jobs — Run-to-Completion Workloads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One-shot Job (imperative)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job hello --image=busybox -- echo "hello CKAD 2026"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-l job-name=hello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Jobs — Run-to-Completion Workloads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Parallel Job with multiple completions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295808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29580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28666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batch/v1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Job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pi-parallel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completions: 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parallelism: 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backoffLimit: 4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template: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restartPolicy: Never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- name: pi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image: perl:5.34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command: ["perl", "-Mbignum=bpi", "-wle", "print bpi(50)"]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Jobs — Run-to-Completion Workloads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Apply and watch completions climb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parallel.yaml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job pi-parallel -w        # COMPLETIONS ticks 0/5 → 5/5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restartPolicy: Never is mandatory in Job Pod templates. activeDeadlineSeconds is a hard wall-clock ceiling — it overrides backoffLimit.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Jobs — Run-to-Completion Workloads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get job pi-parallel reaches 5/5 completions with no more than two Pods running simultaneously during the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CRONJOBS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CronJobs — Scheduled Workloads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Batch workloads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 CronJob creates Jobs on a time-based schedule using standard cron syntax. CKAD tests concurrencyPolicy, timeZone, startingDeadlineSeconds, history limits, manual triggers and suspend/resume — these fields appear verbatim in exam questions.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a CronJob imperatively and declaratively, suspend/resume it, then trigger it manually.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create · apiVersion: batch/v1 · k patch · » `concurrencyPolicy`: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CronJobs — Scheduled Workloads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Create a CronJob imperatively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cronjob date-printer --image=busybox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--schedule="*/1 * * * *" -- sh -c "date; echo from cronjob"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cronjob date-printer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CronJobs — Scheduled Workloads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Declarative CronJob with all key fields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3707891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370789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36164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batch/v1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CronJob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report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schedule: "*/2 * * * *"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timeZone: "Asia/Singapore"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concurrencyPolicy: Forbid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successfulJobsHistoryLimit: 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startingDeadlineSeconds: 30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jobTemplate: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template: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restartPolicy: OnFailure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- name: report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  image: busybox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  command: ["sh", "-c", "echo report at $(date)"]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CronJobs — Scheduled Workloads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Suspend, resume and trigger manually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patch cronjob report -p '{"spec":{"suspend":true}}'    # pause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patch cronjob report -p '{"spec":{"suspend":false}}'   # resume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job --from=cronjob/report report-manual           # run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concurrencyPolicy: Allow (default) / Forbid / Replace. timeZone is a newer field — always set it. create job --from=cronjob/&lt;name&gt; runs the workload immediately.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CronJobs — Scheduled Workloads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get cronjob report shows SUSPEND True after the patch, and k create job --from=cronjob/report report-manual produces an immediate one-off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Multi-Container Pods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Sidecar &amp; init-container design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POD DESIGN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More Than One Container?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Containers in a Pod share the network namespace and can share volumes (emptyDir is the usual glue).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Sidecar — a helper alongside the main app (log shipper, proxy) sharing a volume.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Init container — runs to completion before main containers (seed a volume, wait for a service).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Always target a specific container with kubectl logs -c &lt;name&gt; and kubectl exec -c &lt;name&gt;.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ONE POD, MANY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Sidecar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Runs beside the main app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Shares an emptyDir volume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Log shipping / proxy / sync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Init container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Runs first, to completion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Pod shows Init:N/M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Seed volume · wait for DNS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Native sidecar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initContainer + restartPolicy: Always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Kubernetes 1.29+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Runs for the Pod's lifetime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50" dirty="0"/>
              <a:t>Design</a:t>
            </a:r>
            <a:r>
              <a:rPr spc="-80" dirty="0"/>
              <a:t> </a:t>
            </a:r>
            <a:r>
              <a:rPr spc="70" dirty="0"/>
              <a:t>Patterns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Emerged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40" dirty="0">
                <a:solidFill>
                  <a:srgbClr val="666666"/>
                </a:solidFill>
                <a:latin typeface="Arial"/>
                <a:cs typeface="Arial"/>
              </a:rPr>
              <a:t>from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55" dirty="0">
                <a:solidFill>
                  <a:srgbClr val="666666"/>
                </a:solidFill>
                <a:latin typeface="Arial"/>
                <a:cs typeface="Arial"/>
              </a:rPr>
              <a:t>Pod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/>
                <a:cs typeface="Arial"/>
              </a:rPr>
              <a:t>requirements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5833" y="4279900"/>
            <a:ext cx="199165" cy="46293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54032" y="1914933"/>
            <a:ext cx="199165" cy="46293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5833" y="1912667"/>
            <a:ext cx="199165" cy="46293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14241" y="1845061"/>
            <a:ext cx="5003800" cy="45474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Init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Container</a:t>
            </a:r>
            <a:endParaRPr sz="1600">
              <a:latin typeface="Arial"/>
              <a:cs typeface="Arial"/>
            </a:endParaRPr>
          </a:p>
          <a:p>
            <a:pPr marL="331470" marR="5080" indent="-198120">
              <a:lnSpc>
                <a:spcPct val="116100"/>
              </a:lnSpc>
              <a:spcBef>
                <a:spcPts val="1040"/>
              </a:spcBef>
              <a:buChar char="●"/>
              <a:tabLst>
                <a:tab pos="332740" algn="l"/>
              </a:tabLst>
            </a:pPr>
            <a:r>
              <a:rPr sz="1400" dirty="0">
                <a:latin typeface="Arial"/>
                <a:cs typeface="Arial"/>
              </a:rPr>
              <a:t>Provide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initialization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logic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concerns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25" dirty="0">
                <a:latin typeface="Arial"/>
                <a:cs typeface="Arial"/>
              </a:rPr>
              <a:t> be 	</a:t>
            </a:r>
            <a:r>
              <a:rPr sz="1400" dirty="0">
                <a:latin typeface="Arial"/>
                <a:cs typeface="Arial"/>
              </a:rPr>
              <a:t>run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before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main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application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even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starts.</a:t>
            </a:r>
            <a:endParaRPr sz="1400">
              <a:latin typeface="Arial"/>
              <a:cs typeface="Arial"/>
            </a:endParaRPr>
          </a:p>
          <a:p>
            <a:pPr marL="331470" marR="14604" indent="-198120">
              <a:lnSpc>
                <a:spcPct val="116100"/>
              </a:lnSpc>
              <a:buChar char="●"/>
              <a:tabLst>
                <a:tab pos="332740" algn="l"/>
              </a:tabLst>
            </a:pPr>
            <a:r>
              <a:rPr sz="1400" dirty="0">
                <a:latin typeface="Arial"/>
                <a:cs typeface="Arial"/>
              </a:rPr>
              <a:t>Example: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Downloading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configuration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files 	</a:t>
            </a:r>
            <a:r>
              <a:rPr sz="1400" dirty="0">
                <a:latin typeface="Arial"/>
                <a:cs typeface="Arial"/>
              </a:rPr>
              <a:t>required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by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application.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70"/>
              </a:spcBef>
              <a:buFont typeface="Arial"/>
              <a:buChar char="●"/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latin typeface="Arial"/>
                <a:cs typeface="Arial"/>
              </a:rPr>
              <a:t>Adapter</a:t>
            </a:r>
            <a:endParaRPr sz="1600">
              <a:latin typeface="Arial"/>
              <a:cs typeface="Arial"/>
            </a:endParaRPr>
          </a:p>
          <a:p>
            <a:pPr marL="354330" marR="227965" indent="-220979">
              <a:lnSpc>
                <a:spcPct val="116100"/>
              </a:lnSpc>
              <a:spcBef>
                <a:spcPts val="1040"/>
              </a:spcBef>
              <a:buChar char="●"/>
              <a:tabLst>
                <a:tab pos="355600" algn="l"/>
              </a:tabLst>
            </a:pPr>
            <a:r>
              <a:rPr sz="1400" dirty="0">
                <a:latin typeface="Arial"/>
                <a:cs typeface="Arial"/>
              </a:rPr>
              <a:t>Transforms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output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produced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by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the 	</a:t>
            </a:r>
            <a:r>
              <a:rPr sz="1400" dirty="0">
                <a:latin typeface="Arial"/>
                <a:cs typeface="Arial"/>
              </a:rPr>
              <a:t>application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make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consumable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25" dirty="0">
                <a:latin typeface="Arial"/>
                <a:cs typeface="Arial"/>
              </a:rPr>
              <a:t> the 	</a:t>
            </a:r>
            <a:r>
              <a:rPr sz="1400" dirty="0">
                <a:latin typeface="Arial"/>
                <a:cs typeface="Arial"/>
              </a:rPr>
              <a:t>format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needed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by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another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part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the 	</a:t>
            </a:r>
            <a:r>
              <a:rPr sz="1400" spc="-10" dirty="0">
                <a:latin typeface="Arial"/>
                <a:cs typeface="Arial"/>
              </a:rPr>
              <a:t>system.</a:t>
            </a:r>
            <a:endParaRPr sz="1400">
              <a:latin typeface="Arial"/>
              <a:cs typeface="Arial"/>
            </a:endParaRPr>
          </a:p>
          <a:p>
            <a:pPr marL="354330" indent="-220979">
              <a:lnSpc>
                <a:spcPct val="100000"/>
              </a:lnSpc>
              <a:spcBef>
                <a:spcPts val="270"/>
              </a:spcBef>
              <a:buChar char="●"/>
              <a:tabLst>
                <a:tab pos="354330" algn="l"/>
              </a:tabLst>
            </a:pPr>
            <a:r>
              <a:rPr sz="1400" dirty="0">
                <a:latin typeface="Arial"/>
                <a:cs typeface="Arial"/>
              </a:rPr>
              <a:t>Example: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Massaging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log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data.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92443" y="1828551"/>
            <a:ext cx="4971627" cy="4564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Arial"/>
                <a:cs typeface="Arial"/>
              </a:rPr>
              <a:t>Sidecar</a:t>
            </a:r>
            <a:endParaRPr sz="1600">
              <a:latin typeface="Arial"/>
              <a:cs typeface="Arial"/>
            </a:endParaRPr>
          </a:p>
          <a:p>
            <a:pPr marL="331470" marR="5080" indent="-198120">
              <a:lnSpc>
                <a:spcPct val="116100"/>
              </a:lnSpc>
              <a:spcBef>
                <a:spcPts val="1040"/>
              </a:spcBef>
              <a:buChar char="●"/>
              <a:tabLst>
                <a:tab pos="332740" algn="l"/>
              </a:tabLst>
            </a:pP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sidecars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not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part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main</a:t>
            </a:r>
            <a:r>
              <a:rPr sz="1400" spc="-10" dirty="0">
                <a:latin typeface="Arial"/>
                <a:cs typeface="Arial"/>
              </a:rPr>
              <a:t> traffic 	</a:t>
            </a:r>
            <a:r>
              <a:rPr sz="1400" dirty="0">
                <a:latin typeface="Arial"/>
                <a:cs typeface="Arial"/>
              </a:rPr>
              <a:t>or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API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primary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application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and 	</a:t>
            </a:r>
            <a:r>
              <a:rPr sz="1400" dirty="0">
                <a:latin typeface="Arial"/>
                <a:cs typeface="Arial"/>
              </a:rPr>
              <a:t>operate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asynchronously.</a:t>
            </a:r>
            <a:endParaRPr sz="1400">
              <a:latin typeface="Arial"/>
              <a:cs typeface="Arial"/>
            </a:endParaRPr>
          </a:p>
          <a:p>
            <a:pPr marL="331470" indent="-198120">
              <a:lnSpc>
                <a:spcPct val="100000"/>
              </a:lnSpc>
              <a:spcBef>
                <a:spcPts val="270"/>
              </a:spcBef>
              <a:buChar char="●"/>
              <a:tabLst>
                <a:tab pos="331470" algn="l"/>
              </a:tabLst>
            </a:pPr>
            <a:r>
              <a:rPr sz="1400" dirty="0">
                <a:latin typeface="Arial"/>
                <a:cs typeface="Arial"/>
              </a:rPr>
              <a:t>Example: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Watcher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capabilities.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Char char="●"/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"/>
              <a:buChar char="●"/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latin typeface="Arial"/>
                <a:cs typeface="Arial"/>
              </a:rPr>
              <a:t>Ambassador</a:t>
            </a:r>
            <a:endParaRPr sz="1600">
              <a:latin typeface="Arial"/>
              <a:cs typeface="Arial"/>
            </a:endParaRPr>
          </a:p>
          <a:p>
            <a:pPr marL="354330" marR="174625" indent="-220979" algn="just">
              <a:lnSpc>
                <a:spcPct val="116100"/>
              </a:lnSpc>
              <a:spcBef>
                <a:spcPts val="1045"/>
              </a:spcBef>
              <a:buChar char="●"/>
              <a:tabLst>
                <a:tab pos="355600" algn="l"/>
              </a:tabLst>
            </a:pPr>
            <a:r>
              <a:rPr sz="1400" dirty="0">
                <a:latin typeface="Arial"/>
                <a:cs typeface="Arial"/>
              </a:rPr>
              <a:t>Provides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proxy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for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communicating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with 	</a:t>
            </a:r>
            <a:r>
              <a:rPr sz="1400" dirty="0">
                <a:latin typeface="Arial"/>
                <a:cs typeface="Arial"/>
              </a:rPr>
              <a:t>external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services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hide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and/or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abstract 	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complexity.</a:t>
            </a:r>
            <a:endParaRPr sz="1400">
              <a:latin typeface="Arial"/>
              <a:cs typeface="Arial"/>
            </a:endParaRPr>
          </a:p>
          <a:p>
            <a:pPr marL="354330" marR="342900" indent="-220979" algn="just">
              <a:lnSpc>
                <a:spcPct val="116100"/>
              </a:lnSpc>
              <a:buChar char="●"/>
              <a:tabLst>
                <a:tab pos="355600" algn="l"/>
              </a:tabLst>
            </a:pPr>
            <a:r>
              <a:rPr sz="1400" dirty="0">
                <a:latin typeface="Arial"/>
                <a:cs typeface="Arial"/>
              </a:rPr>
              <a:t>Example: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Rate-</a:t>
            </a:r>
            <a:r>
              <a:rPr sz="1400" dirty="0">
                <a:latin typeface="Arial"/>
                <a:cs typeface="Arial"/>
              </a:rPr>
              <a:t>limiting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functionality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for 	</a:t>
            </a:r>
            <a:r>
              <a:rPr sz="1400" dirty="0">
                <a:latin typeface="Arial"/>
                <a:cs typeface="Arial"/>
              </a:rPr>
              <a:t>HTTP(S)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calls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external</a:t>
            </a:r>
            <a:r>
              <a:rPr sz="1400" spc="-10" dirty="0">
                <a:latin typeface="Arial"/>
                <a:cs typeface="Arial"/>
              </a:rPr>
              <a:t> service.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54032" y="4279900"/>
            <a:ext cx="199165" cy="462932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110</a:t>
            </a:fld>
            <a:endParaRPr spc="-25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60" dirty="0"/>
              <a:t>Init</a:t>
            </a:r>
            <a:r>
              <a:rPr spc="-90" dirty="0"/>
              <a:t> </a:t>
            </a:r>
            <a:r>
              <a:rPr spc="110" dirty="0"/>
              <a:t>Container</a:t>
            </a:r>
            <a:r>
              <a:rPr spc="-90" dirty="0"/>
              <a:t> </a:t>
            </a:r>
            <a:r>
              <a:rPr spc="-55" dirty="0"/>
              <a:t>Life</a:t>
            </a:r>
            <a:r>
              <a:rPr spc="-85" dirty="0"/>
              <a:t> </a:t>
            </a:r>
            <a:r>
              <a:rPr spc="75" dirty="0"/>
              <a:t>Cycle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75" dirty="0">
                <a:solidFill>
                  <a:srgbClr val="666666"/>
                </a:solidFill>
                <a:latin typeface="Arial"/>
                <a:cs typeface="Arial"/>
              </a:rPr>
              <a:t>Initialization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logic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/>
                <a:cs typeface="Arial"/>
              </a:rPr>
              <a:t>before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60" dirty="0">
                <a:solidFill>
                  <a:srgbClr val="666666"/>
                </a:solidFill>
                <a:latin typeface="Arial"/>
                <a:cs typeface="Arial"/>
              </a:rPr>
              <a:t>main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application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containers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6216" y="2375599"/>
            <a:ext cx="8699565" cy="268858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111</a:t>
            </a:fld>
            <a:endParaRPr spc="-25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70" dirty="0"/>
              <a:t>Sidecar</a:t>
            </a:r>
            <a:r>
              <a:rPr spc="-70" dirty="0"/>
              <a:t> </a:t>
            </a:r>
            <a:r>
              <a:rPr spc="80" dirty="0"/>
              <a:t>Pattern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"Send</a:t>
            </a:r>
            <a:r>
              <a:rPr sz="1600" b="0" spc="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85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600" b="0" spc="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notification</a:t>
            </a:r>
            <a:r>
              <a:rPr sz="1600" b="0" spc="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of</a:t>
            </a:r>
            <a:r>
              <a:rPr sz="1600" b="0" spc="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0" dirty="0">
                <a:solidFill>
                  <a:srgbClr val="666666"/>
                </a:solidFill>
                <a:latin typeface="Arial"/>
                <a:cs typeface="Arial"/>
              </a:rPr>
              <a:t>error</a:t>
            </a:r>
            <a:r>
              <a:rPr sz="1600" b="0" spc="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/>
                <a:cs typeface="Arial"/>
              </a:rPr>
              <a:t>log</a:t>
            </a:r>
            <a:r>
              <a:rPr sz="1600" b="0" spc="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contains</a:t>
            </a:r>
            <a:r>
              <a:rPr sz="1600" b="0" spc="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50" dirty="0">
                <a:solidFill>
                  <a:srgbClr val="666666"/>
                </a:solidFill>
                <a:latin typeface="Arial"/>
                <a:cs typeface="Arial"/>
              </a:rPr>
              <a:t>entries"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5847" y="2375599"/>
            <a:ext cx="10244235" cy="312376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601900" y="6544708"/>
            <a:ext cx="274320" cy="2235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z="800" spc="-35" dirty="0">
                <a:latin typeface="Arial"/>
                <a:cs typeface="Arial"/>
              </a:rPr>
              <a:t>119</a:t>
            </a:fld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14" dirty="0"/>
              <a:t>Adapter</a:t>
            </a:r>
            <a:r>
              <a:rPr spc="-90" dirty="0"/>
              <a:t> </a:t>
            </a:r>
            <a:r>
              <a:rPr spc="80" dirty="0"/>
              <a:t>Pattern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75" dirty="0">
                <a:solidFill>
                  <a:srgbClr val="666666"/>
                </a:solidFill>
                <a:latin typeface="Arial"/>
                <a:cs typeface="Arial"/>
              </a:rPr>
              <a:t>"Transform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/>
                <a:cs typeface="Arial"/>
              </a:rPr>
              <a:t>log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70" dirty="0">
                <a:solidFill>
                  <a:srgbClr val="666666"/>
                </a:solidFill>
                <a:latin typeface="Arial"/>
                <a:cs typeface="Arial"/>
              </a:rPr>
              <a:t>data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-20" dirty="0">
                <a:solidFill>
                  <a:srgbClr val="666666"/>
                </a:solidFill>
                <a:latin typeface="Arial"/>
                <a:cs typeface="Arial"/>
              </a:rPr>
              <a:t>JSON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55" dirty="0">
                <a:solidFill>
                  <a:srgbClr val="666666"/>
                </a:solidFill>
                <a:latin typeface="Arial"/>
                <a:cs typeface="Arial"/>
              </a:rPr>
              <a:t>make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it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5" dirty="0">
                <a:solidFill>
                  <a:srgbClr val="666666"/>
                </a:solidFill>
                <a:latin typeface="Arial"/>
                <a:cs typeface="Arial"/>
              </a:rPr>
              <a:t>consumable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40" dirty="0">
                <a:solidFill>
                  <a:srgbClr val="666666"/>
                </a:solidFill>
                <a:latin typeface="Arial"/>
                <a:cs typeface="Arial"/>
              </a:rPr>
              <a:t>by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/>
                <a:cs typeface="Arial"/>
              </a:rPr>
              <a:t>external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75" dirty="0">
                <a:solidFill>
                  <a:srgbClr val="666666"/>
                </a:solidFill>
                <a:latin typeface="Arial"/>
                <a:cs typeface="Arial"/>
              </a:rPr>
              <a:t>system"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9796" y="2311667"/>
            <a:ext cx="9356332" cy="32352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601900" y="6544708"/>
            <a:ext cx="274320" cy="2235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z="800" spc="-35" dirty="0">
                <a:latin typeface="Arial"/>
                <a:cs typeface="Arial"/>
              </a:rPr>
              <a:t>120</a:t>
            </a:fld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14" dirty="0"/>
              <a:t>Ambassador</a:t>
            </a:r>
            <a:r>
              <a:rPr spc="-90" dirty="0"/>
              <a:t> </a:t>
            </a:r>
            <a:r>
              <a:rPr spc="80" dirty="0"/>
              <a:t>Pattern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50" dirty="0">
                <a:solidFill>
                  <a:srgbClr val="666666"/>
                </a:solidFill>
                <a:latin typeface="Arial"/>
                <a:cs typeface="Arial"/>
              </a:rPr>
              <a:t>"OAuth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/>
                <a:cs typeface="Arial"/>
              </a:rPr>
              <a:t>authentication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5" dirty="0">
                <a:solidFill>
                  <a:srgbClr val="666666"/>
                </a:solidFill>
                <a:latin typeface="Arial"/>
                <a:cs typeface="Arial"/>
              </a:rPr>
              <a:t>handled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40" dirty="0">
                <a:solidFill>
                  <a:srgbClr val="666666"/>
                </a:solidFill>
                <a:latin typeface="Arial"/>
                <a:cs typeface="Arial"/>
              </a:rPr>
              <a:t>by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network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55" dirty="0">
                <a:solidFill>
                  <a:srgbClr val="666666"/>
                </a:solidFill>
                <a:latin typeface="Arial"/>
                <a:cs typeface="Arial"/>
              </a:rPr>
              <a:t>communication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45" dirty="0">
                <a:solidFill>
                  <a:srgbClr val="666666"/>
                </a:solidFill>
                <a:latin typeface="Arial"/>
                <a:cs typeface="Arial"/>
              </a:rPr>
              <a:t>proxy"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9016" y="2820432"/>
            <a:ext cx="10297900" cy="17977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635767" y="6544708"/>
            <a:ext cx="235373" cy="2235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800" spc="-45" dirty="0">
                <a:latin typeface="Arial"/>
                <a:cs typeface="Arial"/>
              </a:rPr>
              <a:t>123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MULTI-CONTAINER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Multi-Container Pods — Sidecar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Multi-container Pods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Containers in the same Pod share a network namespace and can share volumes. CKAD tests the sidecar pattern (a helper reads/writes a shared volume) and the native sidecar feature (Kubernetes 1.29+). You must exec into and read logs from each container.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Run a sidecar that tails a shared emptyDir log, read each container's logs, then build a native sidecar.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apiVersion: v1 · k logs · initContainers: · » With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Multi-Container Pods — Sidecar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Sidecar sharing a log file via emptyDir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3707891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370789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36164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Pod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app-with-sidecar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volumes: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name: logs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emptyDir: {}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name: app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image: busybox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command: ["sh","-c","while true; do date &gt;&gt; /var/log/app.log; sleep 2; done"]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volumeMounts: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- {name: logs, mountPath: /var/log}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name: log-shipper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image: busybox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command: ["sh","-c","tail -F /var/log/app.log"]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volumeMounts: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- {name: logs, mountPath: /var/log}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Multi-Container Pods — Sidecar Pattern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Read logs from each container separately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app-with-sidecar -c app | head -5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app-with-sidecar -c log-shipper | head -5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exec -it app-with-sidecar -c app -- sh -c 'wc -l /var/log/app.log'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Native sidecar container (Kubernetes 1.29+)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initContainers: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log-collector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image: busybox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restartPolicy: Always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command: ["sh","-c","while true; do echo alive; sleep 5; done"]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17719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With multiple containers in a Pod, always specify -c &lt;name&gt; for logs and exec. emptyDir is the standard glue volume between sidecar and main containers.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Multi-Container Pods — Sidecar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logs app-with-sidecar -c log-shipper shows the same lines app is writing, proving both containers share the emptyDir volume.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INIT CONTAINERS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Init Containers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Multi-container Pods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Init containers run in order, to completion, before any main container starts. Use them to seed shared volumes, wait for upstream services, or do one-time setup. CKAD asks you to write init containers and read Init:N/M Pod status correctly.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Seed an nginx web root with an init container, then add an init container that waits for a Service via DNS.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apiVersion: v1 · k exec · initContainers: · »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Init Containers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Init container that seeds the web root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3707891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370789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36164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Pod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web-init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volumes: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name: html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emptyDir: {}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initContainers: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name: seed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image: busybox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command: ["sh","-c","echo '&lt;h1&gt;Seeded by init&lt;/h1&gt;' &gt; /work/index.html"]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volumeMounts: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- {name: html, mountPath: /work}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name: web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image: nginx:1.25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volumeMounts: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- {name: html, mountPath: /usr/share/nginx/html}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Init Containers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Verify the seeded content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242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exec web-init -- cat /usr/share/nginx/html/index.html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92324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Init container that waits for a 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976372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76372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040380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initContainers: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wait-for-db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image: busybox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command: ["sh","-c","until nslookup db.default.svc.cluster.local; do sleep 2; done"]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4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The Pod stays in Init:0/1 until DNS resolves. Creating the db Service unblocks it. If an init container fails it is restarted per the Pod's restartPolicy.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Init Containers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exec web-init -- cat /usr/share/nginx/html/index.html returns the seeded heading, proving the init container populated the volume before nginx started.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Volumes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Persist &amp; share Pod data: emptyDir, tmpfs &amp; hostPath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EPHEMERAL VS SHARED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Pod Storage Basics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Anything written to the container filesystem is lost when the container restarts.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Volumes are declared under spec.volumes and mounted via spec.containers[].volumeMounts.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volume can be shared by every container in the Pod — that is how sidecars exchange data.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Pod-scoped volumes live and die with the Pod; durable storage (PV/PVC) comes later in the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POD-SCOPED 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Volume Types in Domain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emptyDir: {}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Created with the Pod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Shared by all containers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Deleted with the Pod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emptyDir: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tmpfs — backed by RAM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Fast scratch space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Counts to memory limit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hostPath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Mounts a node directory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DaemonSets / node tools only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Security risk in multi-tenant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95" dirty="0"/>
              <a:t>Ephemeral</a:t>
            </a:r>
            <a:r>
              <a:rPr spc="-100" dirty="0"/>
              <a:t> </a:t>
            </a:r>
            <a:r>
              <a:rPr spc="114" dirty="0"/>
              <a:t>Volume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50" dirty="0">
                <a:solidFill>
                  <a:srgbClr val="666666"/>
                </a:solidFill>
                <a:latin typeface="Arial"/>
                <a:cs typeface="Arial"/>
              </a:rPr>
              <a:t>Useful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for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sharing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70" dirty="0">
                <a:solidFill>
                  <a:srgbClr val="666666"/>
                </a:solidFill>
                <a:latin typeface="Arial"/>
                <a:cs typeface="Arial"/>
              </a:rPr>
              <a:t>data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/>
                <a:cs typeface="Arial"/>
              </a:rPr>
              <a:t>between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containers,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/>
                <a:cs typeface="Arial"/>
              </a:rPr>
              <a:t>or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for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45" dirty="0">
                <a:solidFill>
                  <a:srgbClr val="666666"/>
                </a:solidFill>
                <a:latin typeface="Arial"/>
                <a:cs typeface="Arial"/>
              </a:rPr>
              <a:t>caching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50" dirty="0">
                <a:solidFill>
                  <a:srgbClr val="666666"/>
                </a:solidFill>
                <a:latin typeface="Arial"/>
                <a:cs typeface="Arial"/>
              </a:rPr>
              <a:t>data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8233" y="3040632"/>
            <a:ext cx="10287335" cy="219463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91</a:t>
            </a:fld>
            <a:endParaRPr spc="-25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/>
              <a:t>Persistent</a:t>
            </a:r>
            <a:r>
              <a:rPr spc="360" dirty="0"/>
              <a:t> </a:t>
            </a:r>
            <a:r>
              <a:rPr spc="114" dirty="0"/>
              <a:t>Volume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Persist</a:t>
            </a:r>
            <a:r>
              <a:rPr sz="1600" b="0" spc="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70" dirty="0">
                <a:solidFill>
                  <a:srgbClr val="666666"/>
                </a:solidFill>
                <a:latin typeface="Arial"/>
                <a:cs typeface="Arial"/>
              </a:rPr>
              <a:t>data</a:t>
            </a:r>
            <a:r>
              <a:rPr sz="1600" b="0" spc="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45" dirty="0">
                <a:solidFill>
                  <a:srgbClr val="666666"/>
                </a:solidFill>
                <a:latin typeface="Arial"/>
                <a:cs typeface="Arial"/>
              </a:rPr>
              <a:t>that</a:t>
            </a:r>
            <a:r>
              <a:rPr sz="1600" b="0" spc="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outlives</a:t>
            </a:r>
            <a:r>
              <a:rPr sz="1600" b="0" spc="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85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600" b="0" spc="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Pod,</a:t>
            </a:r>
            <a:r>
              <a:rPr sz="1600" b="0" spc="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0" dirty="0">
                <a:solidFill>
                  <a:srgbClr val="666666"/>
                </a:solidFill>
                <a:latin typeface="Arial"/>
                <a:cs typeface="Arial"/>
              </a:rPr>
              <a:t>node,</a:t>
            </a:r>
            <a:r>
              <a:rPr sz="1600" b="0" spc="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/>
                <a:cs typeface="Arial"/>
              </a:rPr>
              <a:t>or</a:t>
            </a:r>
            <a:r>
              <a:rPr sz="1600" b="0" spc="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/>
                <a:cs typeface="Arial"/>
              </a:rPr>
              <a:t>cluster</a:t>
            </a:r>
            <a:r>
              <a:rPr sz="1600" b="0" spc="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restart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2231" y="3467967"/>
            <a:ext cx="8841331" cy="16871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601900" y="6544708"/>
            <a:ext cx="281939" cy="2235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z="800" spc="-25" dirty="0">
                <a:latin typeface="Arial"/>
                <a:cs typeface="Arial"/>
              </a:rPr>
              <a:t>95</a:t>
            </a:fld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Volumes — emptyDir and hostPath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Volumes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Containers are ephemeral — data written to the container filesystem is lost on restart. Volumes survive restarts and can be shared between containers. CKAD tests emptyDir, emptyDir.medium: Memory and hostPath, plus mounting strategies.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Share an emptyDir between two containers, mount a RAM-backed tmpfs volume, then mount a node directory with hostPath.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volumes: · » Volumes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Volumes — emptyDir and hostPath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emptyDir shared between two containers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2395728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2304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volumes: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shared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emptyDir: {}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writer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image: busybox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command: ["sh","-c","echo hello-shared &gt; /data/msg.txt; sleep 3600"]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volumeMounts: [{name: shared, mountPath: /data}]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reader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image: busybox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command: ["sh","-c","sleep 5; cat /data/msg.txt; sleep 3600"]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volumeMounts: [{name: shared, mountPath: /data}]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Volumes — emptyDir and hostPath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emptyDir backed by RAM (tmpfs)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volumes: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fast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emptyDir: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medium: Memory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sizeLimit: 64Mi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hostPath: access files on the node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726179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26179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790187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volumes: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etc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hostPath: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path: /etc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type: Directory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92622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Volumes are declared under spec.volumes and consumed via spec.containers[].volumeMounts. Avoid hostPath in multi-tenant clusters — it is a security risk; use it only for DaemonSets and node-level tools.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Volumes — emptyDir and hostPath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logs scratch -c reader prints hello-shared, proving the writer and reader containers share the same emptyDir volume.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Day 1 done — you can design and build applications.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3891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Tomorrow: Application Deployment — Deployments, rollouts, Helm &amp; Kustomize.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Certified Kubernetes Application Developer (CKAD)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52628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TGS-2025053212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Application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Deployments · Rollouts · Blue/Green &amp; Canary · Helm · Kustomize · Daemon/StatefulSet  (CKAD Domain 2 — 20%)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7607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It is mandatory to take the AM, PM and Assessment digital attendance for WSQ-funded courses.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The trainer displays the digital attendance QR code from the SSG portal.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Scan the QR code with your phone camera and submit your attendance.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A minimum of 75% attendance is required for assessment and funding.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828800"/>
            <a:ext cx="4389120" cy="27432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0" y="2148840"/>
            <a:ext cx="1005840" cy="10058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at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936" y="2420416"/>
            <a:ext cx="462688" cy="4626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8040" y="3337560"/>
            <a:ext cx="3840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Minimum 75%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attendance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&amp;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Yesterday (Domain 1): images, Pods, Jobs/CronJobs, multi-container Pods and volumes.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Today (Domain 2 — 20% of the exam): how applications are deployed, scaled and upgraded.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From a single Pod to controllers that keep replicas running and roll out new versions safely.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Packaging with Helm and Kustomize, plus DaemonSets and StatefulSets for specialised workloads.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KUBERNETES PRIMITIVES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Labels and Annotations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Label assignment and selection, providing meta information to objects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METADATA · KEY-VALUE PAIRS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Labels and Annotations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Labels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Annotations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Key-value pairs assigned to an object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Must follow naming conventions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Used to query and filter objects from the CLI or from other objects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Represents human-readable metadata for an object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Not meant for querying purposes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Reserved annotations can add runtime behaviour to objects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LABELS ·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 Label?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Key-value pairs assigned to Kubernetes objects with the imperative label command or using the metadata.labels[] attribute.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Not meant for elaborate, multi-word descriptions of its functionality.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Kubernetes limits the length of a label to a maximum of 63 characters and a range of allowed alphanumeric and separator characters.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LABELS ·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Example Labels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Three different Pods, each with multiple label key-value pairs: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700">
                <a:solidFill>
                  <a:srgbClr val="161B26"/>
                </a:solidFill>
                <a:latin typeface="Arial"/>
              </a:rPr>
              <a:t>Pod 1: tier=backend, env=prod, app=miracle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700">
                <a:solidFill>
                  <a:srgbClr val="161B26"/>
                </a:solidFill>
                <a:latin typeface="Arial"/>
              </a:rPr>
              <a:t>Pod 2: tier=frontend, env=dev, app=crawler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700">
                <a:solidFill>
                  <a:srgbClr val="161B26"/>
                </a:solidFill>
                <a:latin typeface="Arial"/>
              </a:rPr>
              <a:t>Pod 3: tier=frontend, env=staging, version=v2.1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Labels are set at creation time or added later with kubectl label.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Multiple labels on the same object create a unique identity for filtering.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LABELS · KUBECTL LABEL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Assigning Labels with Imperative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Assign multiple labels to a Pod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label pod nginx tier=backend env=prod app=miracle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pod/nginx labeled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70047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List Pods with their labels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017519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017519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081527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pods --show-labels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NAME    ...LABELS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nginx   ...tier=backend,env=prod,app=miracle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27347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Remove a label by appending '-' to its key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274819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74819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338827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label pod nginx tier-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pod/nginx labeled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LABELS · DECLARATIVE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Assigning Labels in a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Pod manifest with three label key-value pairs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202082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20208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929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Pod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pod1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labels: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tier: backend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env: prod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app: miracle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LABELS · NAMING CONVENTIONS  (app.kubernetes.io/*)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Recommended Labels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Well-known label keys with the app.kubernetes.io prefix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645919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64591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554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labels: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app.kubernetes.io/name: wordpress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app.kubernetes.io/instance: wordpress-abcxzy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app.kubernetes.io/version: "4.9.4"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app.kubernetes.io/managed-by: helm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app.kubernetes.io/component: server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app.kubernetes.io/part-of: wordpress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LABELS · SELECTORS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Selecting Labels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 label selector uses a set of criteria to query for Kubernetes objects.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Equality-based requirements — match objects with a specific key or key=value: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700">
                <a:solidFill>
                  <a:srgbClr val="161B26"/>
                </a:solidFill>
                <a:latin typeface="Arial"/>
              </a:rPr>
              <a:t>tier=frontend  (equal)  •  tier!=frontend  (not equal)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Set-based requirements — match objects where a key's value is in a set: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700">
                <a:solidFill>
                  <a:srgbClr val="161B26"/>
                </a:solidFill>
                <a:latin typeface="Arial"/>
              </a:rPr>
              <a:t>'tier in (frontend, backend)'  •  'version notin (v1)'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Multiple selectors are ANDed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LABELS · KUBECTL -l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Label Selection from the CLI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Equality-based: Pods with tier=frontend AND env=dev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pods -l tier=frontend,env=dev --show-labels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NAME    ...LABELS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pod2    ...app=crawler,env=dev,tier=frontend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575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Key-only: Pods that have a 'version' label (any value)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2049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049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68980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pods -l version --show-labels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NAME    ...LABELS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pod3    ...app=crawler,env=staging,version=v2.1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148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Set-based with Boolean 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62272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62272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26280"/>
            <a:ext cx="10323576" cy="242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pods -l 'tier in (frontend,backend),env=dev' --show-labels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LABELS · SELECTORS IN MANIFESTS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Label Selection in YAML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 NetworkPolicy selects Pods via podSelector.matchLabels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83337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8333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7419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networking.k8s.io/v1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NetworkPolicy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frontend-network-policy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podSelector: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matchLabels: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tier: frontend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ANNOTATIONS ·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an Annotation?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Key-value pairs for providing descriptive, human-readable metadata to Kubernetes objects via the metadata.annotations[] attribute.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Cannot be used for querying or selecting objects.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Make sure to put the value of an annotation into single- or double-quotes if it contains special characters or spaces.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ANNOTATIONS ·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Example Annotations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 Pod can carry any number of annotation key-value pairs: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700">
                <a:solidFill>
                  <a:srgbClr val="161B26"/>
                </a:solidFill>
                <a:latin typeface="Arial"/>
              </a:rPr>
              <a:t>commit: 866a8dc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700">
                <a:solidFill>
                  <a:srgbClr val="161B26"/>
                </a:solidFill>
                <a:latin typeface="Arial"/>
              </a:rPr>
              <a:t>author: 'Benjamin Muschko'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700">
                <a:solidFill>
                  <a:srgbClr val="161B26"/>
                </a:solidFill>
                <a:latin typeface="Arial"/>
              </a:rPr>
              <a:t>branch: 'bm/bugfix'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Unlike labels, annotation values are unrestricted in length.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Annotations are visible via kubectl describe and kubectl get -o yaml.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ANNOTATIONS · KUBECTL ANNOTATE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Assigning Annotations with Imperative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Assign annotations to a Pod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annotate pod nginx commit='866a8dc' branch='bm/bugfix'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pod/nginx annotated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70047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Inspect annotations via describe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017519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017519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081527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describe pods nginx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Annotations:  branch: bm/bugfix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    commit: 866a8dc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27347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Remove an annotation by appending '-' to its key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274819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74819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338827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annotate pod nginx commit-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pod/nginx annotated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ANNOTATIONS · DECLARATIVE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Assigning Annotations in a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Pod manifest with three annotation key-value pairs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202082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20208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929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Pod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pod1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annotations: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commit: 866a8dc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author: 'Benjamin Muschko'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branch: 'bm/bugfix'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ANNOTATIONS · RESERVED KEYS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Well-Known Annotations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Reserved annotations may influence runtime behaviour (e.g. Pod Security Standards)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45846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45846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3670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Namespace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secured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annotations: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kubernetes.io/description: "Manages objects for business app."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pod-security.kubernetes.io/warn: "baseline"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EXERCISE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83464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Using Labels and Annotations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EXAM PREP ·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Exam Essentials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/>
              </a:rPr>
              <a:t>•  </a:t>
            </a:r>
            <a:r>
              <a:rPr sz="1700">
                <a:solidFill>
                  <a:srgbClr val="161B26"/>
                </a:solidFill>
                <a:latin typeface="Arial"/>
              </a:rPr>
              <a:t>Labels are key-value pairs assigned to Kubernetes objects. Values must follow naming and length restrictions (max 63 chars, alphanumeric + separators).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/>
              </a:rPr>
              <a:t>•  </a:t>
            </a:r>
            <a:r>
              <a:rPr sz="1700">
                <a:solidFill>
                  <a:srgbClr val="161B26"/>
                </a:solidFill>
                <a:latin typeface="Arial"/>
              </a:rPr>
              <a:t>Primitives such as Deployments, Services, and NetworkPolicies use label selection for filtering, querying, and routing.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/>
              </a:rPr>
              <a:t>•  </a:t>
            </a:r>
            <a:r>
              <a:rPr sz="1700">
                <a:solidFill>
                  <a:srgbClr val="161B26"/>
                </a:solidFill>
                <a:latin typeface="Arial"/>
              </a:rPr>
              <a:t>Use annotations to provide human-readable metadata that cannot be queried. Some reserved annotations influence runtime behaviour (e.g. Pod Security Standards at namespace level).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Deployments &amp; ReplicaSets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controller that keeps your Pods running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DESIRED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Deployments?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bare Pod is not rescheduled if it dies — you need a controller to keep the desired count.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Deployment manages a ReplicaSet, which manages the Pods — a three-tier ownership chain.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scale changes the replica count; the ReplicaSet controller reconciles immediately.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Old ReplicaSets are kept for rollback (revisionHistoryLimit, default 10).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DEPLOYMENT → REPLICASET → POD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Ownership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You declare desired state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replicas + Pod template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Owns one active ReplicaSet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ReplicaSet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Keeps N Pods running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Hash-suffixed name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Self-heals deleted Pods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Pod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running workload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Recreated if it dies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Never edited directly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80" dirty="0"/>
              <a:t>Example</a:t>
            </a:r>
            <a:r>
              <a:rPr spc="-70" dirty="0"/>
              <a:t> </a:t>
            </a:r>
            <a:r>
              <a:rPr spc="110" dirty="0"/>
              <a:t>Deployment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Deployment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45" dirty="0">
                <a:solidFill>
                  <a:srgbClr val="666666"/>
                </a:solidFill>
                <a:latin typeface="Arial"/>
                <a:cs typeface="Arial"/>
              </a:rPr>
              <a:t>that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/>
                <a:cs typeface="Arial"/>
              </a:rPr>
              <a:t>controls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three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/>
                <a:cs typeface="Arial"/>
              </a:rPr>
              <a:t>replicas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5032" y="2314623"/>
            <a:ext cx="5341932" cy="354296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146</a:t>
            </a:fld>
            <a:endParaRPr spc="-25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· 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Deployments and ReplicaSets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Deployments &amp; ReplicaSets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 Deployment manages a ReplicaSet, which manages Pods. CKAD tests the full ownership chain, scaling, environment-variable injection and reading ReplicaSet history — required to debug failed rollouts.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a Deployment imperatively, scale it, generate YAML, inject env vars, then read its ReplicaSet history.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create · k scale · k set · » `kubectl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Deployments and ReplicaSets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Create a Deployment imperatively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deployment web --image=nginx:1.25 --replicas=3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deploy,rs,pod -l app=web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Scale up and down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scale deployment web --replicas=5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scale deployment web --replicas=2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pods -l app=web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Generate Deployment YAML and apply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deployment api --image=httpd:2.4 --replicas=2 $do &gt; api.yaml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api.yaml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Deployments and ReplicaSets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Inject an env var and observe ReplicaSet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set env deployment/api APP_COLOR=blue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rs -l app=api    # old RS 0/0/0, new RS 2/2/2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kubectl set env / set image mutate the Pod template and trigger a new ReplicaSet (a rolling update). Old ReplicaSets are kept for rollback — revisionHistoryLimit (default 10) controls how many.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Deployments and ReplicaSets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get deploy,rs,pod -l app=web shows one Deployment owning one ReplicaSet owning the Pods, and k get rs -l app=api shows two ReplicaSets after the env change.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Rolling Updates &amp; Rollback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Zero-downtime upgrades, one ReplicaSet at a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ZERO DOWNTIME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a Rolling Update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set image mutates the Pod template — this creates a new ReplicaSet and starts a rollout.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maxSurge = extra Pods allowed above desired; maxUnavailable = Pods allowed down — together they tune speed vs availability.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rollout status watches progress; rollout history lists every revision.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rollout pause batches several changes into one ReplicaSet; rollout undo reverts instantly.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/>
              <a:t>Rolling</a:t>
            </a:r>
            <a:r>
              <a:rPr spc="-35" dirty="0"/>
              <a:t> </a:t>
            </a:r>
            <a:r>
              <a:rPr spc="135" dirty="0"/>
              <a:t>Update</a:t>
            </a:r>
            <a:r>
              <a:rPr spc="-35" dirty="0"/>
              <a:t> </a:t>
            </a:r>
            <a:r>
              <a:rPr spc="120" dirty="0"/>
              <a:t>Deployment</a:t>
            </a:r>
            <a:r>
              <a:rPr spc="-30" dirty="0"/>
              <a:t> </a:t>
            </a:r>
            <a:r>
              <a:rPr spc="95" dirty="0"/>
              <a:t>Strategy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Secondary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60" dirty="0">
                <a:solidFill>
                  <a:srgbClr val="666666"/>
                </a:solidFill>
                <a:latin typeface="Arial"/>
                <a:cs typeface="Arial"/>
              </a:rPr>
              <a:t>ReplicaSet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is </a:t>
            </a:r>
            <a:r>
              <a:rPr sz="1600" b="0" spc="125" dirty="0">
                <a:solidFill>
                  <a:srgbClr val="666666"/>
                </a:solidFill>
                <a:latin typeface="Arial"/>
                <a:cs typeface="Arial"/>
              </a:rPr>
              <a:t>created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with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/>
                <a:cs typeface="Arial"/>
              </a:rPr>
              <a:t>new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0" dirty="0">
                <a:solidFill>
                  <a:srgbClr val="666666"/>
                </a:solidFill>
                <a:latin typeface="Arial"/>
                <a:cs typeface="Arial"/>
              </a:rPr>
              <a:t>version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of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/>
                <a:cs typeface="Arial"/>
              </a:rPr>
              <a:t>application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7767" y="2254500"/>
            <a:ext cx="8740384" cy="38653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166</a:t>
            </a:fld>
            <a:endParaRPr spc="-25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/>
              <a:t>Rolling</a:t>
            </a:r>
            <a:r>
              <a:rPr spc="-35" dirty="0"/>
              <a:t> </a:t>
            </a:r>
            <a:r>
              <a:rPr spc="135" dirty="0"/>
              <a:t>Update</a:t>
            </a:r>
            <a:r>
              <a:rPr spc="-35" dirty="0"/>
              <a:t> </a:t>
            </a:r>
            <a:r>
              <a:rPr spc="120" dirty="0"/>
              <a:t>Deployment</a:t>
            </a:r>
            <a:r>
              <a:rPr spc="-30" dirty="0"/>
              <a:t> </a:t>
            </a:r>
            <a:r>
              <a:rPr spc="95" dirty="0"/>
              <a:t>Strategy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90" dirty="0">
                <a:solidFill>
                  <a:srgbClr val="666666"/>
                </a:solidFill>
                <a:latin typeface="Arial"/>
                <a:cs typeface="Arial"/>
              </a:rPr>
              <a:t>Runtime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behavior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60" dirty="0">
                <a:solidFill>
                  <a:srgbClr val="666666"/>
                </a:solidFill>
                <a:latin typeface="Arial"/>
                <a:cs typeface="Arial"/>
              </a:rPr>
              <a:t>can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40" dirty="0">
                <a:solidFill>
                  <a:srgbClr val="666666"/>
                </a:solidFill>
                <a:latin typeface="Arial"/>
                <a:cs typeface="Arial"/>
              </a:rPr>
              <a:t>be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fine-</a:t>
            </a:r>
            <a:r>
              <a:rPr sz="1600" b="0" spc="140" dirty="0">
                <a:solidFill>
                  <a:srgbClr val="666666"/>
                </a:solidFill>
                <a:latin typeface="Arial"/>
                <a:cs typeface="Arial"/>
              </a:rPr>
              <a:t>tuned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0095" y="4753239"/>
            <a:ext cx="8194887" cy="10955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indent="-351155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63855" algn="l"/>
              </a:tabLst>
            </a:pPr>
            <a:r>
              <a:rPr sz="1600" i="1" dirty="0">
                <a:latin typeface="Arial"/>
                <a:cs typeface="Arial"/>
              </a:rPr>
              <a:t>Pros:</a:t>
            </a:r>
            <a:r>
              <a:rPr sz="1600" i="1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New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version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slowly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distributed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over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time,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no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downtime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90"/>
              </a:spcBef>
              <a:buFont typeface="Arial"/>
              <a:buChar char="●"/>
            </a:pPr>
            <a:endParaRPr sz="1600">
              <a:latin typeface="Arial"/>
              <a:cs typeface="Arial"/>
            </a:endParaRPr>
          </a:p>
          <a:p>
            <a:pPr marL="363855" indent="-351155">
              <a:lnSpc>
                <a:spcPct val="100000"/>
              </a:lnSpc>
              <a:buFont typeface="Arial"/>
              <a:buChar char="●"/>
              <a:tabLst>
                <a:tab pos="363855" algn="l"/>
              </a:tabLst>
            </a:pPr>
            <a:r>
              <a:rPr sz="1600" i="1" dirty="0">
                <a:latin typeface="Arial"/>
                <a:cs typeface="Arial"/>
              </a:rPr>
              <a:t>Cons:</a:t>
            </a:r>
            <a:r>
              <a:rPr sz="1600" i="1" spc="-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Breaking</a:t>
            </a:r>
            <a:r>
              <a:rPr sz="1600" spc="-9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API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changes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can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make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consumers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incompatible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8173" y="1794151"/>
            <a:ext cx="3792400" cy="23720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89615" y="1858575"/>
            <a:ext cx="3640667" cy="2219960"/>
          </a:xfrm>
          <a:prstGeom prst="rect">
            <a:avLst/>
          </a:prstGeom>
          <a:solidFill>
            <a:srgbClr val="F6F6F7"/>
          </a:solidFill>
        </p:spPr>
        <p:txBody>
          <a:bodyPr vert="horz" wrap="square" lIns="0" tIns="78740" rIns="0" bIns="0" rtlCol="0">
            <a:spAutoFit/>
          </a:bodyPr>
          <a:lstStyle/>
          <a:p>
            <a:pPr marL="177165">
              <a:lnSpc>
                <a:spcPct val="100000"/>
              </a:lnSpc>
              <a:spcBef>
                <a:spcPts val="620"/>
              </a:spcBef>
            </a:pPr>
            <a:r>
              <a:rPr sz="1300" b="1" spc="-10" dirty="0">
                <a:solidFill>
                  <a:srgbClr val="4618A2"/>
                </a:solidFill>
                <a:latin typeface="Courier New"/>
                <a:cs typeface="Courier New"/>
              </a:rPr>
              <a:t>spec:</a:t>
            </a:r>
            <a:endParaRPr sz="1300">
              <a:latin typeface="Courier New"/>
              <a:cs typeface="Courier New"/>
            </a:endParaRPr>
          </a:p>
          <a:p>
            <a:pPr marL="375285">
              <a:lnSpc>
                <a:spcPct val="100000"/>
              </a:lnSpc>
              <a:spcBef>
                <a:spcPts val="15"/>
              </a:spcBef>
            </a:pPr>
            <a:r>
              <a:rPr sz="1300" b="1" dirty="0">
                <a:solidFill>
                  <a:srgbClr val="4618A2"/>
                </a:solidFill>
                <a:latin typeface="Courier New"/>
                <a:cs typeface="Courier New"/>
              </a:rPr>
              <a:t>replicas:</a:t>
            </a:r>
            <a:r>
              <a:rPr sz="1300" b="1" spc="-4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latin typeface="Courier New"/>
                <a:cs typeface="Courier New"/>
              </a:rPr>
              <a:t>3</a:t>
            </a:r>
            <a:endParaRPr sz="1300">
              <a:latin typeface="Courier New"/>
              <a:cs typeface="Courier New"/>
            </a:endParaRPr>
          </a:p>
          <a:p>
            <a:pPr marL="375285">
              <a:lnSpc>
                <a:spcPct val="100000"/>
              </a:lnSpc>
              <a:spcBef>
                <a:spcPts val="15"/>
              </a:spcBef>
            </a:pPr>
            <a:r>
              <a:rPr sz="1300" b="1" spc="-10" dirty="0">
                <a:solidFill>
                  <a:srgbClr val="4618A2"/>
                </a:solidFill>
                <a:latin typeface="Courier New"/>
                <a:cs typeface="Courier New"/>
              </a:rPr>
              <a:t>strategy:</a:t>
            </a:r>
            <a:endParaRPr sz="1300">
              <a:latin typeface="Courier New"/>
              <a:cs typeface="Courier New"/>
            </a:endParaRPr>
          </a:p>
          <a:p>
            <a:pPr marL="573405">
              <a:lnSpc>
                <a:spcPct val="100000"/>
              </a:lnSpc>
              <a:spcBef>
                <a:spcPts val="15"/>
              </a:spcBef>
            </a:pPr>
            <a:r>
              <a:rPr sz="1300" b="1" dirty="0">
                <a:solidFill>
                  <a:srgbClr val="4618A2"/>
                </a:solidFill>
                <a:latin typeface="Courier New"/>
                <a:cs typeface="Courier New"/>
              </a:rPr>
              <a:t>type:</a:t>
            </a:r>
            <a:r>
              <a:rPr sz="1300" b="1" spc="-2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RollingUpdate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85307" y="3047455"/>
            <a:ext cx="2679700" cy="839893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4450">
              <a:lnSpc>
                <a:spcPts val="1460"/>
              </a:lnSpc>
            </a:pPr>
            <a:r>
              <a:rPr sz="1300" b="1" spc="-10" dirty="0">
                <a:solidFill>
                  <a:srgbClr val="4618A2"/>
                </a:solidFill>
                <a:latin typeface="Courier New"/>
                <a:cs typeface="Courier New"/>
              </a:rPr>
              <a:t>rollingUpdate:</a:t>
            </a:r>
            <a:endParaRPr sz="1300">
              <a:latin typeface="Courier New"/>
              <a:cs typeface="Courier New"/>
            </a:endParaRPr>
          </a:p>
          <a:p>
            <a:pPr marL="238760">
              <a:lnSpc>
                <a:spcPct val="100000"/>
              </a:lnSpc>
              <a:spcBef>
                <a:spcPts val="15"/>
              </a:spcBef>
            </a:pPr>
            <a:r>
              <a:rPr sz="1300" b="1" dirty="0">
                <a:solidFill>
                  <a:srgbClr val="4618A2"/>
                </a:solidFill>
                <a:latin typeface="Courier New"/>
                <a:cs typeface="Courier New"/>
              </a:rPr>
              <a:t>maxSurge:</a:t>
            </a:r>
            <a:r>
              <a:rPr sz="1300" b="1" spc="-4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latin typeface="Courier New"/>
                <a:cs typeface="Courier New"/>
              </a:rPr>
              <a:t>2</a:t>
            </a:r>
            <a:endParaRPr sz="1300">
              <a:latin typeface="Courier New"/>
              <a:cs typeface="Courier New"/>
            </a:endParaRPr>
          </a:p>
          <a:p>
            <a:pPr marL="238760">
              <a:lnSpc>
                <a:spcPct val="100000"/>
              </a:lnSpc>
              <a:spcBef>
                <a:spcPts val="15"/>
              </a:spcBef>
            </a:pPr>
            <a:r>
              <a:rPr sz="1300" b="1" dirty="0">
                <a:solidFill>
                  <a:srgbClr val="4618A2"/>
                </a:solidFill>
                <a:latin typeface="Courier New"/>
                <a:cs typeface="Courier New"/>
              </a:rPr>
              <a:t>maxUnavailable:</a:t>
            </a:r>
            <a:r>
              <a:rPr sz="1300" b="1" spc="-7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latin typeface="Courier New"/>
                <a:cs typeface="Courier New"/>
              </a:rPr>
              <a:t>0</a:t>
            </a:r>
            <a:endParaRPr sz="1300">
              <a:latin typeface="Courier New"/>
              <a:cs typeface="Courier New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496153" y="3412389"/>
            <a:ext cx="1150620" cy="110067"/>
            <a:chOff x="4496153" y="3412389"/>
            <a:chExt cx="1150620" cy="110067"/>
          </a:xfrm>
        </p:grpSpPr>
        <p:sp>
          <p:nvSpPr>
            <p:cNvPr id="8" name="object 8"/>
            <p:cNvSpPr/>
            <p:nvPr/>
          </p:nvSpPr>
          <p:spPr>
            <a:xfrm>
              <a:off x="4624121" y="3467043"/>
              <a:ext cx="1022773" cy="0"/>
            </a:xfrm>
            <a:custGeom>
              <a:avLst/>
              <a:gdLst/>
              <a:ahLst/>
              <a:cxnLst/>
              <a:rect l="l" t="t" r="r" b="b"/>
              <a:pathLst>
                <a:path w="767079">
                  <a:moveTo>
                    <a:pt x="7664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6153" y="3412389"/>
              <a:ext cx="140667" cy="109307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802264" y="3135347"/>
            <a:ext cx="2537460" cy="59774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35890" marR="5080" indent="-123825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Determines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how</a:t>
            </a:r>
            <a:r>
              <a:rPr sz="1400" spc="-10" dirty="0">
                <a:latin typeface="Arial"/>
                <a:cs typeface="Arial"/>
              </a:rPr>
              <a:t> update </a:t>
            </a:r>
            <a:r>
              <a:rPr sz="1400" dirty="0">
                <a:latin typeface="Arial"/>
                <a:cs typeface="Arial"/>
              </a:rPr>
              <a:t>should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performed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167</a:t>
            </a:fld>
            <a:endParaRPr spc="-25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· ROLLING UPDATES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Rolling Updates and Rollback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Rolling Updates &amp; Rollback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 Deployment performs zero-downtime upgrades by gradually replacing Pods one ReplicaSet at a time. CKAD tests maxSurge, maxUnavailable, rollout pause/resume, history inspection and rollback — often as a timed multi-step question.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Tune the rolling-update strategy, trigger an image update, inspect history, pause/resume, then roll back.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create · k patch · k set · k rollout · » Pausing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Rolling Updates and Rollback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Create the initial Deployment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deployment web --image=nginx:1.24 --replicas=4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rollout status deployment/web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Tune the rolling-update strategy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patch deployment web -p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'{"spec":{"strategy":{"rollingUpdate":{"maxSurge":1,"maxUnavailable":1}}}}'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Trigger an image update and watch the rollout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25195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5195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31596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set image deployment/web nginx=nginx:1.25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rollout status deployment/web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rs -l app=web        # old RS drains to 0, new RS ramps to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Rolling Updates and Rollback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View history, pause, batch changes, resume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rollout history deployment/web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rollout pause deployment/web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set image deployment/web nginx=nginx:1.26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set env deployment/web APP_ENV=production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rollout resume deployment/web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5 — Roll 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726179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26179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790187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rollout undo deployment/web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rollout undo deployment/web --to-revision=1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30266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Pausing batches multiple mutations into a single new ReplicaSet — one rollout, not two. rollout undo reverts to the previous (or a specified) revision instantly.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Rolling Updates and Rollback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rollout history deployment/web lists each revision, and k rollout undo returns the Deployment to the prior image with zero downtime.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1 hour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Blue/Green &amp; Canary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Release strategies built from Deployments +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SAFE RELEASES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Beyond the Default Rollout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Blue/Green runs two complete versions; a Service selector switch flips 100% of traffic atomically.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Canary sends a small slice of traffic to the new version by running it at a low replica ratio.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Both are built from plain Deployments and Services using labels — no extra tooling for CKAD.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Rollback is instant: re-patch the selector (blue/green) or scale the canary back down.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85" dirty="0"/>
              <a:t>Blue/Green</a:t>
            </a:r>
            <a:r>
              <a:rPr spc="-60" dirty="0"/>
              <a:t> </a:t>
            </a:r>
            <a:r>
              <a:rPr spc="120" dirty="0"/>
              <a:t>Deployment</a:t>
            </a:r>
            <a:r>
              <a:rPr spc="-60" dirty="0"/>
              <a:t> </a:t>
            </a:r>
            <a:r>
              <a:rPr spc="95" dirty="0"/>
              <a:t>Strategy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Deployment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/>
                <a:cs typeface="Arial"/>
              </a:rPr>
              <a:t>object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with</a:t>
            </a:r>
            <a:r>
              <a:rPr sz="1600" b="0" spc="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/>
                <a:cs typeface="Arial"/>
              </a:rPr>
              <a:t>new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0" dirty="0">
                <a:solidFill>
                  <a:srgbClr val="666666"/>
                </a:solidFill>
                <a:latin typeface="Arial"/>
                <a:cs typeface="Arial"/>
              </a:rPr>
              <a:t>version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is</a:t>
            </a:r>
            <a:r>
              <a:rPr sz="1600" b="0" spc="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/>
                <a:cs typeface="Arial"/>
              </a:rPr>
              <a:t>created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alongside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4899" y="1899633"/>
            <a:ext cx="7426099" cy="441007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170</a:t>
            </a:fld>
            <a:endParaRPr spc="-25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45" dirty="0"/>
              <a:t>Canary</a:t>
            </a:r>
            <a:r>
              <a:rPr spc="-70" dirty="0"/>
              <a:t> </a:t>
            </a:r>
            <a:r>
              <a:rPr spc="120" dirty="0"/>
              <a:t>Deployment</a:t>
            </a:r>
            <a:r>
              <a:rPr spc="-70" dirty="0"/>
              <a:t> </a:t>
            </a:r>
            <a:r>
              <a:rPr spc="95" dirty="0"/>
              <a:t>Strategy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60" dirty="0">
                <a:solidFill>
                  <a:srgbClr val="666666"/>
                </a:solidFill>
                <a:latin typeface="Arial"/>
                <a:cs typeface="Arial"/>
              </a:rPr>
              <a:t>Two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Deployment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objects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with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different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/>
                <a:cs typeface="Arial"/>
              </a:rPr>
              <a:t>traffic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/>
                <a:cs typeface="Arial"/>
              </a:rPr>
              <a:t>distribution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2500" y="2044865"/>
            <a:ext cx="8890932" cy="393993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172</a:t>
            </a:fld>
            <a:endParaRPr spc="-25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· BLUE/GREEN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Blue/Green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Blue/Green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Blue/Green keeps two complete copies of the app alive at once. A Service selector switch flips 100% of traffic from blue to green in one atomic operation — with instant rollback if anything breaks.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Deploy blue (live) and green (idle), smoke-test green, flip the Service selector, then roll back with one patch.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apply · GREEN_POD=$(k get · k patch · » Cutover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Blue/Green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Deploy blue (current production) behind a 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Deployment web-blue (labels app=web, version=blue) + Service web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selector: {app: web, version: blue}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blue.yaml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pods -l app=web --show-labels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Deploy green (next version, no live traffic yet)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3872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0273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Deployment web-green (labels app=web, version=green), nginx:1.25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green.yaml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pods -l app=web --show-labels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3026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Smoke-test green directly before cutover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14316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814316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878324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GREEN_POD=$(k get pod -l version=green -o jsonpath='{.items[0].metadata.name}')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exec $GREEN_POD -- curl -sI localhost:80 | head -2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Blue/Green Deployment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Flip the Service to green (atomic cutover)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patch service web -p '{"spec":{"selector":{"app":"web","version":"green"}}}'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describe svc web | grep Selector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5 — Roll back instantly if needed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242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patch service web -p '{"spec":{"selector":{"app":"web","version":"blue"}}}'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80459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Cutover and rollback are both a single kubectl patch service selector update — atomic, milliseconds, no Pod churn. Blue stays running as an instant fallback.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Blue/Green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After the patch, k describe svc web | grep Selector shows version=green, and patching it back to version=blue restores the old version instantly.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· CANARY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Canary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Canary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 canary release sends a small fraction of live traffic to a new version while the bulk stays on stable. In Kubernetes the split is approximated by replica ratios behind one broad Service selector — no special tooling required.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Run a 9-replica stable and 1-replica canary behind one Service, verify the ~10% split, then promote.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apply · k run · k scale · » Traffic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Canary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Stable Deployment (90% of traffic)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Deployment web-stable: replicas 9, labels app=web,track=stable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Service web: selector {app: web}, port 5678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stable.yaml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Canary Deployment (10% of traffic)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Deployment web-canary: replicas 1, labels app=web,track=canary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canary.yaml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pods -l app=web --show-labels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6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Verify the traffic split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626864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26864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690872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run probe --image=busybox --restart=Never -it --rm -- sh -c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'for i in $(seq 1 30); do wget -qO- web:5678; done | sort | uniq -c'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~27 stable, ~3 canary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Canary Deployment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Promote: scale up canary, retire stable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scale deployment web-canary --replicas=9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scale deployment web-stable --replicas=0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Traffic split is approximated by replica ratio (9:1 ≈ 90/10). Promotion is just kubectl scale on both Deployments — no Service change. For precise percentage splits use a service mesh (Istio/Linkerd) — beyond CKAD scope.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Canary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probe loop returns roughly 90% stable and 10% canary, and after scaling, all traffic shifts to the canary version with no Service edit.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AUTOSCALING · HPA vs VPA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Types of Autoscalers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HPA — Horizontal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VPA — Vertical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Horizontal Pod Autoscaler (HPA)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Scales the number of Pod replicas based on CPU/memory thresholds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Standard Kubernetes feature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Uses the metrics-server component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Vertical Pod Autoscaler (VPA)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Scales CPU/memory allocation for existing Pods from historic metrics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Provided by cloud providers as an add-on or installed manually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Both autoscalers require metrics-server and resource requests/limits on Pods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HPA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Horizontal Pod Autoscaler (HPA)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The HPA is a Kubernetes primitive that queries the metrics server at regular intervals.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It compares current resource utilisation against the defined threshold.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If utilisation exceeds the threshold → HPA increases the replica count (scale out).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If utilisation drops below the threshold → HPA decreases the replica count (scale in).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The HPA targets a Deployment (or ReplicaSet) via scaleTargetRef.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HPA · CPU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Autoscaling a Deployment by CPU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The HPA monitors average CPU utilisation across all running replicas.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Example: threshold = 80% CPU, current = 15% → no scale-out needed.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Example: threshold = 80% CPU, current = 95% → HPA adds replicas.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Scaling decisions respect minReplicas and maxReplicas bounds.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kubectl autoscale is the imperative shortcut to create an HPA.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HPA · DECLARATIVE MANIFEST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Horizontal Pod Autoscaler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HPA targeting a Deployment, scaling on CPU utilisation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352044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3520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autoscaling/v2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HorizontalPodAutoscaler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app-cache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scaleTargetRef: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apiVersion: apps/v1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kind: Deployment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name: app-cache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minReplicas: 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maxReplicas: 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metrics: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type: Resource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resource: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name: cpu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target: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type: Utilization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averageUtilization: 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HPA · KUBECTL GET HPA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Inspecting the Horizontal Pod Autoscaler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List HPAs — shows current utilisation vs threshold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hpa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NAME        REFERENCE               TARGETS    MINPODS  MAXPODS  REPLICAS  AGE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app-cache   Deployment/app-cache    15%/80%    3        5        3         2m14s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575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Describe for detailed events and scaling history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204972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04972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68980"/>
            <a:ext cx="10323576" cy="242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describe hpa app-cache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EXERCISE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83464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Creating a Horizontal Pod Autoscaler for a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Helm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Kubernetes package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PACKAGE &amp; 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Charts, Releases &amp; Revisions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chart is a bundle of templated YAML; a release is one deployed instance of a chart.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Workflow: repo add → install → upgrade → rollback → uninstall.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--set overrides values at install/upgrade; --reuse-values keeps prior overrides.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helm history tracks every revision; helm get manifest shows what was actually applied.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75" dirty="0"/>
              <a:t>What</a:t>
            </a:r>
            <a:r>
              <a:rPr spc="-120" dirty="0"/>
              <a:t> </a:t>
            </a:r>
            <a:r>
              <a:rPr dirty="0"/>
              <a:t>is</a:t>
            </a:r>
            <a:r>
              <a:rPr spc="-120" dirty="0"/>
              <a:t> </a:t>
            </a:r>
            <a:r>
              <a:rPr spc="45" dirty="0"/>
              <a:t>Helm?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105" dirty="0">
                <a:solidFill>
                  <a:srgbClr val="666666"/>
                </a:solidFill>
                <a:latin typeface="Arial"/>
                <a:cs typeface="Arial"/>
              </a:rPr>
              <a:t>Package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60" dirty="0">
                <a:solidFill>
                  <a:srgbClr val="666666"/>
                </a:solidFill>
                <a:latin typeface="Arial"/>
                <a:cs typeface="Arial"/>
              </a:rPr>
              <a:t>manager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65" dirty="0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45" dirty="0">
                <a:solidFill>
                  <a:srgbClr val="666666"/>
                </a:solidFill>
                <a:latin typeface="Arial"/>
                <a:cs typeface="Arial"/>
              </a:rPr>
              <a:t>templating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engine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for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85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set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of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manifests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0095" y="1813816"/>
            <a:ext cx="10288693" cy="2980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marR="15875" indent="-351790">
              <a:lnSpc>
                <a:spcPct val="113300"/>
              </a:lnSpc>
              <a:spcBef>
                <a:spcPts val="100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"/>
                <a:cs typeface="Arial"/>
              </a:rPr>
              <a:t>The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artifact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produced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by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Helm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executable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so-</a:t>
            </a:r>
            <a:r>
              <a:rPr sz="1600" dirty="0">
                <a:latin typeface="Arial"/>
                <a:cs typeface="Arial"/>
              </a:rPr>
              <a:t>called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chart</a:t>
            </a:r>
            <a:r>
              <a:rPr sz="1600" i="1" spc="-30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file</a:t>
            </a:r>
            <a:r>
              <a:rPr sz="1600" i="1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bundling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the </a:t>
            </a:r>
            <a:r>
              <a:rPr sz="1600" dirty="0">
                <a:latin typeface="Arial"/>
                <a:cs typeface="Arial"/>
              </a:rPr>
              <a:t>manifests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that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comprise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the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API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resources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application.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/>
              <a:buChar char="●"/>
            </a:pPr>
            <a:endParaRPr sz="1600">
              <a:latin typeface="Arial"/>
              <a:cs typeface="Arial"/>
            </a:endParaRPr>
          </a:p>
          <a:p>
            <a:pPr marL="363855" marR="5080" indent="-351790">
              <a:lnSpc>
                <a:spcPct val="113300"/>
              </a:lnSpc>
              <a:spcBef>
                <a:spcPts val="5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"/>
                <a:cs typeface="Arial"/>
              </a:rPr>
              <a:t>Chart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files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distributed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chart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repository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e.g.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u="heavy" dirty="0">
                <a:solidFill>
                  <a:srgbClr val="D30020"/>
                </a:solidFill>
                <a:uFill>
                  <a:solidFill>
                    <a:srgbClr val="D30020"/>
                  </a:solidFill>
                </a:uFill>
                <a:latin typeface="Arial"/>
                <a:cs typeface="Arial"/>
                <a:hlinkClick r:id="rId2"/>
              </a:rPr>
              <a:t>central</a:t>
            </a:r>
            <a:r>
              <a:rPr sz="1600" u="heavy" spc="-25" dirty="0">
                <a:solidFill>
                  <a:srgbClr val="D30020"/>
                </a:solidFill>
                <a:uFill>
                  <a:solidFill>
                    <a:srgbClr val="D3002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600" u="heavy" dirty="0">
                <a:solidFill>
                  <a:srgbClr val="D30020"/>
                </a:solidFill>
                <a:uFill>
                  <a:solidFill>
                    <a:srgbClr val="D30020"/>
                  </a:solidFill>
                </a:uFill>
                <a:latin typeface="Arial"/>
                <a:cs typeface="Arial"/>
                <a:hlinkClick r:id="rId2"/>
              </a:rPr>
              <a:t>chart</a:t>
            </a:r>
            <a:r>
              <a:rPr sz="1600" u="heavy" spc="-30" dirty="0">
                <a:solidFill>
                  <a:srgbClr val="D30020"/>
                </a:solidFill>
                <a:uFill>
                  <a:solidFill>
                    <a:srgbClr val="D3002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600" u="heavy" dirty="0">
                <a:solidFill>
                  <a:srgbClr val="D30020"/>
                </a:solidFill>
                <a:uFill>
                  <a:solidFill>
                    <a:srgbClr val="D30020"/>
                  </a:solidFill>
                </a:uFill>
                <a:latin typeface="Arial"/>
                <a:cs typeface="Arial"/>
                <a:hlinkClick r:id="rId2"/>
              </a:rPr>
              <a:t>repository</a:t>
            </a:r>
            <a:r>
              <a:rPr sz="1600" spc="-20" dirty="0">
                <a:solidFill>
                  <a:srgbClr val="D30020"/>
                </a:solidFill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and </a:t>
            </a:r>
            <a:r>
              <a:rPr sz="1600" dirty="0">
                <a:latin typeface="Arial"/>
                <a:cs typeface="Arial"/>
              </a:rPr>
              <a:t>consumed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from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there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(e.g.,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for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running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Grafana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or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PostgreSQL).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/>
              <a:buChar char="●"/>
            </a:pPr>
            <a:endParaRPr sz="1600">
              <a:latin typeface="Arial"/>
              <a:cs typeface="Arial"/>
            </a:endParaRPr>
          </a:p>
          <a:p>
            <a:pPr marL="363855" marR="193040" indent="-351790">
              <a:lnSpc>
                <a:spcPct val="113300"/>
              </a:lnSpc>
              <a:spcBef>
                <a:spcPts val="5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"/>
                <a:cs typeface="Arial"/>
              </a:rPr>
              <a:t>At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runtime,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replaces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placeholders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spc="-35" dirty="0">
                <a:latin typeface="Arial"/>
                <a:cs typeface="Arial"/>
              </a:rPr>
              <a:t>YAML</a:t>
            </a:r>
            <a:r>
              <a:rPr sz="1600" spc="-7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template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files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with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actual,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end-</a:t>
            </a:r>
            <a:r>
              <a:rPr sz="1600" spc="-20" dirty="0">
                <a:latin typeface="Arial"/>
                <a:cs typeface="Arial"/>
              </a:rPr>
              <a:t>user </a:t>
            </a:r>
            <a:r>
              <a:rPr sz="1600" dirty="0">
                <a:latin typeface="Arial"/>
                <a:cs typeface="Arial"/>
              </a:rPr>
              <a:t>defined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values.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867" y="5152865"/>
            <a:ext cx="1186235" cy="118623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177</a:t>
            </a:fld>
            <a:endParaRPr spc="-25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30" dirty="0"/>
              <a:t>Standard</a:t>
            </a:r>
            <a:r>
              <a:rPr spc="-100" dirty="0"/>
              <a:t> </a:t>
            </a:r>
            <a:r>
              <a:rPr spc="125" dirty="0"/>
              <a:t>Chart</a:t>
            </a:r>
            <a:r>
              <a:rPr spc="-100" dirty="0"/>
              <a:t> </a:t>
            </a:r>
            <a:r>
              <a:rPr spc="60" dirty="0"/>
              <a:t>Structure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Predefined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/>
                <a:cs typeface="Arial"/>
              </a:rPr>
              <a:t>directory</a:t>
            </a:r>
            <a:r>
              <a:rPr sz="1600" b="0" spc="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structure</a:t>
            </a:r>
            <a:r>
              <a:rPr sz="1600" b="0" spc="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with</a:t>
            </a:r>
            <a:r>
              <a:rPr sz="1600" b="0" spc="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55" dirty="0">
                <a:solidFill>
                  <a:srgbClr val="666666"/>
                </a:solidFill>
                <a:latin typeface="Arial"/>
                <a:cs typeface="Arial"/>
              </a:rPr>
              <a:t>mandatory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-20" dirty="0">
                <a:solidFill>
                  <a:srgbClr val="666666"/>
                </a:solidFill>
                <a:latin typeface="Courier New"/>
                <a:cs typeface="Courier New"/>
              </a:rPr>
              <a:t>Chart.yaml</a:t>
            </a:r>
            <a:r>
              <a:rPr sz="1600" b="0" spc="-66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600" b="0" spc="165" dirty="0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sz="1600" b="0" spc="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-10" dirty="0">
                <a:solidFill>
                  <a:srgbClr val="666666"/>
                </a:solidFill>
                <a:latin typeface="Courier New"/>
                <a:cs typeface="Courier New"/>
              </a:rPr>
              <a:t>values.yaml</a:t>
            </a:r>
            <a:endParaRPr sz="1600">
              <a:latin typeface="Courier New"/>
              <a:cs typeface="Courier Ne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2424" y="1810508"/>
            <a:ext cx="5554400" cy="2630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66700" y="2600299"/>
            <a:ext cx="1502833" cy="347980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90"/>
              </a:spcBef>
            </a:pPr>
            <a:r>
              <a:rPr sz="1300" spc="-10" dirty="0">
                <a:latin typeface="Courier New"/>
                <a:cs typeface="Courier New"/>
              </a:rPr>
              <a:t>Chart.yaml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183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693867" y="1874933"/>
            <a:ext cx="5402580" cy="2478193"/>
          </a:xfrm>
          <a:prstGeom prst="rect">
            <a:avLst/>
          </a:prstGeom>
          <a:solidFill>
            <a:srgbClr val="F6F6F7"/>
          </a:solidFill>
        </p:spPr>
        <p:txBody>
          <a:bodyPr vert="horz" wrap="square" lIns="0" tIns="154940" rIns="0" bIns="0" rtlCol="0">
            <a:spAutoFit/>
          </a:bodyPr>
          <a:lstStyle/>
          <a:p>
            <a:pPr marL="165735">
              <a:lnSpc>
                <a:spcPct val="100000"/>
              </a:lnSpc>
              <a:spcBef>
                <a:spcPts val="1220"/>
              </a:spcBef>
            </a:pPr>
            <a:r>
              <a:rPr sz="1300" b="1" dirty="0">
                <a:latin typeface="Courier New"/>
                <a:cs typeface="Courier New"/>
              </a:rPr>
              <a:t>$</a:t>
            </a:r>
            <a:r>
              <a:rPr sz="1300" b="1" spc="-5" dirty="0">
                <a:latin typeface="Courier New"/>
                <a:cs typeface="Courier New"/>
              </a:rPr>
              <a:t> </a:t>
            </a:r>
            <a:r>
              <a:rPr sz="1300" b="1" spc="-20" dirty="0">
                <a:latin typeface="Courier New"/>
                <a:cs typeface="Courier New"/>
              </a:rPr>
              <a:t>tree</a:t>
            </a:r>
            <a:endParaRPr sz="1300">
              <a:latin typeface="Courier New"/>
              <a:cs typeface="Courier New"/>
            </a:endParaRPr>
          </a:p>
          <a:p>
            <a:pPr marL="165735">
              <a:lnSpc>
                <a:spcPct val="100000"/>
              </a:lnSpc>
              <a:spcBef>
                <a:spcPts val="15"/>
              </a:spcBef>
            </a:pPr>
            <a:r>
              <a:rPr sz="1300" spc="-50" dirty="0">
                <a:latin typeface="Courier New"/>
                <a:cs typeface="Courier New"/>
              </a:rPr>
              <a:t>.</a:t>
            </a:r>
            <a:endParaRPr sz="1300">
              <a:latin typeface="Courier New"/>
              <a:cs typeface="Courier New"/>
            </a:endParaRPr>
          </a:p>
          <a:p>
            <a:pPr marL="165735">
              <a:lnSpc>
                <a:spcPct val="100000"/>
              </a:lnSpc>
              <a:spcBef>
                <a:spcPts val="15"/>
              </a:spcBef>
            </a:pPr>
            <a:r>
              <a:rPr sz="1300" spc="-25" dirty="0">
                <a:latin typeface="Courier New"/>
                <a:cs typeface="Courier New"/>
              </a:rPr>
              <a:t>├──</a:t>
            </a:r>
            <a:endParaRPr sz="1300">
              <a:latin typeface="Courier New"/>
              <a:cs typeface="Courier New"/>
            </a:endParaRPr>
          </a:p>
          <a:p>
            <a:pPr marL="165735">
              <a:lnSpc>
                <a:spcPct val="100000"/>
              </a:lnSpc>
              <a:spcBef>
                <a:spcPts val="15"/>
              </a:spcBef>
            </a:pPr>
            <a:r>
              <a:rPr sz="1300" dirty="0">
                <a:latin typeface="Courier New"/>
                <a:cs typeface="Courier New"/>
              </a:rPr>
              <a:t>├──</a:t>
            </a:r>
            <a:r>
              <a:rPr sz="1300" spc="-1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templates</a:t>
            </a:r>
            <a:endParaRPr sz="1300">
              <a:latin typeface="Courier New"/>
              <a:cs typeface="Courier New"/>
            </a:endParaRPr>
          </a:p>
          <a:p>
            <a:pPr marL="165735">
              <a:lnSpc>
                <a:spcPct val="100000"/>
              </a:lnSpc>
              <a:spcBef>
                <a:spcPts val="15"/>
              </a:spcBef>
              <a:tabLst>
                <a:tab pos="561975" algn="l"/>
              </a:tabLst>
            </a:pPr>
            <a:r>
              <a:rPr sz="1300" spc="-50" dirty="0">
                <a:latin typeface="Courier New"/>
                <a:cs typeface="Courier New"/>
              </a:rPr>
              <a:t>│</a:t>
            </a:r>
            <a:r>
              <a:rPr sz="1300" dirty="0">
                <a:latin typeface="Courier New"/>
                <a:cs typeface="Courier New"/>
              </a:rPr>
              <a:t>	├──</a:t>
            </a:r>
            <a:r>
              <a:rPr sz="1300" spc="4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web-app-pod-template.yaml</a:t>
            </a:r>
            <a:endParaRPr sz="1300">
              <a:latin typeface="Courier New"/>
              <a:cs typeface="Courier New"/>
            </a:endParaRPr>
          </a:p>
          <a:p>
            <a:pPr marL="165735">
              <a:lnSpc>
                <a:spcPct val="100000"/>
              </a:lnSpc>
              <a:spcBef>
                <a:spcPts val="15"/>
              </a:spcBef>
              <a:tabLst>
                <a:tab pos="561975" algn="l"/>
              </a:tabLst>
            </a:pPr>
            <a:r>
              <a:rPr sz="1300" spc="-50" dirty="0">
                <a:latin typeface="Courier New"/>
                <a:cs typeface="Courier New"/>
              </a:rPr>
              <a:t>│</a:t>
            </a:r>
            <a:r>
              <a:rPr sz="1300" dirty="0">
                <a:latin typeface="Courier New"/>
                <a:cs typeface="Courier New"/>
              </a:rPr>
              <a:t>	└──</a:t>
            </a:r>
            <a:r>
              <a:rPr sz="1300" spc="6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web-app-service-template.yaml</a:t>
            </a:r>
            <a:endParaRPr sz="1300">
              <a:latin typeface="Courier New"/>
              <a:cs typeface="Courier New"/>
            </a:endParaRPr>
          </a:p>
          <a:p>
            <a:pPr marL="165735">
              <a:lnSpc>
                <a:spcPct val="100000"/>
              </a:lnSpc>
              <a:spcBef>
                <a:spcPts val="15"/>
              </a:spcBef>
            </a:pPr>
            <a:r>
              <a:rPr sz="1300" spc="-25" dirty="0">
                <a:latin typeface="Courier New"/>
                <a:cs typeface="Courier New"/>
              </a:rPr>
              <a:t>└──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66700" y="3665200"/>
            <a:ext cx="1605280" cy="347980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latin typeface="Courier New"/>
                <a:cs typeface="Courier New"/>
              </a:rPr>
              <a:t>values.yaml</a:t>
            </a:r>
            <a:endParaRPr sz="1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· HELM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Helm — Install, Upgrade, Rollback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Helm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Helm is the Kubernetes package manager. A chart is a bundle of templated YAML; a release is a deployed instance. CKAD tests install, upgrade, rollback, list and value overrides — all under exam time pressure.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Add a chart repo, install a release with overrides, inspect it, upgrade, roll back, then uninstall.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helm repo · helm install · helm get · helm upgrade · » `--reuse-values`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Helm — Install, Upgrade, Rollback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Add a chart repository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repo add bitnami https://charts.bitnami.com/bitnami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repo update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search repo bitnami/nginx | head -5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Install a release with value overrides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install web bitnami/nginx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--set service.type=ClusterIP --set replicaCount=2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6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Inspect the generated manifests and values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626864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26864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690872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get manifest web | head -40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get values web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Helm — Install, Upgrade, Rollback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Upgrade, then roll 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upgrade web bitnami/nginx --set replicaCount=4 --reuse-values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history web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rollback web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uninstall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--reuse-values preserves prior overrides while changing only the new one. helm history &lt;release&gt; tracks every revision; rollback creates a new revision rather than deleting history.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Helm — Install, Upgrade, Rollback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helm history web lists each revision with its status, and helm rollback web 1 returns the release to its first revision as a new history entry.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Kustomize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Environment overlays without templating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REUSE WITHOUT TEMPLATES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Base + Overlays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Kustomize reuses one base set of manifests and layers environment-specific changes on top.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namePrefix and commonLabels are applied to every resource in the overlay.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The images block overrides image tags without editing the base files; patches do strategic merges.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Built into kubectl: kubectl apply -k and kubectl kustomize — no extra binary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75" dirty="0"/>
              <a:t>What</a:t>
            </a:r>
            <a:r>
              <a:rPr spc="-120" dirty="0"/>
              <a:t> </a:t>
            </a:r>
            <a:r>
              <a:rPr dirty="0"/>
              <a:t>is</a:t>
            </a:r>
            <a:r>
              <a:rPr spc="-120" dirty="0"/>
              <a:t> </a:t>
            </a:r>
            <a:r>
              <a:rPr spc="-10" dirty="0"/>
              <a:t>Kustomize?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Customizing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application</a:t>
            </a:r>
            <a:r>
              <a:rPr sz="1600" b="0" spc="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manifests</a:t>
            </a:r>
            <a:r>
              <a:rPr sz="1600" b="0" spc="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/>
                <a:cs typeface="Arial"/>
              </a:rPr>
              <a:t>without</a:t>
            </a:r>
            <a:r>
              <a:rPr sz="1600" b="0" spc="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/>
                <a:cs typeface="Arial"/>
              </a:rPr>
              <a:t>templates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0095" y="1813816"/>
            <a:ext cx="10459720" cy="33485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marR="5080" indent="-351790">
              <a:lnSpc>
                <a:spcPct val="113300"/>
              </a:lnSpc>
              <a:spcBef>
                <a:spcPts val="100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"/>
                <a:cs typeface="Arial"/>
              </a:rPr>
              <a:t>Writing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manifests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for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application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stacks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straightforward,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however,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deploying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them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different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Kubernetes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runtime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environments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with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varying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configuration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gets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tricky.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/>
              <a:buChar char="●"/>
            </a:pPr>
            <a:endParaRPr sz="1600">
              <a:latin typeface="Arial"/>
              <a:cs typeface="Arial"/>
            </a:endParaRPr>
          </a:p>
          <a:p>
            <a:pPr marL="363855" marR="462915" indent="-351790">
              <a:lnSpc>
                <a:spcPct val="113300"/>
              </a:lnSpc>
              <a:spcBef>
                <a:spcPts val="5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"/>
                <a:cs typeface="Arial"/>
              </a:rPr>
              <a:t>Instead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copying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modifying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manifests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per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environment,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you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use </a:t>
            </a:r>
            <a:r>
              <a:rPr sz="1600" dirty="0">
                <a:latin typeface="Arial"/>
                <a:cs typeface="Arial"/>
              </a:rPr>
              <a:t>kustomize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merge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configuration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change.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Kustomize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does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not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require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using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a </a:t>
            </a:r>
            <a:r>
              <a:rPr sz="1600" dirty="0">
                <a:latin typeface="Arial"/>
                <a:cs typeface="Arial"/>
              </a:rPr>
              <a:t>template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engine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or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changing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original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manifests.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/>
              <a:buChar char="●"/>
            </a:pPr>
            <a:endParaRPr sz="1600">
              <a:latin typeface="Arial"/>
              <a:cs typeface="Arial"/>
            </a:endParaRPr>
          </a:p>
          <a:p>
            <a:pPr marL="363855" marR="613410" indent="-351790">
              <a:lnSpc>
                <a:spcPct val="113300"/>
              </a:lnSpc>
              <a:spcBef>
                <a:spcPts val="5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"/>
                <a:cs typeface="Arial"/>
              </a:rPr>
              <a:t>Kustomize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can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used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as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subcommand/flag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 </a:t>
            </a:r>
            <a:r>
              <a:rPr sz="1600" spc="-20" dirty="0">
                <a:latin typeface="Courier New"/>
                <a:cs typeface="Courier New"/>
              </a:rPr>
              <a:t>kubectl</a:t>
            </a:r>
            <a:r>
              <a:rPr sz="1600" spc="-625" dirty="0">
                <a:latin typeface="Courier New"/>
                <a:cs typeface="Courier New"/>
              </a:rPr>
              <a:t> </a:t>
            </a:r>
            <a:r>
              <a:rPr sz="1600" dirty="0">
                <a:latin typeface="Arial"/>
                <a:cs typeface="Arial"/>
              </a:rPr>
              <a:t>or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as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separate </a:t>
            </a:r>
            <a:r>
              <a:rPr sz="1600" u="heavy" spc="-10" dirty="0">
                <a:solidFill>
                  <a:srgbClr val="D30020"/>
                </a:solidFill>
                <a:uFill>
                  <a:solidFill>
                    <a:srgbClr val="D30020"/>
                  </a:solidFill>
                </a:uFill>
                <a:latin typeface="Arial"/>
                <a:cs typeface="Arial"/>
                <a:hlinkClick r:id="rId2"/>
              </a:rPr>
              <a:t>executable</a:t>
            </a:r>
            <a:r>
              <a:rPr sz="1600" spc="-10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69417" y="5223433"/>
            <a:ext cx="1060899" cy="10608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194</a:t>
            </a:fld>
            <a:endParaRPr spc="-25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80" dirty="0"/>
              <a:t>Environment</a:t>
            </a:r>
            <a:r>
              <a:rPr spc="-90" dirty="0"/>
              <a:t> </a:t>
            </a:r>
            <a:r>
              <a:rPr spc="65" dirty="0"/>
              <a:t>Kustomize</a:t>
            </a:r>
            <a:r>
              <a:rPr spc="-90" dirty="0"/>
              <a:t> </a:t>
            </a:r>
            <a:r>
              <a:rPr spc="70" dirty="0"/>
              <a:t>Setup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Subdirectories</a:t>
            </a:r>
            <a:r>
              <a:rPr sz="1600" b="0" spc="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contain</a:t>
            </a:r>
            <a:r>
              <a:rPr sz="1600" b="0" spc="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environment-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specific</a:t>
            </a:r>
            <a:r>
              <a:rPr sz="1600" b="0" spc="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/>
                <a:cs typeface="Arial"/>
              </a:rPr>
              <a:t>configuration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23724" y="1810508"/>
            <a:ext cx="5009727" cy="4219787"/>
            <a:chOff x="623724" y="1810508"/>
            <a:chExt cx="5009727" cy="4219787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3724" y="1810508"/>
              <a:ext cx="5009600" cy="42192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95167" y="1874932"/>
              <a:ext cx="4857327" cy="4067387"/>
            </a:xfrm>
            <a:custGeom>
              <a:avLst/>
              <a:gdLst/>
              <a:ahLst/>
              <a:cxnLst/>
              <a:rect l="l" t="t" r="r" b="b"/>
              <a:pathLst>
                <a:path w="3642995" h="3050540">
                  <a:moveTo>
                    <a:pt x="3642899" y="3050099"/>
                  </a:moveTo>
                  <a:lnTo>
                    <a:pt x="0" y="3050099"/>
                  </a:lnTo>
                  <a:lnTo>
                    <a:pt x="0" y="0"/>
                  </a:lnTo>
                  <a:lnTo>
                    <a:pt x="3642899" y="0"/>
                  </a:lnTo>
                  <a:lnTo>
                    <a:pt x="3642899" y="3050099"/>
                  </a:lnTo>
                  <a:close/>
                </a:path>
              </a:pathLst>
            </a:custGeom>
            <a:solidFill>
              <a:srgbClr val="F6F6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99667" y="1961529"/>
            <a:ext cx="4260427" cy="20099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Courier New"/>
                <a:cs typeface="Courier New"/>
              </a:rPr>
              <a:t>.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600" dirty="0">
                <a:latin typeface="Courier New"/>
                <a:cs typeface="Courier New"/>
              </a:rPr>
              <a:t>├──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spc="-20" dirty="0">
                <a:latin typeface="Courier New"/>
                <a:cs typeface="Courier New"/>
              </a:rPr>
              <a:t>base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  <a:tabLst>
                <a:tab pos="499745" algn="l"/>
              </a:tabLst>
            </a:pPr>
            <a:r>
              <a:rPr sz="1600" spc="-50" dirty="0">
                <a:latin typeface="Courier New"/>
                <a:cs typeface="Courier New"/>
              </a:rPr>
              <a:t>│</a:t>
            </a:r>
            <a:r>
              <a:rPr sz="1600" dirty="0">
                <a:latin typeface="Courier New"/>
                <a:cs typeface="Courier New"/>
              </a:rPr>
              <a:t>	├──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deployment.yaml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  <a:tabLst>
                <a:tab pos="499745" algn="l"/>
              </a:tabLst>
            </a:pPr>
            <a:r>
              <a:rPr sz="1600" spc="-50" dirty="0">
                <a:latin typeface="Courier New"/>
                <a:cs typeface="Courier New"/>
              </a:rPr>
              <a:t>│</a:t>
            </a:r>
            <a:r>
              <a:rPr sz="1600" dirty="0">
                <a:latin typeface="Courier New"/>
                <a:cs typeface="Courier New"/>
              </a:rPr>
              <a:t>	├──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kustomization.yaml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  <a:tabLst>
                <a:tab pos="499745" algn="l"/>
              </a:tabLst>
            </a:pPr>
            <a:r>
              <a:rPr sz="1600" spc="-50" dirty="0">
                <a:latin typeface="Courier New"/>
                <a:cs typeface="Courier New"/>
              </a:rPr>
              <a:t>│</a:t>
            </a:r>
            <a:r>
              <a:rPr sz="1600" dirty="0">
                <a:latin typeface="Courier New"/>
                <a:cs typeface="Courier New"/>
              </a:rPr>
              <a:t>	└──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service.yaml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600" dirty="0">
                <a:latin typeface="Courier New"/>
                <a:cs typeface="Courier New"/>
              </a:rPr>
              <a:t>├──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spc="-25" dirty="0">
                <a:latin typeface="Courier New"/>
                <a:cs typeface="Courier New"/>
              </a:rPr>
              <a:t>dev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9667" y="3942729"/>
            <a:ext cx="4260427" cy="6891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9745" algn="l"/>
              </a:tabLst>
            </a:pPr>
            <a:r>
              <a:rPr sz="1600" spc="-50" dirty="0">
                <a:latin typeface="Courier New"/>
                <a:cs typeface="Courier New"/>
              </a:rPr>
              <a:t>│</a:t>
            </a:r>
            <a:r>
              <a:rPr sz="1600" dirty="0">
                <a:latin typeface="Courier New"/>
                <a:cs typeface="Courier New"/>
              </a:rPr>
              <a:t>	├──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config.properties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  <a:tabLst>
                <a:tab pos="499745" algn="l"/>
              </a:tabLst>
            </a:pPr>
            <a:r>
              <a:rPr sz="1600" spc="-50" dirty="0">
                <a:latin typeface="Courier New"/>
                <a:cs typeface="Courier New"/>
              </a:rPr>
              <a:t>│</a:t>
            </a:r>
            <a:r>
              <a:rPr sz="1600" dirty="0">
                <a:latin typeface="Courier New"/>
                <a:cs typeface="Courier New"/>
              </a:rPr>
              <a:t>	└──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kustomization.yaml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9667" y="4603129"/>
            <a:ext cx="1334347" cy="3589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ourier New"/>
                <a:cs typeface="Courier New"/>
              </a:rPr>
              <a:t>└──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spc="-20" dirty="0">
                <a:latin typeface="Courier New"/>
                <a:cs typeface="Courier New"/>
              </a:rPr>
              <a:t>prod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49907" y="4933329"/>
            <a:ext cx="3610187" cy="6891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ourier New"/>
                <a:cs typeface="Courier New"/>
              </a:rPr>
              <a:t>├──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config.properties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600" dirty="0">
                <a:latin typeface="Courier New"/>
                <a:cs typeface="Courier New"/>
              </a:rPr>
              <a:t>└──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kustomization.yaml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376265" y="3651299"/>
            <a:ext cx="5621867" cy="2159000"/>
            <a:chOff x="1376265" y="3651299"/>
            <a:chExt cx="5621867" cy="2159000"/>
          </a:xfrm>
        </p:grpSpPr>
        <p:sp>
          <p:nvSpPr>
            <p:cNvPr id="11" name="object 11"/>
            <p:cNvSpPr/>
            <p:nvPr/>
          </p:nvSpPr>
          <p:spPr>
            <a:xfrm>
              <a:off x="1388965" y="3663999"/>
              <a:ext cx="3906520" cy="2133600"/>
            </a:xfrm>
            <a:custGeom>
              <a:avLst/>
              <a:gdLst/>
              <a:ahLst/>
              <a:cxnLst/>
              <a:rect l="l" t="t" r="r" b="b"/>
              <a:pathLst>
                <a:path w="2929890" h="1600200">
                  <a:moveTo>
                    <a:pt x="0" y="0"/>
                  </a:moveTo>
                  <a:lnTo>
                    <a:pt x="2929799" y="0"/>
                  </a:lnTo>
                  <a:lnTo>
                    <a:pt x="2929799" y="1599899"/>
                  </a:lnTo>
                  <a:lnTo>
                    <a:pt x="0" y="1599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47967" y="4730599"/>
              <a:ext cx="1550247" cy="0"/>
            </a:xfrm>
            <a:custGeom>
              <a:avLst/>
              <a:gdLst/>
              <a:ahLst/>
              <a:cxnLst/>
              <a:rect l="l" t="t" r="r" b="b"/>
              <a:pathLst>
                <a:path w="1162685">
                  <a:moveTo>
                    <a:pt x="11621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19999" y="4675945"/>
              <a:ext cx="140667" cy="109307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172011" y="4414084"/>
            <a:ext cx="2569633" cy="87714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-635" algn="ctr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Create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dedicated </a:t>
            </a:r>
            <a:r>
              <a:rPr sz="1400" dirty="0">
                <a:latin typeface="Arial"/>
                <a:cs typeface="Arial"/>
              </a:rPr>
              <a:t>directory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+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configuration </a:t>
            </a:r>
            <a:r>
              <a:rPr sz="1400" dirty="0">
                <a:latin typeface="Arial"/>
                <a:cs typeface="Arial"/>
              </a:rPr>
              <a:t>per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environment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202</a:t>
            </a:fld>
            <a:endParaRPr spc="-25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·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Kustomize Overlays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Kustomize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Kustomize reuses a single base set of manifests and applies environment-specific overlays without templating. It is built into kubectl (-k). CKAD tests namePrefix, commonLabels, images and strategic-merge patches.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Build a base, add dev and prod overlays (prefix, labels, image tag, replica patch), preview, then apply.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resources: · kubectl kustomize · » `namePrefix`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Kustomize Overlays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Base kustomization (shared by all environments)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base/kustomization.yaml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resources: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deployment.yaml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service.yaml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Dev overlay (name prefix + common label)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10652760" cy="127101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38728"/>
            <a:ext cx="82296" cy="1271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02736"/>
            <a:ext cx="10323576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overlays/dev/kustomization.yaml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resources: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../../base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namePrefix: dev-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commonLabels: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env: dev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Kustomize Overlays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Prod overlay (image bump + replica patch)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202082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20208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929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overlays/prod/kustomization.yaml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resources: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../../base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namePrefix: prod-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commonLabels: {env: prod}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images: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nginx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newTag: "1.26"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patches: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path: replica-patch.yaml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79392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Preview, then apply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663440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663440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727448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kustomize overlays/prod | grep -E "name:|replicas:|image:"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apply -k overlays/dev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apply -k overlays/prod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Kustomize Overlays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namePrefix and commonLabels apply to every resource in the overlay. The images block overrides tags without editing base files. apply -k / kubectl kustomize are built into kubectl — no extra binary.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Kustomize Overlays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kubectl kustomize overlays/prod shows name prod-web, 5 replicas and nginx:1.26, while the dev overlay stays at 1 replica and nginx:1.25.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DaemonSets &amp; StatefulSets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Node-wide agents &amp; stable-identity workloads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WHEN DEPLOYMENT ISN'T ENOUGH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Specialised Controllers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DaemonSet runs exactly one Pod per matching node — log collectors, CNI agents, node exporters.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StatefulSet gives Pods stable names (db-0, db-1) and ordered, graceful start/stop.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StatefulSet needs a headless Service (clusterIP: None) for per-Pod DNS.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Scale-down always removes the highest ordinal first; scale-up adds the next in 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THREE WORKLOAD SHAPES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Pick the Right Controller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Stateless, interchangeable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Any number of replicas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Rolling updates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DaemonSet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One Pod per node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Node-level agents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Scales with the cluster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StatefulSet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Stable identity + storage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Ordered start/stop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Databases, queues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WORKLOAD CONTROLLERS · NODE-WIDE vs STABLE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DaemonSet vs StatefulSet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166360" cy="36576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75104"/>
            <a:ext cx="5166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DaemonSet — one Pod per node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2514600"/>
            <a:ext cx="43434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2898648"/>
            <a:ext cx="1463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node-1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624328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8" y="2624328"/>
            <a:ext cx="16093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agent Pod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3429000"/>
            <a:ext cx="43434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3813048"/>
            <a:ext cx="1463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node-2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3538728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8" y="3538728"/>
            <a:ext cx="16093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agent Pod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4343400"/>
            <a:ext cx="43434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4727448"/>
            <a:ext cx="1463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node-3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4453128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5888" y="4453128"/>
            <a:ext cx="16093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agent Pod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828800"/>
            <a:ext cx="5166360" cy="36576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975104"/>
            <a:ext cx="5166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StatefulSet — ordered, stable names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2468880"/>
            <a:ext cx="260604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53528" y="2468880"/>
            <a:ext cx="238658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headless Service (db)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clusterIP: None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3337560"/>
            <a:ext cx="3886200" cy="54864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13448" y="3337560"/>
            <a:ext cx="3666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db-0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db-0.db.svc.cluster.local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3720" y="3995928"/>
            <a:ext cx="3886200" cy="54864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13448" y="3995928"/>
            <a:ext cx="3666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db-1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db-1.db.svc.cluster.local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03720" y="4654296"/>
            <a:ext cx="3886200" cy="54864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13448" y="4654296"/>
            <a:ext cx="3666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db-2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db-2.db.svc.cluster.local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5102352"/>
            <a:ext cx="5166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B6372"/>
                </a:solidFill>
                <a:latin typeface="Arial"/>
              </a:rPr>
              <a:t>created db-0→db-2 · deleted db-2→db-0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DaemonSet = </a:t>
            </a:r>
            <a:r>
              <a:rPr sz="1300" b="1">
                <a:solidFill>
                  <a:srgbClr val="161B26"/>
                </a:solidFill>
                <a:latin typeface="Arial"/>
              </a:rPr>
              <a:t>one Pod per matching node</a:t>
            </a:r>
            <a:r>
              <a:rPr sz="1300" b="0">
                <a:solidFill>
                  <a:srgbClr val="5B6372"/>
                </a:solidFill>
                <a:latin typeface="Arial"/>
              </a:rPr>
              <a:t>; StatefulSet = </a:t>
            </a:r>
            <a:r>
              <a:rPr sz="1300" b="1">
                <a:solidFill>
                  <a:srgbClr val="161B26"/>
                </a:solidFill>
                <a:latin typeface="Arial"/>
              </a:rPr>
              <a:t>stable identity + ordered start/stop</a:t>
            </a:r>
            <a:r>
              <a:rPr sz="1300" b="0">
                <a:solidFill>
                  <a:srgbClr val="5B6372"/>
                </a:solidFill>
                <a:latin typeface="Arial"/>
              </a:rPr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· DAEMON/STATEFULSET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DaemonSets and StatefulSets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DaemonSets &amp; StatefulSets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 DaemonSet runs exactly one Pod per matching node (log collectors, CNI agents). A StatefulSet gives Pods stable identities and ordered start/stop (databases). CKAD expects you to know when to use each and write the YAML.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Run a DaemonSet on every node, then a StatefulSet with a headless Service, stable DNS and ordered scaling.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apply · nslookup db-0.db.default.svc.cluster.local · » DaemonSet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DaemonSets and StatefulSets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DaemonSet on every node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DaemonSet node-agent, image busybox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ds.yaml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ds,pods -l app=node-agent -o wide   # DESIRED = node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Headless Service for the StatefulSet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Service db: clusterIP: None, selector app=db, port 5432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headless.yaml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StatefulSet with stable identities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StatefulSet db: serviceName db, replicas 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sts.yaml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rollout status sts/db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pods -l app=db        # db-0 → db-1 → db-2 in 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DaemonSets and StatefulSets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Verify stable per-Pod DNS and scale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nslookup db-0.db.default.svc.cluster.local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scale sts db --replicas=4    # adds db-3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scale sts db --replicas=2    # removes db-3 then db-2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DaemonSet = one Pod per matching node. StatefulSet = stable names (db-0, db-1) and ordered start/stop; a headless Service (clusterIP: None) gives each Pod its own DNS. Scale-down always removes the highest ordinal first.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DaemonSets and StatefulSets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get pods -l app=db shows db-0, db-1, db-2 created in order, and nslookup db-0.db.default.svc.cluster.local resolves to a single Pod IP.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Day 2 done — you can deploy, scale and upgrade applications.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3891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Tomorrow: Observability and Configuration &amp; Security — probes, logging, ConfigMaps, Secrets, RBAC.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Certified Kubernetes Application Developer (CKAD)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52628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TGS-2025053212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Observability + Config &amp;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Probes · Logging · Metrics · Debug · ConfigMaps · Secrets · SecurityContext · RBAC  (CKAD Domains 3 &amp; 4 — 40%)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7607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It is mandatory to take the AM, PM and Assessment digital attendance for WSQ-funded courses.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The trainer displays the digital attendance QR code from the SSG portal.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Scan the QR code with your phone camera and submit your attendance.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A minimum of 75% attendance is required for assessment and funding.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828800"/>
            <a:ext cx="4389120" cy="27432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0" y="2148840"/>
            <a:ext cx="1005840" cy="10058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at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936" y="2420416"/>
            <a:ext cx="462688" cy="4626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8040" y="3337560"/>
            <a:ext cx="3840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Minimum 75%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attendance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3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&amp;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Yesterday (Domain 2): Deployments, rollouts, release strategies, Helm, Kustomize, Daemon/StatefulSet.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Morning — Domain 3 Observability (15%): probes, logging, metrics, debugging, API deprecations.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Afternoon — Domain 4 Configuration &amp; Security (25%): ConfigMaps, Secrets, securityContext, RBAC, quotas.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Together these two domains are 40% of the CKAD exam — the largest single 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Observability &amp;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Probes · logging · metrics · debugging · API versions (15%)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Health Probes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liveness · readiness · startup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CONTAINER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Three Probes, Three Jobs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livenessProbe — restarts the container when it has hung or deadlocked.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readinessProbe — removes the Pod from Service endpoints until it can serve traffic (no restart).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startupProbe — gives slow apps time to boot; it blocks the other two until it succeeds.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Each probe uses one handler: httpGet, tcpSocket or exec — pick by what the container exposes.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65" dirty="0"/>
              <a:t>Readiness</a:t>
            </a:r>
            <a:r>
              <a:rPr spc="-85" dirty="0"/>
              <a:t> </a:t>
            </a:r>
            <a:r>
              <a:rPr spc="-10" dirty="0"/>
              <a:t>Probe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-20" dirty="0">
                <a:solidFill>
                  <a:srgbClr val="666666"/>
                </a:solidFill>
                <a:latin typeface="Arial"/>
                <a:cs typeface="Arial"/>
              </a:rPr>
              <a:t>"Is</a:t>
            </a:r>
            <a:r>
              <a:rPr sz="1600" b="0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application</a:t>
            </a:r>
            <a:r>
              <a:rPr sz="1600" b="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/>
                <a:cs typeface="Arial"/>
              </a:rPr>
              <a:t>ready</a:t>
            </a:r>
            <a:r>
              <a:rPr sz="1600" b="0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sz="1600" b="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/>
                <a:cs typeface="Arial"/>
              </a:rPr>
              <a:t>handle</a:t>
            </a:r>
            <a:r>
              <a:rPr sz="1600" b="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50" dirty="0">
                <a:solidFill>
                  <a:srgbClr val="666666"/>
                </a:solidFill>
                <a:latin typeface="Arial"/>
                <a:cs typeface="Arial"/>
              </a:rPr>
              <a:t>requests?"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167" y="2639147"/>
            <a:ext cx="10189732" cy="276315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223</a:t>
            </a:fld>
            <a:endParaRPr spc="-25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/>
              <a:t>Liveness</a:t>
            </a:r>
            <a:r>
              <a:rPr spc="-100" dirty="0"/>
              <a:t> </a:t>
            </a:r>
            <a:r>
              <a:rPr spc="-10" dirty="0"/>
              <a:t>Probe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"Does</a:t>
            </a:r>
            <a:r>
              <a:rPr sz="1600" b="0" spc="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1600" b="0" spc="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application</a:t>
            </a:r>
            <a:r>
              <a:rPr sz="1600" b="0" spc="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55" dirty="0">
                <a:solidFill>
                  <a:srgbClr val="666666"/>
                </a:solidFill>
                <a:latin typeface="Arial"/>
                <a:cs typeface="Arial"/>
              </a:rPr>
              <a:t>still</a:t>
            </a:r>
            <a:r>
              <a:rPr sz="1600" b="0" spc="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function</a:t>
            </a:r>
            <a:r>
              <a:rPr sz="1600" b="0" spc="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/>
                <a:cs typeface="Arial"/>
              </a:rPr>
              <a:t>without</a:t>
            </a:r>
            <a:r>
              <a:rPr sz="1600" b="0" spc="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errors?"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0545" y="2375600"/>
            <a:ext cx="8321379" cy="35213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224</a:t>
            </a:fld>
            <a:endParaRPr spc="-25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95" dirty="0"/>
              <a:t>Startup</a:t>
            </a:r>
            <a:r>
              <a:rPr spc="-95" dirty="0"/>
              <a:t> </a:t>
            </a:r>
            <a:r>
              <a:rPr spc="-10" dirty="0"/>
              <a:t>Probe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65" dirty="0">
                <a:solidFill>
                  <a:srgbClr val="666666"/>
                </a:solidFill>
                <a:latin typeface="Arial"/>
                <a:cs typeface="Arial"/>
              </a:rPr>
              <a:t>"Legacy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application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200" dirty="0">
                <a:solidFill>
                  <a:srgbClr val="666666"/>
                </a:solidFill>
                <a:latin typeface="Arial"/>
                <a:cs typeface="Arial"/>
              </a:rPr>
              <a:t>may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need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longer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70" dirty="0">
                <a:solidFill>
                  <a:srgbClr val="666666"/>
                </a:solidFill>
                <a:latin typeface="Arial"/>
                <a:cs typeface="Arial"/>
              </a:rPr>
              <a:t>start.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0" dirty="0">
                <a:solidFill>
                  <a:srgbClr val="666666"/>
                </a:solidFill>
                <a:latin typeface="Arial"/>
                <a:cs typeface="Arial"/>
              </a:rPr>
              <a:t>Hold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5" dirty="0">
                <a:solidFill>
                  <a:srgbClr val="666666"/>
                </a:solidFill>
                <a:latin typeface="Arial"/>
                <a:cs typeface="Arial"/>
              </a:rPr>
              <a:t>off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on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70" dirty="0">
                <a:solidFill>
                  <a:srgbClr val="666666"/>
                </a:solidFill>
                <a:latin typeface="Arial"/>
                <a:cs typeface="Arial"/>
              </a:rPr>
              <a:t>liveness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65" dirty="0">
                <a:solidFill>
                  <a:srgbClr val="666666"/>
                </a:solidFill>
                <a:latin typeface="Arial"/>
                <a:cs typeface="Arial"/>
              </a:rPr>
              <a:t>probing."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2867" y="2723533"/>
            <a:ext cx="9990201" cy="245876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225</a:t>
            </a:fld>
            <a:endParaRPr spc="-25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PROBES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Liveness, Readiness &amp; Startup Probes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Probes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Kubernetes uses three probes to manage health: livenessProbe restarts a failed container, readinessProbe removes it from Service endpoints, startupProbe gives slow apps time to boot. CKAD tests all three handlers (httpGet, tcpSocket, exec) and timing.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Add HTTP readiness+liveness probes, trigger a liveness restart, add a TCP probe, then a startupProbe with exec.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readinessProbe: · k exec · startupProbe: · » Three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Liveness, Readiness &amp; Startup Probes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HTTP liveness + readiness probe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83337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8333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7419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readinessProbe: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httpGet: {path: /, port: 80}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initialDelaySeconds: 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periodSeconds: 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livenessProbe: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httpGet: {path: /, port: 80}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initialDelaySeconds: 10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periodSeconds: 10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failureThreshold: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919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Trigger a liveness failure (watch RESTARTS climb)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4759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4759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5399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exec web-probes -- rm /usr/share/nginx/html/index.html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sleep 35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 web-probes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Liveness, Readiness &amp; Startup Probes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TCP socket probe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readinessProbe: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tcpSocket: {port: 6379}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periodSeconds: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startupProbe for slow-starting apps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startupProbe: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exec: {command: ["cat", "/tmp/ready"]}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failureThreshold: 30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periodSeconds: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30268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Three handlers — httpGet, tcpSocket, exec. readinessProbe failure removes the Pod from Service endpoints without restarting it; livenessProbe failure restarts the container; startupProbe blocks the other two until the app is initialised.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Liveness, Readiness &amp; Startup Probes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Deleting the index page makes the liveness probe fail three times and the container restarts (RESTARTS increments), while the TCP and startup Pods reach READY 1/1.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Logging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kubectl logs — your first debugging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Reading Container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Logs are whatever the container writes to stdout/stderr; the kubelet captures and serves them.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--tail=N for recent lines; -f to stream live (like tail -f).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--previous reads the prior terminated container — the key to diagnosing CrashLoopBackOff.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-c &lt;container&gt; selects one container; -l &lt;selector&gt; aggregates logs across matching Pods.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LOGGING · stdout/stderr → kubelet → kubectl logs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Where Logs Come From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560320"/>
            <a:ext cx="3063240" cy="173736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560320"/>
            <a:ext cx="306324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670048"/>
            <a:ext cx="284378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Pod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 + sidecar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write to stdout/stderr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40480" y="3227832"/>
            <a:ext cx="731520" cy="402336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249424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captured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560320"/>
            <a:ext cx="30632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560320"/>
            <a:ext cx="3063240" cy="9144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2670048"/>
            <a:ext cx="284378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Node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container runtime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/var/log/pods/…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635240" y="3227832"/>
            <a:ext cx="731520" cy="402336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249424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kubelet serves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560320"/>
            <a:ext cx="3063240" cy="173736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66760" y="2560320"/>
            <a:ext cx="306324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2670048"/>
            <a:ext cx="284378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kubectl logs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-c &lt;name&gt; · -l &lt;sel&gt;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--previous · -f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Logs are whatever the container prints to </a:t>
            </a:r>
            <a:r>
              <a:rPr sz="1300" b="1">
                <a:solidFill>
                  <a:srgbClr val="161B26"/>
                </a:solidFill>
                <a:latin typeface="Arial"/>
              </a:rPr>
              <a:t>stdout/stderr</a:t>
            </a:r>
            <a:r>
              <a:rPr sz="1300" b="0">
                <a:solidFill>
                  <a:srgbClr val="5B6372"/>
                </a:solidFill>
                <a:latin typeface="Arial"/>
              </a:rPr>
              <a:t>. Use </a:t>
            </a:r>
            <a:r>
              <a:rPr sz="1300" b="1">
                <a:solidFill>
                  <a:srgbClr val="161B26"/>
                </a:solidFill>
                <a:latin typeface="Arial"/>
              </a:rPr>
              <a:t>--previous</a:t>
            </a:r>
            <a:r>
              <a:rPr sz="1300" b="0">
                <a:solidFill>
                  <a:srgbClr val="5B6372"/>
                </a:solidFill>
                <a:latin typeface="Arial"/>
              </a:rPr>
              <a:t> for a crashed container.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LOGGING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Logging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Logging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kubectl logs is the first debugging tool on the exam. Read logs from single and multi-container Pods, follow a live stream, retrieve logs from a crashed container, and aggregate logs across a Deployment.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Read and tail logs, stream with -f, recover crash logs with --previous, then aggregate by container and label.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logs · » `--tail=N`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Logging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Read recent lines and follow a live stream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noisy --tail=10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-f noisy &amp;        # -f streams like tail -f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kill %1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Retrieve logs from a crashed container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242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crasher --previous | head -5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2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Multi-container Pod logs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251960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51960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315968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multi -c app | head -3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multi -c sidecar | head -3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multi --all-containers=true --prefix=true | head -8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Logging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Aggregate logs across a Deployment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deployment/fleet --tail=3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-l app=fleet --prefix=true --tail=2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--tail=N for recent lines, -f to stream, --previous for crash loops, -c &lt;name&gt; for a specific container, -l &lt;selector&gt; to aggregate matching Pods. --prefix=true labels each line with [pod/container].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Logging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logs crasher --previous shows the message printed before the crash, and k logs -l app=fleet --prefix=true interleaves lines from all three Pods.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kubectl top &amp; the metrics-server add-on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MEASURE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Resource Usage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top shows live CPU and memory for nodes and Pods — it requires metrics-server.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metrics-server scrapes each kubelet's cAdvisor and serves the aggregated Metrics API.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Sort with --sort-by=cpu / --sort-by=memory; span all namespaces with -A.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On Killercoda's self-signed certs, patch the Deployment with --kubelet-insecure-tls.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75" dirty="0"/>
              <a:t>What</a:t>
            </a:r>
            <a:r>
              <a:rPr spc="-105" dirty="0"/>
              <a:t> </a:t>
            </a:r>
            <a:r>
              <a:rPr dirty="0"/>
              <a:t>is</a:t>
            </a:r>
            <a:r>
              <a:rPr spc="-105" dirty="0"/>
              <a:t> </a:t>
            </a:r>
            <a:r>
              <a:rPr spc="130" dirty="0"/>
              <a:t>the</a:t>
            </a:r>
            <a:r>
              <a:rPr spc="-105" dirty="0"/>
              <a:t> </a:t>
            </a:r>
            <a:r>
              <a:rPr spc="70" dirty="0"/>
              <a:t>Metrics</a:t>
            </a:r>
            <a:r>
              <a:rPr spc="-105" dirty="0"/>
              <a:t> </a:t>
            </a:r>
            <a:r>
              <a:rPr spc="-10" dirty="0"/>
              <a:t>Server?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Cluster-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wide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/>
                <a:cs typeface="Arial"/>
              </a:rPr>
              <a:t>resource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metrics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/>
                <a:cs typeface="Arial"/>
              </a:rPr>
              <a:t>aggregator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0095" y="1813816"/>
            <a:ext cx="9877212" cy="18753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marR="90170" indent="-351790" algn="just">
              <a:lnSpc>
                <a:spcPct val="113300"/>
              </a:lnSpc>
              <a:spcBef>
                <a:spcPts val="100"/>
              </a:spcBef>
              <a:buChar char="●"/>
              <a:tabLst>
                <a:tab pos="363855" algn="l"/>
                <a:tab pos="365760" algn="l"/>
              </a:tabLst>
            </a:pPr>
            <a:r>
              <a:rPr sz="1600" dirty="0">
                <a:latin typeface="Arial"/>
                <a:cs typeface="Arial"/>
              </a:rPr>
              <a:t>	Gathers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resource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consumption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metrics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nodes,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e.g.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CPU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memory.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The </a:t>
            </a:r>
            <a:r>
              <a:rPr sz="1600" dirty="0">
                <a:latin typeface="Arial"/>
                <a:cs typeface="Arial"/>
              </a:rPr>
              <a:t>kubelet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sends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those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metrics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Kubernetes</a:t>
            </a:r>
            <a:r>
              <a:rPr sz="1600" spc="-10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API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server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exposes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them </a:t>
            </a:r>
            <a:r>
              <a:rPr sz="1600" dirty="0">
                <a:latin typeface="Arial"/>
                <a:cs typeface="Arial"/>
              </a:rPr>
              <a:t>through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u="heavy" spc="-10" dirty="0">
                <a:solidFill>
                  <a:srgbClr val="D30020"/>
                </a:solidFill>
                <a:uFill>
                  <a:solidFill>
                    <a:srgbClr val="D30020"/>
                  </a:solidFill>
                </a:uFill>
                <a:latin typeface="Arial"/>
                <a:cs typeface="Arial"/>
                <a:hlinkClick r:id="rId2"/>
              </a:rPr>
              <a:t>Metrics</a:t>
            </a:r>
            <a:r>
              <a:rPr sz="1600" u="heavy" spc="-100" dirty="0">
                <a:solidFill>
                  <a:srgbClr val="D30020"/>
                </a:solidFill>
                <a:uFill>
                  <a:solidFill>
                    <a:srgbClr val="D3002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600" u="heavy" spc="-20" dirty="0">
                <a:solidFill>
                  <a:srgbClr val="D30020"/>
                </a:solidFill>
                <a:uFill>
                  <a:solidFill>
                    <a:srgbClr val="D30020"/>
                  </a:solidFill>
                </a:uFill>
                <a:latin typeface="Arial"/>
                <a:cs typeface="Arial"/>
                <a:hlinkClick r:id="rId2"/>
              </a:rPr>
              <a:t>API</a:t>
            </a:r>
            <a:r>
              <a:rPr sz="1600" spc="-20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85"/>
              </a:spcBef>
              <a:buFont typeface="Arial"/>
              <a:buChar char="●"/>
            </a:pPr>
            <a:endParaRPr sz="1600">
              <a:latin typeface="Arial"/>
              <a:cs typeface="Arial"/>
            </a:endParaRPr>
          </a:p>
          <a:p>
            <a:pPr marL="363855" indent="-351155">
              <a:lnSpc>
                <a:spcPct val="100000"/>
              </a:lnSpc>
              <a:spcBef>
                <a:spcPts val="5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"/>
                <a:cs typeface="Arial"/>
              </a:rPr>
              <a:t>The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metrics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server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stores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data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memory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does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not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persist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data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over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time.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2883" y="4160533"/>
            <a:ext cx="3990168" cy="224026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235</a:t>
            </a:fld>
            <a:endParaRPr spc="-25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kubectl top and Metrics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kubectl top shows real-time CPU and memory for nodes and Pods. It requires the metrics-server add-on. CKAD tests installing metrics-server, reading node/Pod metrics, and sorting by resource usage.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Install metrics-server, read node metrics, generate CPU load, then sort Pod metrics by CPU and memory.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kubectl apply · k top · k run · » `kubectl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kubectl top and Metrics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Install metrics-server (and trust kubelet certs on Killercoda)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apply -f https://github.com/kubernetes-sigs/metrics-server/releases/latest/download/components.yaml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patch -n kube-system deployment metrics-server --type=json -p='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[{"op":"add","path":"/spec/template/spec/containers/0/args/-","value":"--kubelet-insecure-tls"}]'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until kubectl top node 2&gt;/dev/null; do sleep 5; 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Top nodes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38728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02736"/>
            <a:ext cx="10323576" cy="242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top node        # CPU cores/% and memory bytes/% per node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4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Generate load, then top Pods sorted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2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2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20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run cpu-burner --image=busybox -- sh -c 'while true; do :; done'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sleep 30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top pod --sort-by=cpu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top pod --sort-by=memory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top pod -A --sort-by=cpu | head -10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kubectl top and Metrics Server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kubectl top needs metrics-server running. --kubelet-insecure-tls is required on Killercoda's self-signed certs. cpu-burner should top the CPU sort; -A spans all namespaces.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kubectl top and Metrics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After ~30s, k top node reports CPU/memory and k top pod --sort-by=cpu lists cpu-burner at the top of the usage ranking.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Debugging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Diagnose and fix broken workloads under time pressure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Three Failures You Will See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ImagePullBackOff — wrong image name/tag; confirm in describe → Events, then fix and recreate.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CrashLoopBackOff — container exits non-zero; read kubectl logs --previous.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OOMKilled — exceeded the memory limit; raise resources.limits.memory.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get events --sort-by=.lastTimestamp and kubectl debug (ephemeral container) are your fast tools.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70" dirty="0"/>
              <a:t>Common</a:t>
            </a:r>
            <a:r>
              <a:rPr spc="-75" dirty="0"/>
              <a:t> </a:t>
            </a:r>
            <a:r>
              <a:rPr dirty="0"/>
              <a:t>Pod</a:t>
            </a:r>
            <a:r>
              <a:rPr spc="-70" dirty="0"/>
              <a:t> </a:t>
            </a:r>
            <a:r>
              <a:rPr spc="-30" dirty="0"/>
              <a:t>Error</a:t>
            </a:r>
            <a:r>
              <a:rPr spc="-75" dirty="0"/>
              <a:t> </a:t>
            </a:r>
            <a:r>
              <a:rPr spc="65" dirty="0"/>
              <a:t>Statuses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Poorly-</a:t>
            </a:r>
            <a:r>
              <a:rPr sz="1600" b="0" spc="140" dirty="0">
                <a:solidFill>
                  <a:srgbClr val="666666"/>
                </a:solidFill>
                <a:latin typeface="Arial"/>
                <a:cs typeface="Arial"/>
              </a:rPr>
              <a:t>documented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in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Kubernetes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75" dirty="0">
                <a:solidFill>
                  <a:srgbClr val="666666"/>
                </a:solidFill>
                <a:latin typeface="Arial"/>
                <a:cs typeface="Arial"/>
              </a:rPr>
              <a:t>docs,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/>
                <a:cs typeface="Arial"/>
              </a:rPr>
              <a:t>encountered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often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in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/>
                <a:cs typeface="Arial"/>
              </a:rPr>
              <a:t>practice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75825" y="3584143"/>
            <a:ext cx="10977033" cy="967740"/>
          </a:xfrm>
          <a:custGeom>
            <a:avLst/>
            <a:gdLst/>
            <a:ahLst/>
            <a:cxnLst/>
            <a:rect l="l" t="t" r="r" b="b"/>
            <a:pathLst>
              <a:path w="8232775" h="725804">
                <a:moveTo>
                  <a:pt x="8232648" y="0"/>
                </a:moveTo>
                <a:lnTo>
                  <a:pt x="4133075" y="0"/>
                </a:lnTo>
                <a:lnTo>
                  <a:pt x="2652052" y="0"/>
                </a:lnTo>
                <a:lnTo>
                  <a:pt x="0" y="0"/>
                </a:lnTo>
                <a:lnTo>
                  <a:pt x="0" y="725779"/>
                </a:lnTo>
                <a:lnTo>
                  <a:pt x="2652052" y="725779"/>
                </a:lnTo>
                <a:lnTo>
                  <a:pt x="4133075" y="725779"/>
                </a:lnTo>
                <a:lnTo>
                  <a:pt x="8232648" y="725779"/>
                </a:lnTo>
                <a:lnTo>
                  <a:pt x="8232648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97350" y="1404074"/>
          <a:ext cx="8323580" cy="29102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6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0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95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308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Status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67005" marB="0">
                    <a:lnR w="9525">
                      <a:solidFill>
                        <a:srgbClr val="F3F3F3"/>
                      </a:solidFill>
                      <a:prstDash val="solid"/>
                    </a:lnR>
                    <a:lnB w="38100">
                      <a:solidFill>
                        <a:srgbClr val="660000"/>
                      </a:solidFill>
                      <a:prstDash val="solid"/>
                    </a:lnB>
                    <a:solidFill>
                      <a:srgbClr val="D30020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4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Root</a:t>
                      </a:r>
                      <a:r>
                        <a:rPr sz="140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Cause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67005" marB="0">
                    <a:lnL w="9525">
                      <a:solidFill>
                        <a:srgbClr val="F3F3F3"/>
                      </a:solidFill>
                      <a:prstDash val="solid"/>
                    </a:lnL>
                    <a:lnR w="9525">
                      <a:solidFill>
                        <a:srgbClr val="F3F3F3"/>
                      </a:solidFill>
                      <a:prstDash val="solid"/>
                    </a:lnR>
                    <a:lnB w="38100">
                      <a:solidFill>
                        <a:srgbClr val="660000"/>
                      </a:solidFill>
                      <a:prstDash val="solid"/>
                    </a:lnB>
                    <a:solidFill>
                      <a:srgbClr val="D30020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4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Potential</a:t>
                      </a:r>
                      <a:r>
                        <a:rPr sz="1400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Fix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67005" marB="0">
                    <a:lnL w="9525">
                      <a:solidFill>
                        <a:srgbClr val="F3F3F3"/>
                      </a:solidFill>
                      <a:prstDash val="solid"/>
                    </a:lnL>
                    <a:lnR w="9525">
                      <a:solidFill>
                        <a:srgbClr val="F3F3F3"/>
                      </a:solidFill>
                      <a:prstDash val="solid"/>
                    </a:lnR>
                    <a:lnB w="38100">
                      <a:solidFill>
                        <a:srgbClr val="660000"/>
                      </a:solidFill>
                      <a:prstDash val="solid"/>
                    </a:lnB>
                    <a:solidFill>
                      <a:srgbClr val="D300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630">
                <a:tc>
                  <a:txBody>
                    <a:bodyPr/>
                    <a:lstStyle/>
                    <a:p>
                      <a:pPr marL="90170">
                        <a:lnSpc>
                          <a:spcPts val="1430"/>
                        </a:lnSpc>
                        <a:spcBef>
                          <a:spcPts val="625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ImagePullBackOff</a:t>
                      </a:r>
                      <a:r>
                        <a:rPr sz="1200" spc="-2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or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ts val="1435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ErrImagePull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79375" marB="0">
                    <a:lnR w="9525">
                      <a:solidFill>
                        <a:srgbClr val="F3F3F3"/>
                      </a:solidFill>
                      <a:prstDash val="solid"/>
                    </a:lnR>
                    <a:lnT w="38100">
                      <a:solidFill>
                        <a:srgbClr val="66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5725" marR="92075">
                        <a:lnSpc>
                          <a:spcPts val="1430"/>
                        </a:lnSpc>
                        <a:spcBef>
                          <a:spcPts val="68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Image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could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not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be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pulled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from</a:t>
                      </a:r>
                      <a:r>
                        <a:rPr sz="1200" spc="5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registry.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9525">
                      <a:solidFill>
                        <a:srgbClr val="F3F3F3"/>
                      </a:solidFill>
                      <a:prstDash val="solid"/>
                    </a:lnL>
                    <a:lnR w="9525">
                      <a:solidFill>
                        <a:srgbClr val="F3F3F3"/>
                      </a:solidFill>
                      <a:prstDash val="solid"/>
                    </a:lnR>
                    <a:lnT w="38100">
                      <a:solidFill>
                        <a:srgbClr val="66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5725" marR="95885">
                        <a:lnSpc>
                          <a:spcPts val="1430"/>
                        </a:lnSpc>
                        <a:spcBef>
                          <a:spcPts val="68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Check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correct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image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name,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check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that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image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name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exists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registry,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verify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network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access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from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node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registry,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ensure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proper</a:t>
                      </a:r>
                      <a:r>
                        <a:rPr sz="12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authentication.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9525">
                      <a:solidFill>
                        <a:srgbClr val="F3F3F3"/>
                      </a:solidFill>
                      <a:prstDash val="solid"/>
                    </a:lnL>
                    <a:lnR w="9525">
                      <a:solidFill>
                        <a:srgbClr val="F3F3F3"/>
                      </a:solidFill>
                      <a:prstDash val="solid"/>
                    </a:lnR>
                    <a:lnT w="38100">
                      <a:solidFill>
                        <a:srgbClr val="66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51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CrashLoopBackOff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81915" marB="0">
                    <a:lnR w="9525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 marR="143510">
                        <a:lnSpc>
                          <a:spcPts val="1430"/>
                        </a:lnSpc>
                        <a:spcBef>
                          <a:spcPts val="70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Application</a:t>
                      </a:r>
                      <a:r>
                        <a:rPr sz="12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or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command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run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in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container</a:t>
                      </a:r>
                      <a:r>
                        <a:rPr sz="12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crashes.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953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 marR="163195">
                        <a:lnSpc>
                          <a:spcPts val="1430"/>
                        </a:lnSpc>
                        <a:spcBef>
                          <a:spcPts val="70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Check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command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executed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container,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ensure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that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image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can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properly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execute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(e.g.,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by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creating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container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with</a:t>
                      </a:r>
                      <a:r>
                        <a:rPr sz="12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Docker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Engine).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953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9319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CreateContainerConfigError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81915" marB="0">
                    <a:lnR w="9525">
                      <a:solidFill>
                        <a:srgbClr val="F3F3F3"/>
                      </a:solidFill>
                      <a:prstDash val="solid"/>
                    </a:lnR>
                    <a:lnB w="9525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77165">
                        <a:lnSpc>
                          <a:spcPts val="1430"/>
                        </a:lnSpc>
                        <a:spcBef>
                          <a:spcPts val="70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ConfigMap</a:t>
                      </a:r>
                      <a:r>
                        <a:rPr sz="12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or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Secret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referenced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by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container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cannot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be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found.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9535" marB="0">
                    <a:lnL w="9525">
                      <a:solidFill>
                        <a:srgbClr val="F3F3F3"/>
                      </a:solidFill>
                      <a:prstDash val="solid"/>
                    </a:lnL>
                    <a:lnR w="9525">
                      <a:solidFill>
                        <a:srgbClr val="F3F3F3"/>
                      </a:solidFill>
                      <a:prstDash val="solid"/>
                    </a:lnR>
                    <a:lnB w="9525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54940">
                        <a:lnSpc>
                          <a:spcPts val="1430"/>
                        </a:lnSpc>
                        <a:spcBef>
                          <a:spcPts val="70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Check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correct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name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configuration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object,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verify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existence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configuration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object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namespace.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9535" marB="0">
                    <a:lnL w="9525">
                      <a:solidFill>
                        <a:srgbClr val="F3F3F3"/>
                      </a:solidFill>
                      <a:prstDash val="solid"/>
                    </a:lnL>
                    <a:lnR w="9525">
                      <a:solidFill>
                        <a:srgbClr val="F3F3F3"/>
                      </a:solidFill>
                      <a:prstDash val="solid"/>
                    </a:lnR>
                    <a:lnB w="9525">
                      <a:solidFill>
                        <a:srgbClr val="F3F3F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243</a:t>
            </a:fld>
            <a:endParaRPr spc="-25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DEBUGGING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Debugging Pods and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Debugging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CKAD regularly includes broken workloads you must diagnose and fix under time pressure. Identify and resolve ImagePullBackOff, CrashLoopBackOff and OOMKilled, and use kubectl debug for live triage.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Diagnose three classic failures with describe/logs/events, then inject an ephemeral debug container.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describe · k get · » ImagePullBackOff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Debugging Pods and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ImagePullBackOff (wrong image name)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describe pod typo | tail -15      # 'Failed to pull image'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delete pod typo --force --grace-period=0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run typo --image=nginx:1.25       # corrected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CrashLoopBackOff (container exits non-zero)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describe pod crash | grep -A3 "Last State"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crash --previous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OOMKilled (exceeds memory limit)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describe pod hungry | grep -A4 "Last State"   # Reason: OOMKilled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fix: raise resources.limits.memory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Debugging Pods and Events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Cluster-wide events + ephemeral debug container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events -A --sort-by=.lastTimestamp | tail -20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events --field-selector type=Warning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debug crash -it --image=busybox --target=crash -- 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ImagePullBackOff → wrong image/tag. CrashLoopBackOff → use logs --previous. OOMKilled → raise the memory limit. kubectl debug injects an ephemeral container sharing the target's namespaces — vital for distroless images with no shell.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Debugging Pods and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describe reveals the correct failure reason for each Pod (ImagePullBackOff, CrashLoopBackOff, OOMKilled), and k debug opens a shell inside the running Pod.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API Deprecations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Find the right apiVersion with kubectl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STAY CURRENT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APIs Change — Know How to Look Them Up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Old API versions are deprecated and eventually removed (e.g. extensions/v1beta1 Ingress, gone in 1.22).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api-resources shows the correct apiVersion for every resource in its APIVERSION column.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api-versions lists every version the cluster serves.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explain &lt;resource&gt;.&lt;field&gt; --recursive documents fields without leaving the terminal.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/>
              <a:t>Listing</a:t>
            </a:r>
            <a:r>
              <a:rPr spc="-105" dirty="0"/>
              <a:t> </a:t>
            </a:r>
            <a:r>
              <a:rPr spc="105" dirty="0"/>
              <a:t>Available</a:t>
            </a:r>
            <a:r>
              <a:rPr spc="-100" dirty="0"/>
              <a:t> </a:t>
            </a:r>
            <a:r>
              <a:rPr spc="-50" dirty="0"/>
              <a:t>API</a:t>
            </a:r>
            <a:r>
              <a:rPr spc="-105" dirty="0"/>
              <a:t> </a:t>
            </a:r>
            <a:r>
              <a:rPr spc="50" dirty="0"/>
              <a:t>version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-20" dirty="0">
                <a:solidFill>
                  <a:srgbClr val="666666"/>
                </a:solidFill>
                <a:latin typeface="Courier New"/>
                <a:cs typeface="Courier New"/>
              </a:rPr>
              <a:t>kubectl</a:t>
            </a:r>
            <a:r>
              <a:rPr sz="1600" b="0" spc="-63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600" b="0" spc="160" dirty="0">
                <a:solidFill>
                  <a:srgbClr val="666666"/>
                </a:solidFill>
                <a:latin typeface="Arial"/>
                <a:cs typeface="Arial"/>
              </a:rPr>
              <a:t>can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discover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-45" dirty="0">
                <a:solidFill>
                  <a:srgbClr val="666666"/>
                </a:solidFill>
                <a:latin typeface="Arial"/>
                <a:cs typeface="Arial"/>
              </a:rPr>
              <a:t>API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0" dirty="0">
                <a:solidFill>
                  <a:srgbClr val="666666"/>
                </a:solidFill>
                <a:latin typeface="Arial"/>
                <a:cs typeface="Arial"/>
              </a:rPr>
              <a:t>version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useable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in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manifests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891" y="1935875"/>
            <a:ext cx="5093600" cy="34756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66333" y="2000299"/>
            <a:ext cx="4941993" cy="3324013"/>
          </a:xfrm>
          <a:prstGeom prst="rect">
            <a:avLst/>
          </a:prstGeom>
          <a:solidFill>
            <a:srgbClr val="F6F6F7"/>
          </a:solidFill>
        </p:spPr>
        <p:txBody>
          <a:bodyPr vert="horz" wrap="square" lIns="0" tIns="160020" rIns="0" bIns="0" rtlCol="0">
            <a:spAutoFit/>
          </a:bodyPr>
          <a:lstStyle/>
          <a:p>
            <a:pPr marL="208279" marR="182245">
              <a:lnSpc>
                <a:spcPts val="1650"/>
              </a:lnSpc>
              <a:spcBef>
                <a:spcPts val="1260"/>
              </a:spcBef>
            </a:pPr>
            <a:r>
              <a:rPr sz="1400" b="1" dirty="0">
                <a:latin typeface="Courier New"/>
                <a:cs typeface="Courier New"/>
              </a:rPr>
              <a:t>$</a:t>
            </a:r>
            <a:r>
              <a:rPr sz="1400" b="1" spc="-10" dirty="0"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kubectl</a:t>
            </a:r>
            <a:r>
              <a:rPr sz="1400" b="1" spc="-10" dirty="0">
                <a:latin typeface="Courier New"/>
                <a:cs typeface="Courier New"/>
              </a:rPr>
              <a:t> api-versions </a:t>
            </a:r>
            <a:r>
              <a:rPr sz="1400" spc="-10" dirty="0">
                <a:latin typeface="Courier New"/>
                <a:cs typeface="Courier New"/>
              </a:rPr>
              <a:t>admissionregistration.k8s.io/v1 apiextensions.k8s.io/v1 apiregistration.k8s.io/v1 apps/v1 authentication.k8s.io/v1 authorization.k8s.io/v1 autoscaling/v1</a:t>
            </a:r>
            <a:endParaRPr sz="1400">
              <a:latin typeface="Courier New"/>
              <a:cs typeface="Courier New"/>
            </a:endParaRPr>
          </a:p>
          <a:p>
            <a:pPr marL="208279">
              <a:lnSpc>
                <a:spcPts val="1585"/>
              </a:lnSpc>
            </a:pPr>
            <a:r>
              <a:rPr sz="1400" spc="-10" dirty="0">
                <a:latin typeface="Courier New"/>
                <a:cs typeface="Courier New"/>
              </a:rPr>
              <a:t>autoscaling/v2</a:t>
            </a:r>
            <a:endParaRPr sz="1400">
              <a:latin typeface="Courier New"/>
              <a:cs typeface="Courier New"/>
            </a:endParaRPr>
          </a:p>
          <a:p>
            <a:pPr marL="208279">
              <a:lnSpc>
                <a:spcPts val="1664"/>
              </a:lnSpc>
            </a:pPr>
            <a:r>
              <a:rPr sz="1400" spc="-25" dirty="0">
                <a:latin typeface="Courier New"/>
                <a:cs typeface="Courier New"/>
              </a:rPr>
              <a:t>...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213</a:t>
            </a:fld>
            <a:endParaRPr spc="-25" dirty="0"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API VERSIONS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API Deprecations &amp; kubectl explain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API Deprecations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The Kubernetes API evolves — old versions are deprecated and removed. CKAD tests kubectl explain, api-resources and api-versions. You must find the correct apiVersion for any resource on exam day using only kubectl.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List resources and versions, explore schemas with explain, detect a removed API, and look up the current version.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api-resources · k explain · Pod/Service/ConfigMap/Secret/SA/Quota/LimitRange -&gt; · » `kubectl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API Deprecations &amp; kubectl explain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List resources, groups and served versions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api-resources --api-group=apps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api-resources --api-group=batch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api-versions | sort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Explore a schema with explain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explain deployment.spec.strategy.rollingUpdate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explain pod.spec.containers.resources --recursive | head -30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Detect a removed API and find the replacement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extensions/v1beta1 Ingress was removed in 1.22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explain ingress --api-version=networking.k8s.io/v1 | head -10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api-resources | grep -i ingress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API Deprecations &amp; kubectl explain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Stable apiVersions to memorise (v1.35)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27101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271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Pod/Service/ConfigMap/Secret/SA/Quota/LimitRange  -&gt; 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Deployment/StatefulSet/DaemonSet/ReplicaSet        -&gt; apps/v1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Job/CronJob                                        -&gt; batch/v1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Ingress/NetworkPolicy                              -&gt; networking.k8s.io/v1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Role/RoleBinding/ClusterRole(+Binding)             -&gt; rbac.authorization.k8s.io/v1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HorizontalPodAutoscaler                            -&gt; autoscaling/v2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29584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kubectl api-resources shows the correct apiVersion in its APIVERSION column — the exam-legal way to look it up. kubectl explain &lt;res&gt;.&lt;field&gt; documents fields without leaving the terminal.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API Deprecations &amp; kubectl explain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api-resources | grep -i ingress shows networking.k8s.io/v1, and k explain deployment.spec.strategy.rollingUpdate prints the maxSurge/maxUnavailable fields.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1 hour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Configuration &amp;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ConfigMaps · Secrets · securityContext · ServiceAccounts · RBAC · quotas (25%)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ConfigMaps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Inject non-secret configuration into Pods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EXTERNAL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Decouple Config from Image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ConfigMap holds non-secret key/value data; create it with --from-literal, --from-file or --from-env-file.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Inject one key with configMapKeyRef, all keys with envFrom, or mount it as a file volume.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Volume-mounted ConfigMaps update live (~60s); env-var injections are fixed at Pod startup.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Keep config out of the image so the same image runs in every environment.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14" dirty="0"/>
              <a:t>Consuming</a:t>
            </a:r>
            <a:r>
              <a:rPr spc="-80" dirty="0"/>
              <a:t> </a:t>
            </a:r>
            <a:r>
              <a:rPr spc="95" dirty="0"/>
              <a:t>Configuration</a:t>
            </a:r>
            <a:r>
              <a:rPr spc="-80" dirty="0"/>
              <a:t> </a:t>
            </a:r>
            <a:r>
              <a:rPr spc="145" dirty="0"/>
              <a:t>Data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Applicable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/>
                <a:cs typeface="Arial"/>
              </a:rPr>
              <a:t>ConfigMap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65" dirty="0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55" dirty="0">
                <a:solidFill>
                  <a:srgbClr val="666666"/>
                </a:solidFill>
                <a:latin typeface="Arial"/>
                <a:cs typeface="Arial"/>
              </a:rPr>
              <a:t>Secret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6983" y="2076567"/>
            <a:ext cx="6314107" cy="42792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317</a:t>
            </a:fld>
            <a:endParaRPr spc="-25" dirty="0"/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14" dirty="0"/>
              <a:t>Consuming</a:t>
            </a:r>
            <a:r>
              <a:rPr spc="-100" dirty="0"/>
              <a:t> </a:t>
            </a:r>
            <a:r>
              <a:rPr spc="280" dirty="0"/>
              <a:t>a</a:t>
            </a:r>
            <a:r>
              <a:rPr spc="-95" dirty="0"/>
              <a:t> </a:t>
            </a:r>
            <a:r>
              <a:rPr spc="110" dirty="0"/>
              <a:t>ConfigMap</a:t>
            </a:r>
            <a:r>
              <a:rPr spc="-95" dirty="0"/>
              <a:t> </a:t>
            </a:r>
            <a:r>
              <a:rPr spc="120" dirty="0"/>
              <a:t>as</a:t>
            </a:r>
            <a:r>
              <a:rPr spc="-95" dirty="0"/>
              <a:t> </a:t>
            </a:r>
            <a:r>
              <a:rPr spc="80" dirty="0"/>
              <a:t>Environment</a:t>
            </a:r>
            <a:r>
              <a:rPr spc="-95" dirty="0"/>
              <a:t> </a:t>
            </a:r>
            <a:r>
              <a:rPr spc="95" dirty="0"/>
              <a:t>Variables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Controlling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/>
                <a:cs typeface="Arial"/>
              </a:rPr>
              <a:t>runtime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behavior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with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help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of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simple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values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5157" y="1890741"/>
            <a:ext cx="5392420" cy="3794760"/>
            <a:chOff x="645157" y="1890741"/>
            <a:chExt cx="5392420" cy="379476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157" y="1890741"/>
              <a:ext cx="5391600" cy="3794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16599" y="1955165"/>
              <a:ext cx="5240020" cy="3642360"/>
            </a:xfrm>
            <a:custGeom>
              <a:avLst/>
              <a:gdLst/>
              <a:ahLst/>
              <a:cxnLst/>
              <a:rect l="l" t="t" r="r" b="b"/>
              <a:pathLst>
                <a:path w="3930015" h="2731770">
                  <a:moveTo>
                    <a:pt x="3929399" y="2731199"/>
                  </a:moveTo>
                  <a:lnTo>
                    <a:pt x="0" y="2731199"/>
                  </a:lnTo>
                  <a:lnTo>
                    <a:pt x="0" y="0"/>
                  </a:lnTo>
                  <a:lnTo>
                    <a:pt x="3929399" y="0"/>
                  </a:lnTo>
                  <a:lnTo>
                    <a:pt x="3929399" y="2731199"/>
                  </a:lnTo>
                  <a:close/>
                </a:path>
              </a:pathLst>
            </a:custGeom>
            <a:solidFill>
              <a:srgbClr val="F6F6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48565" y="2152551"/>
            <a:ext cx="4727787" cy="311234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2032000">
              <a:lnSpc>
                <a:spcPts val="1650"/>
              </a:lnSpc>
              <a:spcBef>
                <a:spcPts val="180"/>
              </a:spcBef>
            </a:pP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apiVersion:</a:t>
            </a:r>
            <a:r>
              <a:rPr sz="1400" b="1" spc="-5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spc="-25" dirty="0">
                <a:latin typeface="Courier New"/>
                <a:cs typeface="Courier New"/>
              </a:rPr>
              <a:t>v1 </a:t>
            </a: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kind:</a:t>
            </a:r>
            <a:r>
              <a:rPr sz="1400" b="1" spc="-2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spc="-25" dirty="0">
                <a:latin typeface="Courier New"/>
                <a:cs typeface="Courier New"/>
              </a:rPr>
              <a:t>Pod </a:t>
            </a:r>
            <a:r>
              <a:rPr sz="1400" b="1" spc="-10" dirty="0">
                <a:solidFill>
                  <a:srgbClr val="4618A2"/>
                </a:solidFill>
                <a:latin typeface="Courier New"/>
                <a:cs typeface="Courier New"/>
              </a:rPr>
              <a:t>metadata:</a:t>
            </a:r>
            <a:endParaRPr sz="1400">
              <a:latin typeface="Courier New"/>
              <a:cs typeface="Courier New"/>
            </a:endParaRPr>
          </a:p>
          <a:p>
            <a:pPr marL="226060">
              <a:lnSpc>
                <a:spcPts val="1585"/>
              </a:lnSpc>
            </a:pP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name:</a:t>
            </a:r>
            <a:r>
              <a:rPr sz="1400" b="1" spc="-2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backend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650"/>
              </a:lnSpc>
            </a:pPr>
            <a:r>
              <a:rPr sz="1400" b="1" spc="-10" dirty="0">
                <a:solidFill>
                  <a:srgbClr val="4618A2"/>
                </a:solidFill>
                <a:latin typeface="Courier New"/>
                <a:cs typeface="Courier New"/>
              </a:rPr>
              <a:t>spec:</a:t>
            </a:r>
            <a:endParaRPr sz="1400">
              <a:latin typeface="Courier New"/>
              <a:cs typeface="Courier New"/>
            </a:endParaRPr>
          </a:p>
          <a:p>
            <a:pPr marL="226060">
              <a:lnSpc>
                <a:spcPts val="1650"/>
              </a:lnSpc>
            </a:pPr>
            <a:r>
              <a:rPr sz="1400" b="1" spc="-10" dirty="0">
                <a:solidFill>
                  <a:srgbClr val="4618A2"/>
                </a:solidFill>
                <a:latin typeface="Courier New"/>
                <a:cs typeface="Courier New"/>
              </a:rPr>
              <a:t>containers:</a:t>
            </a:r>
            <a:endParaRPr sz="1400">
              <a:latin typeface="Courier New"/>
              <a:cs typeface="Courier New"/>
            </a:endParaRPr>
          </a:p>
          <a:p>
            <a:pPr marL="226060">
              <a:lnSpc>
                <a:spcPts val="1650"/>
              </a:lnSpc>
            </a:pP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-</a:t>
            </a:r>
            <a:r>
              <a:rPr sz="1400" b="1" spc="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image:</a:t>
            </a:r>
            <a:r>
              <a:rPr sz="1400" b="1" spc="1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bmuschko/web-app:1.0.1</a:t>
            </a:r>
            <a:endParaRPr sz="1400">
              <a:latin typeface="Courier New"/>
              <a:cs typeface="Courier New"/>
            </a:endParaRPr>
          </a:p>
          <a:p>
            <a:pPr marL="439420">
              <a:lnSpc>
                <a:spcPts val="1650"/>
              </a:lnSpc>
            </a:pP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name:</a:t>
            </a:r>
            <a:r>
              <a:rPr sz="1400" b="1" spc="-2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backend</a:t>
            </a:r>
            <a:endParaRPr sz="1400">
              <a:latin typeface="Courier New"/>
              <a:cs typeface="Courier New"/>
            </a:endParaRPr>
          </a:p>
          <a:p>
            <a:pPr marL="439420">
              <a:lnSpc>
                <a:spcPts val="1650"/>
              </a:lnSpc>
            </a:pPr>
            <a:r>
              <a:rPr sz="1400" b="1" spc="-10" dirty="0">
                <a:solidFill>
                  <a:srgbClr val="4618A2"/>
                </a:solidFill>
                <a:latin typeface="Courier New"/>
                <a:cs typeface="Courier New"/>
              </a:rPr>
              <a:t>envFrom:</a:t>
            </a:r>
            <a:endParaRPr sz="1400">
              <a:latin typeface="Courier New"/>
              <a:cs typeface="Courier New"/>
            </a:endParaRPr>
          </a:p>
          <a:p>
            <a:pPr marL="866140" marR="1071880" indent="-426720">
              <a:lnSpc>
                <a:spcPts val="1650"/>
              </a:lnSpc>
              <a:spcBef>
                <a:spcPts val="65"/>
              </a:spcBef>
            </a:pP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-</a:t>
            </a:r>
            <a:r>
              <a:rPr sz="1400" b="1" spc="-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4618A2"/>
                </a:solidFill>
                <a:latin typeface="Courier New"/>
                <a:cs typeface="Courier New"/>
              </a:rPr>
              <a:t>configMapRef: </a:t>
            </a: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name:</a:t>
            </a:r>
            <a:r>
              <a:rPr sz="1400" b="1" spc="-10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db-config</a:t>
            </a:r>
            <a:endParaRPr sz="1400">
              <a:latin typeface="Courier New"/>
              <a:cs typeface="Courier New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88157" y="1890741"/>
            <a:ext cx="5075200" cy="14404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759599" y="1955167"/>
            <a:ext cx="4923367" cy="1288625"/>
          </a:xfrm>
          <a:prstGeom prst="rect">
            <a:avLst/>
          </a:prstGeom>
          <a:solidFill>
            <a:srgbClr val="F6F6F7"/>
          </a:solidFill>
        </p:spPr>
        <p:txBody>
          <a:bodyPr vert="horz" wrap="square" lIns="0" tIns="124460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980"/>
              </a:spcBef>
            </a:pPr>
            <a:r>
              <a:rPr sz="1300" b="1" dirty="0">
                <a:latin typeface="Courier New"/>
                <a:cs typeface="Courier New"/>
              </a:rPr>
              <a:t>$</a:t>
            </a:r>
            <a:r>
              <a:rPr sz="1300" b="1" spc="-30" dirty="0">
                <a:latin typeface="Courier New"/>
                <a:cs typeface="Courier New"/>
              </a:rPr>
              <a:t> </a:t>
            </a:r>
            <a:r>
              <a:rPr sz="1300" b="1" dirty="0">
                <a:latin typeface="Courier New"/>
                <a:cs typeface="Courier New"/>
              </a:rPr>
              <a:t>kubectl</a:t>
            </a:r>
            <a:r>
              <a:rPr sz="1300" b="1" spc="-15" dirty="0">
                <a:latin typeface="Courier New"/>
                <a:cs typeface="Courier New"/>
              </a:rPr>
              <a:t> </a:t>
            </a:r>
            <a:r>
              <a:rPr sz="1300" b="1" dirty="0">
                <a:latin typeface="Courier New"/>
                <a:cs typeface="Courier New"/>
              </a:rPr>
              <a:t>exec</a:t>
            </a:r>
            <a:r>
              <a:rPr sz="1300" b="1" spc="-15" dirty="0">
                <a:latin typeface="Courier New"/>
                <a:cs typeface="Courier New"/>
              </a:rPr>
              <a:t> </a:t>
            </a:r>
            <a:r>
              <a:rPr sz="1300" b="1" spc="-10" dirty="0">
                <a:latin typeface="Courier New"/>
                <a:cs typeface="Courier New"/>
              </a:rPr>
              <a:t>-</a:t>
            </a:r>
            <a:r>
              <a:rPr sz="1300" b="1" dirty="0">
                <a:latin typeface="Courier New"/>
                <a:cs typeface="Courier New"/>
              </a:rPr>
              <a:t>it</a:t>
            </a:r>
            <a:r>
              <a:rPr sz="1300" b="1" spc="-20" dirty="0">
                <a:latin typeface="Courier New"/>
                <a:cs typeface="Courier New"/>
              </a:rPr>
              <a:t> </a:t>
            </a:r>
            <a:r>
              <a:rPr sz="1300" b="1" dirty="0">
                <a:latin typeface="Courier New"/>
                <a:cs typeface="Courier New"/>
              </a:rPr>
              <a:t>backend</a:t>
            </a:r>
            <a:r>
              <a:rPr sz="1300" b="1" spc="-15" dirty="0">
                <a:latin typeface="Courier New"/>
                <a:cs typeface="Courier New"/>
              </a:rPr>
              <a:t> </a:t>
            </a:r>
            <a:r>
              <a:rPr sz="1300" b="1" spc="-10" dirty="0">
                <a:latin typeface="Courier New"/>
                <a:cs typeface="Courier New"/>
              </a:rPr>
              <a:t>-</a:t>
            </a:r>
            <a:r>
              <a:rPr sz="1300" b="1" dirty="0">
                <a:latin typeface="Courier New"/>
                <a:cs typeface="Courier New"/>
              </a:rPr>
              <a:t>-</a:t>
            </a:r>
            <a:r>
              <a:rPr sz="1300" b="1" spc="-15" dirty="0">
                <a:latin typeface="Courier New"/>
                <a:cs typeface="Courier New"/>
              </a:rPr>
              <a:t> </a:t>
            </a:r>
            <a:r>
              <a:rPr sz="1300" b="1" spc="-25" dirty="0">
                <a:latin typeface="Courier New"/>
                <a:cs typeface="Courier New"/>
              </a:rPr>
              <a:t>env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48200" y="2401332"/>
            <a:ext cx="3000587" cy="597745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5725">
              <a:lnSpc>
                <a:spcPts val="1480"/>
              </a:lnSpc>
            </a:pPr>
            <a:r>
              <a:rPr sz="1300" spc="-10" dirty="0">
                <a:latin typeface="Courier New"/>
                <a:cs typeface="Courier New"/>
              </a:rPr>
              <a:t>DB_HOST=mysql-service</a:t>
            </a:r>
            <a:endParaRPr sz="1300">
              <a:latin typeface="Courier New"/>
              <a:cs typeface="Courier New"/>
            </a:endParaRPr>
          </a:p>
          <a:p>
            <a:pPr marL="85725">
              <a:lnSpc>
                <a:spcPct val="100000"/>
              </a:lnSpc>
              <a:spcBef>
                <a:spcPts val="15"/>
              </a:spcBef>
            </a:pPr>
            <a:r>
              <a:rPr sz="1300" spc="-10" dirty="0">
                <a:latin typeface="Courier New"/>
                <a:cs typeface="Courier New"/>
              </a:rPr>
              <a:t>DB_USER=backend</a:t>
            </a:r>
            <a:endParaRPr sz="13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413100" y="3215563"/>
            <a:ext cx="6822440" cy="2150533"/>
            <a:chOff x="1413100" y="3215563"/>
            <a:chExt cx="6822440" cy="2150533"/>
          </a:xfrm>
        </p:grpSpPr>
        <p:sp>
          <p:nvSpPr>
            <p:cNvPr id="11" name="object 11"/>
            <p:cNvSpPr/>
            <p:nvPr/>
          </p:nvSpPr>
          <p:spPr>
            <a:xfrm>
              <a:off x="4592500" y="3343521"/>
              <a:ext cx="3588173" cy="1803400"/>
            </a:xfrm>
            <a:custGeom>
              <a:avLst/>
              <a:gdLst/>
              <a:ahLst/>
              <a:cxnLst/>
              <a:rect l="l" t="t" r="r" b="b"/>
              <a:pathLst>
                <a:path w="2691129" h="1352550">
                  <a:moveTo>
                    <a:pt x="0" y="1352408"/>
                  </a:moveTo>
                  <a:lnTo>
                    <a:pt x="2691126" y="1352408"/>
                  </a:lnTo>
                  <a:lnTo>
                    <a:pt x="2691126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26017" y="3215563"/>
              <a:ext cx="109301" cy="14116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25800" y="4405039"/>
              <a:ext cx="2902373" cy="948267"/>
            </a:xfrm>
            <a:custGeom>
              <a:avLst/>
              <a:gdLst/>
              <a:ahLst/>
              <a:cxnLst/>
              <a:rect l="l" t="t" r="r" b="b"/>
              <a:pathLst>
                <a:path w="2176780" h="711200">
                  <a:moveTo>
                    <a:pt x="0" y="0"/>
                  </a:moveTo>
                  <a:lnTo>
                    <a:pt x="2176499" y="0"/>
                  </a:lnTo>
                  <a:lnTo>
                    <a:pt x="2176499" y="710699"/>
                  </a:lnTo>
                  <a:lnTo>
                    <a:pt x="0" y="7106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322</a:t>
            </a:fld>
            <a:endParaRPr spc="-25" dirty="0"/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CONFIGMAPS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ConfigMaps — Env &amp; Volume Injection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ConfigMaps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ConfigMaps inject non-secret configuration into Pods. CKAD tests all three injection styles: a single env var (configMapKeyRef), bulk env vars (envFrom), and file-based volume mounts — and that only file mounts update live.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ConfigMaps three ways, inject one key, inject all keys with envFrom, mount as files, then update live.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create · env: · envFrom: · volumeMounts: · » Creation: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ConfigMaps — Env &amp; Volume Injection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Create ConfigMaps three ways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configmap app-cfg --from-literal=COLOR=blue --from-literal=GREETING=hello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configmap app-conf --from-file=app.conf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configmap app-env  --from-env-file=env.list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Inject a single key as an env var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env: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COLOR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valueFrom: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configMapKeyRef: {name: app-cfg, key: COLOR}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3026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Inject all keys with envFrom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1431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81431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878324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envFrom: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configMapRef: {name: app-cfg}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configMapRef: {name: app-env}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ConfigMaps — Env &amp; Volume Injection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Mount a ConfigMap as a file volume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volumeMounts: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{name: cfg, mountPath: /etc/app}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volumes: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cfg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configMap: {name: app-conf}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Creation: --from-literal, --from-file, --from-env-file. Consumption: configMapKeyRef (one key), envFrom (all keys), volume mount (file per key). Volume-mounted ConfigMaps update live (~60s); env-var injections are fixed at Pod startup and need a restart.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ConfigMaps — Env &amp; Volume Injection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single-key Pod logs COLOR=blue, the envFrom Pod shows all four variables, and the mounted ConfigMap appears as files under /etc/app.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Secrets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Sensitive configuration, guarded by RBAC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SENSITIVE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Secrets vs ConfigMaps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Secrets work like ConfigMaps but values are base64-encoded and access is more tightly controlled.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Types: generic, tls (kubernetes.io/tls) and docker-registry (for imagePullSecrets).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Inject with envFrom: secretRef (all keys) or secretKeyRef (one key); mount with defaultMode: 0400.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Base64 is not encryption — restrict access with RBAC and enable encryption at rest.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14" dirty="0"/>
              <a:t>Consuming</a:t>
            </a:r>
            <a:r>
              <a:rPr spc="-95" dirty="0"/>
              <a:t> </a:t>
            </a:r>
            <a:r>
              <a:rPr spc="280" dirty="0"/>
              <a:t>a</a:t>
            </a:r>
            <a:r>
              <a:rPr spc="-95" dirty="0"/>
              <a:t> </a:t>
            </a:r>
            <a:r>
              <a:rPr spc="60" dirty="0"/>
              <a:t>Secret</a:t>
            </a:r>
            <a:r>
              <a:rPr spc="-95" dirty="0"/>
              <a:t> </a:t>
            </a:r>
            <a:r>
              <a:rPr spc="120" dirty="0"/>
              <a:t>as</a:t>
            </a:r>
            <a:r>
              <a:rPr spc="-95" dirty="0"/>
              <a:t> </a:t>
            </a:r>
            <a:r>
              <a:rPr spc="80" dirty="0"/>
              <a:t>Environment</a:t>
            </a:r>
            <a:r>
              <a:rPr spc="-95" dirty="0"/>
              <a:t> </a:t>
            </a:r>
            <a:r>
              <a:rPr spc="95" dirty="0"/>
              <a:t>Variables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Accessed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5" dirty="0">
                <a:solidFill>
                  <a:srgbClr val="666666"/>
                </a:solidFill>
                <a:latin typeface="Arial"/>
                <a:cs typeface="Arial"/>
              </a:rPr>
              <a:t>values</a:t>
            </a:r>
            <a:r>
              <a:rPr sz="1600" b="0" spc="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are</a:t>
            </a:r>
            <a:r>
              <a:rPr sz="1600" b="0" spc="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45" dirty="0">
                <a:solidFill>
                  <a:srgbClr val="666666"/>
                </a:solidFill>
                <a:latin typeface="Arial"/>
                <a:cs typeface="Arial"/>
              </a:rPr>
              <a:t>base64-decoded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5157" y="1890741"/>
            <a:ext cx="5392420" cy="3794760"/>
            <a:chOff x="645157" y="1890741"/>
            <a:chExt cx="5392420" cy="379476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157" y="1890741"/>
              <a:ext cx="5391600" cy="3794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16599" y="1955165"/>
              <a:ext cx="5240020" cy="3642360"/>
            </a:xfrm>
            <a:custGeom>
              <a:avLst/>
              <a:gdLst/>
              <a:ahLst/>
              <a:cxnLst/>
              <a:rect l="l" t="t" r="r" b="b"/>
              <a:pathLst>
                <a:path w="3930015" h="2731770">
                  <a:moveTo>
                    <a:pt x="3929399" y="2731199"/>
                  </a:moveTo>
                  <a:lnTo>
                    <a:pt x="0" y="2731199"/>
                  </a:lnTo>
                  <a:lnTo>
                    <a:pt x="0" y="0"/>
                  </a:lnTo>
                  <a:lnTo>
                    <a:pt x="3929399" y="0"/>
                  </a:lnTo>
                  <a:lnTo>
                    <a:pt x="3929399" y="2731199"/>
                  </a:lnTo>
                  <a:close/>
                </a:path>
              </a:pathLst>
            </a:custGeom>
            <a:solidFill>
              <a:srgbClr val="F6F6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48565" y="2152551"/>
            <a:ext cx="4727787" cy="227414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2032000">
              <a:lnSpc>
                <a:spcPts val="1650"/>
              </a:lnSpc>
              <a:spcBef>
                <a:spcPts val="180"/>
              </a:spcBef>
            </a:pP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apiVersion:</a:t>
            </a:r>
            <a:r>
              <a:rPr sz="1400" b="1" spc="-5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spc="-25" dirty="0">
                <a:latin typeface="Courier New"/>
                <a:cs typeface="Courier New"/>
              </a:rPr>
              <a:t>v1 </a:t>
            </a: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kind:</a:t>
            </a:r>
            <a:r>
              <a:rPr sz="1400" b="1" spc="-2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spc="-25" dirty="0">
                <a:latin typeface="Courier New"/>
                <a:cs typeface="Courier New"/>
              </a:rPr>
              <a:t>Pod </a:t>
            </a:r>
            <a:r>
              <a:rPr sz="1400" b="1" spc="-10" dirty="0">
                <a:solidFill>
                  <a:srgbClr val="4618A2"/>
                </a:solidFill>
                <a:latin typeface="Courier New"/>
                <a:cs typeface="Courier New"/>
              </a:rPr>
              <a:t>metadata:</a:t>
            </a:r>
            <a:endParaRPr sz="1400">
              <a:latin typeface="Courier New"/>
              <a:cs typeface="Courier New"/>
            </a:endParaRPr>
          </a:p>
          <a:p>
            <a:pPr marL="226060">
              <a:lnSpc>
                <a:spcPts val="1585"/>
              </a:lnSpc>
            </a:pP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name:</a:t>
            </a:r>
            <a:r>
              <a:rPr sz="1400" b="1" spc="-2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backend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650"/>
              </a:lnSpc>
            </a:pPr>
            <a:r>
              <a:rPr sz="1400" b="1" spc="-10" dirty="0">
                <a:solidFill>
                  <a:srgbClr val="4618A2"/>
                </a:solidFill>
                <a:latin typeface="Courier New"/>
                <a:cs typeface="Courier New"/>
              </a:rPr>
              <a:t>spec:</a:t>
            </a:r>
            <a:endParaRPr sz="1400">
              <a:latin typeface="Courier New"/>
              <a:cs typeface="Courier New"/>
            </a:endParaRPr>
          </a:p>
          <a:p>
            <a:pPr marL="226060">
              <a:lnSpc>
                <a:spcPts val="1650"/>
              </a:lnSpc>
            </a:pPr>
            <a:r>
              <a:rPr sz="1400" b="1" spc="-10" dirty="0">
                <a:solidFill>
                  <a:srgbClr val="4618A2"/>
                </a:solidFill>
                <a:latin typeface="Courier New"/>
                <a:cs typeface="Courier New"/>
              </a:rPr>
              <a:t>containers:</a:t>
            </a:r>
            <a:endParaRPr sz="1400">
              <a:latin typeface="Courier New"/>
              <a:cs typeface="Courier New"/>
            </a:endParaRPr>
          </a:p>
          <a:p>
            <a:pPr marL="226060">
              <a:lnSpc>
                <a:spcPts val="1650"/>
              </a:lnSpc>
            </a:pP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-</a:t>
            </a:r>
            <a:r>
              <a:rPr sz="1400" b="1" spc="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image:</a:t>
            </a:r>
            <a:r>
              <a:rPr sz="1400" b="1" spc="1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bmuschko/web-app:1.0.1</a:t>
            </a:r>
            <a:endParaRPr sz="1400">
              <a:latin typeface="Courier New"/>
              <a:cs typeface="Courier New"/>
            </a:endParaRPr>
          </a:p>
          <a:p>
            <a:pPr marL="439420">
              <a:lnSpc>
                <a:spcPts val="1664"/>
              </a:lnSpc>
            </a:pP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name:</a:t>
            </a:r>
            <a:r>
              <a:rPr sz="1400" b="1" spc="-2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backend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17527" y="4387751"/>
            <a:ext cx="2594185" cy="8771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00"/>
              </a:spcBef>
            </a:pPr>
            <a:r>
              <a:rPr sz="1400" b="1" spc="-10" dirty="0">
                <a:solidFill>
                  <a:srgbClr val="4618A2"/>
                </a:solidFill>
                <a:latin typeface="Courier New"/>
                <a:cs typeface="Courier New"/>
              </a:rPr>
              <a:t>envFrom: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650"/>
              </a:lnSpc>
            </a:pP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-</a:t>
            </a:r>
            <a:r>
              <a:rPr sz="1400" b="1" spc="-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4618A2"/>
                </a:solidFill>
                <a:latin typeface="Courier New"/>
                <a:cs typeface="Courier New"/>
              </a:rPr>
              <a:t>secretRef:</a:t>
            </a:r>
            <a:endParaRPr sz="1400">
              <a:latin typeface="Courier New"/>
              <a:cs typeface="Courier New"/>
            </a:endParaRPr>
          </a:p>
          <a:p>
            <a:pPr marL="439420">
              <a:lnSpc>
                <a:spcPts val="1664"/>
              </a:lnSpc>
            </a:pP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name:</a:t>
            </a:r>
            <a:r>
              <a:rPr sz="1400" b="1" spc="-2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mysecret</a:t>
            </a:r>
            <a:endParaRPr sz="1400">
              <a:latin typeface="Courier New"/>
              <a:cs typeface="Courier New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88157" y="1890741"/>
            <a:ext cx="5064800" cy="11500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759599" y="1955167"/>
            <a:ext cx="4913205" cy="998220"/>
          </a:xfrm>
          <a:prstGeom prst="rect">
            <a:avLst/>
          </a:prstGeom>
          <a:solidFill>
            <a:srgbClr val="F6F6F7"/>
          </a:solidFill>
        </p:spPr>
        <p:txBody>
          <a:bodyPr vert="horz" wrap="square" lIns="0" tIns="124460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980"/>
              </a:spcBef>
            </a:pPr>
            <a:r>
              <a:rPr sz="1300" b="1" dirty="0">
                <a:latin typeface="Courier New"/>
                <a:cs typeface="Courier New"/>
              </a:rPr>
              <a:t>$</a:t>
            </a:r>
            <a:r>
              <a:rPr sz="1300" b="1" spc="-30" dirty="0">
                <a:latin typeface="Courier New"/>
                <a:cs typeface="Courier New"/>
              </a:rPr>
              <a:t> </a:t>
            </a:r>
            <a:r>
              <a:rPr sz="1300" b="1" dirty="0">
                <a:latin typeface="Courier New"/>
                <a:cs typeface="Courier New"/>
              </a:rPr>
              <a:t>kubectl</a:t>
            </a:r>
            <a:r>
              <a:rPr sz="1300" b="1" spc="-15" dirty="0">
                <a:latin typeface="Courier New"/>
                <a:cs typeface="Courier New"/>
              </a:rPr>
              <a:t> </a:t>
            </a:r>
            <a:r>
              <a:rPr sz="1300" b="1" dirty="0">
                <a:latin typeface="Courier New"/>
                <a:cs typeface="Courier New"/>
              </a:rPr>
              <a:t>exec</a:t>
            </a:r>
            <a:r>
              <a:rPr sz="1300" b="1" spc="-15" dirty="0">
                <a:latin typeface="Courier New"/>
                <a:cs typeface="Courier New"/>
              </a:rPr>
              <a:t> </a:t>
            </a:r>
            <a:r>
              <a:rPr sz="1300" b="1" spc="-10" dirty="0">
                <a:latin typeface="Courier New"/>
                <a:cs typeface="Courier New"/>
              </a:rPr>
              <a:t>-</a:t>
            </a:r>
            <a:r>
              <a:rPr sz="1300" b="1" dirty="0">
                <a:latin typeface="Courier New"/>
                <a:cs typeface="Courier New"/>
              </a:rPr>
              <a:t>it</a:t>
            </a:r>
            <a:r>
              <a:rPr sz="1300" b="1" spc="-20" dirty="0">
                <a:latin typeface="Courier New"/>
                <a:cs typeface="Courier New"/>
              </a:rPr>
              <a:t> </a:t>
            </a:r>
            <a:r>
              <a:rPr sz="1300" b="1" dirty="0">
                <a:latin typeface="Courier New"/>
                <a:cs typeface="Courier New"/>
              </a:rPr>
              <a:t>backend</a:t>
            </a:r>
            <a:r>
              <a:rPr sz="1300" b="1" spc="-15" dirty="0">
                <a:latin typeface="Courier New"/>
                <a:cs typeface="Courier New"/>
              </a:rPr>
              <a:t> </a:t>
            </a:r>
            <a:r>
              <a:rPr sz="1300" b="1" spc="-10" dirty="0">
                <a:latin typeface="Courier New"/>
                <a:cs typeface="Courier New"/>
              </a:rPr>
              <a:t>-</a:t>
            </a:r>
            <a:r>
              <a:rPr sz="1300" b="1" dirty="0">
                <a:latin typeface="Courier New"/>
                <a:cs typeface="Courier New"/>
              </a:rPr>
              <a:t>-</a:t>
            </a:r>
            <a:r>
              <a:rPr sz="1300" b="1" spc="-15" dirty="0">
                <a:latin typeface="Courier New"/>
                <a:cs typeface="Courier New"/>
              </a:rPr>
              <a:t> </a:t>
            </a:r>
            <a:r>
              <a:rPr sz="1300" b="1" spc="-25" dirty="0">
                <a:latin typeface="Courier New"/>
                <a:cs typeface="Courier New"/>
              </a:rPr>
              <a:t>env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94100" y="2432991"/>
            <a:ext cx="1452880" cy="284480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0800">
              <a:lnSpc>
                <a:spcPts val="1295"/>
              </a:lnSpc>
            </a:pPr>
            <a:r>
              <a:rPr sz="1300" spc="-10" dirty="0">
                <a:latin typeface="Courier New"/>
                <a:cs typeface="Courier New"/>
              </a:rPr>
              <a:t>pwd=s3cre!</a:t>
            </a:r>
            <a:endParaRPr sz="1300"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413267" y="3215563"/>
            <a:ext cx="6588760" cy="2181013"/>
            <a:chOff x="1413267" y="3215563"/>
            <a:chExt cx="6588760" cy="2181013"/>
          </a:xfrm>
        </p:grpSpPr>
        <p:sp>
          <p:nvSpPr>
            <p:cNvPr id="12" name="object 12"/>
            <p:cNvSpPr/>
            <p:nvPr/>
          </p:nvSpPr>
          <p:spPr>
            <a:xfrm>
              <a:off x="4359033" y="3343521"/>
              <a:ext cx="3588173" cy="1803400"/>
            </a:xfrm>
            <a:custGeom>
              <a:avLst/>
              <a:gdLst/>
              <a:ahLst/>
              <a:cxnLst/>
              <a:rect l="l" t="t" r="r" b="b"/>
              <a:pathLst>
                <a:path w="2691129" h="1352550">
                  <a:moveTo>
                    <a:pt x="0" y="1352408"/>
                  </a:moveTo>
                  <a:lnTo>
                    <a:pt x="2691126" y="1352408"/>
                  </a:lnTo>
                  <a:lnTo>
                    <a:pt x="2691126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92551" y="3215563"/>
              <a:ext cx="109301" cy="14116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425967" y="4435565"/>
              <a:ext cx="2786380" cy="948267"/>
            </a:xfrm>
            <a:custGeom>
              <a:avLst/>
              <a:gdLst/>
              <a:ahLst/>
              <a:cxnLst/>
              <a:rect l="l" t="t" r="r" b="b"/>
              <a:pathLst>
                <a:path w="2089785" h="711200">
                  <a:moveTo>
                    <a:pt x="0" y="0"/>
                  </a:moveTo>
                  <a:lnTo>
                    <a:pt x="2089499" y="0"/>
                  </a:lnTo>
                  <a:lnTo>
                    <a:pt x="2089499" y="710699"/>
                  </a:lnTo>
                  <a:lnTo>
                    <a:pt x="0" y="7106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335</a:t>
            </a:fld>
            <a:endParaRPr spc="-25" dirty="0"/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14" dirty="0"/>
              <a:t>Consuming</a:t>
            </a:r>
            <a:r>
              <a:rPr spc="-105" dirty="0"/>
              <a:t> </a:t>
            </a:r>
            <a:r>
              <a:rPr spc="280" dirty="0"/>
              <a:t>a</a:t>
            </a:r>
            <a:r>
              <a:rPr spc="-95" dirty="0"/>
              <a:t> </a:t>
            </a:r>
            <a:r>
              <a:rPr spc="60" dirty="0"/>
              <a:t>Secret</a:t>
            </a:r>
            <a:r>
              <a:rPr spc="-95" dirty="0"/>
              <a:t> </a:t>
            </a:r>
            <a:r>
              <a:rPr spc="120" dirty="0"/>
              <a:t>as</a:t>
            </a:r>
            <a:r>
              <a:rPr spc="-95" dirty="0"/>
              <a:t> </a:t>
            </a:r>
            <a:r>
              <a:rPr spc="280" dirty="0"/>
              <a:t>a</a:t>
            </a:r>
            <a:r>
              <a:rPr spc="-90" dirty="0"/>
              <a:t> </a:t>
            </a:r>
            <a:r>
              <a:rPr spc="114" dirty="0"/>
              <a:t>Volume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A </a:t>
            </a:r>
            <a:r>
              <a:rPr sz="1600" b="0" spc="155" dirty="0">
                <a:solidFill>
                  <a:srgbClr val="666666"/>
                </a:solidFill>
                <a:latin typeface="Arial"/>
                <a:cs typeface="Arial"/>
              </a:rPr>
              <a:t>good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/>
                <a:cs typeface="Arial"/>
              </a:rPr>
              <a:t>choice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for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/>
                <a:cs typeface="Arial"/>
              </a:rPr>
              <a:t>processing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85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55" dirty="0">
                <a:solidFill>
                  <a:srgbClr val="666666"/>
                </a:solidFill>
                <a:latin typeface="Arial"/>
                <a:cs typeface="Arial"/>
              </a:rPr>
              <a:t>machine-</a:t>
            </a:r>
            <a:r>
              <a:rPr sz="1600" b="0" spc="145" dirty="0">
                <a:solidFill>
                  <a:srgbClr val="666666"/>
                </a:solidFill>
                <a:latin typeface="Arial"/>
                <a:cs typeface="Arial"/>
              </a:rPr>
              <a:t>readable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configuration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45" dirty="0">
                <a:solidFill>
                  <a:srgbClr val="666666"/>
                </a:solidFill>
                <a:latin typeface="Arial"/>
                <a:cs typeface="Arial"/>
              </a:rPr>
              <a:t>file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5157" y="1890741"/>
            <a:ext cx="4715933" cy="4213013"/>
            <a:chOff x="645157" y="1890741"/>
            <a:chExt cx="4715933" cy="4213013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157" y="1890741"/>
              <a:ext cx="4715600" cy="42128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16599" y="1955165"/>
              <a:ext cx="4563533" cy="4060613"/>
            </a:xfrm>
            <a:custGeom>
              <a:avLst/>
              <a:gdLst/>
              <a:ahLst/>
              <a:cxnLst/>
              <a:rect l="l" t="t" r="r" b="b"/>
              <a:pathLst>
                <a:path w="3422650" h="3045460">
                  <a:moveTo>
                    <a:pt x="3422399" y="3045299"/>
                  </a:moveTo>
                  <a:lnTo>
                    <a:pt x="0" y="3045299"/>
                  </a:lnTo>
                  <a:lnTo>
                    <a:pt x="0" y="0"/>
                  </a:lnTo>
                  <a:lnTo>
                    <a:pt x="3422399" y="0"/>
                  </a:lnTo>
                  <a:lnTo>
                    <a:pt x="3422399" y="3045299"/>
                  </a:lnTo>
                  <a:close/>
                </a:path>
              </a:pathLst>
            </a:custGeom>
            <a:solidFill>
              <a:srgbClr val="F6F6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1109980">
              <a:lnSpc>
                <a:spcPct val="102299"/>
              </a:lnSpc>
              <a:spcBef>
                <a:spcPts val="70"/>
              </a:spcBef>
            </a:pPr>
            <a:r>
              <a:rPr dirty="0"/>
              <a:t>apiVersion:</a:t>
            </a:r>
            <a:r>
              <a:rPr spc="-130" dirty="0"/>
              <a:t> </a:t>
            </a:r>
            <a:r>
              <a:rPr b="0" spc="-25" dirty="0">
                <a:solidFill>
                  <a:srgbClr val="000000"/>
                </a:solidFill>
                <a:latin typeface="Courier New"/>
                <a:cs typeface="Courier New"/>
              </a:rPr>
              <a:t>v1 </a:t>
            </a:r>
            <a:r>
              <a:rPr dirty="0"/>
              <a:t>kind:</a:t>
            </a:r>
            <a:r>
              <a:rPr spc="-60" dirty="0"/>
              <a:t> </a:t>
            </a:r>
            <a:r>
              <a:rPr b="0" spc="-25" dirty="0">
                <a:solidFill>
                  <a:srgbClr val="000000"/>
                </a:solidFill>
                <a:latin typeface="Courier New"/>
                <a:cs typeface="Courier New"/>
              </a:rPr>
              <a:t>Pod </a:t>
            </a:r>
            <a:r>
              <a:rPr spc="-10" dirty="0"/>
              <a:t>metadata:</a:t>
            </a:r>
          </a:p>
          <a:p>
            <a:pPr marL="184150">
              <a:lnSpc>
                <a:spcPct val="100000"/>
              </a:lnSpc>
              <a:spcBef>
                <a:spcPts val="30"/>
              </a:spcBef>
            </a:pPr>
            <a:r>
              <a:rPr dirty="0"/>
              <a:t>name:</a:t>
            </a:r>
            <a:r>
              <a:rPr spc="-60" dirty="0"/>
              <a:t> </a:t>
            </a:r>
            <a:r>
              <a:rPr b="0" spc="-10" dirty="0">
                <a:solidFill>
                  <a:srgbClr val="000000"/>
                </a:solidFill>
                <a:latin typeface="Courier New"/>
                <a:cs typeface="Courier New"/>
              </a:rPr>
              <a:t>backend</a:t>
            </a: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" dirty="0"/>
              <a:t>spec:</a:t>
            </a:r>
          </a:p>
          <a:p>
            <a:pPr marL="180340">
              <a:lnSpc>
                <a:spcPct val="100000"/>
              </a:lnSpc>
              <a:spcBef>
                <a:spcPts val="30"/>
              </a:spcBef>
            </a:pPr>
            <a:r>
              <a:rPr spc="-10" dirty="0"/>
              <a:t>containers:</a:t>
            </a:r>
          </a:p>
          <a:p>
            <a:pPr marL="527050" indent="-179070">
              <a:lnSpc>
                <a:spcPct val="100000"/>
              </a:lnSpc>
              <a:spcBef>
                <a:spcPts val="30"/>
              </a:spcBef>
              <a:buClr>
                <a:srgbClr val="000000"/>
              </a:buClr>
              <a:buFont typeface="Courier New"/>
              <a:buChar char="-"/>
              <a:tabLst>
                <a:tab pos="527050" algn="l"/>
              </a:tabLst>
            </a:pPr>
            <a:r>
              <a:rPr dirty="0"/>
              <a:t>name:</a:t>
            </a:r>
            <a:r>
              <a:rPr spc="-60" dirty="0"/>
              <a:t> </a:t>
            </a:r>
            <a:r>
              <a:rPr b="0" spc="-10" dirty="0">
                <a:solidFill>
                  <a:srgbClr val="000000"/>
                </a:solidFill>
                <a:latin typeface="Courier New"/>
                <a:cs typeface="Courier New"/>
              </a:rPr>
              <a:t>backend</a:t>
            </a:r>
          </a:p>
          <a:p>
            <a:pPr marL="527050">
              <a:lnSpc>
                <a:spcPct val="100000"/>
              </a:lnSpc>
              <a:spcBef>
                <a:spcPts val="30"/>
              </a:spcBef>
            </a:pPr>
            <a:r>
              <a:rPr spc="-10" dirty="0"/>
              <a:t>image:</a:t>
            </a: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b="0" spc="-20" dirty="0">
                <a:solidFill>
                  <a:srgbClr val="000000"/>
                </a:solidFill>
                <a:latin typeface="Courier New"/>
                <a:cs typeface="Courier New"/>
              </a:rPr>
              <a:t>bmuschko/web-</a:t>
            </a:r>
            <a:r>
              <a:rPr b="0" spc="-10" dirty="0">
                <a:solidFill>
                  <a:srgbClr val="000000"/>
                </a:solidFill>
                <a:latin typeface="Courier New"/>
                <a:cs typeface="Courier New"/>
              </a:rPr>
              <a:t>app:1.0.1</a:t>
            </a:r>
          </a:p>
          <a:p>
            <a:pPr marL="527050">
              <a:lnSpc>
                <a:spcPct val="100000"/>
              </a:lnSpc>
              <a:spcBef>
                <a:spcPts val="30"/>
              </a:spcBef>
            </a:pPr>
            <a:r>
              <a:rPr spc="-10" dirty="0"/>
              <a:t>volumeMounts:</a:t>
            </a:r>
          </a:p>
          <a:p>
            <a:pPr marL="698500" marR="5080" indent="-183515">
              <a:lnSpc>
                <a:spcPct val="102299"/>
              </a:lnSpc>
            </a:pPr>
            <a:r>
              <a:rPr b="0" dirty="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  <a:r>
              <a:rPr b="0" spc="10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/>
              <a:t>name:</a:t>
            </a:r>
            <a:r>
              <a:rPr spc="-20" dirty="0"/>
              <a:t> </a:t>
            </a:r>
            <a:r>
              <a:rPr b="0" spc="-20" dirty="0">
                <a:solidFill>
                  <a:srgbClr val="000000"/>
                </a:solidFill>
                <a:latin typeface="Courier New"/>
                <a:cs typeface="Courier New"/>
              </a:rPr>
              <a:t>ssh-</a:t>
            </a:r>
            <a:r>
              <a:rPr b="0" spc="-10" dirty="0">
                <a:solidFill>
                  <a:srgbClr val="000000"/>
                </a:solidFill>
                <a:latin typeface="Courier New"/>
                <a:cs typeface="Courier New"/>
              </a:rPr>
              <a:t>volume </a:t>
            </a:r>
            <a:r>
              <a:rPr dirty="0"/>
              <a:t>mountPath:</a:t>
            </a:r>
            <a:r>
              <a:rPr spc="-120" dirty="0"/>
              <a:t> </a:t>
            </a:r>
            <a:r>
              <a:rPr b="0" spc="-10" dirty="0">
                <a:solidFill>
                  <a:srgbClr val="000000"/>
                </a:solidFill>
                <a:latin typeface="Courier New"/>
                <a:cs typeface="Courier New"/>
              </a:rPr>
              <a:t>/var/app </a:t>
            </a:r>
            <a:r>
              <a:rPr dirty="0"/>
              <a:t>readOnly:</a:t>
            </a:r>
            <a:r>
              <a:rPr spc="-105" dirty="0"/>
              <a:t> </a:t>
            </a:r>
            <a:r>
              <a:rPr b="0" spc="-20" dirty="0">
                <a:solidFill>
                  <a:srgbClr val="000000"/>
                </a:solidFill>
                <a:latin typeface="Courier New"/>
                <a:cs typeface="Courier New"/>
              </a:rPr>
              <a:t>true</a:t>
            </a:r>
          </a:p>
          <a:p>
            <a:pPr marL="184150">
              <a:lnSpc>
                <a:spcPct val="100000"/>
              </a:lnSpc>
              <a:spcBef>
                <a:spcPts val="30"/>
              </a:spcBef>
            </a:pPr>
            <a:r>
              <a:rPr spc="-10" dirty="0"/>
              <a:t>volumes:</a:t>
            </a:r>
          </a:p>
          <a:p>
            <a:pPr marL="527050" indent="-179070">
              <a:lnSpc>
                <a:spcPct val="100000"/>
              </a:lnSpc>
              <a:spcBef>
                <a:spcPts val="30"/>
              </a:spcBef>
              <a:buClr>
                <a:srgbClr val="000000"/>
              </a:buClr>
              <a:buFont typeface="Courier New"/>
              <a:buChar char="-"/>
              <a:tabLst>
                <a:tab pos="527050" algn="l"/>
              </a:tabLst>
            </a:pPr>
            <a:r>
              <a:rPr dirty="0"/>
              <a:t>name:</a:t>
            </a:r>
            <a:r>
              <a:rPr spc="-25" dirty="0"/>
              <a:t> </a:t>
            </a:r>
            <a:r>
              <a:rPr b="0" spc="-20" dirty="0">
                <a:solidFill>
                  <a:srgbClr val="000000"/>
                </a:solidFill>
                <a:latin typeface="Courier New"/>
                <a:cs typeface="Courier New"/>
              </a:rPr>
              <a:t>ssh-</a:t>
            </a:r>
            <a:r>
              <a:rPr b="0" spc="-10" dirty="0">
                <a:solidFill>
                  <a:srgbClr val="000000"/>
                </a:solidFill>
                <a:latin typeface="Courier New"/>
                <a:cs typeface="Courier New"/>
              </a:rPr>
              <a:t>volume</a:t>
            </a:r>
          </a:p>
          <a:p>
            <a:pPr marL="698500" marR="675005" indent="-172085">
              <a:lnSpc>
                <a:spcPct val="102299"/>
              </a:lnSpc>
            </a:pPr>
            <a:r>
              <a:rPr spc="-10" dirty="0"/>
              <a:t>secret: secretName:</a:t>
            </a: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0" spc="-20" dirty="0">
                <a:solidFill>
                  <a:srgbClr val="000000"/>
                </a:solidFill>
                <a:latin typeface="Courier New"/>
                <a:cs typeface="Courier New"/>
              </a:rPr>
              <a:t>secret-ssh-auth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20557" y="1890741"/>
            <a:ext cx="5512800" cy="32560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091999" y="1955167"/>
            <a:ext cx="5361093" cy="3103880"/>
          </a:xfrm>
          <a:prstGeom prst="rect">
            <a:avLst/>
          </a:prstGeom>
          <a:solidFill>
            <a:srgbClr val="F6F6F7"/>
          </a:solidFill>
        </p:spPr>
        <p:txBody>
          <a:bodyPr vert="horz" wrap="square" lIns="0" tIns="137795" rIns="0" bIns="0" rtlCol="0">
            <a:spAutoFit/>
          </a:bodyPr>
          <a:lstStyle/>
          <a:p>
            <a:pPr marL="146685">
              <a:lnSpc>
                <a:spcPts val="1430"/>
              </a:lnSpc>
              <a:spcBef>
                <a:spcPts val="1085"/>
              </a:spcBef>
            </a:pPr>
            <a:r>
              <a:rPr sz="1200" b="1" dirty="0">
                <a:latin typeface="Courier New"/>
                <a:cs typeface="Courier New"/>
              </a:rPr>
              <a:t>$</a:t>
            </a:r>
            <a:r>
              <a:rPr sz="1200" b="1" spc="-45" dirty="0">
                <a:latin typeface="Courier New"/>
                <a:cs typeface="Courier New"/>
              </a:rPr>
              <a:t> </a:t>
            </a:r>
            <a:r>
              <a:rPr sz="1200" b="1" dirty="0">
                <a:latin typeface="Courier New"/>
                <a:cs typeface="Courier New"/>
              </a:rPr>
              <a:t>kubectl</a:t>
            </a:r>
            <a:r>
              <a:rPr sz="1200" b="1" spc="-40" dirty="0">
                <a:latin typeface="Courier New"/>
                <a:cs typeface="Courier New"/>
              </a:rPr>
              <a:t> </a:t>
            </a:r>
            <a:r>
              <a:rPr sz="1200" b="1" dirty="0">
                <a:latin typeface="Courier New"/>
                <a:cs typeface="Courier New"/>
              </a:rPr>
              <a:t>exec</a:t>
            </a:r>
            <a:r>
              <a:rPr sz="1200" b="1" spc="-45" dirty="0">
                <a:latin typeface="Courier New"/>
                <a:cs typeface="Courier New"/>
              </a:rPr>
              <a:t> </a:t>
            </a:r>
            <a:r>
              <a:rPr sz="1200" b="1" spc="-20" dirty="0">
                <a:latin typeface="Courier New"/>
                <a:cs typeface="Courier New"/>
              </a:rPr>
              <a:t>-</a:t>
            </a:r>
            <a:r>
              <a:rPr sz="1200" b="1" dirty="0">
                <a:latin typeface="Courier New"/>
                <a:cs typeface="Courier New"/>
              </a:rPr>
              <a:t>it</a:t>
            </a:r>
            <a:r>
              <a:rPr sz="1200" b="1" spc="-40" dirty="0">
                <a:latin typeface="Courier New"/>
                <a:cs typeface="Courier New"/>
              </a:rPr>
              <a:t> </a:t>
            </a:r>
            <a:r>
              <a:rPr sz="1200" b="1" dirty="0">
                <a:latin typeface="Courier New"/>
                <a:cs typeface="Courier New"/>
              </a:rPr>
              <a:t>backend</a:t>
            </a:r>
            <a:r>
              <a:rPr sz="1200" b="1" spc="-45" dirty="0">
                <a:latin typeface="Courier New"/>
                <a:cs typeface="Courier New"/>
              </a:rPr>
              <a:t> </a:t>
            </a:r>
            <a:r>
              <a:rPr sz="1200" b="1" spc="-20" dirty="0">
                <a:latin typeface="Courier New"/>
                <a:cs typeface="Courier New"/>
              </a:rPr>
              <a:t>-</a:t>
            </a:r>
            <a:r>
              <a:rPr sz="1200" b="1" dirty="0">
                <a:latin typeface="Courier New"/>
                <a:cs typeface="Courier New"/>
              </a:rPr>
              <a:t>-</a:t>
            </a:r>
            <a:r>
              <a:rPr sz="1200" b="1" spc="-40" dirty="0">
                <a:latin typeface="Courier New"/>
                <a:cs typeface="Courier New"/>
              </a:rPr>
              <a:t> </a:t>
            </a:r>
            <a:r>
              <a:rPr sz="1200" b="1" spc="-10" dirty="0">
                <a:latin typeface="Courier New"/>
                <a:cs typeface="Courier New"/>
              </a:rPr>
              <a:t>/bin/sh</a:t>
            </a:r>
            <a:endParaRPr sz="1200">
              <a:latin typeface="Courier New"/>
              <a:cs typeface="Courier New"/>
            </a:endParaRPr>
          </a:p>
          <a:p>
            <a:pPr marL="146685" marR="2402205">
              <a:lnSpc>
                <a:spcPts val="1430"/>
              </a:lnSpc>
              <a:spcBef>
                <a:spcPts val="50"/>
              </a:spcBef>
            </a:pPr>
            <a:r>
              <a:rPr sz="1200" dirty="0">
                <a:latin typeface="Courier New"/>
                <a:cs typeface="Courier New"/>
              </a:rPr>
              <a:t>#</a:t>
            </a:r>
            <a:r>
              <a:rPr sz="1200" spc="-1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ls</a:t>
            </a:r>
            <a:r>
              <a:rPr sz="1200" spc="-15" dirty="0"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-</a:t>
            </a:r>
            <a:r>
              <a:rPr sz="1200" dirty="0">
                <a:latin typeface="Courier New"/>
                <a:cs typeface="Courier New"/>
              </a:rPr>
              <a:t>l</a:t>
            </a:r>
            <a:r>
              <a:rPr sz="1200" spc="-1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/var/app </a:t>
            </a:r>
            <a:r>
              <a:rPr sz="1200" spc="-20" dirty="0">
                <a:latin typeface="Courier New"/>
                <a:cs typeface="Courier New"/>
              </a:rPr>
              <a:t>ssh-</a:t>
            </a:r>
            <a:r>
              <a:rPr sz="1200" spc="-10" dirty="0">
                <a:latin typeface="Courier New"/>
                <a:cs typeface="Courier New"/>
              </a:rPr>
              <a:t>privatekey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64208" y="2889500"/>
            <a:ext cx="5141805" cy="2058247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2710">
              <a:lnSpc>
                <a:spcPts val="1275"/>
              </a:lnSpc>
            </a:pPr>
            <a:r>
              <a:rPr sz="1200" dirty="0">
                <a:latin typeface="Courier New"/>
                <a:cs typeface="Courier New"/>
              </a:rPr>
              <a:t>#</a:t>
            </a:r>
            <a:r>
              <a:rPr sz="1200" spc="2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cat</a:t>
            </a:r>
            <a:r>
              <a:rPr sz="1200" spc="25" dirty="0"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/var/app/ssh-</a:t>
            </a:r>
            <a:r>
              <a:rPr sz="1200" spc="-10" dirty="0">
                <a:latin typeface="Courier New"/>
                <a:cs typeface="Courier New"/>
              </a:rPr>
              <a:t>privatekey</a:t>
            </a:r>
            <a:endParaRPr sz="1200">
              <a:latin typeface="Courier New"/>
              <a:cs typeface="Courier New"/>
            </a:endParaRPr>
          </a:p>
          <a:p>
            <a:pPr marL="92710" marR="920115">
              <a:lnSpc>
                <a:spcPts val="1430"/>
              </a:lnSpc>
              <a:spcBef>
                <a:spcPts val="45"/>
              </a:spcBef>
            </a:pPr>
            <a:r>
              <a:rPr sz="1200" spc="-20" dirty="0">
                <a:latin typeface="Courier New"/>
                <a:cs typeface="Courier New"/>
              </a:rPr>
              <a:t>-----</a:t>
            </a:r>
            <a:r>
              <a:rPr sz="1200" dirty="0">
                <a:latin typeface="Courier New"/>
                <a:cs typeface="Courier New"/>
              </a:rPr>
              <a:t>BEGIN</a:t>
            </a:r>
            <a:r>
              <a:rPr sz="1200" spc="-3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RSA</a:t>
            </a:r>
            <a:r>
              <a:rPr sz="1200" spc="-3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PRIVATE</a:t>
            </a:r>
            <a:r>
              <a:rPr sz="1200" spc="-30" dirty="0"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KEY----</a:t>
            </a:r>
            <a:r>
              <a:rPr sz="1200" spc="-50" dirty="0">
                <a:latin typeface="Courier New"/>
                <a:cs typeface="Courier New"/>
              </a:rPr>
              <a:t>- </a:t>
            </a:r>
            <a:r>
              <a:rPr sz="1200" spc="-20" dirty="0">
                <a:latin typeface="Courier New"/>
                <a:cs typeface="Courier New"/>
              </a:rPr>
              <a:t>Proc-</a:t>
            </a:r>
            <a:r>
              <a:rPr sz="1200" dirty="0">
                <a:latin typeface="Courier New"/>
                <a:cs typeface="Courier New"/>
              </a:rPr>
              <a:t>Type:</a:t>
            </a:r>
            <a:r>
              <a:rPr sz="1200" spc="-2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4,ENCRYPTED</a:t>
            </a:r>
            <a:endParaRPr sz="1200">
              <a:latin typeface="Courier New"/>
              <a:cs typeface="Courier New"/>
            </a:endParaRPr>
          </a:p>
          <a:p>
            <a:pPr marL="92710">
              <a:lnSpc>
                <a:spcPts val="1365"/>
              </a:lnSpc>
            </a:pPr>
            <a:r>
              <a:rPr sz="1200" spc="-20" dirty="0">
                <a:latin typeface="Courier New"/>
                <a:cs typeface="Courier New"/>
              </a:rPr>
              <a:t>DEK-</a:t>
            </a:r>
            <a:r>
              <a:rPr sz="1200" spc="-10" dirty="0">
                <a:latin typeface="Courier New"/>
                <a:cs typeface="Courier New"/>
              </a:rPr>
              <a:t>Info:</a:t>
            </a:r>
            <a:endParaRPr sz="1200">
              <a:latin typeface="Courier New"/>
              <a:cs typeface="Courier New"/>
            </a:endParaRPr>
          </a:p>
          <a:p>
            <a:pPr marL="92710" marR="97155">
              <a:lnSpc>
                <a:spcPts val="1430"/>
              </a:lnSpc>
              <a:spcBef>
                <a:spcPts val="50"/>
              </a:spcBef>
            </a:pPr>
            <a:r>
              <a:rPr sz="1200" spc="-20" dirty="0">
                <a:latin typeface="Courier New"/>
                <a:cs typeface="Courier New"/>
              </a:rPr>
              <a:t>AES-128-</a:t>
            </a:r>
            <a:r>
              <a:rPr sz="1200" spc="-10" dirty="0">
                <a:latin typeface="Courier New"/>
                <a:cs typeface="Courier New"/>
              </a:rPr>
              <a:t>CBC,8734C9153079F2E8497C8075289E </a:t>
            </a:r>
            <a:r>
              <a:rPr sz="1200" spc="-20" dirty="0">
                <a:latin typeface="Courier New"/>
                <a:cs typeface="Courier New"/>
              </a:rPr>
              <a:t>BBF1</a:t>
            </a:r>
            <a:endParaRPr sz="1200">
              <a:latin typeface="Courier New"/>
              <a:cs typeface="Courier New"/>
            </a:endParaRPr>
          </a:p>
          <a:p>
            <a:pPr marL="92710">
              <a:lnSpc>
                <a:spcPts val="1365"/>
              </a:lnSpc>
            </a:pPr>
            <a:r>
              <a:rPr sz="1200" spc="-25" dirty="0">
                <a:latin typeface="Courier New"/>
                <a:cs typeface="Courier New"/>
              </a:rPr>
              <a:t>...</a:t>
            </a:r>
            <a:endParaRPr sz="1200">
              <a:latin typeface="Courier New"/>
              <a:cs typeface="Courier New"/>
            </a:endParaRPr>
          </a:p>
          <a:p>
            <a:pPr marL="92710">
              <a:lnSpc>
                <a:spcPts val="1435"/>
              </a:lnSpc>
            </a:pPr>
            <a:r>
              <a:rPr sz="1200" spc="-20" dirty="0">
                <a:latin typeface="Courier New"/>
                <a:cs typeface="Courier New"/>
              </a:rPr>
              <a:t>-----</a:t>
            </a:r>
            <a:r>
              <a:rPr sz="1200" dirty="0">
                <a:latin typeface="Courier New"/>
                <a:cs typeface="Courier New"/>
              </a:rPr>
              <a:t>END</a:t>
            </a:r>
            <a:r>
              <a:rPr sz="1200" spc="-2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RSA</a:t>
            </a:r>
            <a:r>
              <a:rPr sz="1200" spc="-2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PRIVATE</a:t>
            </a:r>
            <a:r>
              <a:rPr sz="1200" spc="-25" dirty="0"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KEY----</a:t>
            </a:r>
            <a:r>
              <a:rPr sz="1200" spc="-50" dirty="0">
                <a:latin typeface="Courier New"/>
                <a:cs typeface="Courier New"/>
              </a:rPr>
              <a:t>-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604067" y="3957600"/>
            <a:ext cx="4263813" cy="941493"/>
            <a:chOff x="1604067" y="3957600"/>
            <a:chExt cx="4263813" cy="941493"/>
          </a:xfrm>
        </p:grpSpPr>
        <p:sp>
          <p:nvSpPr>
            <p:cNvPr id="11" name="object 11"/>
            <p:cNvSpPr/>
            <p:nvPr/>
          </p:nvSpPr>
          <p:spPr>
            <a:xfrm>
              <a:off x="1616767" y="3970300"/>
              <a:ext cx="2515447" cy="916093"/>
            </a:xfrm>
            <a:custGeom>
              <a:avLst/>
              <a:gdLst/>
              <a:ahLst/>
              <a:cxnLst/>
              <a:rect l="l" t="t" r="r" b="b"/>
              <a:pathLst>
                <a:path w="1886585" h="687070">
                  <a:moveTo>
                    <a:pt x="0" y="0"/>
                  </a:moveTo>
                  <a:lnTo>
                    <a:pt x="1886399" y="0"/>
                  </a:lnTo>
                  <a:lnTo>
                    <a:pt x="1886399" y="686699"/>
                  </a:lnTo>
                  <a:lnTo>
                    <a:pt x="0" y="6866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76232" y="4429700"/>
              <a:ext cx="1463887" cy="847"/>
            </a:xfrm>
            <a:custGeom>
              <a:avLst/>
              <a:gdLst/>
              <a:ahLst/>
              <a:cxnLst/>
              <a:rect l="l" t="t" r="r" b="b"/>
              <a:pathLst>
                <a:path w="1097914" h="635">
                  <a:moveTo>
                    <a:pt x="0" y="0"/>
                  </a:moveTo>
                  <a:lnTo>
                    <a:pt x="605999" y="0"/>
                  </a:lnTo>
                  <a:lnTo>
                    <a:pt x="605999" y="599"/>
                  </a:lnTo>
                  <a:lnTo>
                    <a:pt x="1097699" y="599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27133" y="4375845"/>
              <a:ext cx="140667" cy="109307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337</a:t>
            </a:fld>
            <a:endParaRPr spc="-25" dirty="0"/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Secrets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Secrets are like ConfigMaps but base64-encoded with stricter access. CKAD tests generic, tls and docker-registry types, env-var injection, file mounts with defaultMode, and decoding values. Secrets are not encrypted — protect them with RBAC.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a generic Secret, decode it, inject as env vars, mount with 0400 mode, then create tls and docker-registry Secrets.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create · envFrom: · volumes: · » Types: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Create a generic Secret and decode a 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secret generic db-cred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--from-literal=DB_USER=admin --from-literal=DB_PASS=s3cr3t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secret db-cred -o jsonpath='{.data.DB_PASS}' | base64 -d; echo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Inject Secret keys as env vars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envFrom: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secretRef: {name: db-cred}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Mount a Secret as files with restrictive mode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volumes: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secret: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secretName: db-cred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defaultMode: 0400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Secrets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TLS and docker-registry Secrets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secret tls demo-tls --cert=tls.crt --key=tls.key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secret docker-registry myreg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--docker-server=registry.example.com --docker-username=u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--docker-password=p --docker-email=u@example.com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Types: generic, tls (kubernetes.io/tls), docker-registry. envFrom: secretRef injects all keys; secretKeyRef injects one. Reference a registry Secret via spec.imagePullSecrets. Base64 ≠ encryption — restrict with RBAC.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base64 -d on .data.DB_PASS returns s3cr3t, the mounted Secret files are mode 0400, and the tls Secret reports type kubernetes.io/tls.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SecurityContext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Control container identity &amp; privileges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LEAST PRIVILEGE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Run Containers Safely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securityContext sets the user, group and privileges a container runs with.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Pod-level applies to all containers; container-level overrides one container.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runAsNonRoot: true blocks any image whose default user is root.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Hardened pattern: readOnlyRootFilesystem + capabilities.drop:[ALL] + allowPrivilegeEscalation:false.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70" dirty="0"/>
              <a:t>Defining</a:t>
            </a:r>
            <a:r>
              <a:rPr spc="-85" dirty="0"/>
              <a:t> </a:t>
            </a:r>
            <a:r>
              <a:rPr spc="280" dirty="0"/>
              <a:t>a</a:t>
            </a:r>
            <a:r>
              <a:rPr spc="-85" dirty="0"/>
              <a:t> </a:t>
            </a:r>
            <a:r>
              <a:rPr spc="55" dirty="0"/>
              <a:t>Security</a:t>
            </a:r>
            <a:r>
              <a:rPr spc="-85" dirty="0"/>
              <a:t> </a:t>
            </a:r>
            <a:r>
              <a:rPr spc="75" dirty="0"/>
              <a:t>Context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125" dirty="0">
                <a:solidFill>
                  <a:srgbClr val="666666"/>
                </a:solidFill>
                <a:latin typeface="Arial"/>
                <a:cs typeface="Arial"/>
              </a:rPr>
              <a:t>Pod-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65" dirty="0">
                <a:solidFill>
                  <a:srgbClr val="666666"/>
                </a:solidFill>
                <a:latin typeface="Arial"/>
                <a:cs typeface="Arial"/>
              </a:rPr>
              <a:t>and/or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/>
                <a:cs typeface="Arial"/>
              </a:rPr>
              <a:t>container-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level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/>
                <a:cs typeface="Arial"/>
              </a:rPr>
              <a:t>definition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5157" y="1849841"/>
            <a:ext cx="4106333" cy="4529667"/>
            <a:chOff x="645157" y="1849841"/>
            <a:chExt cx="4106333" cy="4529667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157" y="1849841"/>
              <a:ext cx="4105600" cy="45296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16599" y="1914267"/>
              <a:ext cx="3953933" cy="4377267"/>
            </a:xfrm>
            <a:custGeom>
              <a:avLst/>
              <a:gdLst/>
              <a:ahLst/>
              <a:cxnLst/>
              <a:rect l="l" t="t" r="r" b="b"/>
              <a:pathLst>
                <a:path w="2965450" h="3282950">
                  <a:moveTo>
                    <a:pt x="2964899" y="3282899"/>
                  </a:moveTo>
                  <a:lnTo>
                    <a:pt x="0" y="3282899"/>
                  </a:lnTo>
                  <a:lnTo>
                    <a:pt x="0" y="0"/>
                  </a:lnTo>
                  <a:lnTo>
                    <a:pt x="2964899" y="0"/>
                  </a:lnTo>
                  <a:lnTo>
                    <a:pt x="2964899" y="3282899"/>
                  </a:lnTo>
                  <a:close/>
                </a:path>
              </a:pathLst>
            </a:custGeom>
            <a:solidFill>
              <a:srgbClr val="F6F6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96433" y="2089073"/>
            <a:ext cx="2351193" cy="1242907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461645">
              <a:lnSpc>
                <a:spcPts val="1430"/>
              </a:lnSpc>
              <a:spcBef>
                <a:spcPts val="155"/>
              </a:spcBef>
            </a:pPr>
            <a:r>
              <a:rPr sz="1200" b="1" dirty="0">
                <a:solidFill>
                  <a:srgbClr val="4618A2"/>
                </a:solidFill>
                <a:latin typeface="Courier New"/>
                <a:cs typeface="Courier New"/>
              </a:rPr>
              <a:t>apiVersion:</a:t>
            </a:r>
            <a:r>
              <a:rPr sz="1200" b="1" spc="-130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200" spc="-25" dirty="0">
                <a:latin typeface="Courier New"/>
                <a:cs typeface="Courier New"/>
              </a:rPr>
              <a:t>v1 </a:t>
            </a:r>
            <a:r>
              <a:rPr sz="1200" b="1" dirty="0">
                <a:solidFill>
                  <a:srgbClr val="4618A2"/>
                </a:solidFill>
                <a:latin typeface="Courier New"/>
                <a:cs typeface="Courier New"/>
              </a:rPr>
              <a:t>kind:</a:t>
            </a:r>
            <a:r>
              <a:rPr sz="1200" b="1" spc="-60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200" spc="-25" dirty="0">
                <a:latin typeface="Courier New"/>
                <a:cs typeface="Courier New"/>
              </a:rPr>
              <a:t>Pod </a:t>
            </a:r>
            <a:r>
              <a:rPr sz="1200" b="1" spc="-10" dirty="0">
                <a:solidFill>
                  <a:srgbClr val="4618A2"/>
                </a:solidFill>
                <a:latin typeface="Courier New"/>
                <a:cs typeface="Courier New"/>
              </a:rPr>
              <a:t>metadata:</a:t>
            </a:r>
            <a:endParaRPr sz="1200">
              <a:latin typeface="Courier New"/>
              <a:cs typeface="Courier New"/>
            </a:endParaRPr>
          </a:p>
          <a:p>
            <a:pPr marL="195580">
              <a:lnSpc>
                <a:spcPts val="1360"/>
              </a:lnSpc>
            </a:pPr>
            <a:r>
              <a:rPr sz="1200" b="1" dirty="0">
                <a:solidFill>
                  <a:srgbClr val="4618A2"/>
                </a:solidFill>
                <a:latin typeface="Courier New"/>
                <a:cs typeface="Courier New"/>
              </a:rPr>
              <a:t>name:</a:t>
            </a:r>
            <a:r>
              <a:rPr sz="1200" b="1" spc="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secured-</a:t>
            </a:r>
            <a:r>
              <a:rPr sz="1200" spc="-25" dirty="0">
                <a:latin typeface="Courier New"/>
                <a:cs typeface="Courier New"/>
              </a:rPr>
              <a:t>pod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435"/>
              </a:lnSpc>
            </a:pPr>
            <a:r>
              <a:rPr sz="1200" b="1" spc="-10" dirty="0">
                <a:solidFill>
                  <a:srgbClr val="4618A2"/>
                </a:solidFill>
                <a:latin typeface="Courier New"/>
                <a:cs typeface="Courier New"/>
              </a:rPr>
              <a:t>spec: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83765" y="3334299"/>
            <a:ext cx="2136140" cy="534247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4610">
              <a:lnSpc>
                <a:spcPts val="1305"/>
              </a:lnSpc>
            </a:pPr>
            <a:r>
              <a:rPr sz="1200" b="1" spc="-10" dirty="0">
                <a:solidFill>
                  <a:srgbClr val="4618A2"/>
                </a:solidFill>
                <a:latin typeface="Courier New"/>
                <a:cs typeface="Courier New"/>
              </a:rPr>
              <a:t>securityContext:</a:t>
            </a:r>
            <a:endParaRPr sz="1200">
              <a:latin typeface="Courier New"/>
              <a:cs typeface="Courier New"/>
            </a:endParaRPr>
          </a:p>
          <a:p>
            <a:pPr marL="237490">
              <a:lnSpc>
                <a:spcPts val="1435"/>
              </a:lnSpc>
            </a:pPr>
            <a:r>
              <a:rPr sz="1200" b="1" dirty="0">
                <a:solidFill>
                  <a:srgbClr val="4618A2"/>
                </a:solidFill>
                <a:latin typeface="Courier New"/>
                <a:cs typeface="Courier New"/>
              </a:rPr>
              <a:t>fsGroup:</a:t>
            </a:r>
            <a:r>
              <a:rPr sz="1200" b="1" spc="-9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3000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40273" y="3778173"/>
            <a:ext cx="1985433" cy="10016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4618A2"/>
                </a:solidFill>
                <a:latin typeface="Courier New"/>
                <a:cs typeface="Courier New"/>
              </a:rPr>
              <a:t>volumes: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425"/>
              </a:lnSpc>
            </a:pPr>
            <a:r>
              <a:rPr sz="1200" dirty="0">
                <a:latin typeface="Courier New"/>
                <a:cs typeface="Courier New"/>
              </a:rPr>
              <a:t>-</a:t>
            </a:r>
            <a:r>
              <a:rPr sz="1200" spc="-15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4618A2"/>
                </a:solidFill>
                <a:latin typeface="Courier New"/>
                <a:cs typeface="Courier New"/>
              </a:rPr>
              <a:t>name:</a:t>
            </a:r>
            <a:r>
              <a:rPr sz="1200" b="1" spc="-10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data-</a:t>
            </a:r>
            <a:r>
              <a:rPr sz="1200" spc="-25" dirty="0">
                <a:latin typeface="Courier New"/>
                <a:cs typeface="Courier New"/>
              </a:rPr>
              <a:t>vol</a:t>
            </a:r>
            <a:endParaRPr sz="1200">
              <a:latin typeface="Courier New"/>
              <a:cs typeface="Courier New"/>
            </a:endParaRPr>
          </a:p>
          <a:p>
            <a:pPr marL="195580">
              <a:lnSpc>
                <a:spcPts val="1425"/>
              </a:lnSpc>
            </a:pPr>
            <a:r>
              <a:rPr sz="1200" b="1" dirty="0">
                <a:solidFill>
                  <a:srgbClr val="4618A2"/>
                </a:solidFill>
                <a:latin typeface="Courier New"/>
                <a:cs typeface="Courier New"/>
              </a:rPr>
              <a:t>emptyDir:</a:t>
            </a:r>
            <a:r>
              <a:rPr sz="1200" b="1" spc="-110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200" spc="-25" dirty="0">
                <a:latin typeface="Courier New"/>
                <a:cs typeface="Courier New"/>
              </a:rPr>
              <a:t>{}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435"/>
              </a:lnSpc>
            </a:pPr>
            <a:r>
              <a:rPr sz="1200" b="1" spc="-10" dirty="0">
                <a:solidFill>
                  <a:srgbClr val="4618A2"/>
                </a:solidFill>
                <a:latin typeface="Courier New"/>
                <a:cs typeface="Courier New"/>
              </a:rPr>
              <a:t>containers: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40273" y="4743373"/>
            <a:ext cx="3082713" cy="1242907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95580" marR="5080" indent="-183515">
              <a:lnSpc>
                <a:spcPts val="1430"/>
              </a:lnSpc>
              <a:spcBef>
                <a:spcPts val="155"/>
              </a:spcBef>
            </a:pPr>
            <a:r>
              <a:rPr sz="1200" dirty="0">
                <a:latin typeface="Courier New"/>
                <a:cs typeface="Courier New"/>
              </a:rPr>
              <a:t>-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4618A2"/>
                </a:solidFill>
                <a:latin typeface="Courier New"/>
                <a:cs typeface="Courier New"/>
              </a:rPr>
              <a:t>image:</a:t>
            </a:r>
            <a:r>
              <a:rPr sz="1200" b="1" spc="-40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nginx:1.18.0 </a:t>
            </a:r>
            <a:r>
              <a:rPr sz="1200" b="1" dirty="0">
                <a:solidFill>
                  <a:srgbClr val="4618A2"/>
                </a:solidFill>
                <a:latin typeface="Courier New"/>
                <a:cs typeface="Courier New"/>
              </a:rPr>
              <a:t>name:</a:t>
            </a:r>
            <a:r>
              <a:rPr sz="1200" b="1" spc="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secured-</a:t>
            </a:r>
            <a:r>
              <a:rPr sz="1200" spc="-10" dirty="0">
                <a:latin typeface="Courier New"/>
                <a:cs typeface="Courier New"/>
              </a:rPr>
              <a:t>container </a:t>
            </a:r>
            <a:r>
              <a:rPr sz="1200" b="1" spc="-10" dirty="0">
                <a:solidFill>
                  <a:srgbClr val="4618A2"/>
                </a:solidFill>
                <a:latin typeface="Courier New"/>
                <a:cs typeface="Courier New"/>
              </a:rPr>
              <a:t>volumeMounts:</a:t>
            </a:r>
            <a:endParaRPr sz="1200">
              <a:latin typeface="Courier New"/>
              <a:cs typeface="Courier New"/>
            </a:endParaRPr>
          </a:p>
          <a:p>
            <a:pPr marL="195580">
              <a:lnSpc>
                <a:spcPts val="1360"/>
              </a:lnSpc>
            </a:pPr>
            <a:r>
              <a:rPr sz="1200" dirty="0">
                <a:latin typeface="Courier New"/>
                <a:cs typeface="Courier New"/>
              </a:rPr>
              <a:t>-</a:t>
            </a:r>
            <a:r>
              <a:rPr sz="1200" spc="-15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4618A2"/>
                </a:solidFill>
                <a:latin typeface="Courier New"/>
                <a:cs typeface="Courier New"/>
              </a:rPr>
              <a:t>name:</a:t>
            </a:r>
            <a:r>
              <a:rPr sz="1200" b="1" spc="-10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data-</a:t>
            </a:r>
            <a:r>
              <a:rPr sz="1200" spc="-25" dirty="0">
                <a:latin typeface="Courier New"/>
                <a:cs typeface="Courier New"/>
              </a:rPr>
              <a:t>vol</a:t>
            </a:r>
            <a:endParaRPr sz="1200">
              <a:latin typeface="Courier New"/>
              <a:cs typeface="Courier New"/>
            </a:endParaRPr>
          </a:p>
          <a:p>
            <a:pPr marL="378460">
              <a:lnSpc>
                <a:spcPts val="1435"/>
              </a:lnSpc>
            </a:pPr>
            <a:r>
              <a:rPr sz="1200" b="1" dirty="0">
                <a:solidFill>
                  <a:srgbClr val="4618A2"/>
                </a:solidFill>
                <a:latin typeface="Courier New"/>
                <a:cs typeface="Courier New"/>
              </a:rPr>
              <a:t>mountPath:</a:t>
            </a:r>
            <a:r>
              <a:rPr sz="1200" b="1" spc="-120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/data/app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480225" y="3531251"/>
            <a:ext cx="2438400" cy="110067"/>
            <a:chOff x="3480225" y="3531251"/>
            <a:chExt cx="2438400" cy="110067"/>
          </a:xfrm>
        </p:grpSpPr>
        <p:sp>
          <p:nvSpPr>
            <p:cNvPr id="11" name="object 11"/>
            <p:cNvSpPr/>
            <p:nvPr/>
          </p:nvSpPr>
          <p:spPr>
            <a:xfrm>
              <a:off x="3608193" y="3585905"/>
              <a:ext cx="2309707" cy="0"/>
            </a:xfrm>
            <a:custGeom>
              <a:avLst/>
              <a:gdLst/>
              <a:ahLst/>
              <a:cxnLst/>
              <a:rect l="l" t="t" r="r" b="b"/>
              <a:pathLst>
                <a:path w="1732279">
                  <a:moveTo>
                    <a:pt x="1732200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80225" y="3531251"/>
              <a:ext cx="140667" cy="109307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6011341" y="3281312"/>
            <a:ext cx="3774440" cy="643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"/>
                <a:cs typeface="Arial"/>
              </a:rPr>
              <a:t>Defined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on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Pod-</a:t>
            </a:r>
            <a:r>
              <a:rPr sz="1500" dirty="0">
                <a:latin typeface="Arial"/>
                <a:cs typeface="Arial"/>
              </a:rPr>
              <a:t>level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(applies </a:t>
            </a:r>
            <a:r>
              <a:rPr sz="1500" dirty="0">
                <a:latin typeface="Arial"/>
                <a:cs typeface="Arial"/>
              </a:rPr>
              <a:t>to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all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containers)</a:t>
            </a:r>
            <a:endParaRPr sz="15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345</a:t>
            </a:fld>
            <a:endParaRPr spc="-25" dirty="0"/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SECURITYCONTEXT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SecurityContext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securityContext controls the identity and privileges of containers. CKAD asks you to enforce non-root execution, a read-only root filesystem and dropped Linux capabilities — at Pod level (all containers) or container level (one override).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Run as a set user/group, enforce runAsNonRoot, lock the root filesystem, then drop all capabilities.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securityContext: · » Pod-level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Run as a specific user and group (Pod level)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securityContext: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runAsUser: 1000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runAsGroup: 3000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fsGroup: 2000     # applies to volume mounts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Enforce runAsNonRoot (blocks root images)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3872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0273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securityContext: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runAsNonRoot: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nginx runs as root -&gt; Pod refuses to start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3026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Read-only root filesystem (container level)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1431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81431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878324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securityContext: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readOnlyRootFilesystem: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mount an emptyDir for any writable path (e.g. /tmp)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SecurityContext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Drop Linux capabilities (hardened container)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securityContext: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capabilities: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drop: ["ALL"]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add: ["NET_BIND_SERVICE"]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allowPrivilegeEscalation: false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Pod-level securityContext applies to all containers; container-level overrides one. The CKAD hardened pattern = runAsNonRoot: true + readOnlyRootFilesystem: true + capabilities.drop: [ALL] + allowPrivilegeEscalation: false.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non-root Pod logs uid=1000 gid=3000, the runAsNonRoot nginx Pod refuses to start, and writes to the read-only root filesystem are rejected.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ServiceAccounts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identity a Pod presents to the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WHO AM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Pod Identity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Every Pod runs as a ServiceAccount — the default one has minimal permissions.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spec.serviceAccountName attaches a dedicated ServiceAccount to a Pod.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token, CA cert and namespace are projected into /var/run/secrets/kubernetes.io/serviceaccount/.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automountServiceAccountToken: false enforces least privilege; kubectl create token mints short-lived tokens.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/>
              <a:t>Service</a:t>
            </a:r>
            <a:r>
              <a:rPr spc="15" dirty="0"/>
              <a:t> </a:t>
            </a:r>
            <a:r>
              <a:rPr spc="80" dirty="0"/>
              <a:t>Account</a:t>
            </a:r>
            <a:r>
              <a:rPr spc="20" dirty="0"/>
              <a:t> </a:t>
            </a:r>
            <a:r>
              <a:rPr spc="120" dirty="0"/>
              <a:t>as</a:t>
            </a:r>
            <a:r>
              <a:rPr spc="20" dirty="0"/>
              <a:t> </a:t>
            </a:r>
            <a:r>
              <a:rPr spc="60" dirty="0"/>
              <a:t>Subject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55" dirty="0">
                <a:solidFill>
                  <a:srgbClr val="666666"/>
                </a:solidFill>
                <a:latin typeface="Arial"/>
                <a:cs typeface="Arial"/>
              </a:rPr>
              <a:t>Pod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5" dirty="0">
                <a:solidFill>
                  <a:srgbClr val="666666"/>
                </a:solidFill>
                <a:latin typeface="Arial"/>
                <a:cs typeface="Arial"/>
              </a:rPr>
              <a:t>assign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60" dirty="0">
                <a:solidFill>
                  <a:srgbClr val="666666"/>
                </a:solidFill>
                <a:latin typeface="Arial"/>
                <a:cs typeface="Arial"/>
              </a:rPr>
              <a:t>Service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/>
                <a:cs typeface="Arial"/>
              </a:rPr>
              <a:t>Account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40" dirty="0">
                <a:solidFill>
                  <a:srgbClr val="666666"/>
                </a:solidFill>
                <a:latin typeface="Arial"/>
                <a:cs typeface="Arial"/>
              </a:rPr>
              <a:t>by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60" dirty="0">
                <a:solidFill>
                  <a:srgbClr val="666666"/>
                </a:solidFill>
                <a:latin typeface="Arial"/>
                <a:cs typeface="Arial"/>
              </a:rPr>
              <a:t>name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516" y="3658233"/>
            <a:ext cx="10704768" cy="116246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282</a:t>
            </a:fld>
            <a:endParaRPr spc="-25" dirty="0"/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SERVICEACCOUNTS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ServiceAccounts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ServiceAccounts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Every Pod runs as a ServiceAccount; the default one has minimal RBAC. CKAD tests creating dedicated ServiceAccounts, attaching them to Pods, disabling the auto-mounted token, and requesting short-lived tokens with kubectl create token.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a ServiceAccount, attach it to a Pod, inspect the projected token, disable auto-mount, then mint a token.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create · k exec · k patch · TOKEN=$(k create · » `spec.serviceAccountName`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ServiceAccounts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Create a ServiceAccount and attach it to a Pod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serviceaccount app-sa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Pod 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serviceAccountName: app-sa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 app -o jsonpath='{.spec.serviceAccountName}'; echo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Inspect the auto-mounted token inside the Pod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726179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26179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790187"/>
            <a:ext cx="10323576" cy="242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exec app -- ls /var/run/secrets/kubernetes.io/serviceaccount/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Disable token auto-mount (least privilege)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626863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26863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690871"/>
            <a:ext cx="10323576" cy="242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patch sa app-sa -p '{"automountServiceAccountToken": false}'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ServiceAccounts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Request a short-lived ad-hoc token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TOKEN=$(k create token app-sa --duration=1h)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echo $TOKEN | cut -c1-60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spec.serviceAccountName attaches a custom SA. Token, CA and namespace are projected under /var/run/secrets/kubernetes.io/serviceaccount/. automountServiceAccountToken: false enforces least privilege; kubectl create token replaces the old Secret-backed tokens (removed in 1.24+).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ServiceAccounts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get pod app -o jsonpath='{.spec.serviceAccountName}' returns app-sa, and kubectl create token app-sa prints a short-lived JWT.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RBAC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Who can do what, on which resources, 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AUTHORIZATION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Role-Based Access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Role/ClusterRole lists allowed verbs (get, list, create, delete…) on resources.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RoleBinding/ClusterRoleBinding ties that Role to a subject (ServiceAccount, user or group).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Role + RoleBinding = one namespace; ClusterRole + ClusterRoleBinding = cluster-wide.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ClusterRole + RoleBinding limits a cluster role's verbs to a single namespace.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Validate without logging in: kubectl auth can-i &lt;verb&gt; &lt;resource&gt; --as=&lt;identity&gt;.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-95" dirty="0"/>
              <a:t>RBAC</a:t>
            </a:r>
            <a:r>
              <a:rPr spc="-80" dirty="0"/>
              <a:t> </a:t>
            </a:r>
            <a:r>
              <a:rPr spc="85" dirty="0"/>
              <a:t>High-Level</a:t>
            </a:r>
            <a:r>
              <a:rPr spc="-80" dirty="0"/>
              <a:t> </a:t>
            </a:r>
            <a:r>
              <a:rPr spc="70" dirty="0"/>
              <a:t>Overview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55" dirty="0">
                <a:solidFill>
                  <a:srgbClr val="666666"/>
                </a:solidFill>
                <a:latin typeface="Arial"/>
                <a:cs typeface="Arial"/>
              </a:rPr>
              <a:t>Three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70" dirty="0">
                <a:solidFill>
                  <a:srgbClr val="666666"/>
                </a:solidFill>
                <a:latin typeface="Arial"/>
                <a:cs typeface="Arial"/>
              </a:rPr>
              <a:t>key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elements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for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/>
                <a:cs typeface="Arial"/>
              </a:rPr>
              <a:t>understanding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concept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9533" y="2429367"/>
            <a:ext cx="9356865" cy="2965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272</a:t>
            </a:fld>
            <a:endParaRPr spc="-25" dirty="0"/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85" dirty="0"/>
              <a:t>Involved</a:t>
            </a:r>
            <a:r>
              <a:rPr spc="-85" dirty="0"/>
              <a:t> </a:t>
            </a:r>
            <a:r>
              <a:rPr spc="-95" dirty="0"/>
              <a:t>RBAC</a:t>
            </a:r>
            <a:r>
              <a:rPr spc="-85" dirty="0"/>
              <a:t> </a:t>
            </a:r>
            <a:r>
              <a:rPr spc="45" dirty="0"/>
              <a:t>Primitives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60" dirty="0">
                <a:solidFill>
                  <a:srgbClr val="666666"/>
                </a:solidFill>
                <a:latin typeface="Arial"/>
                <a:cs typeface="Arial"/>
              </a:rPr>
              <a:t>Restrict</a:t>
            </a:r>
            <a:r>
              <a:rPr sz="1600" b="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access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sz="1600" b="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certain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operations</a:t>
            </a:r>
            <a:r>
              <a:rPr sz="1600" b="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of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-45" dirty="0">
                <a:solidFill>
                  <a:srgbClr val="666666"/>
                </a:solidFill>
                <a:latin typeface="Arial"/>
                <a:cs typeface="Arial"/>
              </a:rPr>
              <a:t>API</a:t>
            </a:r>
            <a:r>
              <a:rPr sz="1600" b="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resources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for</a:t>
            </a:r>
            <a:r>
              <a:rPr sz="1600" b="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/>
                <a:cs typeface="Arial"/>
              </a:rPr>
              <a:t>subjects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5064" y="2291633"/>
            <a:ext cx="9825799" cy="32804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273</a:t>
            </a:fld>
            <a:endParaRPr spc="-25" dirty="0"/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RBAC — Roles &amp; RoleBindings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RBAC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RBAC controls who can do what on which resources. CKAD tests creating Roles, ClusterRoles, RoleBindings and ClusterRoleBindings imperatively, and validating with kubectl auth can-i --as. Know namespace- vs cluster-scope.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a Role + RoleBinding for a ServiceAccount, validate with can-i, then a ClusterRole bound two ways.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create · k auth · » 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RBAC — Roles &amp; RoleBindings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Role: namespace-scoped permissions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role pod-reader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--verb=get,list,watch --resource=pods -n dev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RoleBinding: link Role to a ServiceAccount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rolebinding viewer-binding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--role=pod-reader --serviceaccount=dev:viewer -n dev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Validate with kubectl auth can-i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25195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5195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31596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auth can-i list pods   -n dev     --as=system:serviceaccount:dev:viewer  # yes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auth can-i delete pods -n dev     --as=system:serviceaccount:dev:viewer  # no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auth can-i list pods   -n default --as=system:serviceaccount:dev:viewer  # 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RBAC — Roles &amp; RoleBindings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ClusterRole bound cluster-wide vs to one namespace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clusterrole node-reader --verb=get,list --resource=nodes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clusterrolebinding nodes-binding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--clusterrole=node-reader --serviceaccount=dev:nodes-sa   # all namespaces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rolebinding dev-node-reader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--clusterrole=node-reader --serviceaccount=dev:viewer -n dev  # only dev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Role + RoleBinding = namespace-scoped. ClusterRole + ClusterRoleBinding = cluster-wide. ClusterRole + RoleBinding = the cluster role's verbs limited to one namespace. kubectl auth can-i &lt;verb&gt; &lt;res&gt; --as=&lt;identity&gt; validates without logging 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RBAC — Roles &amp; RoleBindings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auth can-i list pods -n dev --as=system:serviceaccount:dev:viewer returns yes while delete pods and cross-namespace list return no.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Authentication and Authorization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Access control for the Kubernetes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API SERVER · REQUEST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Processing a Request to the API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Every client request to the API server passes four sequential phases: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700">
                <a:solidFill>
                  <a:srgbClr val="161B26"/>
                </a:solidFill>
                <a:latin typeface="Arial"/>
              </a:rPr>
              <a:t>Authentication — who is the caller?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700">
                <a:solidFill>
                  <a:srgbClr val="161B26"/>
                </a:solidFill>
                <a:latin typeface="Arial"/>
              </a:rPr>
              <a:t>Authorization — is the caller allowed to perform this action?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700">
                <a:solidFill>
                  <a:srgbClr val="161B26"/>
                </a:solidFill>
                <a:latin typeface="Arial"/>
              </a:rPr>
              <a:t>Admission Control — is the request well-formed and valid?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700">
                <a:solidFill>
                  <a:srgbClr val="161B26"/>
                </a:solidFill>
                <a:latin typeface="Arial"/>
              </a:rPr>
              <a:t>Validation — schema validation of the requested resource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All four phases must pass for the request to be processed.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API SERVER ·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API Request Processing Phases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Authentication: Validates the identity of the caller using a supported strategy, e.g. client certificates or bearer tokens.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Authorization: Determines if the authenticated identity may perform the requested verb + HTTP path. Typically implemented with RBAC.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Admission Controller: Verifies the request is well-formed and may mutate or reject it before processing. Ensures the resource definition is valid.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AUTHENTICATION · KUBECONFIG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Authentication via Credentials in Kubeconfig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The kubeconfig file at $HOME/.kube/config is used by kubectl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352044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3520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Config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clusters: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cluster: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certificate-authority: /home/user/.minikube/ca.crt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server: https://127.0.0.1:58936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minikube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contexts: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context: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cluster: minikube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user: bmuschko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bmuschko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current-context: bmuschko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users: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bmuschko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user: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client-certificate-data: REDACTED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client-key-data: REDACTED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AUTHENTICATION · KUBECTL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Managing Kubeconfig and Current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View the full kubeconfig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config view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Config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current-context: bmuschko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32403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Show and switch the active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79875"/>
            <a:ext cx="10652760" cy="1645919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79875"/>
            <a:ext cx="82296" cy="164591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43883"/>
            <a:ext cx="10323576" cy="1554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config current-context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bmuschko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config use-context johndoe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Switched to context "johndoe".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config current-context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johndoe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EXTENDING KUBERNETES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Custom Resource Definitions (CRDs)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Extending the Kubernetes API with custom primitives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CRD ·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 Custom Resource Definition (CRD)?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Some use cases with custom requirements cannot be fulfilled with built-in Kubernetes primitives.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 CRD allows you to define, create, and persist objects for custom primitives and expose them via the Kubernetes API.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CRDs are combined with controllers to implement custom logic. The combination is called the Operator pattern.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OPERATOR PATTERN · CRD + CONTROLLER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Operator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An Operator = CRD + Controller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The CRD extends the Kubernetes API with a new object type (schema, validation, versioning).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The Controller is a reconciliation loop that watches for CRD instances via the API server and implements the custom business logic.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Operators are deployed as Pods in the cluster and interact with the API server continuously.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Example operators: Prometheus Operator, cert-manager, Kafka Operator.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CRD · EXAMPLE 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Example CRD — Smoke 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Requirement: A web-based application stack deployed via a Deployment. A Service routes traffic to the Pods.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Desired functionality: After deployment, run a quick smoke test against the Service's DNS name. Send the result to an external dashboard.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Goal: Implement the Operator pattern (CRD + controller) for this use case.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Custom Kind: SmokeTest — attributes: service, path, timeout, retries.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CRD · SCHEMA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CRD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Defines the schema for the custom SmokeTest object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52075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52075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51160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apiextensions.k8s.io/v1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CustomResourceDefinition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smoketests.stable.bmuschko.com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group: stable.bmuschko.com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versions: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name: 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served: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storage: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schema: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openAPIV3Schema: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type: object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properties: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  type: object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  properties: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    service: {type: string}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    path:    {type: string}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    timeout: {type: integer}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    retries: {type: integer}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scope: Namespaced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plural: smoketests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singular: smoketest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kind: SmokeTest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shortNames: [st]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CRD · INSTANTIATION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Custom Resource Object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An instance of the SmokeTest custom kind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83337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8333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7419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stable.bmuschko.com/v1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SmokeTest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backend-smoke-test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service: backend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path: /health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timeout: 600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retries: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CRD · KUBECTL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Creating the CRD and Custom Object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Create the CRD first, then create instances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apply -f smoketest-crd.yaml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customresourcedefinition.apiextensions.k8s.io/smoketests.stable.bmuschko.com created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apply -f backend-smoke-test.yaml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smoketest.stable.bmuschko.com/backend-smoke-test created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CRD · INSPECTION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Discovering CRDs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List all installed CRDs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crds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NAME                                CREATED AT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smoketests.stable.bmuschko.com      2023-05-04T14:49:40Z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575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Discover custom resource types via api-resources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2049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049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68980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api-resources --api-group=stable.bmuschko.com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NAME        SHORTNAMES  APIVERSION                  NAMESPACED  KIND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smoketests  st          stable.bmuschko.com/v1      true        SmokeTest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OPERATOR PATTERN · CONTROLLER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Controller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You can CRUD custom resource objects, but no smoke-test logic is initiated without a controller.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 controller acts as a reconciliation process: it polls for new SmokeTest objects via the API server and executes the smoke test, sending results to the external service.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Controllers are typically written in Go or Python using a Kubernetes client library (e.g. client-go, kubernetes-client).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EXERCISE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83464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Defining and Interacting with a CRD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EXAM PREP ·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Exam Essentials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/>
              </a:rPr>
              <a:t>•  </a:t>
            </a:r>
            <a:r>
              <a:rPr sz="1700">
                <a:solidFill>
                  <a:srgbClr val="161B26"/>
                </a:solidFill>
                <a:latin typeface="Arial"/>
              </a:rPr>
              <a:t>You are not expected to implement a CRD schema yourself. Know how to discover and use them.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/>
              </a:rPr>
              <a:t>•  </a:t>
            </a:r>
            <a:r>
              <a:rPr sz="1700">
                <a:solidFill>
                  <a:srgbClr val="161B26"/>
                </a:solidFill>
                <a:latin typeface="Arial"/>
              </a:rPr>
              <a:t>Use kubectl get crds to list installed CRDs, and kubectl api-resources --api-group=&lt;group&gt; to see their types.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/>
              </a:rPr>
              <a:t>•  </a:t>
            </a:r>
            <a:r>
              <a:rPr sz="1700">
                <a:solidFill>
                  <a:srgbClr val="161B26"/>
                </a:solidFill>
                <a:latin typeface="Arial"/>
              </a:rPr>
              <a:t>Create objects from a CRD schema exactly as you would for built-in resources: kubectl apply -f &lt;manifest&gt;.yaml.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/>
              </a:rPr>
              <a:t>•  </a:t>
            </a:r>
            <a:r>
              <a:rPr sz="1700">
                <a:solidFill>
                  <a:srgbClr val="161B26"/>
                </a:solidFill>
                <a:latin typeface="Arial"/>
              </a:rPr>
              <a:t>Controller implementations are out-of-scope for the CKAD exam.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Quotas &amp; Limits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Cap namespace usage &amp; per-container resources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Govern Resource Consumption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ResourceQuota caps the aggregate resources a namespace can consume (pods, requests, limits).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LimitRange enforces per-container defaults, defaultRequests and maximums.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Without a LimitRange, Pods with no resource block are rejected in a quota-enforced namespace.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describe quota shows Used vs Hard — the primary troubleshooting 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65" dirty="0"/>
              <a:t>ResourceQuota</a:t>
            </a:r>
            <a:r>
              <a:rPr spc="-70" dirty="0"/>
              <a:t> </a:t>
            </a:r>
            <a:r>
              <a:rPr spc="-90" dirty="0"/>
              <a:t>YAML</a:t>
            </a:r>
            <a:r>
              <a:rPr spc="-65" dirty="0"/>
              <a:t> </a:t>
            </a:r>
            <a:r>
              <a:rPr spc="85" dirty="0"/>
              <a:t>Manifest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55" dirty="0">
                <a:solidFill>
                  <a:srgbClr val="666666"/>
                </a:solidFill>
                <a:latin typeface="Arial"/>
                <a:cs typeface="Arial"/>
              </a:rPr>
              <a:t>Limits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450" dirty="0">
                <a:solidFill>
                  <a:srgbClr val="666666"/>
                </a:solidFill>
                <a:latin typeface="Arial"/>
                <a:cs typeface="Arial"/>
              </a:rPr>
              <a:t>#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of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objects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65" dirty="0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50" dirty="0">
                <a:solidFill>
                  <a:srgbClr val="666666"/>
                </a:solidFill>
                <a:latin typeface="Arial"/>
                <a:cs typeface="Arial"/>
              </a:rPr>
              <a:t>aggregate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container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/>
                <a:cs typeface="Arial"/>
              </a:rPr>
              <a:t>resource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consumption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891" y="1834275"/>
            <a:ext cx="4708800" cy="40692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66333" y="1898699"/>
            <a:ext cx="4556760" cy="3917527"/>
          </a:xfrm>
          <a:prstGeom prst="rect">
            <a:avLst/>
          </a:prstGeom>
          <a:solidFill>
            <a:srgbClr val="F6F6F7"/>
          </a:solidFill>
        </p:spPr>
        <p:txBody>
          <a:bodyPr vert="horz" wrap="square" lIns="0" tIns="160020" rIns="0" bIns="0" rtlCol="0">
            <a:spAutoFit/>
          </a:bodyPr>
          <a:lstStyle/>
          <a:p>
            <a:pPr marL="208279" marR="1174115">
              <a:lnSpc>
                <a:spcPts val="1650"/>
              </a:lnSpc>
              <a:spcBef>
                <a:spcPts val="1260"/>
              </a:spcBef>
            </a:pP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apiVersion:</a:t>
            </a:r>
            <a:r>
              <a:rPr sz="1400" b="1" spc="-5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spc="-25" dirty="0">
                <a:latin typeface="Courier New"/>
                <a:cs typeface="Courier New"/>
              </a:rPr>
              <a:t>v1 </a:t>
            </a: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kind:</a:t>
            </a:r>
            <a:r>
              <a:rPr sz="1400" b="1" spc="-2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ResourceQuota </a:t>
            </a:r>
            <a:r>
              <a:rPr sz="1400" b="1" spc="-10" dirty="0">
                <a:solidFill>
                  <a:srgbClr val="4618A2"/>
                </a:solidFill>
                <a:latin typeface="Courier New"/>
                <a:cs typeface="Courier New"/>
              </a:rPr>
              <a:t>metadata:</a:t>
            </a:r>
            <a:endParaRPr sz="1400">
              <a:latin typeface="Courier New"/>
              <a:cs typeface="Courier New"/>
            </a:endParaRPr>
          </a:p>
          <a:p>
            <a:pPr marL="421640">
              <a:lnSpc>
                <a:spcPts val="1585"/>
              </a:lnSpc>
            </a:pP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name:</a:t>
            </a:r>
            <a:r>
              <a:rPr sz="1400" b="1" spc="1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awesome-quota</a:t>
            </a:r>
            <a:endParaRPr sz="1400">
              <a:latin typeface="Courier New"/>
              <a:cs typeface="Courier New"/>
            </a:endParaRPr>
          </a:p>
          <a:p>
            <a:pPr marL="425450">
              <a:lnSpc>
                <a:spcPts val="1650"/>
              </a:lnSpc>
            </a:pP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namespace:</a:t>
            </a:r>
            <a:r>
              <a:rPr sz="1400" b="1" spc="-2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team-awesome</a:t>
            </a:r>
            <a:endParaRPr sz="1400">
              <a:latin typeface="Courier New"/>
              <a:cs typeface="Courier New"/>
            </a:endParaRPr>
          </a:p>
          <a:p>
            <a:pPr marL="208279">
              <a:lnSpc>
                <a:spcPts val="1664"/>
              </a:lnSpc>
            </a:pPr>
            <a:r>
              <a:rPr sz="1400" b="1" spc="-10" dirty="0">
                <a:solidFill>
                  <a:srgbClr val="4618A2"/>
                </a:solidFill>
                <a:latin typeface="Courier New"/>
                <a:cs typeface="Courier New"/>
              </a:rPr>
              <a:t>spec: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304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1119500" y="3814100"/>
            <a:ext cx="3821007" cy="1783080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1915">
              <a:lnSpc>
                <a:spcPts val="1435"/>
              </a:lnSpc>
            </a:pPr>
            <a:r>
              <a:rPr sz="1400" b="1" spc="-10" dirty="0">
                <a:solidFill>
                  <a:srgbClr val="4618A2"/>
                </a:solidFill>
                <a:latin typeface="Courier New"/>
                <a:cs typeface="Courier New"/>
              </a:rPr>
              <a:t>hard:</a:t>
            </a:r>
            <a:endParaRPr sz="1400">
              <a:latin typeface="Courier New"/>
              <a:cs typeface="Courier New"/>
            </a:endParaRPr>
          </a:p>
          <a:p>
            <a:pPr marL="295275">
              <a:lnSpc>
                <a:spcPts val="1650"/>
              </a:lnSpc>
            </a:pP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pods:</a:t>
            </a:r>
            <a:r>
              <a:rPr sz="1400" b="1" spc="-2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latin typeface="Courier New"/>
                <a:cs typeface="Courier New"/>
              </a:rPr>
              <a:t>2</a:t>
            </a:r>
            <a:endParaRPr sz="1400">
              <a:latin typeface="Courier New"/>
              <a:cs typeface="Courier New"/>
            </a:endParaRPr>
          </a:p>
          <a:p>
            <a:pPr marL="295275" marR="109220">
              <a:lnSpc>
                <a:spcPts val="1650"/>
              </a:lnSpc>
              <a:spcBef>
                <a:spcPts val="65"/>
              </a:spcBef>
            </a:pP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requests.cpu:</a:t>
            </a:r>
            <a:r>
              <a:rPr sz="1400" b="1" spc="-70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b="1" spc="-25" dirty="0">
                <a:solidFill>
                  <a:srgbClr val="D15E35"/>
                </a:solidFill>
                <a:latin typeface="Courier New"/>
                <a:cs typeface="Courier New"/>
              </a:rPr>
              <a:t>"1" </a:t>
            </a: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requests.memory:</a:t>
            </a:r>
            <a:r>
              <a:rPr sz="1400" b="1" spc="-8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1024Mi </a:t>
            </a: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limits.cpu:</a:t>
            </a:r>
            <a:r>
              <a:rPr sz="1400" b="1" spc="-60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b="1" spc="-25" dirty="0">
                <a:solidFill>
                  <a:srgbClr val="D15E35"/>
                </a:solidFill>
                <a:latin typeface="Courier New"/>
                <a:cs typeface="Courier New"/>
              </a:rPr>
              <a:t>"4" </a:t>
            </a: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limits.memory:</a:t>
            </a:r>
            <a:r>
              <a:rPr sz="1400" b="1" spc="-7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4096Mi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75" dirty="0"/>
              <a:t>What</a:t>
            </a:r>
            <a:r>
              <a:rPr spc="-114" dirty="0"/>
              <a:t> </a:t>
            </a:r>
            <a:r>
              <a:rPr dirty="0"/>
              <a:t>is</a:t>
            </a:r>
            <a:r>
              <a:rPr spc="-110" dirty="0"/>
              <a:t> </a:t>
            </a:r>
            <a:r>
              <a:rPr spc="280" dirty="0"/>
              <a:t>a</a:t>
            </a:r>
            <a:r>
              <a:rPr spc="-114" dirty="0"/>
              <a:t> </a:t>
            </a:r>
            <a:r>
              <a:rPr spc="-10" dirty="0"/>
              <a:t>LimitRange?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95" dirty="0">
                <a:solidFill>
                  <a:srgbClr val="666666"/>
                </a:solidFill>
                <a:latin typeface="Arial"/>
                <a:cs typeface="Arial"/>
              </a:rPr>
              <a:t>Constraints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/>
                <a:cs typeface="Arial"/>
              </a:rPr>
              <a:t>or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defaults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/>
                <a:cs typeface="Arial"/>
              </a:rPr>
              <a:t>resource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/>
                <a:cs typeface="Arial"/>
              </a:rPr>
              <a:t>allocations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for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55" dirty="0">
                <a:solidFill>
                  <a:srgbClr val="666666"/>
                </a:solidFill>
                <a:latin typeface="Arial"/>
                <a:cs typeface="Arial"/>
              </a:rPr>
              <a:t>an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/>
                <a:cs typeface="Arial"/>
              </a:rPr>
              <a:t>object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/>
                <a:cs typeface="Arial"/>
              </a:rPr>
              <a:t>type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309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00095" y="1813816"/>
            <a:ext cx="10541845" cy="37168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marR="15240" indent="-351790">
              <a:lnSpc>
                <a:spcPct val="113300"/>
              </a:lnSpc>
              <a:spcBef>
                <a:spcPts val="100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"/>
                <a:cs typeface="Arial"/>
              </a:rPr>
              <a:t>Enforces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minimum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maximum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compute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resources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usage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per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Pod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container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in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namespace.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/>
              <a:buChar char="●"/>
            </a:pPr>
            <a:endParaRPr sz="1600">
              <a:latin typeface="Arial"/>
              <a:cs typeface="Arial"/>
            </a:endParaRPr>
          </a:p>
          <a:p>
            <a:pPr marL="363855" marR="165100" indent="-351790">
              <a:lnSpc>
                <a:spcPct val="113300"/>
              </a:lnSpc>
              <a:spcBef>
                <a:spcPts val="5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"/>
                <a:cs typeface="Arial"/>
              </a:rPr>
              <a:t>Enforces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minimum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maximum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storage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request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per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PersistentVolumeClaim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a </a:t>
            </a:r>
            <a:r>
              <a:rPr sz="1600" spc="-10" dirty="0">
                <a:latin typeface="Arial"/>
                <a:cs typeface="Arial"/>
              </a:rPr>
              <a:t>namespace.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85"/>
              </a:spcBef>
              <a:buFont typeface="Arial"/>
              <a:buChar char="●"/>
            </a:pPr>
            <a:endParaRPr sz="1600">
              <a:latin typeface="Arial"/>
              <a:cs typeface="Arial"/>
            </a:endParaRPr>
          </a:p>
          <a:p>
            <a:pPr marL="363855" indent="-351155">
              <a:lnSpc>
                <a:spcPct val="100000"/>
              </a:lnSpc>
              <a:spcBef>
                <a:spcPts val="5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"/>
                <a:cs typeface="Arial"/>
              </a:rPr>
              <a:t>Enforces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ratio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between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request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limit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resource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namespace.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/>
              <a:buChar char="●"/>
            </a:pPr>
            <a:endParaRPr sz="1600">
              <a:latin typeface="Arial"/>
              <a:cs typeface="Arial"/>
            </a:endParaRPr>
          </a:p>
          <a:p>
            <a:pPr marL="363855" marR="5080" indent="-351790">
              <a:lnSpc>
                <a:spcPct val="113300"/>
              </a:lnSpc>
              <a:spcBef>
                <a:spcPts val="5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"/>
                <a:cs typeface="Arial"/>
              </a:rPr>
              <a:t>Set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default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requests/limits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compute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resources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namespace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automatically </a:t>
            </a:r>
            <a:r>
              <a:rPr sz="1600" dirty="0">
                <a:latin typeface="Arial"/>
                <a:cs typeface="Arial"/>
              </a:rPr>
              <a:t>injects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them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into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containers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at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runtime.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QUOTAS &amp;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ResourceQuota &amp; LimitRange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Quotas &amp; Limits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ResourceQuota caps the total resources used across a namespace; LimitRange enforces per-container defaults and maximums. CKAD tests both — write the YAML, apply them, and understand the rejection error messages.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Apply a ResourceQuota and a LimitRange, watch defaults get injected, then violate the max and the quota.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spec: · k run · for i · » ResourceQuota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ResourceQuota &amp; LimitRange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ResourceQuota: namespace-wide ceilings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45846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45846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3670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hard: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pods: "5"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requests.cpu: "1"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requests.memory: 1Gi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limits.cpu: "2"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limits.memory: 2Gi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1703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LimitRange: per-container defaults and maximums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101083"/>
            <a:ext cx="10652760" cy="127101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101083"/>
            <a:ext cx="82296" cy="1271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165091"/>
            <a:ext cx="10323576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limits: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type: Container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default:        {cpu: 200m, memory: 256Mi}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defaultRequest: {cpu: 100m, memory: 128Mi}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max:            {cpu: 500m, memory: 512Mi}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ResourceQuota &amp; LimitRange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Defaults injected; max enforced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run a --image=nginx:1.25 -n team-a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 a -n team-a -o jsonpath='{.spec.containers[0].resources}'; echo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a container requesting cpu:1 is rejected: 'maximum cpu per Container is 500m'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Exceed the quota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for i in 1 2 3 4; do k run quota-$i --image=nginx:1.25 -n team-a; done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run quota-5 --image=nginx:1.25 -n team-a   # 'exceeded quota: team-a-quota'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describe quota team-a-quota -n team-a       # Used vs Hard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6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ResourceQuota limits aggregate usage; exceeding it rejects new Pods. LimitRange enforces per-container min/max/defaults. Without a LimitRange, Pods with no resource block cannot be created in a quota-enforced namespace.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ResourceQuota &amp; LimitRange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 Pod with no resource block gets requests/limits injected by the LimitRange, the 6th Pod is rejected with exceeded quota, and describe quota shows Used vs Hard.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RESOURCE MANAGEMENT ·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Managing Resources for Objects and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Containers should declare a minimum amount of resources needed (requests) and a maximum allowed (limits).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Application developers should right-size resources with load tests or by monitoring production consumption.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ResourceQuota enforces resource consumption at the namespace level.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LimitRange constrains or defaults resource allocations for individual objects (Pod, PVC).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RESOURCE MANAGEMENT · UNITS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Resource Units in Kubernetes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CPU is measured in millicores (m).  Example: 600m = 0.6 CPU cores.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Memory is measured in bytes using fixed-point numbers or power-of-two suffixes: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700">
                <a:solidFill>
                  <a:srgbClr val="161B26"/>
                </a:solidFill>
                <a:latin typeface="Arial"/>
              </a:rPr>
              <a:t>Ki = kibibytes  •  Mi = mebibytes  •  Gi = gibibytes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700">
                <a:solidFill>
                  <a:srgbClr val="161B26"/>
                </a:solidFill>
                <a:latin typeface="Arial"/>
              </a:rPr>
              <a:t>K = kilobytes   •  M = megabytes   •  G = gigabytes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Example: 256Mi = 268,435,456 bytes.  See the official docs for full details.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RESOURCE REQUESTS ·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Resource Requests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Containers declare a minimum amount of resources via spec.containers[].resources.requests.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Resource types: CPU, memory, huge pages, ephemeral storage.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The scheduler uses requests to decide which node can run the Pod.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If no node has enough capacity → the Pod stays Pending with status PodExceedsFreeCPU or PodExceedsFreeMemory.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RESOURCE REQUESTS ·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Example Scheduling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The scheduler finds a node whose available CPU and memory ≥ the Pod's requests.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Example: Pod requests 1 CPU + 256 Mi memory. Node must have at least that available.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Requests do not cap actual usage — they are scheduling guarantees only.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Once scheduled, actual usage can exceed requests (up to the limit).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RESOURCE REQUESTS ·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Resource Requests — Options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resources.requests.cpu   — minimum CPU in cores or millicores  (e.g. "1" or "500m")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resources.requests.memory — minimum memory in bytes with suffix  (e.g. "256Mi")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resources.requests.ephemeral-storage — minimum local ephemeral storage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resources.requests.hugepages-&lt;size&gt; — huge page allocation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Values are per container, not per Pod.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RESOURCE REQUESTS · DECLARATIVE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Resource Requests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Minimum resource amounts declared for a container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277063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27706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2679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Pod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rate-limiter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name: business-app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image: bmuschko/nodejs-business-app:1.0.0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ports: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- containerPort: 8080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resources: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requests: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memory: "256Mi"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cpu: "1"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RESOURCE LIMITS ·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Resource Limits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Containers declare a maximum amount of resources via spec.containers[].resources.limits.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Resource types: CPU, memory, huge pages, ephemeral storage.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The container runtime enforces limits at runtime. Behaviour when exceeded: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700">
                <a:solidFill>
                  <a:srgbClr val="161B26"/>
                </a:solidFill>
                <a:latin typeface="Arial"/>
              </a:rPr>
              <a:t>CPU limit exceeded → process is throttled (not killed)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700">
                <a:solidFill>
                  <a:srgbClr val="161B26"/>
                </a:solidFill>
                <a:latin typeface="Arial"/>
              </a:rPr>
              <a:t>Memory limit exceeded → container may be OOMKilled (Out Of Memory)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RESOURCE LIMITS ·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Resource Limits — Options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resources.limits.cpu   — maximum CPU in cores or millicores  (e.g. "2" or "1000m")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resources.limits.memory — maximum memory in bytes with suffix  (e.g. "512Mi")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resources.limits.ephemeral-storage — maximum local ephemeral storage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resources.limits.hugepages-&lt;size&gt; — maximum huge pages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Best practice: always set both requests and limits for every container.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RESOURCE LIMITS · DECLARATIVE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Resource Limits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Maximum resource amounts declared for a container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277063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27706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2679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Pod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rate-limiter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name: business-app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image: bmuschko/nodejs-business-app:1.0.0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ports: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- containerPort: 8080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resources: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limits: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memory: "512Mi"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cpu: "2"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RESOURCE MANAGEMENT · INSPECT 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Pod Scheduling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Find the node a Pod was scheduled on, then inspect its resource usage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645919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64591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554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pod rate-limiter -o yaml | grep nodeName: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nodeName: worker-3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describe node worker-3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...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Non-terminated Pods: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Namespace  Name          CPU Requests  CPU Limits  Memory Requests  Memory Limits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default    rate-limiter  1250m (62%)   0 (0%)      256Mi (6%)       512Mi (13%)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RESOURCE MANAGEMENT · BEST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Resource Requests &amp; Limits — Combined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It is best practice to define both requests and limits for every container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220827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22082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2116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name: business-app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image: bmuschko/nodejs-business-app:1.0.0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resources: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requests: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memory: "256Mi"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cpu: "1"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limits: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memory: "512Mi"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cpu: "2"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EXERCISE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83464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Defining Container Resource Requests and Limits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Day 3 done — you can observe, configure and secure applications.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3891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Tomorrow (half day): Services &amp; Networking, then the final assessment.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Certified Kubernetes Application Developer (CKAD)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52628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TGS-2025053212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4  (½ day)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Services &amp; Networking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Services · Service DNS · Ingress with TLS · NetworkPolicy  (CKAD Domain 5 — 20%)  +  Final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7607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It is mandatory to take the AM, PM and Assessment digital attendance for WSQ-funded courses.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The trainer displays the digital attendance QR code from the SSG portal.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Scan the QR code with your phone camera and submit your attendance.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A minimum of 75% attendance is required for assessment and funding.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828800"/>
            <a:ext cx="4389120" cy="27432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0" y="2148840"/>
            <a:ext cx="1005840" cy="10058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at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936" y="2420416"/>
            <a:ext cx="462688" cy="4626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8040" y="3337560"/>
            <a:ext cx="3840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Minimum 75%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attendance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4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&amp;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So far: design &amp; build (D1), deployment (D2), observability and config &amp; security (D3).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This morning — Domain 5 Services &amp; Networking (20%): how Pods are reached and isolated.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Services and DNS for stable in-cluster addressing; Ingress for HTTP/HTTPS; NetworkPolicy for isolation.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From 1:00 PM — mock-exam practice; the final written assessment starts at 2:00 PM.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Stable virtual IPs &amp; DNS for a set of Pods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SERVICE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Services?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Pod IPs are ephemeral — a Service gives a stable virtual IP and DNS name in front of matching Pods.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ClusterIP (default) is in-cluster only; NodePort opens a port on every node; LoadBalancer asks the cloud for an external IP.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Service finds its Pods by label selector; the matching set is tracked as EndpointSlices.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Empty Endpoints almost always means a selector/label mismatch — the most common Service bug.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THREE WAYS TO EXPOSE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Choosing a Service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ClusterIP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In-cluster only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Stable virtual IP + DNS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Default type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NodePort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Port on every node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30000–32767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Reachable from outside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LoadBalancer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Cloud external IP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Builds on NodePort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One Service, public entry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/>
              <a:t>Service</a:t>
            </a:r>
            <a:r>
              <a:rPr spc="75" dirty="0"/>
              <a:t> </a:t>
            </a:r>
            <a:r>
              <a:rPr spc="80" dirty="0"/>
              <a:t>Type </a:t>
            </a:r>
            <a:r>
              <a:rPr spc="90" dirty="0"/>
              <a:t>Inheritance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60" dirty="0">
                <a:solidFill>
                  <a:srgbClr val="666666"/>
                </a:solidFill>
                <a:latin typeface="Arial"/>
                <a:cs typeface="Arial"/>
              </a:rPr>
              <a:t>Services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/>
                <a:cs typeface="Arial"/>
              </a:rPr>
              <a:t>build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on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45" dirty="0">
                <a:solidFill>
                  <a:srgbClr val="666666"/>
                </a:solidFill>
                <a:latin typeface="Arial"/>
                <a:cs typeface="Arial"/>
              </a:rPr>
              <a:t>top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of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45" dirty="0">
                <a:solidFill>
                  <a:srgbClr val="666666"/>
                </a:solidFill>
                <a:latin typeface="Arial"/>
                <a:cs typeface="Arial"/>
              </a:rPr>
              <a:t>each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5" dirty="0">
                <a:solidFill>
                  <a:srgbClr val="666666"/>
                </a:solidFill>
                <a:latin typeface="Arial"/>
                <a:cs typeface="Arial"/>
              </a:rPr>
              <a:t>other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9216" y="2026733"/>
            <a:ext cx="7397501" cy="420366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360</a:t>
            </a:fld>
            <a:endParaRPr spc="-25" dirty="0"/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/>
              <a:t>ClusterIP</a:t>
            </a:r>
            <a:r>
              <a:rPr spc="225" dirty="0"/>
              <a:t> </a:t>
            </a:r>
            <a:r>
              <a:rPr dirty="0"/>
              <a:t>Service</a:t>
            </a:r>
            <a:r>
              <a:rPr spc="229" dirty="0"/>
              <a:t> </a:t>
            </a:r>
            <a:r>
              <a:rPr spc="60" dirty="0"/>
              <a:t>Type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65" dirty="0">
                <a:solidFill>
                  <a:srgbClr val="666666"/>
                </a:solidFill>
                <a:latin typeface="Arial"/>
                <a:cs typeface="Arial"/>
              </a:rPr>
              <a:t>Only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reachable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40" dirty="0">
                <a:solidFill>
                  <a:srgbClr val="666666"/>
                </a:solidFill>
                <a:latin typeface="Arial"/>
                <a:cs typeface="Arial"/>
              </a:rPr>
              <a:t>from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/>
                <a:cs typeface="Arial"/>
              </a:rPr>
              <a:t>within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60" dirty="0">
                <a:solidFill>
                  <a:srgbClr val="666666"/>
                </a:solidFill>
                <a:latin typeface="Arial"/>
                <a:cs typeface="Arial"/>
              </a:rPr>
              <a:t>cluster,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e.g. </a:t>
            </a:r>
            <a:r>
              <a:rPr sz="1600" b="0" spc="120" dirty="0">
                <a:solidFill>
                  <a:srgbClr val="666666"/>
                </a:solidFill>
                <a:latin typeface="Arial"/>
                <a:cs typeface="Arial"/>
              </a:rPr>
              <a:t>another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30" dirty="0">
                <a:solidFill>
                  <a:srgbClr val="666666"/>
                </a:solidFill>
                <a:latin typeface="Arial"/>
                <a:cs typeface="Arial"/>
              </a:rPr>
              <a:t>Pod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4097" y="2019765"/>
            <a:ext cx="4287732" cy="420896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361</a:t>
            </a:fld>
            <a:endParaRPr spc="-25" dirty="0"/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50" dirty="0"/>
              <a:t>NodePort</a:t>
            </a:r>
            <a:r>
              <a:rPr spc="85" dirty="0"/>
              <a:t> </a:t>
            </a:r>
            <a:r>
              <a:rPr dirty="0"/>
              <a:t>Service</a:t>
            </a:r>
            <a:r>
              <a:rPr spc="85" dirty="0"/>
              <a:t> </a:t>
            </a:r>
            <a:r>
              <a:rPr spc="60" dirty="0"/>
              <a:t>Type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135" dirty="0">
                <a:solidFill>
                  <a:srgbClr val="666666"/>
                </a:solidFill>
                <a:latin typeface="Arial"/>
                <a:cs typeface="Arial"/>
              </a:rPr>
              <a:t>Can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40" dirty="0">
                <a:solidFill>
                  <a:srgbClr val="666666"/>
                </a:solidFill>
                <a:latin typeface="Arial"/>
                <a:cs typeface="Arial"/>
              </a:rPr>
              <a:t>be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/>
                <a:cs typeface="Arial"/>
              </a:rPr>
              <a:t>resolved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40" dirty="0">
                <a:solidFill>
                  <a:srgbClr val="666666"/>
                </a:solidFill>
                <a:latin typeface="Arial"/>
                <a:cs typeface="Arial"/>
              </a:rPr>
              <a:t>from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outside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of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Kubernetes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0" dirty="0">
                <a:solidFill>
                  <a:srgbClr val="666666"/>
                </a:solidFill>
                <a:latin typeface="Arial"/>
                <a:cs typeface="Arial"/>
              </a:rPr>
              <a:t>cluster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78479" y="2031817"/>
            <a:ext cx="4518973" cy="387563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366</a:t>
            </a:fld>
            <a:endParaRPr spc="-25" dirty="0"/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75" dirty="0"/>
              <a:t>LoadBalancer</a:t>
            </a:r>
            <a:r>
              <a:rPr spc="95" dirty="0"/>
              <a:t> </a:t>
            </a:r>
            <a:r>
              <a:rPr dirty="0"/>
              <a:t>Service</a:t>
            </a:r>
            <a:r>
              <a:rPr spc="95" dirty="0"/>
              <a:t> </a:t>
            </a:r>
            <a:r>
              <a:rPr spc="60" dirty="0"/>
              <a:t>Type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55" dirty="0">
                <a:solidFill>
                  <a:srgbClr val="666666"/>
                </a:solidFill>
                <a:latin typeface="Arial"/>
                <a:cs typeface="Arial"/>
              </a:rPr>
              <a:t>Routes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/>
                <a:cs typeface="Arial"/>
              </a:rPr>
              <a:t>traffic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40" dirty="0">
                <a:solidFill>
                  <a:srgbClr val="666666"/>
                </a:solidFill>
                <a:latin typeface="Arial"/>
                <a:cs typeface="Arial"/>
              </a:rPr>
              <a:t>from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50" dirty="0">
                <a:solidFill>
                  <a:srgbClr val="666666"/>
                </a:solidFill>
                <a:latin typeface="Arial"/>
                <a:cs typeface="Arial"/>
              </a:rPr>
              <a:t>existing,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/>
                <a:cs typeface="Arial"/>
              </a:rPr>
              <a:t>external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5" dirty="0">
                <a:solidFill>
                  <a:srgbClr val="666666"/>
                </a:solidFill>
                <a:latin typeface="Arial"/>
                <a:cs typeface="Arial"/>
              </a:rPr>
              <a:t>load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balancer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50" dirty="0">
                <a:solidFill>
                  <a:srgbClr val="666666"/>
                </a:solidFill>
                <a:latin typeface="Arial"/>
                <a:cs typeface="Arial"/>
              </a:rPr>
              <a:t>Service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8817" y="2037801"/>
            <a:ext cx="3298300" cy="42144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369</a:t>
            </a:fld>
            <a:endParaRPr spc="-25" dirty="0"/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4 ·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Services — ClusterIP, NodePort, LoadBalancer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 Service gives a stable virtual IP and DNS name to a set of Pods. CKAD requires fluency with ClusterIP, NodePort and LoadBalancer types, kubectl expose, endpoint debugging and the selector-mismatch pattern.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Expose a Deployment as ClusterIP, NodePort and LoadBalancer, inspect EndpointSlices, then debug a selector mismatch.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create · k expose · k patch · » ClusterIP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Services — ClusterIP, NodePort, LoadBalancer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Backend Deployment + ClusterIP 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deployment web --image=nginx:1.25 --replicas=3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expose deployment web --port=80 --target-port=80 --name=web-cip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describe svc web-cip | grep -E "IP:|Endpoints:"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NodePort (a port on every node)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expose deployment web --port=80 --target-port=80 --type=NodePort --name=web-np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PORT=$(k get svc web-np -o jsonpath='{.spec.ports[0].nodePort}')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curl -s http://localhost:$PORT | head -3   # 30000-32767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6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LoadBalancer + EndpointSlices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626864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26864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690872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expose deployment web --port=80 --type=LoadBalancer --name=web-lb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endpointslices -l kubernetes.io/service-name=web-cip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Services — ClusterIP, NodePort, LoadBalancer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Debug a selector mismatch (the #1 Service bug)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patch svc web-cip -p '{"spec":{"selector":{"app":"does-not-exist"}}}'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endpoints web-cip        # empty = no Pod matches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patch svc web-cip -p '{"spec":{"selector":{"app":"web"}}}'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ClusterIP = in-cluster only; NodePort = a port on every node; LoadBalancer = a cloud LB. Empty Endpoints almost always means the selector does not match Pod labels. EndpointSlices (v1.21+) succeed Endpoints.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Services — ClusterIP, NodePort, LoadBalancer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describe svc web-cip lists three endpoint IPs, the NodePort serves the page on localhost:$PORT, and a bad selector empties the Endpoints until it is fixed.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TROUBLESHOOTING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Troubleshooting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Built-in mechanisms for identifying the root cause of a failure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TROUBLESHOOTING SERVICES · 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Checking Service Connectivity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Identify the Service type and attempt to connect to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service echoserver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NAME        TYPE       CLUSTER-IP      EXTERNAL-IP  PORT(S)    AGE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echoserver  ClusterIP  10.96.254.0     &lt;none&gt;       8080/TCP   8s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575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Run a temporary Pod and attempt to reach the 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204972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04972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68980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run tmp --image=busybox --restart=Never -it --rm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 wget echoserver:8080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Connecting to echoserver (10.96.254.0:8080)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wget: can't connect to remote host (10.96.254.0:8080): Connection refused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pod "tmp" deleted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TROUBLESHOOTING SERVICES · STEP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Verifying Endpoints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No endpoints = label selector does not match any Pod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endpoints echoserver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NAME        ENDPOINTS  AGE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echoserver  &lt;none&gt;     63s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575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Correct configuration exposes Pod IP addresses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2049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049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68980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endpoints echoserver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NAME        ENDPOINTS                          AGE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echoserver  10.244.0.3:8080,10.244.0.4:8080   63s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TROUBLESHOOTING SERVICES · STEP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Checking Label Selection and Port Assignment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Inspect the Service — verify Selector and TargetPort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645919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64591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554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describe service echoserver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Name:      echoserver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Selector:  app=echoserver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Type:      ClusterIP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IP:        10.111.148.223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Port:      8080/TCP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TargetPort: 8080/TCP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Endpoints: 10.244.0.3:8080,10.244.0.4:8080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94759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Compare with Pod labels — they must match the Selector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142231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142231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206239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describe pod echoserver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Labels:  app=echoserver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echoserver: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Port: 8080/TCP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TROUBLESHOOTING SERVICES · STEP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Checking Network Policies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Check for NetworkPolicies that may block ingress traffic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45846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45846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3670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networkpolicies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No resources found in default namespace.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If policies exist, inspect them: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networkpolicies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NAME                   POD-SELECTOR  AGE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default-deny-ingress   &lt;none&gt;        9s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07307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 default-deny-ingress policy blocks ALL ingress — may need an allow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TROUBLESHOOTING SERVICES · STEP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Ensuring Pod Functionality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Check Pod status — even 'Running' may hide container problems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645919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64591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554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pods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NAME        READY  STATUS        RESTARTS  AGE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echoserver  0/1    ErrImagePull  0         2s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After fix: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pods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NAME        READY  STATUS   RESTARTS  AGE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echoserver  1/1    Running  0         5s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94759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Exec into the Pod or use logs to verify the application is actually serving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142231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142231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206239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logs echoserver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exec -it echoserver -- wget -qO- localhost:8080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EXERCISE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83464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Troubleshooting a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EXAM PREP ·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Exam Essentials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/>
              </a:rPr>
              <a:t>•  </a:t>
            </a:r>
            <a:r>
              <a:rPr sz="1700">
                <a:solidFill>
                  <a:srgbClr val="161B26"/>
                </a:solidFill>
                <a:latin typeface="Arial"/>
              </a:rPr>
              <a:t>Service misconfiguration is a common failure. Any misconfiguration prevents traffic from reaching the target Pods.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/>
              </a:rPr>
              <a:t>•  </a:t>
            </a:r>
            <a:r>
              <a:rPr sz="1700">
                <a:solidFill>
                  <a:srgbClr val="161B26"/>
                </a:solidFill>
                <a:latin typeface="Arial"/>
              </a:rPr>
              <a:t>Common causes: incorrect label selector (Service selector must match Pod labels), wrong port or targetPort assignment.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/>
              </a:rPr>
              <a:t>•  </a:t>
            </a:r>
            <a:r>
              <a:rPr sz="1700">
                <a:solidFill>
                  <a:srgbClr val="161B26"/>
                </a:solidFill>
                <a:latin typeface="Arial"/>
              </a:rPr>
              <a:t>Use kubectl get endpoints &lt;service&gt; to verify the Service has resolved Pod IP:port pairs.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/>
              </a:rPr>
              <a:t>•  </a:t>
            </a:r>
            <a:r>
              <a:rPr sz="1700">
                <a:solidFill>
                  <a:srgbClr val="161B26"/>
                </a:solidFill>
                <a:latin typeface="Arial"/>
              </a:rPr>
              <a:t>Check for NetworkPolicies that may block ingress traffic to the Pod.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/>
              </a:rPr>
              <a:t>•  </a:t>
            </a:r>
            <a:r>
              <a:rPr sz="1700">
                <a:solidFill>
                  <a:srgbClr val="161B26"/>
                </a:solidFill>
                <a:latin typeface="Arial"/>
              </a:rPr>
              <a:t>Verify the Pod itself is healthy: check status, logs, and exec a test request from inside the cluster.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Service DNS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How CoreDNS resolves Services and Pods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CLUSTER DNS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Names, Not 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CoreDNS gives every Service a name: &lt;service&gt;.&lt;namespace&gt;.svc.cluster.local.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Within the same namespace the short name resolves via the Pod's search list.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Cross-namespace you need at least &lt;service&gt;.&lt;namespace&gt;; the full FQDN always works.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headless Service (clusterIP: None) returns every Pod IP instead of a single virtual IP.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60" dirty="0"/>
              <a:t>Discovering</a:t>
            </a:r>
            <a:r>
              <a:rPr spc="-30" dirty="0"/>
              <a:t> </a:t>
            </a:r>
            <a:r>
              <a:rPr spc="130" dirty="0"/>
              <a:t>the</a:t>
            </a:r>
            <a:r>
              <a:rPr spc="-30" dirty="0"/>
              <a:t> </a:t>
            </a:r>
            <a:r>
              <a:rPr dirty="0"/>
              <a:t>Service</a:t>
            </a:r>
            <a:r>
              <a:rPr spc="-25" dirty="0"/>
              <a:t> </a:t>
            </a:r>
            <a:r>
              <a:rPr spc="125" dirty="0"/>
              <a:t>by</a:t>
            </a:r>
            <a:r>
              <a:rPr spc="-30" dirty="0"/>
              <a:t> </a:t>
            </a:r>
            <a:r>
              <a:rPr spc="-45" dirty="0"/>
              <a:t>DNS</a:t>
            </a:r>
            <a:r>
              <a:rPr spc="-30" dirty="0"/>
              <a:t> </a:t>
            </a:r>
            <a:r>
              <a:rPr spc="-10" dirty="0"/>
              <a:t>Lookup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75" dirty="0">
                <a:solidFill>
                  <a:srgbClr val="666666"/>
                </a:solidFill>
                <a:latin typeface="Arial"/>
                <a:cs typeface="Arial"/>
              </a:rPr>
              <a:t>Kubernetes’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-45" dirty="0">
                <a:solidFill>
                  <a:srgbClr val="666666"/>
                </a:solidFill>
                <a:latin typeface="Arial"/>
                <a:cs typeface="Arial"/>
              </a:rPr>
              <a:t>DNS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service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75" dirty="0">
                <a:solidFill>
                  <a:srgbClr val="666666"/>
                </a:solidFill>
                <a:latin typeface="Arial"/>
                <a:cs typeface="Arial"/>
              </a:rPr>
              <a:t>maps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/>
                <a:cs typeface="Arial"/>
              </a:rPr>
              <a:t>cluster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-105" dirty="0">
                <a:solidFill>
                  <a:srgbClr val="666666"/>
                </a:solidFill>
                <a:latin typeface="Arial"/>
                <a:cs typeface="Arial"/>
              </a:rPr>
              <a:t>IP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address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60" dirty="0">
                <a:solidFill>
                  <a:srgbClr val="666666"/>
                </a:solidFill>
                <a:latin typeface="Arial"/>
                <a:cs typeface="Arial"/>
              </a:rPr>
              <a:t>Service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60" dirty="0">
                <a:solidFill>
                  <a:srgbClr val="666666"/>
                </a:solidFill>
                <a:latin typeface="Arial"/>
                <a:cs typeface="Arial"/>
              </a:rPr>
              <a:t>name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07224" y="1814008"/>
            <a:ext cx="9799320" cy="1783080"/>
            <a:chOff x="607224" y="1814008"/>
            <a:chExt cx="9799320" cy="178308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7224" y="1814008"/>
              <a:ext cx="9799200" cy="17824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78665" y="1878433"/>
              <a:ext cx="9646920" cy="1630680"/>
            </a:xfrm>
            <a:custGeom>
              <a:avLst/>
              <a:gdLst/>
              <a:ahLst/>
              <a:cxnLst/>
              <a:rect l="l" t="t" r="r" b="b"/>
              <a:pathLst>
                <a:path w="7235190" h="1223010">
                  <a:moveTo>
                    <a:pt x="7235099" y="1222499"/>
                  </a:moveTo>
                  <a:lnTo>
                    <a:pt x="0" y="1222499"/>
                  </a:lnTo>
                  <a:lnTo>
                    <a:pt x="0" y="0"/>
                  </a:lnTo>
                  <a:lnTo>
                    <a:pt x="7235099" y="0"/>
                  </a:lnTo>
                  <a:lnTo>
                    <a:pt x="7235099" y="1222499"/>
                  </a:lnTo>
                  <a:close/>
                </a:path>
              </a:pathLst>
            </a:custGeom>
            <a:solidFill>
              <a:srgbClr val="F6F6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58499" y="2076493"/>
            <a:ext cx="7338907" cy="5452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ourier New"/>
                <a:cs typeface="Courier New"/>
              </a:rPr>
              <a:t>$</a:t>
            </a:r>
            <a:r>
              <a:rPr sz="1200" b="1" spc="-65" dirty="0">
                <a:latin typeface="Courier New"/>
                <a:cs typeface="Courier New"/>
              </a:rPr>
              <a:t> </a:t>
            </a:r>
            <a:r>
              <a:rPr sz="1200" b="1" dirty="0">
                <a:latin typeface="Courier New"/>
                <a:cs typeface="Courier New"/>
              </a:rPr>
              <a:t>kubectl</a:t>
            </a:r>
            <a:r>
              <a:rPr sz="1200" b="1" spc="-60" dirty="0">
                <a:latin typeface="Courier New"/>
                <a:cs typeface="Courier New"/>
              </a:rPr>
              <a:t> </a:t>
            </a:r>
            <a:r>
              <a:rPr sz="1200" b="1" dirty="0">
                <a:latin typeface="Courier New"/>
                <a:cs typeface="Courier New"/>
              </a:rPr>
              <a:t>run</a:t>
            </a:r>
            <a:r>
              <a:rPr sz="1200" b="1" spc="-60" dirty="0">
                <a:latin typeface="Courier New"/>
                <a:cs typeface="Courier New"/>
              </a:rPr>
              <a:t> </a:t>
            </a:r>
            <a:r>
              <a:rPr sz="1200" b="1" dirty="0">
                <a:latin typeface="Courier New"/>
                <a:cs typeface="Courier New"/>
              </a:rPr>
              <a:t>tmp</a:t>
            </a:r>
            <a:r>
              <a:rPr sz="1200" b="1" spc="-60" dirty="0">
                <a:latin typeface="Courier New"/>
                <a:cs typeface="Courier New"/>
              </a:rPr>
              <a:t> </a:t>
            </a:r>
            <a:r>
              <a:rPr sz="1200" b="1" spc="-20" dirty="0">
                <a:latin typeface="Courier New"/>
                <a:cs typeface="Courier New"/>
              </a:rPr>
              <a:t>--</a:t>
            </a:r>
            <a:r>
              <a:rPr sz="1200" b="1" dirty="0">
                <a:latin typeface="Courier New"/>
                <a:cs typeface="Courier New"/>
              </a:rPr>
              <a:t>image=busybox</a:t>
            </a:r>
            <a:r>
              <a:rPr sz="1200" b="1" spc="-60" dirty="0">
                <a:latin typeface="Courier New"/>
                <a:cs typeface="Courier New"/>
              </a:rPr>
              <a:t> </a:t>
            </a:r>
            <a:r>
              <a:rPr sz="1200" b="1" spc="-20" dirty="0">
                <a:latin typeface="Courier New"/>
                <a:cs typeface="Courier New"/>
              </a:rPr>
              <a:t>--</a:t>
            </a:r>
            <a:r>
              <a:rPr sz="1200" b="1" dirty="0">
                <a:latin typeface="Courier New"/>
                <a:cs typeface="Courier New"/>
              </a:rPr>
              <a:t>restart=Never</a:t>
            </a:r>
            <a:r>
              <a:rPr sz="1200" b="1" spc="-60" dirty="0">
                <a:latin typeface="Courier New"/>
                <a:cs typeface="Courier New"/>
              </a:rPr>
              <a:t> </a:t>
            </a:r>
            <a:r>
              <a:rPr sz="1200" b="1" spc="-20" dirty="0">
                <a:latin typeface="Courier New"/>
                <a:cs typeface="Courier New"/>
              </a:rPr>
              <a:t>-</a:t>
            </a:r>
            <a:r>
              <a:rPr sz="1200" b="1" dirty="0">
                <a:latin typeface="Courier New"/>
                <a:cs typeface="Courier New"/>
              </a:rPr>
              <a:t>it</a:t>
            </a:r>
            <a:r>
              <a:rPr sz="1200" b="1" spc="-60" dirty="0">
                <a:latin typeface="Courier New"/>
                <a:cs typeface="Courier New"/>
              </a:rPr>
              <a:t> </a:t>
            </a:r>
            <a:r>
              <a:rPr sz="1200" b="1" spc="-20" dirty="0">
                <a:latin typeface="Courier New"/>
                <a:cs typeface="Courier New"/>
              </a:rPr>
              <a:t>--</a:t>
            </a:r>
            <a:r>
              <a:rPr sz="1200" b="1" dirty="0">
                <a:latin typeface="Courier New"/>
                <a:cs typeface="Courier New"/>
              </a:rPr>
              <a:t>rm</a:t>
            </a:r>
            <a:r>
              <a:rPr sz="1200" b="1" spc="-50" dirty="0">
                <a:latin typeface="Courier New"/>
                <a:cs typeface="Courier New"/>
              </a:rPr>
              <a:t> </a:t>
            </a:r>
            <a:r>
              <a:rPr sz="1300" spc="-700" dirty="0">
                <a:latin typeface="Lucida Grande"/>
                <a:cs typeface="Lucida Grande"/>
              </a:rPr>
              <a:t>↵</a:t>
            </a:r>
            <a:endParaRPr sz="1300">
              <a:latin typeface="Lucida Grande"/>
              <a:cs typeface="Lucida Grande"/>
            </a:endParaRPr>
          </a:p>
          <a:p>
            <a:pPr marL="195580">
              <a:lnSpc>
                <a:spcPct val="100000"/>
              </a:lnSpc>
              <a:spcBef>
                <a:spcPts val="20"/>
              </a:spcBef>
            </a:pPr>
            <a:r>
              <a:rPr sz="1200" b="1" spc="-20" dirty="0">
                <a:latin typeface="Courier New"/>
                <a:cs typeface="Courier New"/>
              </a:rPr>
              <a:t>-</a:t>
            </a:r>
            <a:r>
              <a:rPr sz="1200" b="1" dirty="0">
                <a:latin typeface="Courier New"/>
                <a:cs typeface="Courier New"/>
              </a:rPr>
              <a:t>-</a:t>
            </a:r>
            <a:r>
              <a:rPr sz="1200" b="1" spc="-5" dirty="0">
                <a:latin typeface="Courier New"/>
                <a:cs typeface="Courier New"/>
              </a:rPr>
              <a:t> </a:t>
            </a:r>
            <a:r>
              <a:rPr sz="1200" b="1" spc="-20" dirty="0">
                <a:latin typeface="Courier New"/>
                <a:cs typeface="Courier New"/>
              </a:rPr>
              <a:t>wget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39100" y="2361700"/>
            <a:ext cx="5127413" cy="287867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1275">
              <a:lnSpc>
                <a:spcPts val="1435"/>
              </a:lnSpc>
            </a:pPr>
            <a:r>
              <a:rPr sz="1200" b="1" spc="-10" dirty="0">
                <a:latin typeface="Courier New"/>
                <a:cs typeface="Courier New"/>
              </a:rPr>
              <a:t>echoserver.default.svc.cluster.local:8080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8499" y="2585171"/>
            <a:ext cx="9055945" cy="5190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sz="1200" dirty="0">
                <a:latin typeface="Courier New"/>
                <a:cs typeface="Courier New"/>
              </a:rPr>
              <a:t>Connecting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to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echoserver.default.svc.cluster.local:8080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(10.96.254.0:8080)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435"/>
              </a:lnSpc>
            </a:pPr>
            <a:r>
              <a:rPr sz="1200" spc="-25" dirty="0">
                <a:latin typeface="Courier New"/>
                <a:cs typeface="Courier New"/>
              </a:rPr>
              <a:t>...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794245" y="2982805"/>
            <a:ext cx="2749127" cy="1639147"/>
            <a:chOff x="2794245" y="2982805"/>
            <a:chExt cx="2749127" cy="1639147"/>
          </a:xfrm>
        </p:grpSpPr>
        <p:sp>
          <p:nvSpPr>
            <p:cNvPr id="10" name="object 10"/>
            <p:cNvSpPr/>
            <p:nvPr/>
          </p:nvSpPr>
          <p:spPr>
            <a:xfrm>
              <a:off x="2848899" y="3110905"/>
              <a:ext cx="0" cy="822113"/>
            </a:xfrm>
            <a:custGeom>
              <a:avLst/>
              <a:gdLst/>
              <a:ahLst/>
              <a:cxnLst/>
              <a:rect l="l" t="t" r="r" b="b"/>
              <a:pathLst>
                <a:path h="616585">
                  <a:moveTo>
                    <a:pt x="0" y="6161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94245" y="2982939"/>
              <a:ext cx="109307" cy="14066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062009" y="3110772"/>
              <a:ext cx="0" cy="1498600"/>
            </a:xfrm>
            <a:custGeom>
              <a:avLst/>
              <a:gdLst/>
              <a:ahLst/>
              <a:cxnLst/>
              <a:rect l="l" t="t" r="r" b="b"/>
              <a:pathLst>
                <a:path h="1123950">
                  <a:moveTo>
                    <a:pt x="0" y="11237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7355" y="2982805"/>
              <a:ext cx="109307" cy="14066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674365" y="3110965"/>
              <a:ext cx="855980" cy="1309792"/>
            </a:xfrm>
            <a:custGeom>
              <a:avLst/>
              <a:gdLst/>
              <a:ahLst/>
              <a:cxnLst/>
              <a:rect l="l" t="t" r="r" b="b"/>
              <a:pathLst>
                <a:path w="641985" h="982345">
                  <a:moveTo>
                    <a:pt x="641699" y="981899"/>
                  </a:moveTo>
                  <a:lnTo>
                    <a:pt x="0" y="981899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711" y="2982999"/>
              <a:ext cx="109308" cy="14066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2107695" y="3983957"/>
            <a:ext cx="1483360" cy="3183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Service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name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12943" y="4088041"/>
            <a:ext cx="3869267" cy="905087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1743075">
              <a:lnSpc>
                <a:spcPct val="100000"/>
              </a:lnSpc>
              <a:spcBef>
                <a:spcPts val="990"/>
              </a:spcBef>
            </a:pPr>
            <a:r>
              <a:rPr sz="1400" dirty="0">
                <a:latin typeface="Arial"/>
                <a:cs typeface="Arial"/>
              </a:rPr>
              <a:t>Resource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type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400" spc="-10" dirty="0">
                <a:latin typeface="Arial"/>
                <a:cs typeface="Arial"/>
              </a:rPr>
              <a:t>Namespace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775081" y="2983097"/>
            <a:ext cx="1180253" cy="966047"/>
            <a:chOff x="5775081" y="2983097"/>
            <a:chExt cx="1180253" cy="966047"/>
          </a:xfrm>
        </p:grpSpPr>
        <p:sp>
          <p:nvSpPr>
            <p:cNvPr id="19" name="object 19"/>
            <p:cNvSpPr/>
            <p:nvPr/>
          </p:nvSpPr>
          <p:spPr>
            <a:xfrm>
              <a:off x="5829735" y="3111063"/>
              <a:ext cx="1112520" cy="825500"/>
            </a:xfrm>
            <a:custGeom>
              <a:avLst/>
              <a:gdLst/>
              <a:ahLst/>
              <a:cxnLst/>
              <a:rect l="l" t="t" r="r" b="b"/>
              <a:pathLst>
                <a:path w="834389" h="619125">
                  <a:moveTo>
                    <a:pt x="834073" y="618602"/>
                  </a:moveTo>
                  <a:lnTo>
                    <a:pt x="0" y="618602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75081" y="2983097"/>
              <a:ext cx="109305" cy="140968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7056508" y="3754551"/>
            <a:ext cx="2269067" cy="3183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Cluster-specific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suffix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365</a:t>
            </a:fld>
            <a:endParaRPr spc="-25" dirty="0"/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4 · SERVICE DNS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DNS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Service DNS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CoreDNS gives every Service a stable DNS name: &lt;service&gt;.&lt;namespace&gt;.svc.cluster.local. CKAD tests cross-namespace resolution, Pod DNS records, headless Services, and reading /etc/resolv.conf to understand ndots:5.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Resolve a Service by short name and FQDN, cross namespaces, read a Pod DNS record and /etc/resolv.conf, then a headless Service.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-n · nslookup web · cat /etc/resolv.conf · » FQDN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DNS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Resolve from the same namespace (short name)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-n app run client --image=busybox --restart=Never -it --rm --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sh -c 'nslookup web; wget -qO- web | head -3'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Resolve from a different namespace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nslookup web              # fails cross-namespace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nslookup web.app          # works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nslookup web.app.svc.cluster.local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Pod DNS record and resolv.conf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Pod A-record: &lt;dashed-ip&gt;.&lt;namespace&gt;.pod.cluster.local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cat /etc/resolv.conf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search app.svc.cluster.local svc.cluster.local cluster.local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ndots:5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DNS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Headless Service returns all Pod 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-n app create service clusterip headless --clusterip="None" --tcp=80:80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nslookup headless.app    # returns every Pod IP, not one VIP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FQDN = &lt;service&gt;.&lt;namespace&gt;.svc.cluster.local. Short names resolve via the search list within the namespace; cross-namespace needs &lt;service&gt;.&lt;namespace&gt;. ndots:5 is why short names check the search list before an absolute lookup. Headless (clusterIP: None) returns per-Pod IPs.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DNS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nslookup web works in-namespace but needs web.app cross-namespace, and the headless Service resolves to all backing Pod IPs.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Ingress &amp; TLS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Layer-7 HTTP/HTTPS routing into the cluster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L7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One Entry Point, Many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An Ingress defines host- and path-based HTTP/HTTPS rules that forward to backend Services.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An Ingress controller (e.g. ingress-nginx) must be running; ingressClassName selects it.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TLS terminates at the controller — tls.secretName points at a kubernetes.io/tls Secret.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pathType: Prefix matches a path and everything below it; Exact requires an exact match.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apiVersion is networking.k8s.io/v1 (extensions/v1beta1 was removed in 1.22).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/>
              <a:t>Ingress</a:t>
            </a:r>
            <a:r>
              <a:rPr spc="75" dirty="0"/>
              <a:t> </a:t>
            </a:r>
            <a:r>
              <a:rPr spc="50" dirty="0"/>
              <a:t>Traffic</a:t>
            </a:r>
            <a:r>
              <a:rPr spc="80" dirty="0"/>
              <a:t> </a:t>
            </a:r>
            <a:r>
              <a:rPr spc="40" dirty="0"/>
              <a:t>Routing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The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context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60" dirty="0">
                <a:solidFill>
                  <a:srgbClr val="666666"/>
                </a:solidFill>
                <a:latin typeface="Arial"/>
                <a:cs typeface="Arial"/>
              </a:rPr>
              <a:t>path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is </a:t>
            </a:r>
            <a:r>
              <a:rPr sz="1600" b="0" spc="190" dirty="0">
                <a:solidFill>
                  <a:srgbClr val="666666"/>
                </a:solidFill>
                <a:latin typeface="Arial"/>
                <a:cs typeface="Arial"/>
              </a:rPr>
              <a:t>mapped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85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5" dirty="0">
                <a:solidFill>
                  <a:srgbClr val="666666"/>
                </a:solidFill>
                <a:latin typeface="Arial"/>
                <a:cs typeface="Arial"/>
              </a:rPr>
              <a:t>backend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0" dirty="0">
                <a:solidFill>
                  <a:srgbClr val="666666"/>
                </a:solidFill>
                <a:latin typeface="Arial"/>
                <a:cs typeface="Arial"/>
              </a:rPr>
              <a:t>(Service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80" dirty="0">
                <a:solidFill>
                  <a:srgbClr val="666666"/>
                </a:solidFill>
                <a:latin typeface="Arial"/>
                <a:cs typeface="Arial"/>
              </a:rPr>
              <a:t>name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65" dirty="0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/>
                <a:cs typeface="Arial"/>
              </a:rPr>
              <a:t>port)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95367" y="4836627"/>
            <a:ext cx="745067" cy="2370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latin typeface="Courier New"/>
                <a:cs typeface="Courier New"/>
              </a:rPr>
              <a:t>/health</a:t>
            </a:r>
            <a:endParaRPr sz="10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831" y="2199200"/>
            <a:ext cx="10653067" cy="342393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385</a:t>
            </a:fld>
            <a:endParaRPr spc="-25" dirty="0"/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4 · INGRESS &amp; TLS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Ingress with TLS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Ingress &amp; TLS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An Ingress provides Layer-7 HTTP/HTTPS routing: hostname and path rules forwarding to backend Services. CKAD tests installing a controller, TLS Secrets, host routing and path-based routing with pathType.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Install ingress-nginx, create a TLS Secret, write a host+TLS Ingress, test HTTPS, then add a path-based rule.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create · apiVersion: networking.k8s.io/v1 · curl -k · » Ingress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Ingress with TLS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Backend Service + TLS Secret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deployment web --image=hashicorp/http-echo --replicas=2 -- -text=hello-ingress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expose deployment web --port=5678 --target-port=5678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secret tls demo-tls --cert=tls.crt --key=tls.key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Ingress with TLS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Ingress with TLS and host routing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295808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29580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28666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networking.k8s.io/v1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Ingress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 {name: demo}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ingressClassName: nginx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tls: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hosts: [demo.local]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secretName: demo-tls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rules: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host: demo.local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http: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paths: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- path: 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pathType: Prefix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backend: {service: {name: web, port: {number: 5678}}}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Ingress with TLS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Test HTTPS routing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curl -k --resolve demo.local:$HTTPS_PORT:127.0.0.1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https://demo.local:$HTTPS_PORT/        # hello-ingress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Add path-based routing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add a second rule: path /v2 -&gt; service v2:5678 (pathType: Prefix)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curl -k --resolve demo.local:$HTTPS_PORT:127.0.0.1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https://demo.local:$HTTPS_PORT/v2       # hello-v2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Ingress apiVersion is networking.k8s.io/v1. ingressClassName selects the controller; tls.secretName must point at a kubernetes.io/tls Secret; pathType: Prefix matches a path and everything below it. --resolve + -k let curl test without real DNS or a valid cert.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Ingress with TLS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curl https://demo.local:$HTTPS_PORT/ returns hello-ingress over TLS, and the /v2 path returns hello-v2 after the second rule is added.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NetworkPolicy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Allow-list Pod-to-Pod traffic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NETWORK ISOLATION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Restrict the Default Open 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By default every Pod can talk to every other Pod — NetworkPolicies allow-list specific traffic.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Default-deny: podSelector: {} with policyTypes:[Ingress] and no ingress rules blocks all inbound.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Allow by podSelector (Pods by label) or namespaceSelector (whole namespaces) in from/to.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Egress works the same way — the classic exam pattern is 'deny all egress except DNS (port 53)'.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Policies are additive: multiple policies combine with logical OR on their allow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80" dirty="0"/>
              <a:t>Example</a:t>
            </a:r>
            <a:r>
              <a:rPr spc="-80" dirty="0"/>
              <a:t> </a:t>
            </a:r>
            <a:r>
              <a:rPr spc="80" dirty="0"/>
              <a:t>Network</a:t>
            </a:r>
            <a:r>
              <a:rPr spc="-80" dirty="0"/>
              <a:t> </a:t>
            </a:r>
            <a:r>
              <a:rPr spc="-10" dirty="0"/>
              <a:t>Policy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75" dirty="0">
                <a:solidFill>
                  <a:srgbClr val="666666"/>
                </a:solidFill>
                <a:latin typeface="Arial"/>
                <a:cs typeface="Arial"/>
              </a:rPr>
              <a:t>Restricting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access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65" dirty="0">
                <a:solidFill>
                  <a:srgbClr val="666666"/>
                </a:solidFill>
                <a:latin typeface="Arial"/>
                <a:cs typeface="Arial"/>
              </a:rPr>
              <a:t>payment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processor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55" dirty="0">
                <a:solidFill>
                  <a:srgbClr val="666666"/>
                </a:solidFill>
                <a:latin typeface="Arial"/>
                <a:cs typeface="Arial"/>
              </a:rPr>
              <a:t>Pod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40" dirty="0">
                <a:solidFill>
                  <a:srgbClr val="666666"/>
                </a:solidFill>
                <a:latin typeface="Arial"/>
                <a:cs typeface="Arial"/>
              </a:rPr>
              <a:t>from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/>
                <a:cs typeface="Arial"/>
              </a:rPr>
              <a:t>other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30" dirty="0">
                <a:solidFill>
                  <a:srgbClr val="666666"/>
                </a:solidFill>
                <a:latin typeface="Arial"/>
                <a:cs typeface="Arial"/>
              </a:rPr>
              <a:t>Pods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1000" y="2972367"/>
            <a:ext cx="10013928" cy="16253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401</a:t>
            </a:fld>
            <a:endParaRPr spc="-25" dirty="0"/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90" dirty="0"/>
              <a:t>Default</a:t>
            </a:r>
            <a:r>
              <a:rPr spc="-90" dirty="0"/>
              <a:t> </a:t>
            </a:r>
            <a:r>
              <a:rPr spc="85" dirty="0"/>
              <a:t>Deny</a:t>
            </a:r>
            <a:r>
              <a:rPr spc="-85" dirty="0"/>
              <a:t> </a:t>
            </a:r>
            <a:r>
              <a:rPr spc="80" dirty="0"/>
              <a:t>Network</a:t>
            </a:r>
            <a:r>
              <a:rPr spc="-85" dirty="0"/>
              <a:t> </a:t>
            </a:r>
            <a:r>
              <a:rPr spc="-10" dirty="0"/>
              <a:t>Policies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80" dirty="0">
                <a:solidFill>
                  <a:srgbClr val="666666"/>
                </a:solidFill>
                <a:latin typeface="Arial"/>
                <a:cs typeface="Arial"/>
              </a:rPr>
              <a:t>Network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/>
                <a:cs typeface="Arial"/>
              </a:rPr>
              <a:t>policies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are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additive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5157" y="1890741"/>
            <a:ext cx="4891193" cy="3081020"/>
            <a:chOff x="645157" y="1890741"/>
            <a:chExt cx="4891193" cy="308102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157" y="1890741"/>
              <a:ext cx="4891200" cy="30808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16599" y="1955165"/>
              <a:ext cx="4738793" cy="2928620"/>
            </a:xfrm>
            <a:custGeom>
              <a:avLst/>
              <a:gdLst/>
              <a:ahLst/>
              <a:cxnLst/>
              <a:rect l="l" t="t" r="r" b="b"/>
              <a:pathLst>
                <a:path w="3554095" h="2196465">
                  <a:moveTo>
                    <a:pt x="3554099" y="2196299"/>
                  </a:moveTo>
                  <a:lnTo>
                    <a:pt x="0" y="2196299"/>
                  </a:lnTo>
                  <a:lnTo>
                    <a:pt x="0" y="0"/>
                  </a:lnTo>
                  <a:lnTo>
                    <a:pt x="3554099" y="0"/>
                  </a:lnTo>
                  <a:lnTo>
                    <a:pt x="3554099" y="2196299"/>
                  </a:lnTo>
                  <a:close/>
                </a:path>
              </a:pathLst>
            </a:custGeom>
            <a:solidFill>
              <a:srgbClr val="F6F6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48565" y="2153227"/>
            <a:ext cx="4260427" cy="1364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4618A2"/>
                </a:solidFill>
                <a:latin typeface="Courier New"/>
                <a:cs typeface="Courier New"/>
              </a:rPr>
              <a:t>apiVersion:</a:t>
            </a:r>
            <a:r>
              <a:rPr sz="1300" b="1" spc="-5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networking.k8s.io/v1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300" b="1" dirty="0">
                <a:solidFill>
                  <a:srgbClr val="4618A2"/>
                </a:solidFill>
                <a:latin typeface="Courier New"/>
                <a:cs typeface="Courier New"/>
              </a:rPr>
              <a:t>kind:</a:t>
            </a:r>
            <a:r>
              <a:rPr sz="1300" b="1" spc="-2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NetworkPolicy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300" b="1" spc="-10" dirty="0">
                <a:solidFill>
                  <a:srgbClr val="4618A2"/>
                </a:solidFill>
                <a:latin typeface="Courier New"/>
                <a:cs typeface="Courier New"/>
              </a:rPr>
              <a:t>metadata:</a:t>
            </a:r>
            <a:endParaRPr sz="1300">
              <a:latin typeface="Courier New"/>
              <a:cs typeface="Courier New"/>
            </a:endParaRPr>
          </a:p>
          <a:p>
            <a:pPr marL="210820">
              <a:lnSpc>
                <a:spcPct val="100000"/>
              </a:lnSpc>
              <a:spcBef>
                <a:spcPts val="15"/>
              </a:spcBef>
            </a:pPr>
            <a:r>
              <a:rPr sz="1300" b="1" dirty="0">
                <a:solidFill>
                  <a:srgbClr val="4618A2"/>
                </a:solidFill>
                <a:latin typeface="Courier New"/>
                <a:cs typeface="Courier New"/>
              </a:rPr>
              <a:t>name:</a:t>
            </a:r>
            <a:r>
              <a:rPr sz="1300" b="1" spc="40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default-deny-</a:t>
            </a:r>
            <a:r>
              <a:rPr sz="1300" spc="-25" dirty="0">
                <a:latin typeface="Courier New"/>
                <a:cs typeface="Courier New"/>
              </a:rPr>
              <a:t>all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300" b="1" spc="-10" dirty="0">
                <a:solidFill>
                  <a:srgbClr val="4618A2"/>
                </a:solidFill>
                <a:latin typeface="Courier New"/>
                <a:cs typeface="Courier New"/>
              </a:rPr>
              <a:t>spec: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4433" y="3538300"/>
            <a:ext cx="2106507" cy="284480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5880">
              <a:lnSpc>
                <a:spcPts val="1355"/>
              </a:lnSpc>
            </a:pPr>
            <a:r>
              <a:rPr sz="1300" b="1" dirty="0">
                <a:solidFill>
                  <a:srgbClr val="4618A2"/>
                </a:solidFill>
                <a:latin typeface="Courier New"/>
                <a:cs typeface="Courier New"/>
              </a:rPr>
              <a:t>podSelector:</a:t>
            </a:r>
            <a:r>
              <a:rPr sz="1300" b="1" spc="-60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300" spc="-25" dirty="0">
                <a:latin typeface="Courier New"/>
                <a:cs typeface="Courier New"/>
              </a:rPr>
              <a:t>{}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2727" y="3753428"/>
            <a:ext cx="1618827" cy="2980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4618A2"/>
                </a:solidFill>
                <a:latin typeface="Courier New"/>
                <a:cs typeface="Courier New"/>
              </a:rPr>
              <a:t>policyTypes: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54432" y="4085899"/>
            <a:ext cx="1424940" cy="534247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52729" indent="-196850">
              <a:lnSpc>
                <a:spcPts val="1270"/>
              </a:lnSpc>
              <a:buChar char="-"/>
              <a:tabLst>
                <a:tab pos="252729" algn="l"/>
              </a:tabLst>
            </a:pPr>
            <a:r>
              <a:rPr sz="1300" spc="-10" dirty="0">
                <a:latin typeface="Courier New"/>
                <a:cs typeface="Courier New"/>
              </a:rPr>
              <a:t>Ingress</a:t>
            </a:r>
            <a:endParaRPr sz="1300">
              <a:latin typeface="Courier New"/>
              <a:cs typeface="Courier New"/>
            </a:endParaRPr>
          </a:p>
          <a:p>
            <a:pPr marL="252729" indent="-196850">
              <a:lnSpc>
                <a:spcPct val="100000"/>
              </a:lnSpc>
              <a:spcBef>
                <a:spcPts val="15"/>
              </a:spcBef>
              <a:buChar char="-"/>
              <a:tabLst>
                <a:tab pos="252729" algn="l"/>
              </a:tabLst>
            </a:pPr>
            <a:r>
              <a:rPr sz="1300" spc="-10" dirty="0">
                <a:latin typeface="Courier New"/>
                <a:cs typeface="Courier New"/>
              </a:rPr>
              <a:t>Egress</a:t>
            </a:r>
            <a:endParaRPr sz="13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814912" y="3625645"/>
            <a:ext cx="4441613" cy="2256367"/>
            <a:chOff x="1814912" y="3625645"/>
            <a:chExt cx="4441613" cy="2256367"/>
          </a:xfrm>
        </p:grpSpPr>
        <p:sp>
          <p:nvSpPr>
            <p:cNvPr id="11" name="object 11"/>
            <p:cNvSpPr/>
            <p:nvPr/>
          </p:nvSpPr>
          <p:spPr>
            <a:xfrm>
              <a:off x="3573232" y="3680299"/>
              <a:ext cx="2683933" cy="0"/>
            </a:xfrm>
            <a:custGeom>
              <a:avLst/>
              <a:gdLst/>
              <a:ahLst/>
              <a:cxnLst/>
              <a:rect l="l" t="t" r="r" b="b"/>
              <a:pathLst>
                <a:path w="2012950">
                  <a:moveTo>
                    <a:pt x="20123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45265" y="3625645"/>
              <a:ext cx="140667" cy="10930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869565" y="4955799"/>
              <a:ext cx="882227" cy="913553"/>
            </a:xfrm>
            <a:custGeom>
              <a:avLst/>
              <a:gdLst/>
              <a:ahLst/>
              <a:cxnLst/>
              <a:rect l="l" t="t" r="r" b="b"/>
              <a:pathLst>
                <a:path w="661669" h="685164">
                  <a:moveTo>
                    <a:pt x="661199" y="684899"/>
                  </a:moveTo>
                  <a:lnTo>
                    <a:pt x="0" y="684899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14912" y="4827832"/>
              <a:ext cx="109307" cy="140667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6464080" y="3369184"/>
            <a:ext cx="1970193" cy="59774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Selects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all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Pods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in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namespace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405</a:t>
            </a:fld>
            <a:endParaRPr spc="-25" dirty="0"/>
          </a:p>
        </p:txBody>
      </p:sp>
      <p:sp>
        <p:nvSpPr>
          <p:cNvPr id="16" name="object 16"/>
          <p:cNvSpPr txBox="1"/>
          <p:nvPr/>
        </p:nvSpPr>
        <p:spPr>
          <a:xfrm>
            <a:off x="2943213" y="5543285"/>
            <a:ext cx="2076027" cy="59774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Applies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incoming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outgoing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traffic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4 · NETWORKPOLICY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NetworkPolicy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By default every Pod can talk to every other Pod. NetworkPolicies allow-list specific sources and destinations. CKAD regularly includes a NetworkPolicy question — you must write a default-deny and a selective-allow policy from scratch.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Apply default-deny ingress, a selective podSelector allow, an egress DNS-only lockdown, then a cross-namespace allow.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spec: · ingress: · » Default-deny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Default deny: block all ingress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podSelector: {}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policyTypes: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Ingress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Selective allow: only role=allowed reaches the backend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10652760" cy="202082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38728"/>
            <a:ext cx="82296" cy="20208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02736"/>
            <a:ext cx="10323576" cy="1929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podSelector: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matchLabels: {app: backend}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policyTypes: [Ingress]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ingress: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from: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- podSelector: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matchLabels: {role: allowed}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ports: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- {protocol: TCP, port: 5678}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NetworkPolicy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Egress lockdown: allow DNS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645919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64591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554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podSelector: {matchLabels: {role: blocked}}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policyTypes: [Egress]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egress: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to: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- namespaceSelector: {}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podSelector: {matchLabels: {k8s-app: kube-dns}}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ports: [{protocol: UDP, port: 53}, {protocol: TCP, port: 53}]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04487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Cross-namespace allow (namespaceSelector)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288535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88535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352543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ingress: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from: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namespaceSelector: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matchLabels: {purpose: trusted}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NetworkPolicy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Default-deny = podSelector: {} + policyTypes: [Ingress] with no ingress list. podSelector in from matches Pods by label in the same namespace; namespaceSelector matches whole namespaces. Policies are additive — multiple policies combine with logical 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After the allow policy, client-ok (role=allowed) reaches the backend while client-bad stays blocked, proving the NetworkPolicy is enforced.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COURSE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All five CKAD domains complete.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3891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Design &amp; build · Deployment · Observability · Config &amp; Security · Services &amp; Networking.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1 hour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MOCK EXAM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Mock-Exam Practice — from 1:00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Practise on killer.sh / Killercoda before the graded assessment · ask questions freely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WARM-UP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Mock-Exam Practice (1:00 PM)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Warm-up before the graded assessment — work hands-on questions across all five domains.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Use killer.sh and Killercoda; rehearse the alias k, $do dry-run and kubectl explain workflow.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Time yourself and flag weak areas — the real CKAD is 2 hours, 100% hands-on.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Trainer is available for questions; the final assessment begins at 2:00 PM.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Final Assessment — from 2:00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Written / MCQ on the LMS · open book · covers all five domains and the hands-on labs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578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" y="20939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c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895" y="2271735"/>
            <a:ext cx="302850" cy="302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65960" y="2093976"/>
            <a:ext cx="3977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3063240"/>
            <a:ext cx="4636008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Written / MCQ assessment on the LMS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Mock-exam practice from 1:00 PM; final assessment from 2:00 PM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Covers all five CKAD domains and the hands-on labs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Open book — slides, Learner Guide &amp; kubernetes.io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Must be attempted for SSG funding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5257800" cy="3657600"/>
          </a:xfrm>
          <a:prstGeom prst="roundRect">
            <a:avLst>
              <a:gd name="adj" fmla="val 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20256" y="2093976"/>
            <a:ext cx="658368" cy="658368"/>
          </a:xfrm>
          <a:prstGeom prst="ellipse">
            <a:avLst/>
          </a:prstGeom>
          <a:solidFill>
            <a:srgbClr val="0B4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2093976"/>
            <a:ext cx="3977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Funding &amp; Competency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3108960"/>
            <a:ext cx="46360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Minimum 75% attendance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FE0FB"/>
                </a:solidFill>
                <a:latin typeface="Arial"/>
              </a:rPr>
              <a:t>Based on SSG digital attendance records.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0256" y="4297680"/>
            <a:ext cx="46360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Assessed as Competent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FE0FB"/>
                </a:solidFill>
                <a:latin typeface="Arial"/>
              </a:rPr>
              <a:t>Pass the written / MCQ assessment.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ASSESSMENT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b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198" y="2137318"/>
            <a:ext cx="260788" cy="2607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5564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Clear your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Keep only approved materials on the 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648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_b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558" y="2137318"/>
            <a:ext cx="260788" cy="2607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9800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 recording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648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photos of the assessment.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0884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_br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1918" y="2137318"/>
            <a:ext cx="260788" cy="2607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4036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Work individually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884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discussion during the assessment.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_br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98" y="4167286"/>
            <a:ext cx="260788" cy="2607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5564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the LMS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assessment is delivered online.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6648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_br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9558" y="4167286"/>
            <a:ext cx="260788" cy="2607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39800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648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Slides, Learner Guide &amp; kubernetes.io are allowed.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0884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c_br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918" y="4167286"/>
            <a:ext cx="260788" cy="26078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04036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Time's 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884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Submit when time is up.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 — and good luck with the CKAD exam!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3891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Keep practising on killer.sh and Killercoda; the exam is 2 hours, 100% hands-on.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PRACTICE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Take the Online CKAD Practice Exams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729200" cy="440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•  </a:t>
            </a:r>
            <a:r>
              <a:rPr sz="1500">
                <a:solidFill>
                  <a:srgbClr val="161B26"/>
                </a:solidFill>
                <a:latin typeface="Arial"/>
              </a:rPr>
              <a:t>Reinforce all five CKAD domains with realistic, exam-style questions before exam day.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•  </a:t>
            </a:r>
            <a:r>
              <a:rPr sz="1500">
                <a:solidFill>
                  <a:srgbClr val="161B26"/>
                </a:solidFill>
                <a:latin typeface="Arial"/>
              </a:rPr>
              <a:t>3 full practice exams · 65 questions · 120-minute timer · 66% pass mark — aligned to CNCF CKAD v1.35.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•  </a:t>
            </a:r>
            <a:r>
              <a:rPr sz="1500">
                <a:solidFill>
                  <a:srgbClr val="161B26"/>
                </a:solidFill>
                <a:latin typeface="Arial"/>
              </a:rPr>
              <a:t>Practice mode reveals the answer and a full explanation after each question; Exam mode mirrors the real timed test.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•  </a:t>
            </a:r>
            <a:r>
              <a:rPr sz="1500">
                <a:solidFill>
                  <a:srgbClr val="161B26"/>
                </a:solidFill>
                <a:latin typeface="Arial"/>
              </a:rPr>
              <a:t>Start free with the practice teaser — no credit card required; sign in to unlock the full bundle.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Sign up and practise at: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exams.tertiaryinfotech.com/practice-exams/linuxfoundation/linuxfoundation-ckad</a:t>
            </a:r>
          </a:p>
        </p:txBody>
      </p:sp>
      <p:pic>
        <p:nvPicPr>
          <p:cNvPr id="8" name="Practice exam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860500"/>
            <a:ext cx="5943600" cy="41790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9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fld id="{6F3A1B22-9A4C-4E7B-AC10-1D2E3F405160}" type="slidenum">
              <a:rPr sz="900" b="1">
                <a:solidFill>
                  <a:srgbClr val="5B6372"/>
                </a:solidFill>
                <a:latin typeface="Arial"/>
              </a:rPr>
              <a:t>340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