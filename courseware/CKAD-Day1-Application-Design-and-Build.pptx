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Contact / Profile: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Take a minute to introduce yourself to the class: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experience with Docker, Kubernetes or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Whether you are targeting the CKAD exam or production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your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Step out quietly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calls or short breaks.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/>
              </a:rPr>
              <a:t>Build and optimise container images with single- and multi-stage Dockerfiles.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/>
              </a:rPr>
              <a:t>Create and manage Pods imperatively and declaratively with kubectl and --dry-run.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/>
              </a:rPr>
              <a:t>Run batch workloads with Jobs and scheduled workloads with CronJobs.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/>
              </a:rPr>
              <a:t>Design multi-container Pods using the sidecar and init-container 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/>
              </a:rPr>
              <a:t>Persist and share Pod data with emptyDir, tmpfs and hostPath volumes.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/>
              </a:rPr>
              <a:t>Deploy, scale, observe, secure and network applications across the five CKAD domains.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Design and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· Pods · Jobs · CronJobs · Multi-container · Volumes  (CKAD Domain 1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Container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Dockerfiles, image layers &amp; multi-stage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Container Images?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image is a read-only blueprint that packages your app with all its dependencies.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container is a running instance of an image — it starts in milliseconds.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Kubernetes never builds images; it pulls them from a registry by name:tag and runs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CKAD expects you to read, write and fix Dockerfiles under time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INSTRUCTION = ONE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Base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FROM — pick a small, pinned base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WORKDIR — set the working 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COPY / ADD — bring files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 — install dependencies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Each line = one cached layer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 steps for cache 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EXPOSE — document the 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ENV — runtime configuration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CMD / ENTRYPOINT — what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BUILD → SHIP →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Image to a Running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1792224" cy="1673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Dockerfile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FROM · WORKDIR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COPY · RUN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EXPOSE · CMD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31720"/>
            <a:ext cx="2011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 (layers)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990088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3236976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483864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3730752"/>
            <a:ext cx="1463040" cy="1920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6858000" y="2532888"/>
            <a:ext cx="1188720" cy="1005840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30168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04488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Docker Hub · GHCR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33172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96312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898648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15468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42900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app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52928" y="2994660"/>
            <a:ext cx="694944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docker build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87568" y="2994660"/>
            <a:ext cx="694944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896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docker push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22208" y="2994660"/>
            <a:ext cx="694944" cy="45720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286000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kubectl apply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never builds images — it </a:t>
            </a:r>
            <a:r>
              <a:rPr sz="1300" b="1">
                <a:solidFill>
                  <a:srgbClr val="161B26"/>
                </a:solidFill>
                <a:latin typeface="Arial"/>
              </a:rPr>
              <a:t>pulls them from a registry by name:tag</a:t>
            </a:r>
            <a:r>
              <a:rPr sz="1300" b="0">
                <a:solidFill>
                  <a:srgbClr val="5B6372"/>
                </a:solidFill>
                <a:latin typeface="Arial"/>
              </a:rPr>
              <a:t> and runs them inside a Pod.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SHRINK THE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Single-Stage vs Multi-Stage 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Multi-stage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One FROM — build + runtime together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Ships the whole toolchain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Large image (~800 MB for Go)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Bigger attack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Multiple FROM stages with AS &lt;name&gt;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COPY --from=builder copies only the binary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Tiny image (~8 MB, distroless)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shell, no package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ONE DOCKERFILE, TWO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Build — Shrink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1 — builder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golang:1.22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WORKDIR /src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. 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go build -o /server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Ships compiler + source + modules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COPY --from=builder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the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2 —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gcr.io/distroless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--from=builder /server 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ENTRYPOINT ["/server"]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shell · no package manager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Just your binary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/>
              </a:rPr>
              <a:t>~8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Dockerfile, build and tag an image, run it, then inspect its layers with docker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python:3.12-slim · » `EXPOSE` · docker build · docker run · docker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Write the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python:3.12-slim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app.py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EXPOSE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["python", "app.py"]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EXPOSE is documentation only — it does not publish the port. -p host:container is what actually opens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Build and tag the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-t ckad/hello:1.0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ckad/hello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Run and test the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run -d --name hello -p 8080:8080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http://localhost:8080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the image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history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rm -f hello &amp;&amp; docker rmi ckad/hello:1.0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http://localhost:8080 returns hello from CKAD 2026 lab 1, and docker history shows a distinct layer for each Dockerfile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single-stage baseline, then a multi-stage image with COPY --from and distroless, and compare sizes.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golang:1.22 · docker build · »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Single-stage baseline (large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go build -o 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["./app"]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Multi-stage Dockerfile (small image)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1: compile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 AS builder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CGO_ENABLED=0 go build -o /out/app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2: runtime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gcr.io/distroless/static-debian12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--from=builder /out/app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ENTRYPOINT ["/app"]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Build both and compare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Dockerfile.single -t demo:single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Dockerfile.multi  -t demo:multi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| grep demo        # ~800MB  vs  ~8MB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Only the last FROM stage ends up in the final image. CGO_ENABLED=0 produces a static binary that runs in distroless/scratch — no shell, smaller attack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docker images | grep demo shows demo:multi roughly 100x smaller than demo:single, and demo:multi still serves hello from multi-stage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smallest deployable unit &amp; the exam-speed kubectl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Pod is the smallest deployable unit — one or more containers sharing network &amp;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an IP and localhost; they can share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Create Pods imperatively (kubectl run) or declaratively (kubectl apply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Pods are ephemeral — in production you run them via higher-level controllers (Day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GENERATE → EDIT →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CKAD kubectl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run / create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with --dry-run=client -o 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Scaffold a manifest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Redirect to a .yaml file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Tweak labels, image, command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Version-controllable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apply -f file.yaml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Idempotent &amp; repeatable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describe to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PODS · ONE IP, SHARED localhost &amp;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90525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93392"/>
            <a:ext cx="8778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IP 10.1.2.3  ·  shared network namespace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468880"/>
            <a:ext cx="8321040" cy="5029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8321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localhost  ·  containers reach each other on 127.0.0.1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20040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3200400"/>
            <a:ext cx="38404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3310128"/>
            <a:ext cx="362102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:8080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384048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310128"/>
            <a:ext cx="3621024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sidecar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:9000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helper process</a:t>
            </a:r>
          </a:p>
        </p:txBody>
      </p:sp>
      <p:sp>
        <p:nvSpPr>
          <p:cNvPr id="18" name="Can 17"/>
          <p:cNvSpPr/>
          <p:nvPr/>
        </p:nvSpPr>
        <p:spPr>
          <a:xfrm>
            <a:off x="5394960" y="4572000"/>
            <a:ext cx="1371600" cy="73152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61772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shared volume (emptyDir)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91840" y="4434840"/>
            <a:ext cx="365760" cy="868680"/>
          </a:xfrm>
          <a:prstGeom prst="up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8503920" y="4434840"/>
            <a:ext cx="365760" cy="868680"/>
          </a:xfrm>
          <a:prstGeom prst="up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Pod groups containers that must run together — they </a:t>
            </a:r>
            <a:r>
              <a:rPr sz="1300" b="1">
                <a:solidFill>
                  <a:srgbClr val="161B26"/>
                </a:solidFill>
                <a:latin typeface="Arial"/>
              </a:rPr>
              <a:t>share one IP, localhost and volumes</a:t>
            </a:r>
            <a:r>
              <a:rPr sz="1300" b="0">
                <a:solidFill>
                  <a:srgbClr val="5B6372"/>
                </a:solidFill>
                <a:latin typeface="Arial"/>
              </a:rPr>
              <a:t>, and live and die as a unit.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 THESE ON 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Exam-Speed kubectl  (kubernetes.io quick 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alias k=kubectl  —  set this first; saves keystrokes on every command.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export do="--dry-run=client -o yaml"  —  scaffold any manifest without creating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source &lt;(kubectl completion bash); complete -o default -F __start_kubectl k  —  tab-completion.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get -o wide / -o yaml / -o jsonpath  ·  kubectl describe  ·  kubectl explain — inspect &amp;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exam-speed aliases, run Pods imperatively, scaffold YAML with $do, then apply and inspect.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alias k=kubectl · k run · k describe · » `--restart=Never`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Set exam-speed aliases (run these first on exam 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alias k=kubectl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do="--dry-run=client -o yaml"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Create a Pod imperatively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 --image=nginx:1.25 --port=80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wide          # shows node and Pod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a manifest without creating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web2 --image=nginx:1.25 --port=80 $do &gt;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web2 --show-labels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a running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jsonpath='{.status.podIP}';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Override the container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sleeper --image=busybox --restart=Never -- sh -c 'sleep 3600'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web web2 sleeper --force --grace-period=0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--restart=Never creates a bare Pod (not a Deployment). Everything after -- becomes the container command. --force --grace-period=0 skips the 30s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web2 --show-labels shows the tier=frontend label, and the --dry-run=client -o yaml workflow produces a valid manifest you can apply.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Jobs &amp; CronJobs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Run-to-completion &amp; scheduled batch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Batch Workloads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Job runs Pods until a set number of successful completions, then stops — it does not restart on success.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CronJob creates Jobs on a schedule using standard cron syntax (*/1 * * * * = every minute).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Job Pod templates must use restartPolicy: Never or OnFailure — never Always.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Trigger a CronJob now with: kubectl create job --from=cronjob/&lt;name&gt; &lt;job-name&gt;.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EXAM-TESTED EVERY SITTING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Fields to Memorise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completions — successes needed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parallelism — Pods at once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backoffLimit — failures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Job (timing)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activeDeadlineSeconds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Hard wall-clock ceiling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Overrides backoffLimit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CronJob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schedule + timeZone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concurrencyPolicy: Allow/Forbid/Replace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successful/failedJobsHistoryLimit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JOBS &amp; CRONJOBS · SCHEDULE → JOB →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CronJob, Job &amp; Pods Relate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schedule: */1 * * * *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concurrencyPolicy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successfulJobsHistoryLimit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3108960"/>
            <a:ext cx="868680" cy="45720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creates 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468880"/>
            <a:ext cx="26517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completions: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parallelism: 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backoffLimit: 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60" y="310896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runs Pods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7472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47472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2452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restartPolicy: Never / OnFailure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CronJob stamps out a Job on a schedule; the Job runs Pods until </a:t>
            </a:r>
            <a:r>
              <a:rPr sz="1300" b="1">
                <a:solidFill>
                  <a:srgbClr val="161B26"/>
                </a:solidFill>
                <a:latin typeface="Arial"/>
              </a:rPr>
              <a:t>completions succeed</a:t>
            </a:r>
            <a:r>
              <a:rPr sz="1300" b="0">
                <a:solidFill>
                  <a:srgbClr val="5B6372"/>
                </a:solidFill>
                <a:latin typeface="Arial"/>
              </a:rPr>
              <a:t>, then stops. Jobs never use restartPolicy: Always.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one-shot Job, a parallel Job with completions, and explore backoffLimit and activeDeadlineSeconds.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apply · » `restartPolicy: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One-shot Job (imperative)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hello --image=busybox -- echo "hello CKAD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job-name=hello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Parallel Job with multiple completions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pi-parallel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completions: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parallelism: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backoffLimit: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restartPolicy: Never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name: 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image: perl:5.34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command: ["perl", "-Mbignum=bpi", "-wle", "print bpi(50)"]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Apply and watch completions climb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parallel.yaml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job pi-parallel -w        # COMPLETIONS ticks 0/5 →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restartPolicy: Never is mandatory in Job Pod templates. activeDeadlineSeconds is a hard wall-clock ceiling — it overrides backoffLimit.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job pi-parallel reaches 5/5 completions with no more than two Pods running simultaneously during the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CronJob imperatively and declaratively, suspend/resume it, then trigger it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patch · » `concurrencyPolicy`: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CronJob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cronjob date-printer --image=busybox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--schedule="*/1 * * * *" -- sh -c "date; echo from cronjob"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cronjob date-printer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Declarative CronJob with all key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CronJob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schedule: "*/2 * * * *"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timeZone: "Asia/Singapore"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concurrencyPolicy: Forbid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successfulJobsHistoryLimit: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startingDeadlineSeconds: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jobTemplate: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restartPolicy: OnFailure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-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command: ["sh", "-c", "echo report at $(date)"]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Suspend, resume and trigger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'{"spec":{"suspend":true}}'    # pause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'{"spec":{"suspend":false}}'   # resume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--from=cronjob/report report-manual           # run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concurrencyPolicy: Allow (default) / Forbid / Replace. timeZone is a newer field — always set it. create job --from=cronjob/&lt;name&gt; runs the workload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cronjob report shows SUSPEND True after the patch, and k create job --from=cronjob/report report-manual produces an immediate one-off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Sidecar &amp; init-container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More Than One Container?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the network namespace and can share volumes (emptyDir is the usual glue).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Sidecar — a helper alongside the main app (log shipper, proxy) sharing a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Init container — runs to completion before main containers (seed a volume, wait for a service).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Always target a specific container with kubectl logs -c &lt;name&gt; and kubectl exec -c &lt;name&gt;.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POD, MANY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Sidecar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beside the main app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Shares an emptyDir volume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Log shipping / proxy /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Init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first, to completion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Pod shows Init:N/M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Native sidecar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initContainer + restartPolicy: Always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Kubernetes 1.29+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for the Pod's lifetime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· SIDECAR vs INIT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Sidecar — run side by 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514600"/>
            <a:ext cx="4251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2514600"/>
            <a:ext cx="42519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624328"/>
            <a:ext cx="403250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 app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logs to /var/log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611880"/>
            <a:ext cx="4251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611880"/>
            <a:ext cx="42519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721608"/>
            <a:ext cx="403250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sidecar (log shipper)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reads /var/log, ships out</a:t>
            </a:r>
          </a:p>
        </p:txBody>
      </p:sp>
      <p:sp>
        <p:nvSpPr>
          <p:cNvPr id="15" name="Can 14"/>
          <p:cNvSpPr/>
          <p:nvPr/>
        </p:nvSpPr>
        <p:spPr>
          <a:xfrm>
            <a:off x="2720340" y="4709160"/>
            <a:ext cx="1280160" cy="54864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3659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shared emptyDir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Init container — run first, to completion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606040"/>
            <a:ext cx="4251960" cy="86868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2606040"/>
            <a:ext cx="42519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715768"/>
            <a:ext cx="40325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initContainer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618220" y="3566160"/>
            <a:ext cx="457200" cy="640080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611880"/>
            <a:ext cx="4251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completes → then main starts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343400"/>
            <a:ext cx="4251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4343400"/>
            <a:ext cx="42519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4453128"/>
            <a:ext cx="40325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Pod: Init:0/1 → Running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Sidecars run </a:t>
            </a:r>
            <a:r>
              <a:rPr sz="1300" b="1">
                <a:solidFill>
                  <a:srgbClr val="161B26"/>
                </a:solidFill>
                <a:latin typeface="Arial"/>
              </a:rPr>
              <a:t>alongside</a:t>
            </a:r>
            <a:r>
              <a:rPr sz="1300" b="0">
                <a:solidFill>
                  <a:srgbClr val="5B6372"/>
                </a:solidFill>
                <a:latin typeface="Arial"/>
              </a:rPr>
              <a:t> the app; init containers run </a:t>
            </a:r>
            <a:r>
              <a:rPr sz="1300" b="1">
                <a:solidFill>
                  <a:srgbClr val="161B26"/>
                </a:solidFill>
                <a:latin typeface="Arial"/>
              </a:rPr>
              <a:t>before</a:t>
            </a:r>
            <a:r>
              <a:rPr sz="1300" b="0">
                <a:solidFill>
                  <a:srgbClr val="5B6372"/>
                </a:solidFill>
                <a:latin typeface="Arial"/>
              </a:rPr>
              <a:t> it. Target one with kubectl logs/exec -c &lt;name&gt;.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sidecar that tails a shared emptyDir log, read each container's logs, then build a native sidecar.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logs · initContainers: · »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Sidecar sharing a log file via emptyDir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app-with-sidecar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["sh","-c","while true; do date &gt;&gt; /var/log/app.log; sleep 2; done"]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log-shipper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["sh","-c","tail -F /var/log/app.log"]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Read logs from each container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app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log-shipper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-it app-with-sidecar -c app -- sh -c 'wc -l /var/log/app.log'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Native sidecar container (Kubernetes 1.29+)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log-collector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restartPolicy: Always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["sh","-c","while true; do echo alive; sleep 5;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With multiple containers in a Pod, always specify -c &lt;name&gt; for logs and exec. emptyDir is the standard glue volume between sidecar and main containers.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app-with-sidecar -c log-shipper shows the same lines app is writing, proving both containers share the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INIT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Seed an nginx web root with an init container, then add an init container that waits for a Service via DNS.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exec · initContainers: · »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Init container that seeds the web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web-init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seed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["sh","-c","echo '&lt;h1&gt;Seeded by init&lt;/h1&gt;' &gt; /work/index.html"]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/work}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/usr/share/nginx/html}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Verify the seeded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web-init -- cat /usr/share/nginx/html/index.html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Init container that waits for a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wait-for-db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["sh","-c","until nslookup db.default.svc.cluster.local; do sleep 2;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The Pod stays in Init:0/1 until DNS resolves. Creating the db Service unblocks it. If an init container fails it is restarted per the Pod's restartPolicy.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exec web-init -- cat /usr/share/nginx/html/index.html returns the seeded heading, proving the init container populated the volume before nginx started.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 &amp; share Pod data: emptyDir, tmpfs &amp; hostPath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EPHEMERAL VS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Storage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Anything written to the container filesystem is lost when the container restarts.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Volumes are declared under spec.volumes and mounted via spec.containers[].volumeMounts.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volume can be shared by every container in the Pod — that is how sidecars exchange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Pod-scoped volumes live and die with the Pod; durable storage (PV/PVC) comes later in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POD-SCOPED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 Types in Domain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emptyDir: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Created with the Pod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Shared by all containers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Deleted with the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emptyDir: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tmpfs — backed by RAM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Fast scratch space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Counts to memory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hostPath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Mounts a node directory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DaemonSets / node tools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Security risk in 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VOLUMES · emptyDir IS POD-SCOPED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Sharing Data with a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90525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606040"/>
            <a:ext cx="32918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2606040"/>
            <a:ext cx="32918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2715768"/>
            <a:ext cx="3072384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writer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mountPath: /data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606040"/>
            <a:ext cx="32918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606040"/>
            <a:ext cx="329184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2715768"/>
            <a:ext cx="3072384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reader 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mountPath: /data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reads same files</a:t>
            </a:r>
          </a:p>
        </p:txBody>
      </p:sp>
      <p:sp>
        <p:nvSpPr>
          <p:cNvPr id="15" name="Can 14"/>
          <p:cNvSpPr/>
          <p:nvPr/>
        </p:nvSpPr>
        <p:spPr>
          <a:xfrm>
            <a:off x="5212080" y="4251960"/>
            <a:ext cx="1737360" cy="914400"/>
          </a:xfrm>
          <a:prstGeom prst="can">
            <a:avLst/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volume: emptyDir {}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383280" y="3931920"/>
            <a:ext cx="384048" cy="9144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412480" y="3931920"/>
            <a:ext cx="384048" cy="914400"/>
          </a:xfrm>
          <a:prstGeom prst="down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Declare it under </a:t>
            </a:r>
            <a:r>
              <a:rPr sz="1300" b="1">
                <a:solidFill>
                  <a:srgbClr val="161B26"/>
                </a:solidFill>
                <a:latin typeface="Arial"/>
              </a:rPr>
              <a:t>spec.volumes</a:t>
            </a:r>
            <a:r>
              <a:rPr sz="1300" b="0">
                <a:solidFill>
                  <a:srgbClr val="5B6372"/>
                </a:solidFill>
                <a:latin typeface="Arial"/>
              </a:rPr>
              <a:t>, mount it in each container via </a:t>
            </a:r>
            <a:r>
              <a:rPr sz="1300" b="1">
                <a:solidFill>
                  <a:srgbClr val="161B26"/>
                </a:solidFill>
                <a:latin typeface="Arial"/>
              </a:rPr>
              <a:t>volumeMounts</a:t>
            </a:r>
            <a:r>
              <a:rPr sz="1300" b="0">
                <a:solidFill>
                  <a:srgbClr val="5B6372"/>
                </a:solidFill>
                <a:latin typeface="Arial"/>
              </a:rPr>
              <a:t> — created with the Pod, deleted with the Pod.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Volumes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an emptyDir between two containers, mount a RAM-backed tmpfs volume, then mount a node directory with hostPath.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volumes: · » Volumes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emptyDir shared between two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shared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writer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["sh","-c","echo hello-shared &gt;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["sh","-c","sleep 5; cat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emptyDir backed by RAM (tmpfs)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fast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medium: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sizeLimit: 64Mi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hostPath: access files on the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hostPath: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path: /etc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type: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scratch -c reader prints hello-shared, proving the writer and reader containers share the same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1 done — you can design and build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Application Deployment — Deployments, rollouts, Helm &amp; Kustomize.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