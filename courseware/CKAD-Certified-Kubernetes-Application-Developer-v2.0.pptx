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1.jpg" ContentType="image/jpg"/>
  <Override PartName="/ppt/media/image104.jpg" ContentType="image/jpg"/>
  <Override PartName="/ppt/media/image114.jpg" ContentType="image/jpg"/>
  <Override PartName="/ppt/media/image121.jpg" ContentType="image/jpg"/>
  <Override PartName="/ppt/media/image122.jpg" ContentType="image/jpg"/>
  <Override PartName="/ppt/media/image123.jpg" ContentType="image/jpg"/>
  <Override PartName="/ppt/media/image137.jpg" ContentType="image/jpg"/>
  <Override PartName="/ppt/media/image157.jpg" ContentType="image/jpg"/>
  <Override PartName="/ppt/media/image161.jpg" ContentType="image/jpg"/>
  <Override PartName="/ppt/media/image163.jpg" ContentType="image/jpg"/>
  <Override PartName="/ppt/media/image208.jpg" ContentType="image/jpg"/>
  <Override PartName="/ppt/media/image209.jpg" ContentType="image/jpg"/>
  <Override PartName="/ppt/media/image210.jpg" ContentType="image/jpg"/>
  <Override PartName="/ppt/media/image215.jpg" ContentType="image/jpg"/>
  <Override PartName="/ppt/media/image239.jpg" ContentType="image/jpg"/>
  <Override PartName="/ppt/media/image240.jpg" ContentType="image/jpg"/>
  <Override PartName="/ppt/media/image251.jpg" ContentType="image/jpg"/>
  <Override PartName="/ppt/media/image269.jpg" ContentType="image/jpg"/>
  <Override PartName="/ppt/media/image305.jpg" ContentType="image/jpg"/>
  <Override PartName="/ppt/media/image306.jpg" ContentType="image/jpg"/>
  <Override PartName="/ppt/media/image312.jpg" ContentType="image/jpg"/>
  <Override PartName="/ppt/media/image315.jpg" ContentType="image/jpg"/>
  <Override PartName="/ppt/media/image325.jpg" ContentType="image/jpg"/>
  <Override PartName="/ppt/media/image33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8.jpg" ContentType="image/jpg"/>
  <Override PartName="/ppt/media/image75.jpg" ContentType="image/jpg"/>
  <Override PartName="/ppt/media/image89.jpg" ContentType="image/jpg"/>
  <Override PartName="/ppt/media/image9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43.jpg"/><Relationship Id="rId4" Type="http://schemas.openxmlformats.org/officeDocument/2006/relationships/image" Target="../media/image42.jpg"/><Relationship Id="rId5" Type="http://schemas.openxmlformats.org/officeDocument/2006/relationships/image" Target="../media/image45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58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9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jp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png"/><Relationship Id="rId3" Type="http://schemas.openxmlformats.org/officeDocument/2006/relationships/image" Target="../media/image273.png"/><Relationship Id="rId4" Type="http://schemas.openxmlformats.org/officeDocument/2006/relationships/image" Target="../media/image275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Relationship Id="rId3" Type="http://schemas.openxmlformats.org/officeDocument/2006/relationships/image" Target="../media/image273.png"/><Relationship Id="rId4" Type="http://schemas.openxmlformats.org/officeDocument/2006/relationships/image" Target="../media/image275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Relationship Id="rId3" Type="http://schemas.openxmlformats.org/officeDocument/2006/relationships/image" Target="../media/image291.png"/><Relationship Id="rId4" Type="http://schemas.openxmlformats.org/officeDocument/2006/relationships/image" Target="../media/image141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94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jp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jp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jp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jp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jp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jp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jp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10.png"/><Relationship Id="rId4" Type="http://schemas.openxmlformats.org/officeDocument/2006/relationships/image" Target="../media/image311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jp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jp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35.png"/><Relationship Id="rId4" Type="http://schemas.openxmlformats.org/officeDocument/2006/relationships/image" Target="../media/image27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Version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Mohan Pothula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Kubernetes &amp; Cloud-Native Trainer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7830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Kubernetes &amp; DevOps trainer at Tertiary Infotech Academy.</a:t>
            </a:r>
          </a:p>
        </p:txBody>
      </p:sp>
      <p:sp>
        <p:nvSpPr>
          <p:cNvPr id="15" name="Oval 14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9240" y="26974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Certified Kubernetes Application Developer (CKAD) · CKA · Docker Certified Associate · AWS Solutions Architect.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36118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Kubernetes · Docker · CI/CD · Cloud-native platform engineering.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9240" y="45262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20+ years across DBS Bank, SingTel, Mediacorp and SPH Media.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[ Trainer Name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[ Title / Role ]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8288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1361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9240" y="27432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30505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bri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49240" y="36576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39649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_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49240" y="457200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Contact / Profile: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48793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Take a minute to introduce yourself to the class: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63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pers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72" y="2439984"/>
            <a:ext cx="386976" cy="386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299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32" y="2439984"/>
            <a:ext cx="386976" cy="386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248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563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Any experience with Docker, Kubernetes or the cloud.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535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92" y="2439984"/>
            <a:ext cx="386976" cy="3869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44840" y="3246120"/>
            <a:ext cx="300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goal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7992" y="3657600"/>
            <a:ext cx="28559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Whether you are targeting the CKAD exam or production skills.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g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Phones on silent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your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g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 actively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question is too small — ask freely.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g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Mutual 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g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Step out quietly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 calls or short breaks.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gr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75% attendance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3½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1 · Domain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Design &amp; Build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Container images &amp; multi-stage builds (Labs 1–2)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Pods, Jobs &amp; CronJobs (Labs 3–5)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Multi-container Pods &amp; Volumes (Labs 6–8)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4253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062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2 · Domain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Deployment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Deployments, ReplicaSets &amp; rollouts (Labs 9–10)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Blue/green &amp; canary (Labs 11–12)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Helm, Kustomize, Daemon/StatefulSet (Labs 13–15)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3 · Domains 3 &amp;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Observability + Config &amp; Security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Probes, logging, metrics, debug (Labs 16–20)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ConfigMaps, Secrets, SecurityContext (Labs 21–23)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ServiceAccounts, RBAC, Quotas (Labs 24–26)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4253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062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4 (½) · Domain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082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Services &amp; Networking + Assessment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Services &amp; Service DNS (Labs 27–28)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Ingress with TLS &amp; NetworkPolicy (Labs 29–30)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1:00 PM mock-exam practice, then final assessment from 2:00 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6089904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9904"/>
            <a:ext cx="10058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Daily timing:   </a:t>
            </a:r>
            <a:r>
              <a:rPr sz="1200" b="0">
                <a:solidFill>
                  <a:srgbClr val="161B26"/>
                </a:solidFill>
                <a:latin typeface="Arial"/>
              </a:rPr>
              <a:t>9:00am – 6:00pm   ·   1-hour lunch   ·   short tea breaks within each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691640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LO1   </a:t>
            </a:r>
            <a:r>
              <a:rPr sz="1500" b="0">
                <a:solidFill>
                  <a:srgbClr val="161B26"/>
                </a:solidFill>
                <a:latin typeface="Arial"/>
              </a:rPr>
              <a:t>Build and optimise container images with single- and multi-stage Dockerfiles.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40487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404872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LO2   </a:t>
            </a:r>
            <a:r>
              <a:rPr sz="1500" b="0">
                <a:solidFill>
                  <a:srgbClr val="161B26"/>
                </a:solidFill>
                <a:latin typeface="Arial"/>
              </a:rPr>
              <a:t>Create and manage Pods imperatively and declaratively with kubectl and --dry-run.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3118104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LO3   </a:t>
            </a:r>
            <a:r>
              <a:rPr sz="1500" b="0">
                <a:solidFill>
                  <a:srgbClr val="161B26"/>
                </a:solidFill>
                <a:latin typeface="Arial"/>
              </a:rPr>
              <a:t>Run batch workloads with Jobs and scheduled workloads with CronJobs.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83133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831336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LO4   </a:t>
            </a:r>
            <a:r>
              <a:rPr sz="1500" b="0">
                <a:solidFill>
                  <a:srgbClr val="161B26"/>
                </a:solidFill>
                <a:latin typeface="Arial"/>
              </a:rPr>
              <a:t>Design multi-container Pods using the sidecar and init-container patterns.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4544568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LO5   </a:t>
            </a:r>
            <a:r>
              <a:rPr sz="1500" b="0">
                <a:solidFill>
                  <a:srgbClr val="161B26"/>
                </a:solidFill>
                <a:latin typeface="Arial"/>
              </a:rPr>
              <a:t>Persist and share Pod data with emptyDir, tmpfs and hostPath volumes.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2578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5257800"/>
            <a:ext cx="9875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LO6   </a:t>
            </a:r>
            <a:r>
              <a:rPr sz="1500" b="0">
                <a:solidFill>
                  <a:srgbClr val="161B26"/>
                </a:solidFill>
                <a:latin typeface="Arial"/>
              </a:rPr>
              <a:t>Deploy, scale, observe, secure and network applications across the five CKAD domains.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/ MCQ assessment on the LMS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1:00 PM; final assessment from 2:00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CKAD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/ MCQ assessment.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gr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Application Design and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Images · Pods · Jobs · CronJobs · Multi-container · Volumes  (CKAD Domain 1 — 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Container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Dockerfiles, image layers &amp; multi-stage 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Container Images?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image is a read-only blueprint that packages your app with all its dependencies.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container is a running instance of an image — it starts in milliseconds.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Kubernetes never builds images; it pulls them from a registry by name:tag and runs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CKAD expects you to read, write and fix Dockerfiles under time pressure.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INSTRUCTION = ONE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Base &amp;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FROM — pick a small, pinned base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WORKDIR — set the working dir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COPY / ADD — bring files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Build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 — install dependencies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Each line = one cached layer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Order steps for cache reuse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EXPOSE — document the port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ENV — runtime configuration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CMD / ENTRYPOINT — what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0" dirty="0"/>
              <a:t>Containerization</a:t>
            </a:r>
            <a:r>
              <a:rPr spc="-40" dirty="0"/>
              <a:t> </a:t>
            </a:r>
            <a:r>
              <a:rPr spc="-10" dirty="0"/>
              <a:t>Process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Building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publishing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an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image,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running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image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container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467" y="2289196"/>
            <a:ext cx="9723132" cy="3548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SHRINK THE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Single-Stage vs Multi-Stage Builds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Single-stage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Multi-stage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One FROM — build + runtime together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Ships the whole toolchain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Large image (~800 MB for Go)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Bigger attack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Multiple FROM stages with AS &lt;name&gt;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COPY --from=builder copies only the binary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Tiny image (~8 MB, distroless)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No shell, no package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CONTAINER IMAGES · ONE DOCKERFILE, TWO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Build — Shrink the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4297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078224" cy="2724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Stage 1 — builder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FROM golang:1.22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WORKDIR /src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COPY . .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go build -o /server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Ships compiler + source + modules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57800" y="2926080"/>
            <a:ext cx="1691640" cy="82296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92024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COPY --from=builder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794760"/>
            <a:ext cx="2057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only the binary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2011680"/>
            <a:ext cx="4297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2121408"/>
            <a:ext cx="4078224" cy="2724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Stage 2 — runtime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FROM gcr.io/distroless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COPY --from=builder /server /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ENTRYPOINT ["/server"]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shell · no package manager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Just your binary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297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~800 MB</a:t>
            </a:r>
            <a:r>
              <a:rPr sz="1300" b="0">
                <a:solidFill>
                  <a:srgbClr val="5B6372"/>
                </a:solidFill>
                <a:latin typeface="Arial"/>
              </a:rPr>
              <a:t>   final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74920"/>
            <a:ext cx="42976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B981"/>
                </a:solidFill>
                <a:latin typeface="Arial"/>
              </a:rPr>
              <a:t>~8 MB</a:t>
            </a:r>
            <a:r>
              <a:rPr sz="1300" b="0">
                <a:solidFill>
                  <a:srgbClr val="5B6372"/>
                </a:solidFill>
                <a:latin typeface="Arial"/>
              </a:rPr>
              <a:t>   final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Container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Write a Dockerfile from scratch, build a tagged image, run it locally and inspect its layers. CKAD expects you to read and write Dockerfiles confidently — you may be asked to fix a broken one or produce one under time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Write a Dockerfile, build and tag an image, run it, then inspect its layers with docker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FROM python:3.12-slim · » `EXPOSE` · docker build · docker run · docker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Write the Dockerfile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python:3.12-slim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app.py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EXPOSE 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CMD ["python", "app.py"]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EXPOSE is documentation only — it does not publish the port. -p host:container is what actually opens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3824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Build and tag the 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2229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62229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68629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-t ckad/hello:1.0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images ckad/hello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Run and test the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run -d --name hello -p 8080:8080 ckad/hello:1.0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http://localhost:8080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Inspect the image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history ckad/hello:1.0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rm -f hello &amp;&amp; docker rmi ckad/hello:1.0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Container Image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curl http://localhost:8080 returns hello from CKAD 2026 lab 1, and docker history shows a distinct layer for each Dockerfile 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Container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Separate the build stage from the runtime stage to produce images that are 10x smaller and contain no compiler toolchain. Multi-stage builds are a CKAD staple — you must be able to write one from scratch and explain why it shrinks the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single-stage baseline, then a multi-stage image with COPY --from and distroless, and compare sizes.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FROM golang:1.22 · docker build · »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Single-stage baseline (large image)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golang:1.22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/src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main.go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RUN go mod init demo &amp;&amp; go build -o app main.go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CMD ["./app"]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Multi-stage Dockerfile (small image)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Stage 1: compile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golang:1.22 AS builder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WORKDIR /src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main.go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RUN go mod init demo &amp;&amp; CGO_ENABLED=0 go build -o /out/app main.go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Stage 2: runtime only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FROM gcr.io/distroless/static-debian12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COPY --from=builder /out/app /app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ENTRYPOINT ["/app"]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Build both and compare sizes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-f Dockerfile.single -t demo:single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build -f Dockerfile.multi  -t demo:multi 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docker images | grep demo        # ~800MB  vs  ~8MB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Only the last FROM stage ends up in the final image. CGO_ENABLED=0 produces a static binary that runs in distroless/scratch — no shell, smaller attack surface.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Multi-Stage Dockerfile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docker images | grep demo shows demo:multi roughly 100x smaller than demo:single, and demo:multi still serves hello from multi-stage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smallest deployable unit &amp; the exam-speed kubectl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Pod?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Pod is the smallest deployable unit — one or more containers sharing network &amp; storage.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Containers in a Pod share an IP and localhost; they can share volumes.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Create Pods imperatively (kubectl run) or declaratively (kubectl apply -f).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Pods are ephemeral — in production you run them via higher-level controllers (Day 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GENERATE → EDIT →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CKAD kubectl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run / create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with --dry-run=client -o yaml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Scaffold a manifest fast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Redirect to a .yaml file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Tweak labels, image, command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Version-controllable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apply -f file.yaml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Idempotent &amp; repeatable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kubectl describe to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14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spc="280" dirty="0"/>
              <a:t>a</a:t>
            </a:r>
            <a:r>
              <a:rPr spc="-114" dirty="0"/>
              <a:t> </a:t>
            </a:r>
            <a:r>
              <a:rPr spc="-20" dirty="0"/>
              <a:t>Pod?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Runs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process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container(s)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25" dirty="0"/>
              <a:t>46</a:t>
            </a:fld>
            <a:endParaRPr spc="25" dirty="0"/>
          </a:p>
        </p:txBody>
      </p:sp>
      <p:sp>
        <p:nvSpPr>
          <p:cNvPr id="3" name="object 3"/>
          <p:cNvSpPr txBox="1"/>
          <p:nvPr/>
        </p:nvSpPr>
        <p:spPr>
          <a:xfrm>
            <a:off x="800095" y="1856996"/>
            <a:ext cx="10238740" cy="2200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smallest,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most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basic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deployable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objects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Kubernetes.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It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more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containers,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executed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configured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runtime.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5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80010" indent="-351790">
              <a:lnSpc>
                <a:spcPct val="113300"/>
              </a:lnSpc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Kubernetes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enhances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basic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functionality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features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such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as </a:t>
            </a:r>
            <a:r>
              <a:rPr sz="1600" spc="-10" dirty="0">
                <a:latin typeface="Arial"/>
                <a:cs typeface="Arial"/>
              </a:rPr>
              <a:t>security,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storage,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more.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Pod</a:t>
            </a:r>
            <a:r>
              <a:rPr spc="-60" dirty="0"/>
              <a:t> </a:t>
            </a:r>
            <a:r>
              <a:rPr spc="-55" dirty="0"/>
              <a:t>Life</a:t>
            </a:r>
            <a:r>
              <a:rPr spc="-60" dirty="0"/>
              <a:t> </a:t>
            </a:r>
            <a:r>
              <a:rPr spc="85" dirty="0"/>
              <a:t>Cycle</a:t>
            </a:r>
            <a:r>
              <a:rPr spc="-60" dirty="0"/>
              <a:t> </a:t>
            </a:r>
            <a:r>
              <a:rPr spc="45" dirty="0"/>
              <a:t>Phases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Indicates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operational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status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6148" y="2240165"/>
            <a:ext cx="6419767" cy="38196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25" dirty="0"/>
              <a:t>51</a:t>
            </a:fld>
            <a:endParaRPr spc="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SET THESE ON EXAM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Exam-Speed kubectl  (kubernetes.io quick reference)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alias k=kubectl  —  set this first; saves keystrokes on every command.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export do="--dry-run=client -o yaml"  —  scaffold any manifest without creating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source &lt;(kubectl completion bash); complete -o default -F __start_kubectl k  —  tab-completion.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kubectl get -o wide / -o yaml / -o jsonpath  ·  kubectl describe  ·  kubectl explain — inspect &amp; learn.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Pod is the smallest schedulable unit in Kubernetes. Create Pods imperatively, generate YAML with --dry-run, edit live manifests, and use the exam-critical $do alias that saves 30+ seconds per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Set exam-speed aliases, run Pods imperatively, scaffold YAML with $do, then apply and inspect.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alias k=kubectl · k run · k describe · » `--restart=Never`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Set exam-speed aliases (run these first on exam day)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alias k=kubectl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export do="--dry-run=client -o yaml"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Create a Pod imperatively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web --image=nginx:1.25 --port=80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 -o wide          # shows node and Pod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a manifest without creating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web2 --image=nginx:1.25 --port=80 $do &gt; web2.yaml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web2.yaml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web2 --show-labels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Inspect a running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 -o jsonpath='{.status.podIP}';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Override the container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sleeper --image=busybox --restart=Never -- sh -c 'sleep 3600'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delete pod web web2 sleeper --force --grace-period=0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--restart=Never creates a bare Pod (not a Deployment). Everything after -- becomes the container command. --force --grace-period=0 skips the 30s grace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and Manage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 web2 --show-labels shows the tier=frontend label, and the --dry-run=client -o yaml workflow produces a valid manifest you can apply.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Jobs &amp; CronJobs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Run-to-completion &amp; scheduled batch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RUN TO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Batch Workloads in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Job runs Pods until a set number of successful completions, then stops — it does not restart on success.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CronJob creates Jobs on a schedule using standard cron syntax (*/1 * * * * = every minute).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Job Pod templates must use restartPolicy: Never or OnFailure — never Always.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Trigger a CronJob now with: kubectl create job --from=cronjob/&lt;name&gt; &lt;job-name&gt;.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EXAM-TESTED EVERY SITTING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Fields to Memorise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completions — successes needed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parallelism — Pods at once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backoffLimit — failures allowed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Job (timing)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activeDeadlineSeconds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Hard wall-clock ceiling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Overrides backoffLimit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CronJob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schedule + timeZone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concurrencyPolicy: Allow/Forbid/Replace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successful/failedJobsHistoryLimit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5" dirty="0"/>
              <a:t>Job</a:t>
            </a:r>
            <a:r>
              <a:rPr spc="-95" dirty="0"/>
              <a:t> </a:t>
            </a:r>
            <a:r>
              <a:rPr spc="85" dirty="0"/>
              <a:t>Object</a:t>
            </a:r>
            <a:r>
              <a:rPr spc="-95" dirty="0"/>
              <a:t> </a:t>
            </a:r>
            <a:r>
              <a:rPr spc="75" dirty="0"/>
              <a:t>Hierarchy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Job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manages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Pods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run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workload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1667" y="2276335"/>
            <a:ext cx="3992565" cy="33569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25" dirty="0"/>
              <a:t>69</a:t>
            </a:fld>
            <a:endParaRPr spc="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CronJob</a:t>
            </a:r>
            <a:r>
              <a:rPr spc="-80" dirty="0"/>
              <a:t> </a:t>
            </a:r>
            <a:r>
              <a:rPr spc="85" dirty="0"/>
              <a:t>Object</a:t>
            </a:r>
            <a:r>
              <a:rPr spc="-80" dirty="0"/>
              <a:t> </a:t>
            </a:r>
            <a:r>
              <a:rPr spc="75" dirty="0"/>
              <a:t>Hierarchy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CronJob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manages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Jobs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which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delegate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workload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/>
                <a:cs typeface="Arial"/>
              </a:rPr>
              <a:t>Pods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4532" y="2208833"/>
            <a:ext cx="2942933" cy="38865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Batch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Job runs Pods until a required number of successful completions is reached, then stops. CKAD tests completions, parallelism, backoffLimit and activeDeadlineSeconds in almost every sitting — you must write a Job manifest from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one-shot Job, a parallel Job with completions, and explore backoffLimit and activeDeadlineSeconds.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batch/v1 · k apply · » `restartPolicy: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One-shot Job (imperative)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job hello --image=busybox -- echo "hello CKAD 2026"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-l job-name=hello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Parallel Job with multiple completions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Job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pi-parallel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completions: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parallelism: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backoffLimit: 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restartPolicy: Never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- name: 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image: perl:5.34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command: ["perl", "-Mbignum=bpi", "-wle", "print bpi(50)"]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Apply and watch completions climb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parallel.yaml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job pi-parallel -w        # COMPLETIONS ticks 0/5 → 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restartPolicy: Never is mandatory in Job Pod templates. activeDeadlineSeconds is a hard wall-clock ceiling — it overrides backoffLimit.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Jobs — Run-to-Completion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job pi-parallel reaches 5/5 completions with no more than two Pods running simultaneously during the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Batch workloads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CronJob creates Jobs on a time-based schedule using standard cron syntax. CKAD tests concurrencyPolicy, timeZone, startingDeadlineSeconds, history limits, manual triggers and suspend/resume — these fields appear verbatim in exam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CronJob imperatively and declaratively, suspend/resume it, then trigger it manually.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batch/v1 · k patch · » `concurrencyPolicy`: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CronJob imperatively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cronjob date-printer --image=busybox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--schedule="*/1 * * * *" -- sh -c "date; echo from cronjob"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cronjob date-printer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Declarative CronJob with all key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CronJob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report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schedule: "*/2 * * * *"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timeZone: "Asia/Singapore"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concurrencyPolicy: Forbid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successfulJobsHistoryLimit: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startingDeadlineSeconds: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jobTemplate: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template: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restartPolicy: OnFailure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- name: report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command: ["sh", "-c", "echo report at $(date)"]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Suspend, resume and trigger manually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cronjob report -p '{"spec":{"suspend":true}}'    # pause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cronjob report -p '{"spec":{"suspend":false}}'   # resume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job --from=cronjob/report report-manual           # run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concurrencyPolicy: Allow (default) / Forbid / Replace. timeZone is a newer field — always set it. create job --from=cronjob/&lt;name&gt; runs the workload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CronJobs — Scheduled Workloads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cronjob report shows SUSPEND True after the patch, and k create job --from=cronjob/report report-manual produces an immediate one-off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Multi-Container Pods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Sidecar &amp; init-container design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 DESIGN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More Than One Container?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Containers in a Pod share the network namespace and can share volumes (emptyDir is the usual glue).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Sidecar — a helper alongside the main app (log shipper, proxy) sharing a volume.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Init container — runs to completion before main containers (seed a volume, wait for a service).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Always target a specific container with kubectl logs -c &lt;name&gt; and kubectl exec -c &lt;name&gt;.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POD, MANY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Sidecar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beside the main app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Shares an emptyDir volume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Log shipping / proxy /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Init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first, to completion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Pod shows Init:N/M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Seed volume · wait for DNS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Native sidecar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initContainer + restartPolicy: Always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Kubernetes 1.29+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Runs for the Pod's lifetime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50" dirty="0"/>
              <a:t>Design</a:t>
            </a:r>
            <a:r>
              <a:rPr spc="-80" dirty="0"/>
              <a:t> </a:t>
            </a:r>
            <a:r>
              <a:rPr spc="70" dirty="0"/>
              <a:t>Patterns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Emerged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requirements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5833" y="4279900"/>
            <a:ext cx="199165" cy="46293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4032" y="1914933"/>
            <a:ext cx="199165" cy="4629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5833" y="1912667"/>
            <a:ext cx="199165" cy="4629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14241" y="1845061"/>
            <a:ext cx="5003800" cy="45474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Init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Container</a:t>
            </a:r>
            <a:endParaRPr sz="1600">
              <a:latin typeface="Arial"/>
              <a:cs typeface="Arial"/>
            </a:endParaRPr>
          </a:p>
          <a:p>
            <a:pPr marL="331470" marR="5080" indent="-198120">
              <a:lnSpc>
                <a:spcPct val="116100"/>
              </a:lnSpc>
              <a:spcBef>
                <a:spcPts val="1040"/>
              </a:spcBef>
              <a:buChar char="●"/>
              <a:tabLst>
                <a:tab pos="332740" algn="l"/>
              </a:tabLst>
            </a:pPr>
            <a:r>
              <a:rPr sz="1400" dirty="0">
                <a:latin typeface="Arial"/>
                <a:cs typeface="Arial"/>
              </a:rPr>
              <a:t>Provide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initialization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logic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concerns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5" dirty="0">
                <a:latin typeface="Arial"/>
                <a:cs typeface="Arial"/>
              </a:rPr>
              <a:t> be 	</a:t>
            </a:r>
            <a:r>
              <a:rPr sz="1400" dirty="0">
                <a:latin typeface="Arial"/>
                <a:cs typeface="Arial"/>
              </a:rPr>
              <a:t>run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before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application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even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starts.</a:t>
            </a:r>
            <a:endParaRPr sz="1400">
              <a:latin typeface="Arial"/>
              <a:cs typeface="Arial"/>
            </a:endParaRPr>
          </a:p>
          <a:p>
            <a:pPr marL="331470" marR="14604" indent="-198120">
              <a:lnSpc>
                <a:spcPct val="116100"/>
              </a:lnSpc>
              <a:buChar char="●"/>
              <a:tabLst>
                <a:tab pos="332740" algn="l"/>
              </a:tabLst>
            </a:pPr>
            <a:r>
              <a:rPr sz="1400" dirty="0">
                <a:latin typeface="Arial"/>
                <a:cs typeface="Arial"/>
              </a:rPr>
              <a:t>Example: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Downloading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configuration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files 	</a:t>
            </a:r>
            <a:r>
              <a:rPr sz="1400" dirty="0">
                <a:latin typeface="Arial"/>
                <a:cs typeface="Arial"/>
              </a:rPr>
              <a:t>required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application.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70"/>
              </a:spcBef>
              <a:buFont typeface="Arial"/>
              <a:buChar char="●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Adapter</a:t>
            </a:r>
            <a:endParaRPr sz="1600">
              <a:latin typeface="Arial"/>
              <a:cs typeface="Arial"/>
            </a:endParaRPr>
          </a:p>
          <a:p>
            <a:pPr marL="354330" marR="227965" indent="-220979">
              <a:lnSpc>
                <a:spcPct val="116100"/>
              </a:lnSpc>
              <a:spcBef>
                <a:spcPts val="1040"/>
              </a:spcBef>
              <a:buChar char="●"/>
              <a:tabLst>
                <a:tab pos="355600" algn="l"/>
              </a:tabLst>
            </a:pPr>
            <a:r>
              <a:rPr sz="1400" dirty="0">
                <a:latin typeface="Arial"/>
                <a:cs typeface="Arial"/>
              </a:rPr>
              <a:t>Transforms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output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produced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	</a:t>
            </a:r>
            <a:r>
              <a:rPr sz="1400" dirty="0">
                <a:latin typeface="Arial"/>
                <a:cs typeface="Arial"/>
              </a:rPr>
              <a:t>application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make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consumable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25" dirty="0">
                <a:latin typeface="Arial"/>
                <a:cs typeface="Arial"/>
              </a:rPr>
              <a:t> the 	</a:t>
            </a:r>
            <a:r>
              <a:rPr sz="1400" dirty="0">
                <a:latin typeface="Arial"/>
                <a:cs typeface="Arial"/>
              </a:rPr>
              <a:t>format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needed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another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	</a:t>
            </a:r>
            <a:r>
              <a:rPr sz="1400" spc="-10" dirty="0">
                <a:latin typeface="Arial"/>
                <a:cs typeface="Arial"/>
              </a:rPr>
              <a:t>system.</a:t>
            </a:r>
            <a:endParaRPr sz="1400">
              <a:latin typeface="Arial"/>
              <a:cs typeface="Arial"/>
            </a:endParaRPr>
          </a:p>
          <a:p>
            <a:pPr marL="354330" indent="-220979">
              <a:lnSpc>
                <a:spcPct val="100000"/>
              </a:lnSpc>
              <a:spcBef>
                <a:spcPts val="270"/>
              </a:spcBef>
              <a:buChar char="●"/>
              <a:tabLst>
                <a:tab pos="354330" algn="l"/>
              </a:tabLst>
            </a:pPr>
            <a:r>
              <a:rPr sz="1400" dirty="0">
                <a:latin typeface="Arial"/>
                <a:cs typeface="Arial"/>
              </a:rPr>
              <a:t>Example: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Massaging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log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92443" y="1828551"/>
            <a:ext cx="4971627" cy="456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Sidecar</a:t>
            </a:r>
            <a:endParaRPr sz="1600">
              <a:latin typeface="Arial"/>
              <a:cs typeface="Arial"/>
            </a:endParaRPr>
          </a:p>
          <a:p>
            <a:pPr marL="331470" marR="5080" indent="-198120">
              <a:lnSpc>
                <a:spcPct val="116100"/>
              </a:lnSpc>
              <a:spcBef>
                <a:spcPts val="1040"/>
              </a:spcBef>
              <a:buChar char="●"/>
              <a:tabLst>
                <a:tab pos="332740" algn="l"/>
              </a:tabLst>
            </a:pP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sidecars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</a:t>
            </a:r>
            <a:r>
              <a:rPr sz="1400" spc="-10" dirty="0">
                <a:latin typeface="Arial"/>
                <a:cs typeface="Arial"/>
              </a:rPr>
              <a:t> traffic 	</a:t>
            </a:r>
            <a:r>
              <a:rPr sz="1400" dirty="0">
                <a:latin typeface="Arial"/>
                <a:cs typeface="Arial"/>
              </a:rPr>
              <a:t>or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API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primary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application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and 	</a:t>
            </a:r>
            <a:r>
              <a:rPr sz="1400" dirty="0">
                <a:latin typeface="Arial"/>
                <a:cs typeface="Arial"/>
              </a:rPr>
              <a:t>operate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asynchronously.</a:t>
            </a:r>
            <a:endParaRPr sz="1400">
              <a:latin typeface="Arial"/>
              <a:cs typeface="Arial"/>
            </a:endParaRPr>
          </a:p>
          <a:p>
            <a:pPr marL="331470" indent="-198120">
              <a:lnSpc>
                <a:spcPct val="100000"/>
              </a:lnSpc>
              <a:spcBef>
                <a:spcPts val="270"/>
              </a:spcBef>
              <a:buChar char="●"/>
              <a:tabLst>
                <a:tab pos="331470" algn="l"/>
              </a:tabLst>
            </a:pPr>
            <a:r>
              <a:rPr sz="1400" dirty="0">
                <a:latin typeface="Arial"/>
                <a:cs typeface="Arial"/>
              </a:rPr>
              <a:t>Example: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Watcher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capabilities.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●"/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Ambassador</a:t>
            </a:r>
            <a:endParaRPr sz="1600">
              <a:latin typeface="Arial"/>
              <a:cs typeface="Arial"/>
            </a:endParaRPr>
          </a:p>
          <a:p>
            <a:pPr marL="354330" marR="174625" indent="-220979" algn="just">
              <a:lnSpc>
                <a:spcPct val="116100"/>
              </a:lnSpc>
              <a:spcBef>
                <a:spcPts val="1045"/>
              </a:spcBef>
              <a:buChar char="●"/>
              <a:tabLst>
                <a:tab pos="355600" algn="l"/>
              </a:tabLst>
            </a:pPr>
            <a:r>
              <a:rPr sz="1400" dirty="0">
                <a:latin typeface="Arial"/>
                <a:cs typeface="Arial"/>
              </a:rPr>
              <a:t>Provides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proxy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communicating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with 	</a:t>
            </a:r>
            <a:r>
              <a:rPr sz="1400" dirty="0">
                <a:latin typeface="Arial"/>
                <a:cs typeface="Arial"/>
              </a:rPr>
              <a:t>external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services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hide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and/or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abstract 	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complexity.</a:t>
            </a:r>
            <a:endParaRPr sz="1400">
              <a:latin typeface="Arial"/>
              <a:cs typeface="Arial"/>
            </a:endParaRPr>
          </a:p>
          <a:p>
            <a:pPr marL="354330" marR="342900" indent="-220979" algn="just">
              <a:lnSpc>
                <a:spcPct val="116100"/>
              </a:lnSpc>
              <a:buChar char="●"/>
              <a:tabLst>
                <a:tab pos="355600" algn="l"/>
              </a:tabLst>
            </a:pPr>
            <a:r>
              <a:rPr sz="1400" dirty="0">
                <a:latin typeface="Arial"/>
                <a:cs typeface="Arial"/>
              </a:rPr>
              <a:t>Example: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Rate-</a:t>
            </a:r>
            <a:r>
              <a:rPr sz="1400" dirty="0">
                <a:latin typeface="Arial"/>
                <a:cs typeface="Arial"/>
              </a:rPr>
              <a:t>limiting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functionality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for 	</a:t>
            </a:r>
            <a:r>
              <a:rPr sz="1400" dirty="0">
                <a:latin typeface="Arial"/>
                <a:cs typeface="Arial"/>
              </a:rPr>
              <a:t>HTTP(S)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calls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external</a:t>
            </a:r>
            <a:r>
              <a:rPr sz="1400" spc="-10" dirty="0">
                <a:latin typeface="Arial"/>
                <a:cs typeface="Arial"/>
              </a:rPr>
              <a:t> service.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4032" y="4279900"/>
            <a:ext cx="199165" cy="46293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110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0" dirty="0"/>
              <a:t>Init</a:t>
            </a:r>
            <a:r>
              <a:rPr spc="-90" dirty="0"/>
              <a:t> </a:t>
            </a:r>
            <a:r>
              <a:rPr spc="110" dirty="0"/>
              <a:t>Container</a:t>
            </a:r>
            <a:r>
              <a:rPr spc="-90" dirty="0"/>
              <a:t> </a:t>
            </a:r>
            <a:r>
              <a:rPr spc="-55" dirty="0"/>
              <a:t>Life</a:t>
            </a:r>
            <a:r>
              <a:rPr spc="-85" dirty="0"/>
              <a:t> </a:t>
            </a:r>
            <a:r>
              <a:rPr spc="75" dirty="0"/>
              <a:t>Cycle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Initialization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logic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before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main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containers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6216" y="2375599"/>
            <a:ext cx="8699565" cy="26885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111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0" dirty="0"/>
              <a:t>Sidecar</a:t>
            </a:r>
            <a:r>
              <a:rPr spc="-70" dirty="0"/>
              <a:t> </a:t>
            </a:r>
            <a:r>
              <a:rPr spc="80" dirty="0"/>
              <a:t>Pattern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"Send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notification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error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log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contains</a:t>
            </a:r>
            <a:r>
              <a:rPr sz="1600" b="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entries"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847" y="2375599"/>
            <a:ext cx="10244235" cy="31237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74320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35" dirty="0">
                <a:latin typeface="Arial"/>
                <a:cs typeface="Arial"/>
              </a:rPr>
              <a:t>119</a:t>
            </a:fld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Adapter</a:t>
            </a:r>
            <a:r>
              <a:rPr spc="-90" dirty="0"/>
              <a:t> </a:t>
            </a:r>
            <a:r>
              <a:rPr spc="80" dirty="0"/>
              <a:t>Pattern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"Transform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log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/>
                <a:cs typeface="Arial"/>
              </a:rPr>
              <a:t>data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JSON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make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it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/>
                <a:cs typeface="Arial"/>
              </a:rPr>
              <a:t>consumable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by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external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system"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796" y="2311667"/>
            <a:ext cx="9356332" cy="32352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74320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35" dirty="0">
                <a:latin typeface="Arial"/>
                <a:cs typeface="Arial"/>
              </a:rPr>
              <a:t>120</a:t>
            </a:fld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Ambassador</a:t>
            </a:r>
            <a:r>
              <a:rPr spc="-90" dirty="0"/>
              <a:t> </a:t>
            </a:r>
            <a:r>
              <a:rPr spc="80" dirty="0"/>
              <a:t>Pattern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"OAuth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authentication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/>
                <a:cs typeface="Arial"/>
              </a:rPr>
              <a:t>handled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by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network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communication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45" dirty="0">
                <a:solidFill>
                  <a:srgbClr val="666666"/>
                </a:solidFill>
                <a:latin typeface="Arial"/>
                <a:cs typeface="Arial"/>
              </a:rPr>
              <a:t>proxy"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16" y="2820432"/>
            <a:ext cx="10297900" cy="17977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35767" y="6544708"/>
            <a:ext cx="235373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00" spc="-45" dirty="0">
                <a:latin typeface="Arial"/>
                <a:cs typeface="Arial"/>
              </a:rPr>
              <a:t>123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Multi-container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Containers in the same Pod share a network namespace and can share volumes. CKAD tests the sidecar pattern (a helper reads/writes a shared volume) and the native sidecar feature (Kubernetes 1.29+). You must exec into and read logs from each container.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sidecar that tails a shared emptyDir log, read each container's logs, then build a native sidecar.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apiVersion: v1 · k logs · initContainers: · » With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Sidecar sharing a log file via emptyDir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app-with-sidecar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logs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["sh","-c","while true; do date &gt;&gt; /var/log/app.log; sleep 2; done"]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logs, mountPath: /var/log}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log-shipper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["sh","-c","tail -F /var/log/app.log"]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logs, mountPath: /var/log}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Read logs from each container separately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app-with-sidecar -c app | head -5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app-with-sidecar -c log-shipper | head -5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-it app-with-sidecar -c app -- sh -c 'wc -l /var/log/app.log'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Native sidecar container (Kubernetes 1.29+)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log-collector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restartPolicy: Always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["sh","-c","while true; do echo alive; sleep 5; done"]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19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With multiple containers in a Pod, always specify -c &lt;name&gt; for logs and exec. emptyDir is the standard glue volume between sidecar and main containers.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Multi-Container Pods — 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app-with-sidecar -c log-shipper shows the same lines app is writing, proving both containers share the emptyDir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INIT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Multi-container 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Init containers run in order, to completion, before any main container starts. Use them to seed shared volumes, wait for upstream services, or do one-time setup. CKAD asks you to write init containers and read Init:N/M Pod status correctly.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Seed an nginx web root with an init container, then add an init container that waits for a Service via DNS.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apiVersion: v1 · k exec · initContainers: · »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Init container that seeds the web 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web-init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seed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command: ["sh","-c","echo '&lt;h1&gt;Seeded by init&lt;/h1&gt;' &gt; /work/index.html"]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html, mountPath: /work}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{name: html, mountPath: /usr/share/nginx/html}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Verify the seeded content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web-init -- cat /usr/share/nginx/html/index.html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232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Init container that waits for a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6372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763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40380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initContainers: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wait-for-db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["sh","-c","until nslookup db.default.svc.cluster.local; do sleep 2; done"]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The Pod stays in Init:0/1 until DNS resolves. Creating the db Service unblocks it. If an init container fails it is restarted per the Pod's restartPolicy.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Init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exec web-init -- cat /usr/share/nginx/html/index.html returns the seeded heading, proving the init container populated the volume before nginx started.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Volumes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Persist &amp; share Pod data: emptyDir, tmpfs &amp; hostPath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EPHEMERAL VS SHARED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Storage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Anything written to the container filesystem is lost when the container restarts.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Volumes are declared under spec.volumes and mounted via spec.containers[].volumeMounts.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volume can be shared by every container in the Pod — that is how sidecars exchange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Pod-scoped volumes live and die with the Pod; durable storage (PV/PVC) comes later in the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POD-SCOPED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 Types in Domain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emptyDir: {}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Created with the Pod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Shared by all containers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Deleted with the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emptyDir: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tmpfs — backed by RAM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Fast scratch space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Counts to memory 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hostPath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Mounts a node directory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DaemonSets / node tools only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Security risk in multi-tenant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5" dirty="0"/>
              <a:t>Ephemeral</a:t>
            </a:r>
            <a:r>
              <a:rPr spc="-100" dirty="0"/>
              <a:t> </a:t>
            </a:r>
            <a:r>
              <a:rPr spc="114" dirty="0"/>
              <a:t>Volume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Useful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sharing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/>
                <a:cs typeface="Arial"/>
              </a:rPr>
              <a:t>data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between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containers,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caching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0" dirty="0">
                <a:solidFill>
                  <a:srgbClr val="666666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233" y="3040632"/>
            <a:ext cx="10287335" cy="21946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Persistent</a:t>
            </a:r>
            <a:r>
              <a:rPr spc="360" dirty="0"/>
              <a:t> </a:t>
            </a:r>
            <a:r>
              <a:rPr spc="114" dirty="0"/>
              <a:t>Volume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Persist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/>
                <a:cs typeface="Arial"/>
              </a:rPr>
              <a:t>data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that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outlives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Pod,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node,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cluster</a:t>
            </a:r>
            <a:r>
              <a:rPr sz="1600" b="0" spc="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restart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2231" y="3467967"/>
            <a:ext cx="8841331" cy="1687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81939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25" dirty="0">
                <a:latin typeface="Arial"/>
                <a:cs typeface="Arial"/>
              </a:rPr>
              <a:t>95</a:t>
            </a:fld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1 ·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Volumes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Containers are ephemeral — data written to the container filesystem is lost on restart. Volumes survive restarts and can be shared between containers. CKAD tests emptyDir, emptyDir.medium: Memory and hostPath, plus mounting strategies.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an emptyDir between two containers, mount a RAM-backed tmpfs volume, then mount a node directory with hostPath.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volumes: · » Volumes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emptyDir shared between two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3957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shared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emptyDir: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writer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["sh","-c","echo hello-shared &gt; /data/msg.txt; sleep 3600"]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volumeMounts: [{name: shared, mountPath: /data}]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reader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image: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command: ["sh","-c","sleep 5; cat /data/msg.txt; sleep 3600"]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volumeMounts: [{name: shared, mountPath: /data}]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emptyDir backed by RAM (tmpfs)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fast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emptyDir: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medium: Memory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sizeLimit: 64Mi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hostPath: access files on the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etc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hostPath: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path: /etc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type: Directory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2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Volumes are declared under spec.volumes and consumed via spec.containers[].volumeMounts. Avoid hostPath in multi-tenant clusters — it is a security risk; use it only for DaemonSets and node-level tools.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Volumes — emptyDir and hostPath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scratch -c reader prints hello-shared, proving the writer and reader containers share the same emptyDir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1 done — you can design and build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Tomorrow: Application Deployment — Deployments, rollouts, Helm &amp; Kustomize.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Application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Deployments · Rollouts · Blue/Green &amp; Canary · Helm · Kustomize · Daemon/StatefulSet  (CKAD Domain 2 — 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2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Yesterday (Domain 1): images, Pods, Jobs/CronJobs, multi-container Pods and volumes.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Today (Domain 2 — 20% of the exam): how applications are deployed, scaled and upgraded.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From a single Pod to controllers that keep replicas running and roll out new versions safely.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Packaging with Helm and Kustomize, plus DaemonSets and StatefulSets for specialised workloads.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KUBERNETES PRIMITIVES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Labels and Annotations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Label assignment and selection, providing meta information to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METADATA · KEY-VALUE 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Labels and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Annotations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Key-value pairs assigned to an object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Must follow naming conventions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Used to query and filter objects from the CLI or from other objects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Represents human-readable metadata for an object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Not meant for querying purposes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Reserved annotations can add runtime behaviour to 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Label?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Key-value pairs assigned to Kubernetes objects with the imperative label command or using the metadata.labels[] attribute.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Not meant for elaborate, multi-word descriptions of its functionality.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Kubernetes limits the length of a label to a maximum of 63 characters and a range of allowed alphanumeric and separator characters.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Example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Three different Pods, each with multiple label key-value pairs: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Pod 1: tier=backend, env=prod, app=miracle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Pod 2: tier=frontend, env=dev, app=crawler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Pod 3: tier=frontend, env=staging, version=v2.1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Labels are set at creation time or added later with kubectl label.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Multiple labels on the same object create a unique identity for filtering.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KUBECTL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Assigning Labels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Assign multiple labels to a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label pod nginx tier=backend env=prod app=miracle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pod/nginx labeled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List Pods with their labels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--show-labels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...LABELS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nginx   ...tier=backend,env=prod,app=miracle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Remove a label by appending '-' to its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label pod nginx tier-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pod/nginx labeled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DECLARATIVE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Assigning Labels in a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Pod manifest with three label key-value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pod1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tier: backend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env: prod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app: miracle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NAMING CONVENTIONS  (app.kubernetes.io/*)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Well-known label keys with the app.kubernetes.io prefix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app.kubernetes.io/name: wordpress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app.kubernetes.io/instance: wordpress-abcxzy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app.kubernetes.io/version: "4.9.4"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app.kubernetes.io/managed-by: helm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app.kubernetes.io/component: 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app.kubernetes.io/part-of: wordpress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SELECTORS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Selecting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label selector uses a set of criteria to query for Kubernetes objects.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Equality-based requirements — match objects with a specific key or key=value: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tier=frontend  (equal)  •  tier!=frontend  (not equal)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Set-based requirements — match objects where a key's value is in a set: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'tier in (frontend, backend)'  •  'version notin (v1)'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Multiple selectors are ANDed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KUBECTL -l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Label Selection from the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Equality-based: Pods with tier=frontend AND env=dev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-l tier=frontend,env=dev --show-labels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...LABELS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pod2    ...app=crawler,env=dev,tier=frontend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Key-only: Pods that have a 'version' label (any value)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-l version --show-labels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...LABELS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pod3    ...app=crawler,env=staging,version=v2.1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Set-based with Boolean 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62272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62272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26280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 -l 'tier in (frontend,backend),env=dev' --show-labels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LABELS · SELECTORS IN MANIFESTS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Label Selection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 NetworkPolicy selects Pods via podSelector.matchLabels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NetworkPolicy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frontend-network-policy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matchLabels: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tier: frontend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ANNOTATIONS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an Annotation?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Key-value pairs for providing descriptive, human-readable metadata to Kubernetes objects via the metadata.annotations[] attribute.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Cannot be used for querying or selecting objects.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Make sure to put the value of an annotation into single- or double-quotes if it contains special characters or 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ANNOTATIONS ·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Example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Pod can carry any number of annotation key-value pairs: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commit: 866a8dc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author: 'Benjamin Muschko'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branch: 'bm/bugfix'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Unlike labels, annotation values are unrestricted in length.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Annotations are visible via kubectl describe and kubectl get -o yaml.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ANNOTATIONS · KUBECTL ANNOTATE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Assigning Annotations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Assign annotations to a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annotate pod nginx commit='866a8dc' branch='bm/bugfix'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pod/nginx annotated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Inspect annotations via describe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pods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Annotations:  branch: bm/bugfix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commit: 866a8dc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Remove an annotation by appending '-' to its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annotate pod nginx commit-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pod/nginx annotated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ANNOTATIONS · DECLARATIVE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Assigning Annotations in a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Pod manifest with three annotation key-value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pod1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annotations: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commit: 866a8dc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author: 'Benjamin Muschko'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branch: 'bm/bugfix'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ANNOTATIONS · RESERVED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Well-Known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Reserved annotations may influence runtime behaviour (e.g. Pod Security Standards)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Namespace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secured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annotations: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kubernetes.io/description: "Manages objects for business app."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pod-security.kubernetes.io/warn: "baseline"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Using Labels and Annotations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EXAM PREP ·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Labels are key-value pairs assigned to Kubernetes objects. Values must follow naming and length restrictions (max 63 chars, alphanumeric + separators).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Primitives such as Deployments, Services, and NetworkPolicies use label selection for filtering, querying, and routing.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Use annotations to provide human-readable metadata that cannot be queried. Some reserved annotations influence runtime behaviour (e.g. Pod Security Standards at namespace level).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Deployments &amp; ReplicaSets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controller that keeps your Pods running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DESIRED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Deployments?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bare Pod is not rescheduled if it dies — you need a controller to keep the desired count.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Deployment manages a ReplicaSet, which manages the Pods — a three-tier ownership chain.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scale changes the replica count; the ReplicaSet controller reconciles immediately.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Old ReplicaSets are kept for rollback (revisionHistoryLimit, default 10).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DEPLOYMENT → REPLICASET → POD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Ownership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You declare desired state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replicas + Pod template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Owns one active ReplicaSet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ReplicaSet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Keeps N Pods running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Hash-suffixed name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Self-heals deleted Pods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Pod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The running workload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Recreated if it dies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Never edited directly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Example</a:t>
            </a:r>
            <a:r>
              <a:rPr spc="-70" dirty="0"/>
              <a:t> </a:t>
            </a:r>
            <a:r>
              <a:rPr spc="110" dirty="0"/>
              <a:t>Deployment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Deployment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that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controls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three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replicas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5032" y="2314623"/>
            <a:ext cx="5341932" cy="35429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146</a:t>
            </a:fld>
            <a:endParaRPr spc="-25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Deployments &amp; ReplicaSets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Deployment manages a ReplicaSet, which manages Pods. CKAD tests the full ownership chain, scaling, environment-variable injection and reading ReplicaSet history — required to debug failed rollouts.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Deployment imperatively, scale it, generate YAML, inject env vars, then read its ReplicaSet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scale · k set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Deployment imperatively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--image=nginx:1.25 --replicas=3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deploy,rs,pod -l app=web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Scale up and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 --replicas=5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 --replicas=2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Deployment YAML and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api --image=httpd:2.4 --replicas=2 $do &gt; api.yaml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api.yaml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Inject an env var and observe ReplicaSet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env deployment/api APP_COLOR=blue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rs -l app=api    # old RS 0/0/0, new RS 2/2/2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set env / set image mutate the Pod template and trigger a new ReplicaSet (a rolling update). Old ReplicaSets are kept for rollback — revisionHistoryLimit (default 10) controls how many.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Deployments and ReplicaSets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deploy,rs,pod -l app=web shows one Deployment owning one ReplicaSet owning the Pods, and k get rs -l app=api shows two ReplicaSets after the env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Rolling Updates &amp;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Zero-downtime upgrades, one ReplicaSet at a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ZERO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 Rolling Update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set image mutates the Pod template — this creates a new ReplicaSet and starts a rollout.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maxSurge = extra Pods allowed above desired; maxUnavailable = Pods allowed down — together they tune speed vs availability.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rollout status watches progress; rollout history lists every revision.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rollout pause batches several changes into one ReplicaSet; rollout undo reverts instantly.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Rolling</a:t>
            </a:r>
            <a:r>
              <a:rPr spc="-35" dirty="0"/>
              <a:t> </a:t>
            </a:r>
            <a:r>
              <a:rPr spc="135" dirty="0"/>
              <a:t>Update</a:t>
            </a:r>
            <a:r>
              <a:rPr spc="-35" dirty="0"/>
              <a:t> </a:t>
            </a:r>
            <a:r>
              <a:rPr spc="120" dirty="0"/>
              <a:t>Deployment</a:t>
            </a:r>
            <a:r>
              <a:rPr spc="-30" dirty="0"/>
              <a:t> </a:t>
            </a:r>
            <a:r>
              <a:rPr spc="95" dirty="0"/>
              <a:t>Strategy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Secondary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ReplicaSet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is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created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new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version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767" y="2254500"/>
            <a:ext cx="8740384" cy="386533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166</a:t>
            </a:fld>
            <a:endParaRPr spc="-25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Rolling</a:t>
            </a:r>
            <a:r>
              <a:rPr spc="-35" dirty="0"/>
              <a:t> </a:t>
            </a:r>
            <a:r>
              <a:rPr spc="135" dirty="0"/>
              <a:t>Update</a:t>
            </a:r>
            <a:r>
              <a:rPr spc="-35" dirty="0"/>
              <a:t> </a:t>
            </a:r>
            <a:r>
              <a:rPr spc="120" dirty="0"/>
              <a:t>Deployment</a:t>
            </a:r>
            <a:r>
              <a:rPr spc="-30" dirty="0"/>
              <a:t> </a:t>
            </a:r>
            <a:r>
              <a:rPr spc="95" dirty="0"/>
              <a:t>Strategy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Runtime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behavior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can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be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fine-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tuned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4753239"/>
            <a:ext cx="8194887" cy="10955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</a:tabLst>
            </a:pPr>
            <a:r>
              <a:rPr sz="1600" i="1" dirty="0">
                <a:latin typeface="Arial"/>
                <a:cs typeface="Arial"/>
              </a:rPr>
              <a:t>Pros: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New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version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slowly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distributed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over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time,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downtime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sz="1600" i="1" dirty="0">
                <a:latin typeface="Arial"/>
                <a:cs typeface="Arial"/>
              </a:rPr>
              <a:t>Cons:</a:t>
            </a:r>
            <a:r>
              <a:rPr sz="1600" i="1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Breaking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API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changes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make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consumers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incompatible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8173" y="1794151"/>
            <a:ext cx="3792400" cy="2372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9615" y="1858575"/>
            <a:ext cx="3640667" cy="221996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78740" rIns="0" bIns="0" rtlCol="0">
            <a:spAutoFit/>
          </a:bodyPr>
          <a:lstStyle/>
          <a:p>
            <a:pPr marL="177165">
              <a:lnSpc>
                <a:spcPct val="100000"/>
              </a:lnSpc>
              <a:spcBef>
                <a:spcPts val="620"/>
              </a:spcBef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300">
              <a:latin typeface="Courier New"/>
              <a:cs typeface="Courier New"/>
            </a:endParaRPr>
          </a:p>
          <a:p>
            <a:pPr marL="375285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replicas:</a:t>
            </a:r>
            <a:r>
              <a:rPr sz="1300" b="1" spc="-4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3</a:t>
            </a:r>
            <a:endParaRPr sz="1300">
              <a:latin typeface="Courier New"/>
              <a:cs typeface="Courier New"/>
            </a:endParaRPr>
          </a:p>
          <a:p>
            <a:pPr marL="375285">
              <a:lnSpc>
                <a:spcPct val="100000"/>
              </a:lnSpc>
              <a:spcBef>
                <a:spcPts val="15"/>
              </a:spcBef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strategy:</a:t>
            </a:r>
            <a:endParaRPr sz="1300">
              <a:latin typeface="Courier New"/>
              <a:cs typeface="Courier New"/>
            </a:endParaRPr>
          </a:p>
          <a:p>
            <a:pPr marL="573405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type:</a:t>
            </a:r>
            <a:r>
              <a:rPr sz="13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RollingUpdate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5307" y="3047455"/>
            <a:ext cx="2679700" cy="839893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4450">
              <a:lnSpc>
                <a:spcPts val="1460"/>
              </a:lnSpc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rollingUpdate:</a:t>
            </a:r>
            <a:endParaRPr sz="1300">
              <a:latin typeface="Courier New"/>
              <a:cs typeface="Courier New"/>
            </a:endParaRPr>
          </a:p>
          <a:p>
            <a:pPr marL="23876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maxSurge:</a:t>
            </a:r>
            <a:r>
              <a:rPr sz="1300" b="1" spc="-4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2</a:t>
            </a:r>
            <a:endParaRPr sz="1300">
              <a:latin typeface="Courier New"/>
              <a:cs typeface="Courier New"/>
            </a:endParaRPr>
          </a:p>
          <a:p>
            <a:pPr marL="23876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maxUnavailable:</a:t>
            </a:r>
            <a:r>
              <a:rPr sz="1300" b="1" spc="-7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0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96153" y="3412389"/>
            <a:ext cx="1150620" cy="110067"/>
            <a:chOff x="4496153" y="3412389"/>
            <a:chExt cx="1150620" cy="110067"/>
          </a:xfrm>
        </p:grpSpPr>
        <p:sp>
          <p:nvSpPr>
            <p:cNvPr id="8" name="object 8"/>
            <p:cNvSpPr/>
            <p:nvPr/>
          </p:nvSpPr>
          <p:spPr>
            <a:xfrm>
              <a:off x="4624121" y="3467043"/>
              <a:ext cx="1022773" cy="0"/>
            </a:xfrm>
            <a:custGeom>
              <a:avLst/>
              <a:gdLst/>
              <a:ahLst/>
              <a:cxnLst/>
              <a:rect l="l" t="t" r="r" b="b"/>
              <a:pathLst>
                <a:path w="767079">
                  <a:moveTo>
                    <a:pt x="7664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6153" y="3412389"/>
              <a:ext cx="140667" cy="10930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802264" y="3135347"/>
            <a:ext cx="2537460" cy="5977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35890" marR="5080" indent="-12382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Determines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</a:t>
            </a:r>
            <a:r>
              <a:rPr sz="1400" spc="-10" dirty="0">
                <a:latin typeface="Arial"/>
                <a:cs typeface="Arial"/>
              </a:rPr>
              <a:t> update </a:t>
            </a:r>
            <a:r>
              <a:rPr sz="1400" dirty="0">
                <a:latin typeface="Arial"/>
                <a:cs typeface="Arial"/>
              </a:rPr>
              <a:t>should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performed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167</a:t>
            </a:fld>
            <a:endParaRPr spc="-25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ROLLING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Rolling Updates &amp; Rollback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Deployment performs zero-downtime upgrades by gradually replacing Pods one ReplicaSet at a time. CKAD tests maxSurge, maxUnavailable, rollout pause/resume, history inspection and rollback — often as a timed multi-step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Tune the rolling-update strategy, trigger an image update, inspect history, pause/resume, then roll 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patch · k set · k rollout · » Pausing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the initial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--image=nginx:1.24 --replicas=4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deployment/web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Tune the rolling-update strategy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deployment web -p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'{"spec":{"strategy":{"rollingUpdate":{"maxSurge":1,"maxUnavailable":1}}}}'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Trigger an image update and watch the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image deployment/web nginx=nginx:1.25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rs -l app=web        # old RS drains to 0, new RS ramps to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View history, pause, batch changes, resume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history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pause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image deployment/web nginx=nginx:1.26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set env deployment/web APP_ENV=production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resume deployment/web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Roll 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undo deployment/web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undo deployment/web --to-revision=1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6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Pausing batches multiple mutations into a single new ReplicaSet — one rollout, not two. rollout undo reverts to the previous (or a specified) revision instantly.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Rolling Updates and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rollout history deployment/web lists each revision, and k rollout undo returns the Deployment to the prior image with zero downtime.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Blue/Green &amp; Canary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Release strategies built from Deployments +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SAFE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Beyond the Default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Blue/Green runs two complete versions; a Service selector switch flips 100% of traffic atomically.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Canary sends a small slice of traffic to the new version by running it at a low replica ratio.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Both are built from plain Deployments and Services using labels — no extra tooling for CKAD.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Rollback is instant: re-patch the selector (blue/green) or scale the canary back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5" dirty="0"/>
              <a:t>Blue/Green</a:t>
            </a:r>
            <a:r>
              <a:rPr spc="-60" dirty="0"/>
              <a:t> </a:t>
            </a:r>
            <a:r>
              <a:rPr spc="120" dirty="0"/>
              <a:t>Deployment</a:t>
            </a:r>
            <a:r>
              <a:rPr spc="-60" dirty="0"/>
              <a:t> </a:t>
            </a:r>
            <a:r>
              <a:rPr spc="95" dirty="0"/>
              <a:t>Strategy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Deployment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object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new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version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is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created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alongside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899" y="1899633"/>
            <a:ext cx="7426099" cy="441007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170</a:t>
            </a:fld>
            <a:endParaRPr spc="-25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45" dirty="0"/>
              <a:t>Canary</a:t>
            </a:r>
            <a:r>
              <a:rPr spc="-70" dirty="0"/>
              <a:t> </a:t>
            </a:r>
            <a:r>
              <a:rPr spc="120" dirty="0"/>
              <a:t>Deployment</a:t>
            </a:r>
            <a:r>
              <a:rPr spc="-70" dirty="0"/>
              <a:t> </a:t>
            </a:r>
            <a:r>
              <a:rPr spc="95" dirty="0"/>
              <a:t>Strategy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Two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Deployment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objects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different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traffic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500" y="2044865"/>
            <a:ext cx="8890932" cy="39399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172</a:t>
            </a:fld>
            <a:endParaRPr spc="-25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BLUE/GREEN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Blue/Green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Blue/Green keeps two complete copies of the app alive at once. A Service selector switch flips 100% of traffic from blue to green in one atomic operation — with instant rollback if anything breaks.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Deploy blue (live) and green (idle), smoke-test green, flip the Service selector, then roll back with one patch.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GREEN_POD=$(k get · k patch · » Cutover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Deploy blue (current production) behind a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web-blue (labels app=web, version=blue) + Service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selector: {app: web, version: blue}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blue.yaml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Deploy green (next version, no live traffic yet)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web-green (labels app=web, version=green), nginx:1.25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green.yaml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Smoke-test green directly before cutover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GREEN_POD=$(k get pod -l version=green -o jsonpath='{.items[0].metadata.name}')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$GREEN_POD -- curl -sI localhost:80 | head 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Flip the Service to green (atomic cutover)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service web -p '{"spec":{"selector":{"app":"web","version":"green"}}}'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svc web | grep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5 — Roll back instantly if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service web -p '{"spec":{"selector":{"app":"web","version":"blue"}}}'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80459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Cutover and rollback are both a single kubectl patch service selector update — atomic, milliseconds, no Pod churn. Blue stays running as an instant fallback.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Blue/Green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the patch, k describe svc web | grep Selector shows version=green, and patching it back to version=blue restores the old version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CANARY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Canary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canary release sends a small fraction of live traffic to a new version while the bulk stays on stable. In Kubernetes the split is approximated by replica ratios behind one broad Service selector — no special tooling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9-replica stable and 1-replica canary behind one Service, verify the ~10% split, then promote.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k run · k scale · » Traffic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Stable Deployment (90% of traffic)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web-stable: replicas 9, labels app=web,track=stable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Service web: selector {app: web}, port 5678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stable.yaml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Canary Deployment (10% of traffic)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Deployment web-canary: replicas 1, labels app=web,track=canary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canary.yaml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app=web --show-labels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Verify the traffic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probe --image=busybox --restart=Never -it --rm -- sh -c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'for i in $(seq 1 30); do wget -qO- web:5678; done | sort | uniq -c'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~27 stable, ~3 canary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Promote: scale up canary, retire stable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web-canary --replicas=9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deployment web-stable --replicas=0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Traffic split is approximated by replica ratio (9:1 ≈ 90/10). Promotion is just kubectl scale on both Deployments — no Service change. For precise percentage splits use a service mesh (Istio/Linkerd) — beyond CKAD scope.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probe loop returns roughly 90% stable and 10% canary, and after scaling, all traffic shifts to the canary version with no Service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AUTOSCALING · HPA vs VPA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Types of Autoscalers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HPA — Horizontal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VPA — Vertical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Horizontal Pod Autoscaler (HPA)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Scales the number of Pod replicas based on CPU/memory thresholds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Standard Kubernetes feature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Uses the metrics-server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Vertical Pod Autoscaler (VPA)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Scales CPU/memory allocation for existing Pods from historic metrics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Provided by cloud providers as an add-on or installed manually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Both autoscalers require metrics-server and resource requests/limits on Pods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HPA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Horizontal Pod Autoscaler (HPA)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HPA is a Kubernetes primitive that queries the metrics server at regular intervals.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It compares current resource utilisation against the defined threshold.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If utilisation exceeds the threshold → HPA increases the replica count (scale out).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If utilisation drops below the threshold → HPA decreases the replica count (scale in).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HPA targets a Deployment (or ReplicaSet) via scaleTargetRef.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HPA · CPU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Autoscaling a Deployment by 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HPA monitors average CPU utilisation across all running replicas.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Example: threshold = 80% CPU, current = 15% → no scale-out needed.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Example: threshold = 80% CPU, current = 95% → HPA adds replicas.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Scaling decisions respect minReplicas and maxReplicas bounds.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kubectl autoscale is the imperative shortcut to create an HPA.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HPA · DECLARATIVE MANIFEST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Horizontal Pod Autoscaler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HPA targeting a Deployment, scaling on CPU utilisation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35204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3520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autoscaling/v2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HorizontalPodAutoscaler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app-cache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scaleTargetRef: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apiVersion: apps/v1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kind: Deployment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name: app-cache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minReplicas: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maxReplicas: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metrics: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type: Resource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resource: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name: cpu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target: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type: Utilization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averageUtilization: 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HPA · KUBECTL GET HPA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Inspecting the Horizontal Pod Autoscaler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List HPAs — shows current utilisation vs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hpa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REFERENCE               TARGETS    MINPODS  MAXPODS  REPLICAS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app-cache   Deployment/app-cache    15%/80%    3        5        3         2m14s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Describe for detailed events and scaling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hpa app-cache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Creating a Horizontal Pod Autoscaler for a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Helm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Kubernetes package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PACKAGE &amp;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Charts, Releases &amp; Revisions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chart is a bundle of templated YAML; a release is one deployed instance of a chart.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Workflow: repo add → install → upgrade → rollback → uninstall.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--set overrides values at install/upgrade; --reuse-values keeps prior overrides.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helm history tracks every revision; helm get manifest shows what was actually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20" dirty="0"/>
              <a:t> </a:t>
            </a:r>
            <a:r>
              <a:rPr dirty="0"/>
              <a:t>is</a:t>
            </a:r>
            <a:r>
              <a:rPr spc="-120" dirty="0"/>
              <a:t> </a:t>
            </a:r>
            <a:r>
              <a:rPr spc="45" dirty="0"/>
              <a:t>Helm?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Package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manager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templating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engine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set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manifests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10288693" cy="2980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15875" indent="-351790">
              <a:lnSpc>
                <a:spcPct val="1133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artifact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produced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Helm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executable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so-</a:t>
            </a:r>
            <a:r>
              <a:rPr sz="1600" dirty="0">
                <a:latin typeface="Arial"/>
                <a:cs typeface="Arial"/>
              </a:rPr>
              <a:t>called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chart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file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bundling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manifests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comprise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the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API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application.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5080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Chart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files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distributed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chart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repository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e.g.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u="heavy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central</a:t>
            </a:r>
            <a:r>
              <a:rPr sz="1600" u="heavy" spc="-25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600" u="heavy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chart</a:t>
            </a:r>
            <a:r>
              <a:rPr sz="1600" u="heavy" spc="-3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600" u="heavy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repository</a:t>
            </a:r>
            <a:r>
              <a:rPr sz="1600" spc="-20" dirty="0">
                <a:solidFill>
                  <a:srgbClr val="D30020"/>
                </a:solidFill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and </a:t>
            </a:r>
            <a:r>
              <a:rPr sz="1600" dirty="0">
                <a:latin typeface="Arial"/>
                <a:cs typeface="Arial"/>
              </a:rPr>
              <a:t>consumed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there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(e.g.,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running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Grafana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PostgreSQL).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193040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At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runtime,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replaces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placeholders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YAML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template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files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actual,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end-</a:t>
            </a:r>
            <a:r>
              <a:rPr sz="1600" spc="-20" dirty="0">
                <a:latin typeface="Arial"/>
                <a:cs typeface="Arial"/>
              </a:rPr>
              <a:t>user </a:t>
            </a:r>
            <a:r>
              <a:rPr sz="1600" dirty="0">
                <a:latin typeface="Arial"/>
                <a:cs typeface="Arial"/>
              </a:rPr>
              <a:t>defined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values.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3867" y="5152865"/>
            <a:ext cx="1186235" cy="118623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177</a:t>
            </a:fld>
            <a:endParaRPr spc="-25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30" dirty="0"/>
              <a:t>Standard</a:t>
            </a:r>
            <a:r>
              <a:rPr spc="-100" dirty="0"/>
              <a:t> </a:t>
            </a:r>
            <a:r>
              <a:rPr spc="125" dirty="0"/>
              <a:t>Chart</a:t>
            </a:r>
            <a:r>
              <a:rPr spc="-100" dirty="0"/>
              <a:t> </a:t>
            </a:r>
            <a:r>
              <a:rPr spc="60" dirty="0"/>
              <a:t>Structure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Predefined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directory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structure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mandatory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20" dirty="0">
                <a:solidFill>
                  <a:srgbClr val="666666"/>
                </a:solidFill>
                <a:latin typeface="Courier New"/>
                <a:cs typeface="Courier New"/>
              </a:rPr>
              <a:t>Chart.yaml</a:t>
            </a:r>
            <a:r>
              <a:rPr sz="1600" b="0" spc="-66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10" dirty="0">
                <a:solidFill>
                  <a:srgbClr val="666666"/>
                </a:solidFill>
                <a:latin typeface="Courier New"/>
                <a:cs typeface="Courier New"/>
              </a:rPr>
              <a:t>values.yaml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424" y="1810508"/>
            <a:ext cx="5554400" cy="2630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6700" y="2600299"/>
            <a:ext cx="1502833" cy="3479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90"/>
              </a:spcBef>
            </a:pPr>
            <a:r>
              <a:rPr sz="1300" spc="-10" dirty="0">
                <a:latin typeface="Courier New"/>
                <a:cs typeface="Courier New"/>
              </a:rPr>
              <a:t>Chart.yaml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183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693867" y="1874933"/>
            <a:ext cx="5402580" cy="2478193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5494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220"/>
              </a:spcBef>
            </a:pPr>
            <a:r>
              <a:rPr sz="1300" b="1" dirty="0">
                <a:latin typeface="Courier New"/>
                <a:cs typeface="Courier New"/>
              </a:rPr>
              <a:t>$</a:t>
            </a:r>
            <a:r>
              <a:rPr sz="1300" b="1" spc="-5" dirty="0">
                <a:latin typeface="Courier New"/>
                <a:cs typeface="Courier New"/>
              </a:rPr>
              <a:t> </a:t>
            </a:r>
            <a:r>
              <a:rPr sz="1300" b="1" spc="-20" dirty="0">
                <a:latin typeface="Courier New"/>
                <a:cs typeface="Courier New"/>
              </a:rPr>
              <a:t>tree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spc="-50" dirty="0">
                <a:latin typeface="Courier New"/>
                <a:cs typeface="Courier New"/>
              </a:rPr>
              <a:t>.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spc="-25" dirty="0">
                <a:latin typeface="Courier New"/>
                <a:cs typeface="Courier New"/>
              </a:rPr>
              <a:t>├──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dirty="0">
                <a:latin typeface="Courier New"/>
                <a:cs typeface="Courier New"/>
              </a:rPr>
              <a:t>├──</a:t>
            </a:r>
            <a:r>
              <a:rPr sz="1300" spc="-1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templates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  <a:tabLst>
                <a:tab pos="561975" algn="l"/>
              </a:tabLst>
            </a:pPr>
            <a:r>
              <a:rPr sz="1300" spc="-50" dirty="0">
                <a:latin typeface="Courier New"/>
                <a:cs typeface="Courier New"/>
              </a:rPr>
              <a:t>│</a:t>
            </a:r>
            <a:r>
              <a:rPr sz="1300" dirty="0">
                <a:latin typeface="Courier New"/>
                <a:cs typeface="Courier New"/>
              </a:rPr>
              <a:t>	├──</a:t>
            </a:r>
            <a:r>
              <a:rPr sz="1300" spc="4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web-app-pod-template.yaml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  <a:tabLst>
                <a:tab pos="561975" algn="l"/>
              </a:tabLst>
            </a:pPr>
            <a:r>
              <a:rPr sz="1300" spc="-50" dirty="0">
                <a:latin typeface="Courier New"/>
                <a:cs typeface="Courier New"/>
              </a:rPr>
              <a:t>│</a:t>
            </a:r>
            <a:r>
              <a:rPr sz="1300" dirty="0">
                <a:latin typeface="Courier New"/>
                <a:cs typeface="Courier New"/>
              </a:rPr>
              <a:t>	└──</a:t>
            </a:r>
            <a:r>
              <a:rPr sz="1300" spc="6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web-app-service-template.yaml</a:t>
            </a:r>
            <a:endParaRPr sz="1300">
              <a:latin typeface="Courier New"/>
              <a:cs typeface="Courier New"/>
            </a:endParaRPr>
          </a:p>
          <a:p>
            <a:pPr marL="165735">
              <a:lnSpc>
                <a:spcPct val="100000"/>
              </a:lnSpc>
              <a:spcBef>
                <a:spcPts val="15"/>
              </a:spcBef>
            </a:pPr>
            <a:r>
              <a:rPr sz="1300" spc="-25" dirty="0">
                <a:latin typeface="Courier New"/>
                <a:cs typeface="Courier New"/>
              </a:rPr>
              <a:t>└──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6700" y="3665200"/>
            <a:ext cx="1605280" cy="3479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Courier New"/>
                <a:cs typeface="Courier New"/>
              </a:rPr>
              <a:t>values.yaml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HELM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Helm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Helm is the Kubernetes package manager. A chart is a bundle of templated YAML; a release is a deployed instance. CKAD tests install, upgrade, rollback, list and value overrides — all under exam time pressure.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a chart repo, install a release with overrides, inspect it, upgrade, roll back, then uninstall.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helm repo · helm install · helm get · helm upgrade · » `--reuse-values`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Add a chart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add bitnami https://charts.bitnami.com/bitnami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repo update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search repo bitnami/nginx | head 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Install a release with value overrides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install web bitnami/nginx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--set service.type=ClusterIP --set replicaCount=2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Inspect the generated manifests and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get manifest web | head -40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get values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Upgrade, then roll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upgrade web bitnami/nginx --set replicaCount=4 --reuse-values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history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rollback web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helm uninstall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--reuse-values preserves prior overrides while changing only the new one. helm history &lt;release&gt; tracks every revision; rollback creates a new revision rather than deleting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Helm — Install, Upgrade,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helm history web lists each revision with its status, and helm rollback web 1 returns the release to its first revision as a new history entry.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Kustomize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Environment overlays without templating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REUSE WITHOUT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Base +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Kustomize reuses one base set of manifests and layers environment-specific changes on 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namePrefix and commonLabels are applied to every resource in the overlay.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The images block overrides image tags without editing the base files; patches do strategic merges.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Built into kubectl: kubectl apply -k and kubectl kustomize — no extra binary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20" dirty="0"/>
              <a:t> </a:t>
            </a:r>
            <a:r>
              <a:rPr dirty="0"/>
              <a:t>is</a:t>
            </a:r>
            <a:r>
              <a:rPr spc="-120" dirty="0"/>
              <a:t> </a:t>
            </a:r>
            <a:r>
              <a:rPr spc="-10" dirty="0"/>
              <a:t>Kustomize?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Customizing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manifests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without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templates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10459720" cy="33485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133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Writing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manifests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application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stacks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straightforward,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however,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deploying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them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different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Kubernetes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runtime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environments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varying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configuration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gets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tricky.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462915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Instead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copying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modifying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manifests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environment,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you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use </a:t>
            </a:r>
            <a:r>
              <a:rPr sz="1600" dirty="0">
                <a:latin typeface="Arial"/>
                <a:cs typeface="Arial"/>
              </a:rPr>
              <a:t>kustomize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merge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configuration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change.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Kustomize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does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require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using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dirty="0">
                <a:latin typeface="Arial"/>
                <a:cs typeface="Arial"/>
              </a:rPr>
              <a:t>template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engine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changing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original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manifests.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613410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Kustomize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used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subcommand/flag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 </a:t>
            </a:r>
            <a:r>
              <a:rPr sz="1600" spc="-20" dirty="0">
                <a:latin typeface="Courier New"/>
                <a:cs typeface="Courier New"/>
              </a:rPr>
              <a:t>kubectl</a:t>
            </a:r>
            <a:r>
              <a:rPr sz="1600" spc="-625" dirty="0">
                <a:latin typeface="Courier New"/>
                <a:cs typeface="Courier New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separate </a:t>
            </a:r>
            <a:r>
              <a:rPr sz="1600" u="heavy" spc="-1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executable</a:t>
            </a:r>
            <a:r>
              <a:rPr sz="1600" spc="-10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9417" y="5223433"/>
            <a:ext cx="1060899" cy="10608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194</a:t>
            </a:fld>
            <a:endParaRPr spc="-25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Environment</a:t>
            </a:r>
            <a:r>
              <a:rPr spc="-90" dirty="0"/>
              <a:t> </a:t>
            </a:r>
            <a:r>
              <a:rPr spc="65" dirty="0"/>
              <a:t>Kustomize</a:t>
            </a:r>
            <a:r>
              <a:rPr spc="-90" dirty="0"/>
              <a:t> </a:t>
            </a:r>
            <a:r>
              <a:rPr spc="70" dirty="0"/>
              <a:t>Setup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Subdirectories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contain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environment-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specific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configuration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3724" y="1810508"/>
            <a:ext cx="5009727" cy="4219787"/>
            <a:chOff x="623724" y="1810508"/>
            <a:chExt cx="5009727" cy="4219787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724" y="1810508"/>
              <a:ext cx="5009600" cy="4219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5167" y="1874932"/>
              <a:ext cx="4857327" cy="4067387"/>
            </a:xfrm>
            <a:custGeom>
              <a:avLst/>
              <a:gdLst/>
              <a:ahLst/>
              <a:cxnLst/>
              <a:rect l="l" t="t" r="r" b="b"/>
              <a:pathLst>
                <a:path w="3642995" h="3050540">
                  <a:moveTo>
                    <a:pt x="3642899" y="3050099"/>
                  </a:moveTo>
                  <a:lnTo>
                    <a:pt x="0" y="3050099"/>
                  </a:lnTo>
                  <a:lnTo>
                    <a:pt x="0" y="0"/>
                  </a:lnTo>
                  <a:lnTo>
                    <a:pt x="3642899" y="0"/>
                  </a:lnTo>
                  <a:lnTo>
                    <a:pt x="3642899" y="30500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99667" y="1961529"/>
            <a:ext cx="4260427" cy="2009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Courier New"/>
                <a:cs typeface="Courier New"/>
              </a:rPr>
              <a:t>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Courier New"/>
                <a:cs typeface="Courier New"/>
              </a:rPr>
              <a:t>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base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/>
                <a:cs typeface="Courier New"/>
              </a:rPr>
              <a:t>│</a:t>
            </a:r>
            <a:r>
              <a:rPr sz="1600" dirty="0">
                <a:latin typeface="Courier New"/>
                <a:cs typeface="Courier New"/>
              </a:rPr>
              <a:t>	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deployment.yaml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/>
                <a:cs typeface="Courier New"/>
              </a:rPr>
              <a:t>│</a:t>
            </a:r>
            <a:r>
              <a:rPr sz="1600" dirty="0">
                <a:latin typeface="Courier New"/>
                <a:cs typeface="Courier New"/>
              </a:rPr>
              <a:t>	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kustomization.yaml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/>
                <a:cs typeface="Courier New"/>
              </a:rPr>
              <a:t>│</a:t>
            </a:r>
            <a:r>
              <a:rPr sz="1600" dirty="0">
                <a:latin typeface="Courier New"/>
                <a:cs typeface="Courier New"/>
              </a:rPr>
              <a:t>	└──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service.yaml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Courier New"/>
                <a:cs typeface="Courier New"/>
              </a:rPr>
              <a:t>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25" dirty="0">
                <a:latin typeface="Courier New"/>
                <a:cs typeface="Courier New"/>
              </a:rPr>
              <a:t>dev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667" y="3942729"/>
            <a:ext cx="4260427" cy="689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9745" algn="l"/>
              </a:tabLst>
            </a:pPr>
            <a:r>
              <a:rPr sz="1600" spc="-50" dirty="0">
                <a:latin typeface="Courier New"/>
                <a:cs typeface="Courier New"/>
              </a:rPr>
              <a:t>│</a:t>
            </a:r>
            <a:r>
              <a:rPr sz="1600" dirty="0">
                <a:latin typeface="Courier New"/>
                <a:cs typeface="Courier New"/>
              </a:rPr>
              <a:t>	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config.properties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99745" algn="l"/>
              </a:tabLst>
            </a:pPr>
            <a:r>
              <a:rPr sz="1600" spc="-50" dirty="0">
                <a:latin typeface="Courier New"/>
                <a:cs typeface="Courier New"/>
              </a:rPr>
              <a:t>│</a:t>
            </a:r>
            <a:r>
              <a:rPr sz="1600" dirty="0">
                <a:latin typeface="Courier New"/>
                <a:cs typeface="Courier New"/>
              </a:rPr>
              <a:t>	└──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kustomization.yaml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667" y="4603129"/>
            <a:ext cx="1334347" cy="358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└──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20" dirty="0">
                <a:latin typeface="Courier New"/>
                <a:cs typeface="Courier New"/>
              </a:rPr>
              <a:t>prod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9907" y="4933329"/>
            <a:ext cx="3610187" cy="689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ourier New"/>
                <a:cs typeface="Courier New"/>
              </a:rPr>
              <a:t>├──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config.properties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latin typeface="Courier New"/>
                <a:cs typeface="Courier New"/>
              </a:rPr>
              <a:t>└──</a:t>
            </a:r>
            <a:r>
              <a:rPr sz="1600" spc="-45" dirty="0">
                <a:latin typeface="Courier New"/>
                <a:cs typeface="Courier New"/>
              </a:rPr>
              <a:t> </a:t>
            </a:r>
            <a:r>
              <a:rPr sz="1600" spc="-10" dirty="0">
                <a:latin typeface="Courier New"/>
                <a:cs typeface="Courier New"/>
              </a:rPr>
              <a:t>kustomization.yaml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376265" y="3651299"/>
            <a:ext cx="5621867" cy="2159000"/>
            <a:chOff x="1376265" y="3651299"/>
            <a:chExt cx="5621867" cy="2159000"/>
          </a:xfrm>
        </p:grpSpPr>
        <p:sp>
          <p:nvSpPr>
            <p:cNvPr id="11" name="object 11"/>
            <p:cNvSpPr/>
            <p:nvPr/>
          </p:nvSpPr>
          <p:spPr>
            <a:xfrm>
              <a:off x="1388965" y="3663999"/>
              <a:ext cx="3906520" cy="2133600"/>
            </a:xfrm>
            <a:custGeom>
              <a:avLst/>
              <a:gdLst/>
              <a:ahLst/>
              <a:cxnLst/>
              <a:rect l="l" t="t" r="r" b="b"/>
              <a:pathLst>
                <a:path w="2929890" h="1600200">
                  <a:moveTo>
                    <a:pt x="0" y="0"/>
                  </a:moveTo>
                  <a:lnTo>
                    <a:pt x="2929799" y="0"/>
                  </a:lnTo>
                  <a:lnTo>
                    <a:pt x="2929799" y="1599899"/>
                  </a:lnTo>
                  <a:lnTo>
                    <a:pt x="0" y="1599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47967" y="4730599"/>
              <a:ext cx="1550247" cy="0"/>
            </a:xfrm>
            <a:custGeom>
              <a:avLst/>
              <a:gdLst/>
              <a:ahLst/>
              <a:cxnLst/>
              <a:rect l="l" t="t" r="r" b="b"/>
              <a:pathLst>
                <a:path w="1162685">
                  <a:moveTo>
                    <a:pt x="11621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9999" y="4675945"/>
              <a:ext cx="140667" cy="10930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172011" y="4414084"/>
            <a:ext cx="2569633" cy="8771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635" algn="ctr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Create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dedicated </a:t>
            </a:r>
            <a:r>
              <a:rPr sz="1400" dirty="0">
                <a:latin typeface="Arial"/>
                <a:cs typeface="Arial"/>
              </a:rPr>
              <a:t>directory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+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configuration </a:t>
            </a:r>
            <a:r>
              <a:rPr sz="1400" dirty="0">
                <a:latin typeface="Arial"/>
                <a:cs typeface="Arial"/>
              </a:rPr>
              <a:t>per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environment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202</a:t>
            </a:fld>
            <a:endParaRPr spc="-25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Kustomize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Kustomize reuses a single base set of manifests and applies environment-specific overlays without templating. It is built into kubectl (-k). CKAD tests namePrefix, commonLabels, images and strategic-merge patches.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base, add dev and prod overlays (prefix, labels, image tag, replica patch), preview, then apply.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resources: · kubectl kustomize · » `namePrefix`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Base kustomization (shared by all environments)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base/kustomization.yaml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deployment.yaml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service.yaml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Dev overlay (name prefix + common label)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overlays/dev/kustomization.yaml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../../base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namePrefix: dev-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commonLabels: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env: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Prod overlay (image bump + replica patch)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overlays/prod/kustomization.yaml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../../base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namePrefix: prod-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commonLabels: {env: prod}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images: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newTag: "1.26"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patches: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path: replica-patch.yaml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Preview, then apply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66344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27448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kustomize overlays/prod | grep -E "name:|replicas:|image:"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-k overlays/dev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-k overlays/prod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namePrefix and commonLabels apply to every resource in the overlay. The images block overrides tags without editing base files. apply -k / kubectl kustomize are built into kubectl — no extra binary.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Kustomize Overlays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kubectl kustomize overlays/prod shows name prod-web, 5 replicas and nginx:1.26, while the dev overlay stays at 1 replica and nginx:1.25.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DaemonSets &amp; StatefulSets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Node-wide agents &amp; stable-identity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WHEN DEPLOYMENT ISN'T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Specialised Controllers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DaemonSet runs exactly one Pod per matching node — log collectors, CNI agents, node exporters.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StatefulSet gives Pods stable names (db-0, db-1) and ordered, graceful start/stop.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StatefulSet needs a headless Service (clusterIP: None) for per-Pod DNS.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Scale-down always removes the highest ordinal first; scale-up adds the next in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WORKLOAD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Pick the Right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Stateless, interchangeable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Any number of replicas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Rolling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DaemonSet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One Pod per node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Node-level agents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Scales with the cluster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StatefulSet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Stable identity + storage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Ordered start/stop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Databases, queues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WORKLOAD CONTROLLERS · NODE-WIDE vs STABLE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 vs StatefulSet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DaemonSet — one Pod per node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5146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8986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6243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6243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4290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8130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5387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35387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3434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727448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node-3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4531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4453128"/>
            <a:ext cx="16093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agent Pod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StatefulSet — ordered, stable names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468880"/>
            <a:ext cx="2606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8" y="2468880"/>
            <a:ext cx="23865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headless Service (db)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clusterIP: None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3337560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8" y="3337560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db-0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db-0.db.svc.cluster.local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3995928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3995928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db-1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db-1.db.svc.cluster.local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654296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4654296"/>
            <a:ext cx="366674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db-2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db-2.db.svc.cluster.local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102352"/>
            <a:ext cx="5166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/>
              </a:rPr>
              <a:t>created db-0→db-2 · deleted db-2→db-0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DaemonSet = </a:t>
            </a:r>
            <a:r>
              <a:rPr sz="1300" b="1">
                <a:solidFill>
                  <a:srgbClr val="161B26"/>
                </a:solidFill>
                <a:latin typeface="Arial"/>
              </a:rPr>
              <a:t>one Pod per matching node</a:t>
            </a:r>
            <a:r>
              <a:rPr sz="1300" b="0">
                <a:solidFill>
                  <a:srgbClr val="5B6372"/>
                </a:solidFill>
                <a:latin typeface="Arial"/>
              </a:rPr>
              <a:t>; StatefulSet = </a:t>
            </a:r>
            <a:r>
              <a:rPr sz="1300" b="1">
                <a:solidFill>
                  <a:srgbClr val="161B26"/>
                </a:solidFill>
                <a:latin typeface="Arial"/>
              </a:rPr>
              <a:t>stable identity + ordered start/stop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2 · DAEMON/STATEFULSET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DaemonSets &amp; StatefulSets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DaemonSet runs exactly one Pod per matching node (log collectors, CNI agents). A StatefulSet gives Pods stable identities and ordered start/stop (databases). CKAD expects you to know when to use each and write the YAML.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 DaemonSet on every node, then a StatefulSet with a headless Service, stable DNS and ordered scaling.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apply · nslookup db-0.db.default.svc.cluster.local · » DaemonSet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DaemonSet on every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DaemonSet node-agent, image busybox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ds.yaml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ds,pods -l app=node-agent -o wide   # DESIRED = node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Headless Service for the StatefulSet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Service db: clusterIP: None, selector app=db, port 5432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headless.yaml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StatefulSet with stable identities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StatefulSet db: serviceName db, replicas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apply -f sts.yaml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rollout status sts/db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pods -l app=db        # db-0 → db-1 → db-2 in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Verify stable per-Pod DNS and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db-0.db.default.svc.cluster.local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sts db --replicas=4    # adds db-3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scale sts db --replicas=2    # removes db-3 then db-2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DaemonSet = one Pod per matching node. StatefulSet = stable names (db-0, db-1) and ordered start/stop; a headless Service (clusterIP: None) gives each Pod its own DNS. Scale-down always removes the highest ordinal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DaemonSets and StatefulSets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pods -l app=db shows db-0, db-1, db-2 created in order, and nslookup db-0.db.default.svc.cluster.local resolves to a single Pod 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2 done — you can deploy, scale and upgrade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Tomorrow: Observability and Configuration &amp; Security — probes, logging, ConfigMaps, Secrets, RBAC.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Observability + Config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Probes · Logging · Metrics · Debug · ConfigMaps · Secrets · SecurityContext · RBAC  (CKAD Domains 3 &amp; 4 — 40%)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3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Yesterday (Domain 2): Deployments, rollouts, release strategies, Helm, Kustomize, Daemon/StatefulSet.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Morning — Domain 3 Observability (15%): probes, logging, metrics, debugging, API deprecations.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Afternoon — Domain 4 Configuration &amp; Security (25%): ConfigMaps, Secrets, securityContext, RBAC, quotas.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Together these two domains are 40% of the CKAD exam — the largest single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Observability &amp;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Probes · logging · metrics · debugging · API versions (15%)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Health Probes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liveness · readiness · startup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CONTAINER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Probes, Three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livenessProbe — restarts the container when it has hung or deadlocked.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readinessProbe — removes the Pod from Service endpoints until it can serve traffic (no restart).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startupProbe — gives slow apps time to boot; it blocks the other two until it succeeds.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Each probe uses one handler: httpGet, tcpSocket or exec — pick by what the container exposes.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5" dirty="0"/>
              <a:t>Readiness</a:t>
            </a:r>
            <a:r>
              <a:rPr spc="-85" dirty="0"/>
              <a:t> </a:t>
            </a:r>
            <a:r>
              <a:rPr spc="-10" dirty="0"/>
              <a:t>Probe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"Is</a:t>
            </a:r>
            <a:r>
              <a:rPr sz="1600" b="0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ready</a:t>
            </a:r>
            <a:r>
              <a:rPr sz="1600" b="0" spc="-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handle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requests?"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67" y="2639147"/>
            <a:ext cx="10189732" cy="27631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223</a:t>
            </a:fld>
            <a:endParaRPr spc="-25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Liveness</a:t>
            </a:r>
            <a:r>
              <a:rPr spc="-100" dirty="0"/>
              <a:t> </a:t>
            </a:r>
            <a:r>
              <a:rPr spc="-10" dirty="0"/>
              <a:t>Probe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"Does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still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function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without</a:t>
            </a:r>
            <a:r>
              <a:rPr sz="1600" b="0" spc="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errors?"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545" y="2375600"/>
            <a:ext cx="8321379" cy="3521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224</a:t>
            </a:fld>
            <a:endParaRPr spc="-25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5" dirty="0"/>
              <a:t>Startup</a:t>
            </a:r>
            <a:r>
              <a:rPr spc="-95" dirty="0"/>
              <a:t> </a:t>
            </a:r>
            <a:r>
              <a:rPr spc="-10" dirty="0"/>
              <a:t>Probe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5" dirty="0">
                <a:solidFill>
                  <a:srgbClr val="666666"/>
                </a:solidFill>
                <a:latin typeface="Arial"/>
                <a:cs typeface="Arial"/>
              </a:rPr>
              <a:t>"Legacy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application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200" dirty="0">
                <a:solidFill>
                  <a:srgbClr val="666666"/>
                </a:solidFill>
                <a:latin typeface="Arial"/>
                <a:cs typeface="Arial"/>
              </a:rPr>
              <a:t>may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need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longer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/>
                <a:cs typeface="Arial"/>
              </a:rPr>
              <a:t>start.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Hold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off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on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/>
                <a:cs typeface="Arial"/>
              </a:rPr>
              <a:t>liveness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65" dirty="0">
                <a:solidFill>
                  <a:srgbClr val="666666"/>
                </a:solidFill>
                <a:latin typeface="Arial"/>
                <a:cs typeface="Arial"/>
              </a:rPr>
              <a:t>probing."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867" y="2723533"/>
            <a:ext cx="9990201" cy="24587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225</a:t>
            </a:fld>
            <a:endParaRPr spc="-25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PROBES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Probes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Kubernetes uses three probes to manage health: livenessProbe restarts a failed container, readinessProbe removes it from Service endpoints, startupProbe gives slow apps time to boot. CKAD tests all three handlers (httpGet, tcpSocket, exec) and timing.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HTTP readiness+liveness probes, trigger a liveness restart, add a TCP probe, then a startupProbe with exec.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readinessProbe: · k exec · startupProbe: · » 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HTTP liveness + readiness probe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readinessProbe: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httpGet: {path: /, port: 80}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initialDelaySeconds: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livenessProbe: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httpGet: {path: /, port: 80}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initialDelaySeconds: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failureThreshold: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919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Trigger a liveness failure (watch RESTARTS climb)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759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4759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5399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web-probes -- rm /usr/share/nginx/html/index.html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sleep 35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web-probes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TCP socket probe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readinessProbe: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tcpSocket: {port: 6379}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startupProbe for slow-starting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startupProbe: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exec: {command: ["cat", "/tmp/ready"]}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failureThreshold: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Three handlers — httpGet, tcpSocket, exec. readinessProbe failure removes the Pod from Service endpoints without restarting it; livenessProbe failure restarts the container; startupProbe blocks the other two until the app is initialised.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Deleting the index page makes the liveness probe fail three times and the container restarts (RESTARTS increments), while the TCP and startup Pods reach READY 1/1.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kubectl logs — your first debugging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Container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Logs are whatever the container writes to stdout/stderr; the kubelet captures and serves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--tail=N for recent lines; -f to stream live (like tail -f).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--previous reads the prior terminated container — the key to diagnosing CrashLoopBackOff.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-c &lt;container&gt; selects one container; -l &lt;selector&gt; aggregates logs across matching Pods.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LOGGING · stdout/stderr → kubelet → kubectl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Logs Come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 + sidecar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to stdout/stderr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captured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Node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container runtime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/var/log/pods/…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kubelet serves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56032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kubectl logs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-c &lt;name&gt; · -l &lt;sel&gt;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--previous · -f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Logs are whatever the container prints to </a:t>
            </a:r>
            <a:r>
              <a:rPr sz="1300" b="1">
                <a:solidFill>
                  <a:srgbClr val="161B26"/>
                </a:solidFill>
                <a:latin typeface="Arial"/>
              </a:rPr>
              <a:t>stdout/stderr</a:t>
            </a:r>
            <a:r>
              <a:rPr sz="1300" b="0">
                <a:solidFill>
                  <a:srgbClr val="5B6372"/>
                </a:solidFill>
                <a:latin typeface="Arial"/>
              </a:rPr>
              <a:t>. Use </a:t>
            </a:r>
            <a:r>
              <a:rPr sz="1300" b="1">
                <a:solidFill>
                  <a:srgbClr val="161B26"/>
                </a:solidFill>
                <a:latin typeface="Arial"/>
              </a:rPr>
              <a:t>--previous</a:t>
            </a:r>
            <a:r>
              <a:rPr sz="1300" b="0">
                <a:solidFill>
                  <a:srgbClr val="5B6372"/>
                </a:solidFill>
                <a:latin typeface="Arial"/>
              </a:rPr>
              <a:t> for a crashed container.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kubectl logs is the first debugging tool on the exam. Read logs from single and multi-container Pods, follow a live stream, retrieve logs from a crashed container, and aggregate logs across a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Read and tail logs, stream with -f, recover crash logs with --previous, then aggregate by container and label.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logs · » `--tail=N`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Read recent lines and follow a live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noisy --tail=10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-f noisy &amp;        # -f streams like tail -f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kill %1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Retrieve logs from a crashed container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crasher --previous | head 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Multi-container Pod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8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-c app | head 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-c sidecar | head 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--all-containers=true --prefix=true | head -8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Aggregate logs across a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deployment/fleet --tail=3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-l app=fleet --prefix=true --tail=2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--tail=N for recent lines, -f to stream, --previous for crash loops, -c &lt;name&gt; for a specific container, -l &lt;selector&gt; to aggregate matching Pods. --prefix=true labels each line with [pod/container].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crasher --previous shows the message printed before the crash, and k logs -l app=fleet --prefix=true interleaves lines from all three Pods.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kubectl top &amp; the metrics-server add-on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MEASURE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 Usage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top shows live CPU and memory for nodes and Pods — it requires metrics-server.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metrics-server scrapes each kubelet's cAdvisor and serves the aggregated Metrics API.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Sort with --sort-by=cpu / --sort-by=memory; span all namespaces with -A.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On Killercoda's self-signed certs, patch the Deployment with --kubelet-insecure-tls.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05" dirty="0"/>
              <a:t> </a:t>
            </a:r>
            <a:r>
              <a:rPr dirty="0"/>
              <a:t>is</a:t>
            </a:r>
            <a:r>
              <a:rPr spc="-105" dirty="0"/>
              <a:t> </a:t>
            </a:r>
            <a:r>
              <a:rPr spc="130" dirty="0"/>
              <a:t>the</a:t>
            </a:r>
            <a:r>
              <a:rPr spc="-105" dirty="0"/>
              <a:t> </a:t>
            </a:r>
            <a:r>
              <a:rPr spc="70" dirty="0"/>
              <a:t>Metrics</a:t>
            </a:r>
            <a:r>
              <a:rPr spc="-105" dirty="0"/>
              <a:t> </a:t>
            </a:r>
            <a:r>
              <a:rPr spc="-10" dirty="0"/>
              <a:t>Server?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Cluster-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wide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resource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metrics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aggregator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9877212" cy="18753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90170" indent="-351790" algn="just">
              <a:lnSpc>
                <a:spcPct val="113300"/>
              </a:lnSpc>
              <a:spcBef>
                <a:spcPts val="100"/>
              </a:spcBef>
              <a:buChar char="●"/>
              <a:tabLst>
                <a:tab pos="363855" algn="l"/>
                <a:tab pos="365760" algn="l"/>
              </a:tabLst>
            </a:pPr>
            <a:r>
              <a:rPr sz="1600" dirty="0">
                <a:latin typeface="Arial"/>
                <a:cs typeface="Arial"/>
              </a:rPr>
              <a:t>	Gathers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consumption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metrics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nodes,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e.g.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CPU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memory.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The </a:t>
            </a:r>
            <a:r>
              <a:rPr sz="1600" dirty="0">
                <a:latin typeface="Arial"/>
                <a:cs typeface="Arial"/>
              </a:rPr>
              <a:t>kubelet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sends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those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metrics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Kubernetes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API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exposes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them </a:t>
            </a:r>
            <a:r>
              <a:rPr sz="1600" dirty="0">
                <a:latin typeface="Arial"/>
                <a:cs typeface="Arial"/>
              </a:rPr>
              <a:t>through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u="heavy" spc="-1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Metrics</a:t>
            </a:r>
            <a:r>
              <a:rPr sz="1600" u="heavy" spc="-10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1600" u="heavy" spc="-20" dirty="0">
                <a:solidFill>
                  <a:srgbClr val="D30020"/>
                </a:solidFill>
                <a:uFill>
                  <a:solidFill>
                    <a:srgbClr val="D30020"/>
                  </a:solidFill>
                </a:uFill>
                <a:latin typeface="Arial"/>
                <a:cs typeface="Arial"/>
                <a:hlinkClick r:id="rId2"/>
              </a:rPr>
              <a:t>API</a:t>
            </a:r>
            <a:r>
              <a:rPr sz="1600" spc="-20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metrics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server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stores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data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memory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does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not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persist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data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over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time.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2883" y="4160533"/>
            <a:ext cx="3990168" cy="22402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235</a:t>
            </a:fld>
            <a:endParaRPr spc="-25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kubectl top shows real-time CPU and memory for nodes and Pods. It requires the metrics-server add-on. CKAD tests installing metrics-server, reading node/Pod metrics, and sorting by resource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metrics-server, read node metrics, generate CPU load, then sort Pod metrics by CPU and memory.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apply · k top · k run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Install metrics-server (and trust kubelet certs on Killercoda)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https://github.com/kubernetes-sigs/metrics-server/releases/latest/download/components.yaml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patch -n kube-system deployment metrics-server --type=json -p='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[{"op":"add","path":"/spec/template/spec/containers/0/args/-","value":"--kubelet-insecure-tls"}]'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until kubectl top node 2&gt;/dev/null; do sleep 5;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Top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node        # CPU cores/% and memory bytes/% per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load, then top Pods sorted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2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cpu-burner --image=busybox -- sh -c 'while true; do :; done'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sleep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--sort-by=cpu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--sort-by=memory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-A --sort-by=cpu | head 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top needs metrics-server running. --kubelet-insecure-tls is required on Killercoda's self-signed certs. cpu-burner should top the CPU sort; -A spans all namespaces.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~30s, k top node reports CPU/memory and k top pod --sort-by=cpu lists cpu-burner at the top of the usage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Diagnose and fix broken workloads under time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Failures You Will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ImagePullBackOff — wrong image name/tag; confirm in describe → Events, then fix and recreate.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CrashLoopBackOff — container exits non-zero; read kubectl logs --previous.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OOMKilled — exceeded the memory limit; raise resources.limits.memory.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get events --sort-by=.lastTimestamp and kubectl debug (ephemeral container) are your fast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0" dirty="0"/>
              <a:t>Common</a:t>
            </a:r>
            <a:r>
              <a:rPr spc="-75" dirty="0"/>
              <a:t> </a:t>
            </a:r>
            <a:r>
              <a:rPr dirty="0"/>
              <a:t>Pod</a:t>
            </a:r>
            <a:r>
              <a:rPr spc="-70" dirty="0"/>
              <a:t> </a:t>
            </a:r>
            <a:r>
              <a:rPr spc="-30" dirty="0"/>
              <a:t>Error</a:t>
            </a:r>
            <a:r>
              <a:rPr spc="-75" dirty="0"/>
              <a:t> </a:t>
            </a:r>
            <a:r>
              <a:rPr spc="65" dirty="0"/>
              <a:t>Statuses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Poorly-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documented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Kubernetes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docs,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encountered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often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practice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5825" y="3584143"/>
            <a:ext cx="10977033" cy="967740"/>
          </a:xfrm>
          <a:custGeom>
            <a:avLst/>
            <a:gdLst/>
            <a:ahLst/>
            <a:cxnLst/>
            <a:rect l="l" t="t" r="r" b="b"/>
            <a:pathLst>
              <a:path w="8232775" h="725804">
                <a:moveTo>
                  <a:pt x="8232648" y="0"/>
                </a:moveTo>
                <a:lnTo>
                  <a:pt x="4133075" y="0"/>
                </a:lnTo>
                <a:lnTo>
                  <a:pt x="2652052" y="0"/>
                </a:lnTo>
                <a:lnTo>
                  <a:pt x="0" y="0"/>
                </a:lnTo>
                <a:lnTo>
                  <a:pt x="0" y="725779"/>
                </a:lnTo>
                <a:lnTo>
                  <a:pt x="2652052" y="725779"/>
                </a:lnTo>
                <a:lnTo>
                  <a:pt x="4133075" y="725779"/>
                </a:lnTo>
                <a:lnTo>
                  <a:pt x="8232648" y="725779"/>
                </a:lnTo>
                <a:lnTo>
                  <a:pt x="823264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7350" y="1404074"/>
          <a:ext cx="8323580" cy="29102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9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308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67005" marB="0">
                    <a:lnR w="9525">
                      <a:solidFill>
                        <a:srgbClr val="F3F3F3"/>
                      </a:solidFill>
                      <a:prstDash val="solid"/>
                    </a:lnR>
                    <a:lnB w="38100">
                      <a:solidFill>
                        <a:srgbClr val="660000"/>
                      </a:solidFill>
                      <a:prstDash val="solid"/>
                    </a:lnB>
                    <a:solidFill>
                      <a:srgbClr val="D3002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Root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Cause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6700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38100">
                      <a:solidFill>
                        <a:srgbClr val="660000"/>
                      </a:solidFill>
                      <a:prstDash val="solid"/>
                    </a:lnB>
                    <a:solidFill>
                      <a:srgbClr val="D30020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Potential</a:t>
                      </a:r>
                      <a:r>
                        <a:rPr sz="14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6700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38100">
                      <a:solidFill>
                        <a:srgbClr val="660000"/>
                      </a:solidFill>
                      <a:prstDash val="solid"/>
                    </a:lnB>
                    <a:solidFill>
                      <a:srgbClr val="D30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630">
                <a:tc>
                  <a:txBody>
                    <a:bodyPr/>
                    <a:lstStyle/>
                    <a:p>
                      <a:pPr marL="90170">
                        <a:lnSpc>
                          <a:spcPts val="143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ImagePullBackOff</a:t>
                      </a:r>
                      <a:r>
                        <a:rPr sz="1200" spc="-2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or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0170">
                        <a:lnSpc>
                          <a:spcPts val="1435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ErrImagePull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79375" marB="0">
                    <a:lnR w="9525">
                      <a:solidFill>
                        <a:srgbClr val="F3F3F3"/>
                      </a:solidFill>
                      <a:prstDash val="solid"/>
                    </a:lnR>
                    <a:lnT w="38100">
                      <a:solidFill>
                        <a:srgbClr val="66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 marR="92075">
                        <a:lnSpc>
                          <a:spcPts val="1430"/>
                        </a:lnSpc>
                        <a:spcBef>
                          <a:spcPts val="68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Image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could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be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pulled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2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registry.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T w="38100">
                      <a:solidFill>
                        <a:srgbClr val="66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 marR="95885">
                        <a:lnSpc>
                          <a:spcPts val="1430"/>
                        </a:lnSpc>
                        <a:spcBef>
                          <a:spcPts val="68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correct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image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name,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image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name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exists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registry,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verify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network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access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node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registry,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ensure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proper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authentication.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T w="38100">
                      <a:solidFill>
                        <a:srgbClr val="66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CrashLoopBackOff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81915" marB="0"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 marR="143510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Application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or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command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run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in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container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crashes.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725" marR="163195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command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executed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container,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ensure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that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image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properly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execute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(e.g.,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creating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container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2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Docker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 Engine).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931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CreateContainerConfigError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81915" marB="0">
                    <a:lnR w="9525">
                      <a:solidFill>
                        <a:srgbClr val="F3F3F3"/>
                      </a:solidFill>
                      <a:prstDash val="solid"/>
                    </a:lnR>
                    <a:lnB w="9525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77165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ConfigMap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or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Secret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referenced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12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container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cannot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found.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9525">
                      <a:solidFill>
                        <a:srgbClr val="F3F3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4940">
                        <a:lnSpc>
                          <a:spcPts val="1430"/>
                        </a:lnSpc>
                        <a:spcBef>
                          <a:spcPts val="70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Check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correct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name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configuration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object,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verify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existence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configuration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namespace.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F3F3F3"/>
                      </a:solidFill>
                      <a:prstDash val="solid"/>
                    </a:lnL>
                    <a:lnR w="9525">
                      <a:solidFill>
                        <a:srgbClr val="F3F3F3"/>
                      </a:solidFill>
                      <a:prstDash val="solid"/>
                    </a:lnR>
                    <a:lnB w="9525">
                      <a:solidFill>
                        <a:srgbClr val="F3F3F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243</a:t>
            </a:fld>
            <a:endParaRPr spc="-25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Debugging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CKAD regularly includes broken workloads you must diagnose and fix under time pressure. Identify and resolve ImagePullBackOff, CrashLoopBackOff and OOMKilled, and use kubectl debug for live triage.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Diagnose three classic failures with describe/logs/events, then inject an ephemeral debug container.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describe · k get · » ImagePullBackOff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ImagePullBackOff (wrong image name)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typo | tail -15      # 'Failed to pull image'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delete pod typo --force --grace-period=0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typo --image=nginx:1.25       # corrected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CrashLoopBackOff (container exits non-zero)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crash | grep -A3 "Last State"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crash --previous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OOMKilled (exceeds memory limit)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hungry | grep -A4 "Last State"   # Reason: OOMKilled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fix: raise resources.limits.memory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Cluster-wide events + ephemeral debug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events -A --sort-by=.lastTimestamp | tail -20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events --field-selector type=Warning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debug crash -it --image=busybox --target=crash -- 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ImagePullBackOff → wrong image/tag. CrashLoopBackOff → use logs --previous. OOMKilled → raise the memory limit. kubectl debug injects an ephemeral container sharing the target's namespaces — vital for distroless images with no shell.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describe reveals the correct failure reason for each Pod (ImagePullBackOff, CrashLoopBackOff, OOMKilled), and k debug opens a shell inside the running Pod.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API Deprecations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Find the right apiVersion with kubectl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STAY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APIs Change — Know How to Look Them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Old API versions are deprecated and eventually removed (e.g. extensions/v1beta1 Ingress, gone in 1.22).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api-resources shows the correct apiVersion for every resource in its APIVERSION column.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api-versions lists every version the cluster serves.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explain &lt;resource&gt;.&lt;field&gt; --recursive documents fields without leaving the terminal.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Listing</a:t>
            </a:r>
            <a:r>
              <a:rPr spc="-105" dirty="0"/>
              <a:t> </a:t>
            </a:r>
            <a:r>
              <a:rPr spc="105" dirty="0"/>
              <a:t>Available</a:t>
            </a:r>
            <a:r>
              <a:rPr spc="-100" dirty="0"/>
              <a:t> </a:t>
            </a:r>
            <a:r>
              <a:rPr spc="-50" dirty="0"/>
              <a:t>API</a:t>
            </a:r>
            <a:r>
              <a:rPr spc="-105" dirty="0"/>
              <a:t> </a:t>
            </a:r>
            <a:r>
              <a:rPr spc="50" dirty="0"/>
              <a:t>version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-20" dirty="0">
                <a:solidFill>
                  <a:srgbClr val="666666"/>
                </a:solidFill>
                <a:latin typeface="Courier New"/>
                <a:cs typeface="Courier New"/>
              </a:rPr>
              <a:t>kubectl</a:t>
            </a:r>
            <a:r>
              <a:rPr sz="1600" b="0" spc="-63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can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discover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/>
                <a:cs typeface="Arial"/>
              </a:rPr>
              <a:t>API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version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useable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in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manifests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891" y="1935875"/>
            <a:ext cx="5093600" cy="3475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6333" y="2000299"/>
            <a:ext cx="4941993" cy="3324013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60020" rIns="0" bIns="0" rtlCol="0">
            <a:spAutoFit/>
          </a:bodyPr>
          <a:lstStyle/>
          <a:p>
            <a:pPr marL="208279" marR="182245">
              <a:lnSpc>
                <a:spcPts val="1650"/>
              </a:lnSpc>
              <a:spcBef>
                <a:spcPts val="1260"/>
              </a:spcBef>
            </a:pPr>
            <a:r>
              <a:rPr sz="1400" b="1" dirty="0">
                <a:latin typeface="Courier New"/>
                <a:cs typeface="Courier New"/>
              </a:rPr>
              <a:t>$</a:t>
            </a:r>
            <a:r>
              <a:rPr sz="1400" b="1" spc="-10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kubectl</a:t>
            </a:r>
            <a:r>
              <a:rPr sz="1400" b="1" spc="-10" dirty="0">
                <a:latin typeface="Courier New"/>
                <a:cs typeface="Courier New"/>
              </a:rPr>
              <a:t> api-versions </a:t>
            </a:r>
            <a:r>
              <a:rPr sz="1400" spc="-10" dirty="0">
                <a:latin typeface="Courier New"/>
                <a:cs typeface="Courier New"/>
              </a:rPr>
              <a:t>admissionregistration.k8s.io/v1 apiextensions.k8s.io/v1 apiregistration.k8s.io/v1 apps/v1 authentication.k8s.io/v1 authorization.k8s.io/v1 autoscaling/v1</a:t>
            </a:r>
            <a:endParaRPr sz="1400">
              <a:latin typeface="Courier New"/>
              <a:cs typeface="Courier New"/>
            </a:endParaRPr>
          </a:p>
          <a:p>
            <a:pPr marL="208279">
              <a:lnSpc>
                <a:spcPts val="1585"/>
              </a:lnSpc>
            </a:pPr>
            <a:r>
              <a:rPr sz="1400" spc="-10" dirty="0">
                <a:latin typeface="Courier New"/>
                <a:cs typeface="Courier New"/>
              </a:rPr>
              <a:t>autoscaling/v2</a:t>
            </a:r>
            <a:endParaRPr sz="1400">
              <a:latin typeface="Courier New"/>
              <a:cs typeface="Courier New"/>
            </a:endParaRPr>
          </a:p>
          <a:p>
            <a:pPr marL="208279">
              <a:lnSpc>
                <a:spcPts val="1664"/>
              </a:lnSpc>
            </a:pPr>
            <a:r>
              <a:rPr sz="1400" spc="-25" dirty="0">
                <a:latin typeface="Courier New"/>
                <a:cs typeface="Courier New"/>
              </a:rPr>
              <a:t>...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213</a:t>
            </a:fld>
            <a:endParaRPr spc="-25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API VERSIONS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API Deprecations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Kubernetes API evolves — old versions are deprecated and removed. CKAD tests kubectl explain, api-resources and api-versions. You must find the correct apiVersion for any resource on exam day using only kubectl.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List resources and versions, explore schemas with explain, detect a removed API, and look up the current version.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api-resources · k explain · Pod/Service/ConfigMap/Secret/SA/Quota/LimitRange -&gt;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List resources, groups and served 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--api-group=apps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--api-group=batch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api-versions | 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Explore a schema with explain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deployment.spec.strategy.rollingUpdate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pod.spec.containers.resources --recursive | head 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Detect a removed API and find the replacement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extensions/v1beta1 Ingress was removed in 1.22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ingress --api-version=networking.k8s.io/v1 | head -10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| grep -i ingress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Stable apiVersions to memorise (v1.35)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Pod/Service/ConfigMap/Secret/SA/Quota/LimitRange  -&gt;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Deployment/StatefulSet/DaemonSet/ReplicaSet        -&gt; apps/v1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Job/CronJob                                        -&gt;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Ingress/NetworkPolicy                              -&gt;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Role/RoleBinding/ClusterRole(+Binding)             -&gt; rbac.authorization.k8s.io/v1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HorizontalPodAutoscaler                            -&gt; autoscaling/v2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api-resources shows the correct apiVersion in its APIVERSION column — the exam-legal way to look it up. kubectl explain &lt;res&gt;.&lt;field&gt; documents fields without leaving the terminal.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api-resources | grep -i ingress shows networking.k8s.io/v1, and k explain deployment.spec.strategy.rollingUpdate prints the maxSurge/maxUnavailable 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Configuration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ConfigMaps · Secrets · securityContext · ServiceAccounts · RBAC · quotas (25%)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Inject non-secret configuration into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EXTERNAL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Decouple Config from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ConfigMap holds non-secret key/value data; create it with --from-literal, --from-file or --from-env-file.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Inject one key with configMapKeyRef, all keys with envFrom, or mount it as a file volume.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Volume-mounted ConfigMaps update live (~60s); env-var injections are fixed at Pod startup.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Keep config out of the image so the same image runs in every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80" dirty="0"/>
              <a:t> </a:t>
            </a:r>
            <a:r>
              <a:rPr spc="95" dirty="0"/>
              <a:t>Configuration</a:t>
            </a:r>
            <a:r>
              <a:rPr spc="-80" dirty="0"/>
              <a:t> </a:t>
            </a:r>
            <a:r>
              <a:rPr spc="145" dirty="0"/>
              <a:t>Data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Applicable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ConfigMap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Secret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983" y="2076567"/>
            <a:ext cx="6314107" cy="4279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317</a:t>
            </a:fld>
            <a:endParaRPr spc="-25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100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110" dirty="0"/>
              <a:t>ConfigMap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80" dirty="0"/>
              <a:t>Environment</a:t>
            </a:r>
            <a:r>
              <a:rPr spc="-95" dirty="0"/>
              <a:t> </a:t>
            </a:r>
            <a:r>
              <a:rPr spc="95" dirty="0"/>
              <a:t>Variables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Controlling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runtime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behavior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with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help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simple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values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5392420" cy="3794760"/>
            <a:chOff x="645157" y="1890741"/>
            <a:chExt cx="5392420" cy="379476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7" y="1890741"/>
              <a:ext cx="5391600" cy="379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5240020" cy="3642360"/>
            </a:xfrm>
            <a:custGeom>
              <a:avLst/>
              <a:gdLst/>
              <a:ahLst/>
              <a:cxnLst/>
              <a:rect l="l" t="t" r="r" b="b"/>
              <a:pathLst>
                <a:path w="3930015" h="2731770">
                  <a:moveTo>
                    <a:pt x="3929399" y="2731199"/>
                  </a:moveTo>
                  <a:lnTo>
                    <a:pt x="0" y="2731199"/>
                  </a:lnTo>
                  <a:lnTo>
                    <a:pt x="0" y="0"/>
                  </a:lnTo>
                  <a:lnTo>
                    <a:pt x="3929399" y="0"/>
                  </a:lnTo>
                  <a:lnTo>
                    <a:pt x="3929399" y="27311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48565" y="2152551"/>
            <a:ext cx="4727787" cy="31123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03200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Pod 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metadata: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backend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containers: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-</a:t>
            </a:r>
            <a:r>
              <a:rPr sz="1400" b="1" spc="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image:</a:t>
            </a:r>
            <a:r>
              <a:rPr sz="1400" b="1" spc="1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bmuschko/web-app:1.0.1</a:t>
            </a:r>
            <a:endParaRPr sz="1400">
              <a:latin typeface="Courier New"/>
              <a:cs typeface="Courier New"/>
            </a:endParaRPr>
          </a:p>
          <a:p>
            <a:pPr marL="43942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backend</a:t>
            </a:r>
            <a:endParaRPr sz="1400">
              <a:latin typeface="Courier New"/>
              <a:cs typeface="Courier New"/>
            </a:endParaRPr>
          </a:p>
          <a:p>
            <a:pPr marL="43942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envFrom:</a:t>
            </a:r>
            <a:endParaRPr sz="1400">
              <a:latin typeface="Courier New"/>
              <a:cs typeface="Courier New"/>
            </a:endParaRPr>
          </a:p>
          <a:p>
            <a:pPr marL="866140" marR="1071880" indent="-426720">
              <a:lnSpc>
                <a:spcPts val="1650"/>
              </a:lnSpc>
              <a:spcBef>
                <a:spcPts val="65"/>
              </a:spcBef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-</a:t>
            </a:r>
            <a:r>
              <a:rPr sz="1400" b="1" spc="-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configMapRef: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db-config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8157" y="1890741"/>
            <a:ext cx="5075200" cy="1440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759599" y="1955167"/>
            <a:ext cx="4923367" cy="1288625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2446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80"/>
              </a:spcBef>
            </a:pPr>
            <a:r>
              <a:rPr sz="1300" b="1" dirty="0">
                <a:latin typeface="Courier New"/>
                <a:cs typeface="Courier New"/>
              </a:rPr>
              <a:t>$</a:t>
            </a:r>
            <a:r>
              <a:rPr sz="1300" b="1" spc="-3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kubectl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exec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10" dirty="0">
                <a:latin typeface="Courier New"/>
                <a:cs typeface="Courier New"/>
              </a:rPr>
              <a:t>-</a:t>
            </a:r>
            <a:r>
              <a:rPr sz="1300" b="1" dirty="0">
                <a:latin typeface="Courier New"/>
                <a:cs typeface="Courier New"/>
              </a:rPr>
              <a:t>it</a:t>
            </a:r>
            <a:r>
              <a:rPr sz="1300" b="1" spc="-2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backend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10" dirty="0">
                <a:latin typeface="Courier New"/>
                <a:cs typeface="Courier New"/>
              </a:rPr>
              <a:t>-</a:t>
            </a:r>
            <a:r>
              <a:rPr sz="1300" b="1" dirty="0">
                <a:latin typeface="Courier New"/>
                <a:cs typeface="Courier New"/>
              </a:rPr>
              <a:t>-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25" dirty="0">
                <a:latin typeface="Courier New"/>
                <a:cs typeface="Courier New"/>
              </a:rPr>
              <a:t>env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48200" y="2401332"/>
            <a:ext cx="3000587" cy="597745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ts val="1480"/>
              </a:lnSpc>
            </a:pPr>
            <a:r>
              <a:rPr sz="1300" spc="-10" dirty="0">
                <a:latin typeface="Courier New"/>
                <a:cs typeface="Courier New"/>
              </a:rPr>
              <a:t>DB_HOST=mysql-service</a:t>
            </a:r>
            <a:endParaRPr sz="1300">
              <a:latin typeface="Courier New"/>
              <a:cs typeface="Courier New"/>
            </a:endParaRPr>
          </a:p>
          <a:p>
            <a:pPr marL="85725">
              <a:lnSpc>
                <a:spcPct val="100000"/>
              </a:lnSpc>
              <a:spcBef>
                <a:spcPts val="15"/>
              </a:spcBef>
            </a:pPr>
            <a:r>
              <a:rPr sz="1300" spc="-10" dirty="0">
                <a:latin typeface="Courier New"/>
                <a:cs typeface="Courier New"/>
              </a:rPr>
              <a:t>DB_USER=backend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13100" y="3215563"/>
            <a:ext cx="6822440" cy="2150533"/>
            <a:chOff x="1413100" y="3215563"/>
            <a:chExt cx="6822440" cy="2150533"/>
          </a:xfrm>
        </p:grpSpPr>
        <p:sp>
          <p:nvSpPr>
            <p:cNvPr id="11" name="object 11"/>
            <p:cNvSpPr/>
            <p:nvPr/>
          </p:nvSpPr>
          <p:spPr>
            <a:xfrm>
              <a:off x="4592500" y="3343521"/>
              <a:ext cx="3588173" cy="1803400"/>
            </a:xfrm>
            <a:custGeom>
              <a:avLst/>
              <a:gdLst/>
              <a:ahLst/>
              <a:cxnLst/>
              <a:rect l="l" t="t" r="r" b="b"/>
              <a:pathLst>
                <a:path w="2691129" h="1352550">
                  <a:moveTo>
                    <a:pt x="0" y="1352408"/>
                  </a:moveTo>
                  <a:lnTo>
                    <a:pt x="2691126" y="1352408"/>
                  </a:lnTo>
                  <a:lnTo>
                    <a:pt x="269112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26017" y="3215563"/>
              <a:ext cx="109301" cy="14116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25800" y="4405039"/>
              <a:ext cx="2902373" cy="948267"/>
            </a:xfrm>
            <a:custGeom>
              <a:avLst/>
              <a:gdLst/>
              <a:ahLst/>
              <a:cxnLst/>
              <a:rect l="l" t="t" r="r" b="b"/>
              <a:pathLst>
                <a:path w="2176780" h="711200">
                  <a:moveTo>
                    <a:pt x="0" y="0"/>
                  </a:moveTo>
                  <a:lnTo>
                    <a:pt x="2176499" y="0"/>
                  </a:lnTo>
                  <a:lnTo>
                    <a:pt x="2176499" y="710699"/>
                  </a:lnTo>
                  <a:lnTo>
                    <a:pt x="0" y="710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322</a:t>
            </a:fld>
            <a:endParaRPr spc="-25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CONFIGMAPS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ConfigMaps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ConfigMaps inject non-secret configuration into Pods. CKAD tests all three injection styles: a single env var (configMapKeyRef), bulk env vars (envFrom), and file-based volume mounts — and that only file mounts update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ConfigMaps three ways, inject one key, inject all keys with envFrom, mount as files, then update live.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env: · envFrom: · volumeMounts: · » Creation: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ConfigMaps three 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app-cfg --from-literal=COLOR=blue --from-literal=GREETING=hello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app-conf --from-file=app.conf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app-env  --from-env-file=env.list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Inject a single key as an env var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COLOR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valueFrom: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configMapKeyRef: {name: app-cfg, key: COLOR}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Inject all keys with envFrom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configMapRef: {name: app-cfg}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configMapRef: {name: app-env}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Mount a ConfigMap as a file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{name: cfg, mountPath: /etc/app}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cfg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configMap: {name: app-conf}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Creation: --from-literal, --from-file, --from-env-file. Consumption: configMapKeyRef (one key), envFrom (all keys), volume mount (file per key). Volume-mounted ConfigMaps update live (~60s); env-var injections are fixed at Pod startup and need a restart.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single-key Pod logs COLOR=blue, the envFrom Pod shows all four variables, and the mounted ConfigMap appears as files under /etc/app.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Sensitive configuration, guarded by 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SENSITIVE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vs ConfigMaps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Secrets work like ConfigMaps but values are base64-encoded and access is more tightly controlled.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Types: generic, tls (kubernetes.io/tls) and docker-registry (for imagePullSecrets).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Inject with envFrom: secretRef (all keys) or secretKeyRef (one key); mount with defaultMode: 0400.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Base64 is not encryption — restrict access with RBAC and enable encryption at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95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60" dirty="0"/>
              <a:t>Secret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80" dirty="0"/>
              <a:t>Environment</a:t>
            </a:r>
            <a:r>
              <a:rPr spc="-95" dirty="0"/>
              <a:t> </a:t>
            </a:r>
            <a:r>
              <a:rPr spc="95" dirty="0"/>
              <a:t>Variables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Accessed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values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are</a:t>
            </a:r>
            <a:r>
              <a:rPr sz="1600" b="0" spc="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base64-decoded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5392420" cy="3794760"/>
            <a:chOff x="645157" y="1890741"/>
            <a:chExt cx="5392420" cy="379476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7" y="1890741"/>
              <a:ext cx="5391600" cy="379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5240020" cy="3642360"/>
            </a:xfrm>
            <a:custGeom>
              <a:avLst/>
              <a:gdLst/>
              <a:ahLst/>
              <a:cxnLst/>
              <a:rect l="l" t="t" r="r" b="b"/>
              <a:pathLst>
                <a:path w="3930015" h="2731770">
                  <a:moveTo>
                    <a:pt x="3929399" y="2731199"/>
                  </a:moveTo>
                  <a:lnTo>
                    <a:pt x="0" y="2731199"/>
                  </a:lnTo>
                  <a:lnTo>
                    <a:pt x="0" y="0"/>
                  </a:lnTo>
                  <a:lnTo>
                    <a:pt x="3929399" y="0"/>
                  </a:lnTo>
                  <a:lnTo>
                    <a:pt x="3929399" y="27311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48565" y="2152551"/>
            <a:ext cx="4727787" cy="22741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03200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Pod 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metadata: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backend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containers:</a:t>
            </a:r>
            <a:endParaRPr sz="1400">
              <a:latin typeface="Courier New"/>
              <a:cs typeface="Courier New"/>
            </a:endParaRPr>
          </a:p>
          <a:p>
            <a:pPr marL="22606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-</a:t>
            </a:r>
            <a:r>
              <a:rPr sz="1400" b="1" spc="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image:</a:t>
            </a:r>
            <a:r>
              <a:rPr sz="1400" b="1" spc="1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bmuschko/web-app:1.0.1</a:t>
            </a:r>
            <a:endParaRPr sz="1400">
              <a:latin typeface="Courier New"/>
              <a:cs typeface="Courier New"/>
            </a:endParaRPr>
          </a:p>
          <a:p>
            <a:pPr marL="439420">
              <a:lnSpc>
                <a:spcPts val="1664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backend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7527" y="4387751"/>
            <a:ext cx="2594185" cy="877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envFrom: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-</a:t>
            </a:r>
            <a:r>
              <a:rPr sz="1400" b="1" spc="-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secretRef:</a:t>
            </a:r>
            <a:endParaRPr sz="1400">
              <a:latin typeface="Courier New"/>
              <a:cs typeface="Courier New"/>
            </a:endParaRPr>
          </a:p>
          <a:p>
            <a:pPr marL="439420">
              <a:lnSpc>
                <a:spcPts val="1664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mysecret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8157" y="1890741"/>
            <a:ext cx="5064800" cy="1150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59599" y="1955167"/>
            <a:ext cx="4913205" cy="99822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2446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80"/>
              </a:spcBef>
            </a:pPr>
            <a:r>
              <a:rPr sz="1300" b="1" dirty="0">
                <a:latin typeface="Courier New"/>
                <a:cs typeface="Courier New"/>
              </a:rPr>
              <a:t>$</a:t>
            </a:r>
            <a:r>
              <a:rPr sz="1300" b="1" spc="-3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kubectl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exec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10" dirty="0">
                <a:latin typeface="Courier New"/>
                <a:cs typeface="Courier New"/>
              </a:rPr>
              <a:t>-</a:t>
            </a:r>
            <a:r>
              <a:rPr sz="1300" b="1" dirty="0">
                <a:latin typeface="Courier New"/>
                <a:cs typeface="Courier New"/>
              </a:rPr>
              <a:t>it</a:t>
            </a:r>
            <a:r>
              <a:rPr sz="1300" b="1" spc="-20" dirty="0">
                <a:latin typeface="Courier New"/>
                <a:cs typeface="Courier New"/>
              </a:rPr>
              <a:t> </a:t>
            </a:r>
            <a:r>
              <a:rPr sz="1300" b="1" dirty="0">
                <a:latin typeface="Courier New"/>
                <a:cs typeface="Courier New"/>
              </a:rPr>
              <a:t>backend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10" dirty="0">
                <a:latin typeface="Courier New"/>
                <a:cs typeface="Courier New"/>
              </a:rPr>
              <a:t>-</a:t>
            </a:r>
            <a:r>
              <a:rPr sz="1300" b="1" dirty="0">
                <a:latin typeface="Courier New"/>
                <a:cs typeface="Courier New"/>
              </a:rPr>
              <a:t>-</a:t>
            </a:r>
            <a:r>
              <a:rPr sz="1300" b="1" spc="-15" dirty="0">
                <a:latin typeface="Courier New"/>
                <a:cs typeface="Courier New"/>
              </a:rPr>
              <a:t> </a:t>
            </a:r>
            <a:r>
              <a:rPr sz="1300" b="1" spc="-25" dirty="0">
                <a:latin typeface="Courier New"/>
                <a:cs typeface="Courier New"/>
              </a:rPr>
              <a:t>env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94100" y="2432991"/>
            <a:ext cx="1452880" cy="2844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800">
              <a:lnSpc>
                <a:spcPts val="1295"/>
              </a:lnSpc>
            </a:pPr>
            <a:r>
              <a:rPr sz="1300" spc="-10" dirty="0">
                <a:latin typeface="Courier New"/>
                <a:cs typeface="Courier New"/>
              </a:rPr>
              <a:t>pwd=s3cre!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13267" y="3215563"/>
            <a:ext cx="6588760" cy="2181013"/>
            <a:chOff x="1413267" y="3215563"/>
            <a:chExt cx="6588760" cy="2181013"/>
          </a:xfrm>
        </p:grpSpPr>
        <p:sp>
          <p:nvSpPr>
            <p:cNvPr id="12" name="object 12"/>
            <p:cNvSpPr/>
            <p:nvPr/>
          </p:nvSpPr>
          <p:spPr>
            <a:xfrm>
              <a:off x="4359033" y="3343521"/>
              <a:ext cx="3588173" cy="1803400"/>
            </a:xfrm>
            <a:custGeom>
              <a:avLst/>
              <a:gdLst/>
              <a:ahLst/>
              <a:cxnLst/>
              <a:rect l="l" t="t" r="r" b="b"/>
              <a:pathLst>
                <a:path w="2691129" h="1352550">
                  <a:moveTo>
                    <a:pt x="0" y="1352408"/>
                  </a:moveTo>
                  <a:lnTo>
                    <a:pt x="2691126" y="1352408"/>
                  </a:lnTo>
                  <a:lnTo>
                    <a:pt x="269112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2551" y="3215563"/>
              <a:ext cx="109301" cy="1411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25967" y="4435565"/>
              <a:ext cx="2786380" cy="948267"/>
            </a:xfrm>
            <a:custGeom>
              <a:avLst/>
              <a:gdLst/>
              <a:ahLst/>
              <a:cxnLst/>
              <a:rect l="l" t="t" r="r" b="b"/>
              <a:pathLst>
                <a:path w="2089785" h="711200">
                  <a:moveTo>
                    <a:pt x="0" y="0"/>
                  </a:moveTo>
                  <a:lnTo>
                    <a:pt x="2089499" y="0"/>
                  </a:lnTo>
                  <a:lnTo>
                    <a:pt x="2089499" y="710699"/>
                  </a:lnTo>
                  <a:lnTo>
                    <a:pt x="0" y="710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335</a:t>
            </a:fld>
            <a:endParaRPr spc="-25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105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60" dirty="0"/>
              <a:t>Secret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280" dirty="0"/>
              <a:t>a</a:t>
            </a:r>
            <a:r>
              <a:rPr spc="-90" dirty="0"/>
              <a:t> </a:t>
            </a:r>
            <a:r>
              <a:rPr spc="114" dirty="0"/>
              <a:t>Volume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A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good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choice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processing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machine-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readable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configuration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45" dirty="0">
                <a:solidFill>
                  <a:srgbClr val="666666"/>
                </a:solidFill>
                <a:latin typeface="Arial"/>
                <a:cs typeface="Arial"/>
              </a:rPr>
              <a:t>file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4715933" cy="4213013"/>
            <a:chOff x="645157" y="1890741"/>
            <a:chExt cx="4715933" cy="4213013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7" y="1890741"/>
              <a:ext cx="4715600" cy="4212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4563533" cy="4060613"/>
            </a:xfrm>
            <a:custGeom>
              <a:avLst/>
              <a:gdLst/>
              <a:ahLst/>
              <a:cxnLst/>
              <a:rect l="l" t="t" r="r" b="b"/>
              <a:pathLst>
                <a:path w="3422650" h="3045460">
                  <a:moveTo>
                    <a:pt x="3422399" y="3045299"/>
                  </a:moveTo>
                  <a:lnTo>
                    <a:pt x="0" y="3045299"/>
                  </a:lnTo>
                  <a:lnTo>
                    <a:pt x="0" y="0"/>
                  </a:lnTo>
                  <a:lnTo>
                    <a:pt x="3422399" y="0"/>
                  </a:lnTo>
                  <a:lnTo>
                    <a:pt x="3422399" y="30452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1109980">
              <a:lnSpc>
                <a:spcPct val="102299"/>
              </a:lnSpc>
              <a:spcBef>
                <a:spcPts val="70"/>
              </a:spcBef>
            </a:pPr>
            <a:r>
              <a:rPr dirty="0"/>
              <a:t>apiVersion:</a:t>
            </a:r>
            <a:r>
              <a:rPr spc="-130" dirty="0"/>
              <a:t> </a:t>
            </a:r>
            <a:r>
              <a:rPr b="0" spc="-25" dirty="0">
                <a:solidFill>
                  <a:srgbClr val="000000"/>
                </a:solidFill>
                <a:latin typeface="Courier New"/>
                <a:cs typeface="Courier New"/>
              </a:rPr>
              <a:t>v1 </a:t>
            </a:r>
            <a:r>
              <a:rPr dirty="0"/>
              <a:t>kind:</a:t>
            </a:r>
            <a:r>
              <a:rPr spc="-60" dirty="0"/>
              <a:t> </a:t>
            </a:r>
            <a:r>
              <a:rPr b="0" spc="-25" dirty="0">
                <a:solidFill>
                  <a:srgbClr val="000000"/>
                </a:solidFill>
                <a:latin typeface="Courier New"/>
                <a:cs typeface="Courier New"/>
              </a:rPr>
              <a:t>Pod </a:t>
            </a:r>
            <a:r>
              <a:rPr spc="-10" dirty="0"/>
              <a:t>metadata:</a:t>
            </a:r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dirty="0"/>
              <a:t>name:</a:t>
            </a:r>
            <a:r>
              <a:rPr spc="-60" dirty="0"/>
              <a:t> 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backend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spec:</a:t>
            </a:r>
          </a:p>
          <a:p>
            <a:pPr marL="18034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containers:</a:t>
            </a:r>
          </a:p>
          <a:p>
            <a:pPr marL="527050" indent="-179070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Font typeface="Courier New"/>
              <a:buChar char="-"/>
              <a:tabLst>
                <a:tab pos="527050" algn="l"/>
              </a:tabLst>
            </a:pPr>
            <a:r>
              <a:rPr dirty="0"/>
              <a:t>name:</a:t>
            </a:r>
            <a:r>
              <a:rPr spc="-60" dirty="0"/>
              <a:t> 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backend</a:t>
            </a:r>
          </a:p>
          <a:p>
            <a:pPr marL="5270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image: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0" spc="-20" dirty="0">
                <a:solidFill>
                  <a:srgbClr val="000000"/>
                </a:solidFill>
                <a:latin typeface="Courier New"/>
                <a:cs typeface="Courier New"/>
              </a:rPr>
              <a:t>bmuschko/web-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app:1.0.1</a:t>
            </a:r>
          </a:p>
          <a:p>
            <a:pPr marL="5270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volumeMounts:</a:t>
            </a:r>
          </a:p>
          <a:p>
            <a:pPr marL="698500" marR="5080" indent="-183515">
              <a:lnSpc>
                <a:spcPct val="102299"/>
              </a:lnSpc>
            </a:pP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-</a:t>
            </a:r>
            <a:r>
              <a:rPr b="0" spc="10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/>
              <a:t>name:</a:t>
            </a:r>
            <a:r>
              <a:rPr spc="-20" dirty="0"/>
              <a:t> </a:t>
            </a:r>
            <a:r>
              <a:rPr b="0" spc="-20" dirty="0">
                <a:solidFill>
                  <a:srgbClr val="000000"/>
                </a:solidFill>
                <a:latin typeface="Courier New"/>
                <a:cs typeface="Courier New"/>
              </a:rPr>
              <a:t>ssh-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volume </a:t>
            </a:r>
            <a:r>
              <a:rPr dirty="0"/>
              <a:t>mountPath:</a:t>
            </a:r>
            <a:r>
              <a:rPr spc="-120" dirty="0"/>
              <a:t> 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/var/app </a:t>
            </a:r>
            <a:r>
              <a:rPr dirty="0"/>
              <a:t>readOnly:</a:t>
            </a:r>
            <a:r>
              <a:rPr spc="-105" dirty="0"/>
              <a:t> </a:t>
            </a:r>
            <a:r>
              <a:rPr b="0" spc="-20" dirty="0">
                <a:solidFill>
                  <a:srgbClr val="000000"/>
                </a:solidFill>
                <a:latin typeface="Courier New"/>
                <a:cs typeface="Courier New"/>
              </a:rPr>
              <a:t>true</a:t>
            </a:r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volumes:</a:t>
            </a:r>
          </a:p>
          <a:p>
            <a:pPr marL="527050" indent="-179070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Font typeface="Courier New"/>
              <a:buChar char="-"/>
              <a:tabLst>
                <a:tab pos="527050" algn="l"/>
              </a:tabLst>
            </a:pPr>
            <a:r>
              <a:rPr dirty="0"/>
              <a:t>name:</a:t>
            </a:r>
            <a:r>
              <a:rPr spc="-25" dirty="0"/>
              <a:t> </a:t>
            </a:r>
            <a:r>
              <a:rPr b="0" spc="-20" dirty="0">
                <a:solidFill>
                  <a:srgbClr val="000000"/>
                </a:solidFill>
                <a:latin typeface="Courier New"/>
                <a:cs typeface="Courier New"/>
              </a:rPr>
              <a:t>ssh-</a:t>
            </a:r>
            <a:r>
              <a:rPr b="0" spc="-10" dirty="0">
                <a:solidFill>
                  <a:srgbClr val="000000"/>
                </a:solidFill>
                <a:latin typeface="Courier New"/>
                <a:cs typeface="Courier New"/>
              </a:rPr>
              <a:t>volume</a:t>
            </a:r>
          </a:p>
          <a:p>
            <a:pPr marL="698500" marR="675005" indent="-172085">
              <a:lnSpc>
                <a:spcPct val="102299"/>
              </a:lnSpc>
            </a:pPr>
            <a:r>
              <a:rPr spc="-10" dirty="0"/>
              <a:t>secret: secretName: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spc="-20" dirty="0">
                <a:solidFill>
                  <a:srgbClr val="000000"/>
                </a:solidFill>
                <a:latin typeface="Courier New"/>
                <a:cs typeface="Courier New"/>
              </a:rPr>
              <a:t>secret-ssh-auth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557" y="1890741"/>
            <a:ext cx="5512800" cy="3256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91999" y="1955167"/>
            <a:ext cx="5361093" cy="310388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37795" rIns="0" bIns="0" rtlCol="0">
            <a:spAutoFit/>
          </a:bodyPr>
          <a:lstStyle/>
          <a:p>
            <a:pPr marL="146685">
              <a:lnSpc>
                <a:spcPts val="1430"/>
              </a:lnSpc>
              <a:spcBef>
                <a:spcPts val="1085"/>
              </a:spcBef>
            </a:pPr>
            <a:r>
              <a:rPr sz="1200" b="1" dirty="0">
                <a:latin typeface="Courier New"/>
                <a:cs typeface="Courier New"/>
              </a:rPr>
              <a:t>$</a:t>
            </a:r>
            <a:r>
              <a:rPr sz="1200" b="1" spc="-45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kubectl</a:t>
            </a:r>
            <a:r>
              <a:rPr sz="1200" b="1" spc="-4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exec</a:t>
            </a:r>
            <a:r>
              <a:rPr sz="1200" b="1" spc="-45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</a:t>
            </a:r>
            <a:r>
              <a:rPr sz="1200" b="1" dirty="0">
                <a:latin typeface="Courier New"/>
                <a:cs typeface="Courier New"/>
              </a:rPr>
              <a:t>it</a:t>
            </a:r>
            <a:r>
              <a:rPr sz="1200" b="1" spc="-4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backend</a:t>
            </a:r>
            <a:r>
              <a:rPr sz="1200" b="1" spc="-45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</a:t>
            </a:r>
            <a:r>
              <a:rPr sz="1200" b="1" dirty="0">
                <a:latin typeface="Courier New"/>
                <a:cs typeface="Courier New"/>
              </a:rPr>
              <a:t>-</a:t>
            </a:r>
            <a:r>
              <a:rPr sz="1200" b="1" spc="-40" dirty="0">
                <a:latin typeface="Courier New"/>
                <a:cs typeface="Courier New"/>
              </a:rPr>
              <a:t> </a:t>
            </a:r>
            <a:r>
              <a:rPr sz="1200" b="1" spc="-10" dirty="0">
                <a:latin typeface="Courier New"/>
                <a:cs typeface="Courier New"/>
              </a:rPr>
              <a:t>/bin/sh</a:t>
            </a:r>
            <a:endParaRPr sz="1200">
              <a:latin typeface="Courier New"/>
              <a:cs typeface="Courier New"/>
            </a:endParaRPr>
          </a:p>
          <a:p>
            <a:pPr marL="146685" marR="2402205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Courier New"/>
                <a:cs typeface="Courier New"/>
              </a:rPr>
              <a:t>#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ls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l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/var/app </a:t>
            </a:r>
            <a:r>
              <a:rPr sz="1200" spc="-20" dirty="0">
                <a:latin typeface="Courier New"/>
                <a:cs typeface="Courier New"/>
              </a:rPr>
              <a:t>ssh-</a:t>
            </a:r>
            <a:r>
              <a:rPr sz="1200" spc="-10" dirty="0">
                <a:latin typeface="Courier New"/>
                <a:cs typeface="Courier New"/>
              </a:rPr>
              <a:t>privatekey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4208" y="2889500"/>
            <a:ext cx="5141805" cy="2058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275"/>
              </a:lnSpc>
            </a:pPr>
            <a:r>
              <a:rPr sz="1200" dirty="0">
                <a:latin typeface="Courier New"/>
                <a:cs typeface="Courier New"/>
              </a:rPr>
              <a:t>#</a:t>
            </a:r>
            <a:r>
              <a:rPr sz="1200" spc="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cat</a:t>
            </a:r>
            <a:r>
              <a:rPr sz="1200" spc="2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/var/app/ssh-</a:t>
            </a:r>
            <a:r>
              <a:rPr sz="1200" spc="-10" dirty="0">
                <a:latin typeface="Courier New"/>
                <a:cs typeface="Courier New"/>
              </a:rPr>
              <a:t>privatekey</a:t>
            </a:r>
            <a:endParaRPr sz="1200">
              <a:latin typeface="Courier New"/>
              <a:cs typeface="Courier New"/>
            </a:endParaRPr>
          </a:p>
          <a:p>
            <a:pPr marL="92710" marR="920115">
              <a:lnSpc>
                <a:spcPts val="1430"/>
              </a:lnSpc>
              <a:spcBef>
                <a:spcPts val="45"/>
              </a:spcBef>
            </a:pPr>
            <a:r>
              <a:rPr sz="1200" spc="-20" dirty="0">
                <a:latin typeface="Courier New"/>
                <a:cs typeface="Courier New"/>
              </a:rPr>
              <a:t>-----</a:t>
            </a:r>
            <a:r>
              <a:rPr sz="1200" dirty="0">
                <a:latin typeface="Courier New"/>
                <a:cs typeface="Courier New"/>
              </a:rPr>
              <a:t>BEGIN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RSA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PRIVATE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KEY----</a:t>
            </a:r>
            <a:r>
              <a:rPr sz="1200" spc="-50" dirty="0">
                <a:latin typeface="Courier New"/>
                <a:cs typeface="Courier New"/>
              </a:rPr>
              <a:t>- </a:t>
            </a:r>
            <a:r>
              <a:rPr sz="1200" spc="-20" dirty="0">
                <a:latin typeface="Courier New"/>
                <a:cs typeface="Courier New"/>
              </a:rPr>
              <a:t>Proc-</a:t>
            </a:r>
            <a:r>
              <a:rPr sz="1200" dirty="0">
                <a:latin typeface="Courier New"/>
                <a:cs typeface="Courier New"/>
              </a:rPr>
              <a:t>Type: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4,ENCRYPTED</a:t>
            </a:r>
            <a:endParaRPr sz="1200">
              <a:latin typeface="Courier New"/>
              <a:cs typeface="Courier New"/>
            </a:endParaRPr>
          </a:p>
          <a:p>
            <a:pPr marL="92710">
              <a:lnSpc>
                <a:spcPts val="1365"/>
              </a:lnSpc>
            </a:pPr>
            <a:r>
              <a:rPr sz="1200" spc="-20" dirty="0">
                <a:latin typeface="Courier New"/>
                <a:cs typeface="Courier New"/>
              </a:rPr>
              <a:t>DEK-</a:t>
            </a:r>
            <a:r>
              <a:rPr sz="1200" spc="-10" dirty="0">
                <a:latin typeface="Courier New"/>
                <a:cs typeface="Courier New"/>
              </a:rPr>
              <a:t>Info:</a:t>
            </a:r>
            <a:endParaRPr sz="1200">
              <a:latin typeface="Courier New"/>
              <a:cs typeface="Courier New"/>
            </a:endParaRPr>
          </a:p>
          <a:p>
            <a:pPr marL="92710" marR="97155">
              <a:lnSpc>
                <a:spcPts val="1430"/>
              </a:lnSpc>
              <a:spcBef>
                <a:spcPts val="50"/>
              </a:spcBef>
            </a:pPr>
            <a:r>
              <a:rPr sz="1200" spc="-20" dirty="0">
                <a:latin typeface="Courier New"/>
                <a:cs typeface="Courier New"/>
              </a:rPr>
              <a:t>AES-128-</a:t>
            </a:r>
            <a:r>
              <a:rPr sz="1200" spc="-10" dirty="0">
                <a:latin typeface="Courier New"/>
                <a:cs typeface="Courier New"/>
              </a:rPr>
              <a:t>CBC,8734C9153079F2E8497C8075289E </a:t>
            </a:r>
            <a:r>
              <a:rPr sz="1200" spc="-20" dirty="0">
                <a:latin typeface="Courier New"/>
                <a:cs typeface="Courier New"/>
              </a:rPr>
              <a:t>BBF1</a:t>
            </a:r>
            <a:endParaRPr sz="1200">
              <a:latin typeface="Courier New"/>
              <a:cs typeface="Courier New"/>
            </a:endParaRPr>
          </a:p>
          <a:p>
            <a:pPr marL="92710">
              <a:lnSpc>
                <a:spcPts val="1365"/>
              </a:lnSpc>
            </a:pPr>
            <a:r>
              <a:rPr sz="1200" spc="-25" dirty="0">
                <a:latin typeface="Courier New"/>
                <a:cs typeface="Courier New"/>
              </a:rPr>
              <a:t>...</a:t>
            </a:r>
            <a:endParaRPr sz="1200">
              <a:latin typeface="Courier New"/>
              <a:cs typeface="Courier New"/>
            </a:endParaRPr>
          </a:p>
          <a:p>
            <a:pPr marL="92710">
              <a:lnSpc>
                <a:spcPts val="1435"/>
              </a:lnSpc>
            </a:pPr>
            <a:r>
              <a:rPr sz="1200" spc="-20" dirty="0">
                <a:latin typeface="Courier New"/>
                <a:cs typeface="Courier New"/>
              </a:rPr>
              <a:t>-----</a:t>
            </a:r>
            <a:r>
              <a:rPr sz="1200" dirty="0">
                <a:latin typeface="Courier New"/>
                <a:cs typeface="Courier New"/>
              </a:rPr>
              <a:t>END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RSA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PRIVATE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KEY----</a:t>
            </a:r>
            <a:r>
              <a:rPr sz="1200" spc="-50" dirty="0">
                <a:latin typeface="Courier New"/>
                <a:cs typeface="Courier New"/>
              </a:rPr>
              <a:t>-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04067" y="3957600"/>
            <a:ext cx="4263813" cy="941493"/>
            <a:chOff x="1604067" y="3957600"/>
            <a:chExt cx="4263813" cy="941493"/>
          </a:xfrm>
        </p:grpSpPr>
        <p:sp>
          <p:nvSpPr>
            <p:cNvPr id="11" name="object 11"/>
            <p:cNvSpPr/>
            <p:nvPr/>
          </p:nvSpPr>
          <p:spPr>
            <a:xfrm>
              <a:off x="1616767" y="3970300"/>
              <a:ext cx="2515447" cy="916093"/>
            </a:xfrm>
            <a:custGeom>
              <a:avLst/>
              <a:gdLst/>
              <a:ahLst/>
              <a:cxnLst/>
              <a:rect l="l" t="t" r="r" b="b"/>
              <a:pathLst>
                <a:path w="1886585" h="687070">
                  <a:moveTo>
                    <a:pt x="0" y="0"/>
                  </a:moveTo>
                  <a:lnTo>
                    <a:pt x="1886399" y="0"/>
                  </a:lnTo>
                  <a:lnTo>
                    <a:pt x="1886399" y="686699"/>
                  </a:lnTo>
                  <a:lnTo>
                    <a:pt x="0" y="686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76232" y="4429700"/>
              <a:ext cx="1463887" cy="847"/>
            </a:xfrm>
            <a:custGeom>
              <a:avLst/>
              <a:gdLst/>
              <a:ahLst/>
              <a:cxnLst/>
              <a:rect l="l" t="t" r="r" b="b"/>
              <a:pathLst>
                <a:path w="1097914" h="635">
                  <a:moveTo>
                    <a:pt x="0" y="0"/>
                  </a:moveTo>
                  <a:lnTo>
                    <a:pt x="605999" y="0"/>
                  </a:lnTo>
                  <a:lnTo>
                    <a:pt x="605999" y="599"/>
                  </a:lnTo>
                  <a:lnTo>
                    <a:pt x="1097699" y="5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7133" y="4375845"/>
              <a:ext cx="140667" cy="10930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337</a:t>
            </a:fld>
            <a:endParaRPr spc="-25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Secrets are like ConfigMaps but base64-encoded with stricter access. CKAD tests generic, tls and docker-registry types, env-var injection, file mounts with defaultMode, and decoding values. Secrets are not encrypted — protect them with RBAC.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generic Secret, decode it, inject as env vars, mount with 0400 mode, then create tls and docker-registry Secrets.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envFrom: · volumes: · » Types: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generic Secret and decode a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generic db-cred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--from-literal=DB_USER=admin --from-literal=DB_PASS=s3cr3t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secret db-cred -o jsonpath='{.data.DB_PASS}' | base64 -d;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Inject Secret keys as env vars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secretRef: {name: db-cred}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Mount a Secret as files with restrictive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secret: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secretName: db-cred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defaultMode: 0400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TLS and docker-registry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tls demo-tls --cert=tls.crt --key=tls.key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docker-registry myreg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--docker-server=registry.example.com --docker-username=u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--docker-password=p --docker-email=u@example.com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Types: generic, tls (kubernetes.io/tls), docker-registry. envFrom: secretRef injects all keys; secretKeyRef injects one. Reference a registry Secret via spec.imagePullSecrets. Base64 ≠ encryption — restrict with RBAC.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base64 -d on .data.DB_PASS returns s3cr3t, the mounted Secret files are mode 0400, and the tls Secret reports type kubernetes.io/tls.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Control container identity &amp; privileges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LEAST 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 Containers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securityContext sets the user, group and privileges a container runs with.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Pod-level applies to all containers; container-level overrides one container.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runAsNonRoot: true blocks any image whose default user is root.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Hardened pattern: readOnlyRootFilesystem + capabilities.drop:[ALL] + allowPrivilegeEscalation:false.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0" dirty="0"/>
              <a:t>Defining</a:t>
            </a:r>
            <a:r>
              <a:rPr spc="-85" dirty="0"/>
              <a:t> </a:t>
            </a:r>
            <a:r>
              <a:rPr spc="280" dirty="0"/>
              <a:t>a</a:t>
            </a:r>
            <a:r>
              <a:rPr spc="-85" dirty="0"/>
              <a:t> </a:t>
            </a:r>
            <a:r>
              <a:rPr spc="55" dirty="0"/>
              <a:t>Security</a:t>
            </a:r>
            <a:r>
              <a:rPr spc="-85" dirty="0"/>
              <a:t> </a:t>
            </a:r>
            <a:r>
              <a:rPr spc="75" dirty="0"/>
              <a:t>Context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Pod-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and/or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container-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level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definition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49841"/>
            <a:ext cx="4106333" cy="4529667"/>
            <a:chOff x="645157" y="1849841"/>
            <a:chExt cx="4106333" cy="4529667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7" y="1849841"/>
              <a:ext cx="4105600" cy="4529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14267"/>
              <a:ext cx="3953933" cy="4377267"/>
            </a:xfrm>
            <a:custGeom>
              <a:avLst/>
              <a:gdLst/>
              <a:ahLst/>
              <a:cxnLst/>
              <a:rect l="l" t="t" r="r" b="b"/>
              <a:pathLst>
                <a:path w="2965450" h="3282950">
                  <a:moveTo>
                    <a:pt x="2964899" y="3282899"/>
                  </a:moveTo>
                  <a:lnTo>
                    <a:pt x="0" y="3282899"/>
                  </a:lnTo>
                  <a:lnTo>
                    <a:pt x="0" y="0"/>
                  </a:lnTo>
                  <a:lnTo>
                    <a:pt x="2964899" y="0"/>
                  </a:lnTo>
                  <a:lnTo>
                    <a:pt x="2964899" y="32828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96433" y="2089073"/>
            <a:ext cx="2351193" cy="1242907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461645">
              <a:lnSpc>
                <a:spcPts val="1430"/>
              </a:lnSpc>
              <a:spcBef>
                <a:spcPts val="155"/>
              </a:spcBef>
            </a:pP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apiVersion:</a:t>
            </a:r>
            <a:r>
              <a:rPr sz="1200" b="1" spc="-13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v1 </a:t>
            </a: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kind:</a:t>
            </a:r>
            <a:r>
              <a:rPr sz="1200" b="1" spc="-6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Pod </a:t>
            </a: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metadata: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ts val="1360"/>
              </a:lnSpc>
            </a:pP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200" b="1" spc="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secured-</a:t>
            </a:r>
            <a:r>
              <a:rPr sz="1200" spc="-25" dirty="0">
                <a:latin typeface="Courier New"/>
                <a:cs typeface="Courier New"/>
              </a:rPr>
              <a:t>pod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3765" y="3334299"/>
            <a:ext cx="2136140" cy="534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ts val="1305"/>
              </a:lnSpc>
            </a:pP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securityContext:</a:t>
            </a:r>
            <a:endParaRPr sz="1200">
              <a:latin typeface="Courier New"/>
              <a:cs typeface="Courier New"/>
            </a:endParaRPr>
          </a:p>
          <a:p>
            <a:pPr marL="237490">
              <a:lnSpc>
                <a:spcPts val="1435"/>
              </a:lnSpc>
            </a:pP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fsGroup:</a:t>
            </a:r>
            <a:r>
              <a:rPr sz="1200" b="1" spc="-9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3000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0273" y="3778173"/>
            <a:ext cx="1985433" cy="10016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volumes: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25"/>
              </a:lnSpc>
            </a:pP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data-</a:t>
            </a:r>
            <a:r>
              <a:rPr sz="1200" spc="-25" dirty="0">
                <a:latin typeface="Courier New"/>
                <a:cs typeface="Courier New"/>
              </a:rPr>
              <a:t>vol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ts val="1425"/>
              </a:lnSpc>
            </a:pP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emptyDir:</a:t>
            </a:r>
            <a:r>
              <a:rPr sz="1200" b="1" spc="-11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{}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containers: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0273" y="4743373"/>
            <a:ext cx="3082713" cy="1242907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95580" marR="5080" indent="-183515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image:</a:t>
            </a:r>
            <a:r>
              <a:rPr sz="1200" b="1" spc="-4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nginx:1.18.0 </a:t>
            </a: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200" b="1" spc="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secured-</a:t>
            </a:r>
            <a:r>
              <a:rPr sz="1200" spc="-10" dirty="0">
                <a:latin typeface="Courier New"/>
                <a:cs typeface="Courier New"/>
              </a:rPr>
              <a:t>container </a:t>
            </a: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volumeMounts:</a:t>
            </a:r>
            <a:endParaRPr sz="1200">
              <a:latin typeface="Courier New"/>
              <a:cs typeface="Courier New"/>
            </a:endParaRPr>
          </a:p>
          <a:p>
            <a:pPr marL="195580">
              <a:lnSpc>
                <a:spcPts val="1360"/>
              </a:lnSpc>
            </a:pP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200" b="1" spc="-1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data-</a:t>
            </a:r>
            <a:r>
              <a:rPr sz="1200" spc="-25" dirty="0">
                <a:latin typeface="Courier New"/>
                <a:cs typeface="Courier New"/>
              </a:rPr>
              <a:t>vol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ts val="1435"/>
              </a:lnSpc>
            </a:pPr>
            <a:r>
              <a:rPr sz="1200" b="1" dirty="0">
                <a:solidFill>
                  <a:srgbClr val="4618A2"/>
                </a:solidFill>
                <a:latin typeface="Courier New"/>
                <a:cs typeface="Courier New"/>
              </a:rPr>
              <a:t>mountPath:</a:t>
            </a:r>
            <a:r>
              <a:rPr sz="1200" b="1" spc="-12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/data/app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80225" y="3531251"/>
            <a:ext cx="2438400" cy="110067"/>
            <a:chOff x="3480225" y="3531251"/>
            <a:chExt cx="2438400" cy="110067"/>
          </a:xfrm>
        </p:grpSpPr>
        <p:sp>
          <p:nvSpPr>
            <p:cNvPr id="11" name="object 11"/>
            <p:cNvSpPr/>
            <p:nvPr/>
          </p:nvSpPr>
          <p:spPr>
            <a:xfrm>
              <a:off x="3608193" y="3585905"/>
              <a:ext cx="2309707" cy="0"/>
            </a:xfrm>
            <a:custGeom>
              <a:avLst/>
              <a:gdLst/>
              <a:ahLst/>
              <a:cxnLst/>
              <a:rect l="l" t="t" r="r" b="b"/>
              <a:pathLst>
                <a:path w="1732279">
                  <a:moveTo>
                    <a:pt x="1732200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0225" y="3531251"/>
              <a:ext cx="140667" cy="10930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011341" y="3281312"/>
            <a:ext cx="3774440" cy="64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Defined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on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Pod-</a:t>
            </a:r>
            <a:r>
              <a:rPr sz="1500" dirty="0">
                <a:latin typeface="Arial"/>
                <a:cs typeface="Arial"/>
              </a:rPr>
              <a:t>level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(applies </a:t>
            </a:r>
            <a:r>
              <a:rPr sz="1500" dirty="0">
                <a:latin typeface="Arial"/>
                <a:cs typeface="Arial"/>
              </a:rPr>
              <a:t>to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all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containers)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345</a:t>
            </a:fld>
            <a:endParaRPr spc="-25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SECURITYCONTEXT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SecurityContext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securityContext controls the identity and privileges of containers. CKAD asks you to enforce non-root execution, a read-only root filesystem and dropped Linux capabilities — at Pod level (all containers) or container level (one override).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as a set user/group, enforce runAsNonRoot, lock the root filesystem, then drop all capabilities.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securityContext: · » Pod-level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Run as a specific user and group (Pod level)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runAsUser: 1000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runAsGroup: 3000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fsGroup: 2000     # applies to volume mounts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Enforce runAsNonRoot (blocks root images)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runAsNonRoot: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nginx runs as root -&gt; Pod refuses to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Read-only root filesystem (container level)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readOnlyRootFilesystem: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mount an emptyDir for any writable path (e.g. /tmp)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Drop Linux capabilities (hardened container)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capabilities: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drop: ["ALL"]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add: ["NET_BIND_SERVICE"]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allowPrivilegeEscalation: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Pod-level securityContext applies to all containers; container-level overrides one. The CKAD hardened pattern = runAsNonRoot: true + readOnlyRootFilesystem: true + capabilities.drop: [ALL] + allowPrivilegeEscalation: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non-root Pod logs uid=1000 gid=3000, the runAsNonRoot nginx Pod refuses to start, and writes to the read-only root filesystem are rejected.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identity a Pod presents to the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 AM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Every Pod runs as a ServiceAccount — the default one has minimal permissions.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spec.serviceAccountName attaches a dedicated ServiceAccount to a Pod.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token, CA cert and namespace are projected into /var/run/secrets/kubernetes.io/serviceaccount/.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automountServiceAccountToken: false enforces least privilege; kubectl create token mints short-lived tokens.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Service</a:t>
            </a:r>
            <a:r>
              <a:rPr spc="15" dirty="0"/>
              <a:t> </a:t>
            </a:r>
            <a:r>
              <a:rPr spc="80" dirty="0"/>
              <a:t>Account</a:t>
            </a:r>
            <a:r>
              <a:rPr spc="20" dirty="0"/>
              <a:t> </a:t>
            </a:r>
            <a:r>
              <a:rPr spc="120" dirty="0"/>
              <a:t>as</a:t>
            </a:r>
            <a:r>
              <a:rPr spc="20" dirty="0"/>
              <a:t> </a:t>
            </a:r>
            <a:r>
              <a:rPr spc="60" dirty="0"/>
              <a:t>Subject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assign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Account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by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516" y="3658233"/>
            <a:ext cx="10704768" cy="11624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282</a:t>
            </a:fld>
            <a:endParaRPr spc="-25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SERVICEACCOUNTS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Every Pod runs as a ServiceAccount; the default one has minimal RBAC. CKAD tests creating dedicated ServiceAccounts, attaching them to Pods, disabling the auto-mounted token, and requesting short-lived tokens with kubectl create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ServiceAccount, attach it to a Pod, inspect the projected token, disable auto-mount, then mint a token.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exec · k patch · TOKEN=$(k create · » `spec.serviceAccountName`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ServiceAccount and attach it to a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serviceaccount app-sa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serviceAccountName: app-sa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app -o jsonpath='{.spec.serviceAccountName}';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Inspect the auto-mounted token inside the Pod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app -- ls /var/run/secrets/kubernetes.io/serviceaccount/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Disable token auto-mount (least privilege)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sa app-sa -p '{"automountServiceAccountToken": false}'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Request a short-lived ad-hoc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TOKEN=$(k create token app-sa --duration=1h)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 $TOKEN | cut -c1-60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spec.serviceAccountName attaches a custom SA. Token, CA and namespace are projected under /var/run/secrets/kubernetes.io/serviceaccount/. automountServiceAccountToken: false enforces least privilege; kubectl create token replaces the old Secret-backed tokens (removed in 1.24+).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 app -o jsonpath='{.spec.serviceAccountName}' returns app-sa, and kubectl create token app-sa prints a short-lived JWT.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Who can do what, on which resources, 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Role-Based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Role/ClusterRole lists allowed verbs (get, list, create, delete…) on resources.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RoleBinding/ClusterRoleBinding ties that Role to a subject (ServiceAccount, user or group).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Role + RoleBinding = one namespace; ClusterRole + ClusterRoleBinding = cluster-wide.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ClusterRole + RoleBinding limits a cluster role's verbs to a single namespace.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Validate without logging in: kubectl auth can-i &lt;verb&gt; &lt;resource&gt; --as=&lt;identity&gt;.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-95" dirty="0"/>
              <a:t>RBAC</a:t>
            </a:r>
            <a:r>
              <a:rPr spc="-80" dirty="0"/>
              <a:t> </a:t>
            </a:r>
            <a:r>
              <a:rPr spc="85" dirty="0"/>
              <a:t>High-Level</a:t>
            </a:r>
            <a:r>
              <a:rPr spc="-80" dirty="0"/>
              <a:t> </a:t>
            </a:r>
            <a:r>
              <a:rPr spc="70" dirty="0"/>
              <a:t>Overview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Three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/>
                <a:cs typeface="Arial"/>
              </a:rPr>
              <a:t>key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elements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understanding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concept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533" y="2429367"/>
            <a:ext cx="9356865" cy="2965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272</a:t>
            </a:fld>
            <a:endParaRPr spc="-25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5" dirty="0"/>
              <a:t>Involved</a:t>
            </a:r>
            <a:r>
              <a:rPr spc="-85" dirty="0"/>
              <a:t> </a:t>
            </a:r>
            <a:r>
              <a:rPr spc="-95" dirty="0"/>
              <a:t>RBAC</a:t>
            </a:r>
            <a:r>
              <a:rPr spc="-85" dirty="0"/>
              <a:t> </a:t>
            </a:r>
            <a:r>
              <a:rPr spc="45" dirty="0"/>
              <a:t>Primitives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Restrict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access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certain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operations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/>
                <a:cs typeface="Arial"/>
              </a:rPr>
              <a:t>API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resources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-2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subjects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064" y="2291633"/>
            <a:ext cx="9825799" cy="3280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273</a:t>
            </a:fld>
            <a:endParaRPr spc="-25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RBAC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Role-Based Access Control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64240" cy="4114800"/>
          </a:xfrm>
          <a:prstGeom prst="roundRect">
            <a:avLst>
              <a:gd name="adj" fmla="val 6000"/>
            </a:avLst>
          </a:prstGeom>
          <a:solidFill>
            <a:srgbClr val="EEE8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Kubernetes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256032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Subject
(User / Group
/ ServiceAccount)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256032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RoleBinding
/
ClusterRoleBinding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256032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Role
/
ClusterRole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83280" y="3086100"/>
            <a:ext cx="123444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78040" y="3086100"/>
            <a:ext cx="123444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29000" y="269748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6FEB"/>
                </a:solidFill>
                <a:latin typeface="Arial"/>
              </a:rPr>
              <a:t>binds subject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69748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0B981"/>
                </a:solidFill>
                <a:latin typeface="Arial"/>
              </a:rPr>
              <a:t>references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931920"/>
            <a:ext cx="3291840" cy="59436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931920"/>
            <a:ext cx="329184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/>
              </a:rPr>
              <a:t>Rules:  verbs (get, list, create…)
+ resources (pods, services…)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20640"/>
            <a:ext cx="4114800" cy="50292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41148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1F6FEB"/>
                </a:solidFill>
                <a:latin typeface="Arial"/>
              </a:rPr>
              <a:t>Role + RoleBinding → namespace-scoped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120640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120640"/>
            <a:ext cx="4846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Arial"/>
              </a:rPr>
              <a:t>ClusterRole + ClusterRoleBinding → cluster-scoped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RBAC ·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Role vs ClusterRole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Role (Namespace-scoped)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ClusterRole (Cluster-scoped)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Scoped to a single namespace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kubectl get roles -n &lt;ns&gt;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Common uses: app-specific read/write access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500">
                <a:solidFill>
                  <a:srgbClr val="161B26"/>
                </a:solidFill>
                <a:latin typeface="Arial"/>
              </a:rPr>
              <a:t>Example: allow listing pods in 'default' namespace only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Paired with RoleBinding in the same namespace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Applies across all namespaces (or non-namespaced resources)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kubectl get clusterroles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Common uses: admin, monitoring, ingress controller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500">
                <a:solidFill>
                  <a:srgbClr val="161B26"/>
                </a:solidFill>
                <a:latin typeface="Arial"/>
              </a:rPr>
              <a:t>Example: allow listing nodes, PVs, namespaces cluster-wide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Paired with ClusterRoleBinding or namespaced RoleBinding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RBAC · DECLARATIVE 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Defining a Role and RoleBinding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Role: grant read access to pods in the 'dev' namespace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rbac.authorization.k8s.io/v1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Role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namespace: 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pod-reader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rules: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apiGroups: [""]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resources: ["pods"]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verbs: ["get", "list", "watch"]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8221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RoleBinding: bind the Role to a ServiceAccount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29684"/>
            <a:ext cx="10652760" cy="25831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329684"/>
            <a:ext cx="82296" cy="25831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93692"/>
            <a:ext cx="10323576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rbac.authorization.k8s.io/v1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RoleBinding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read-pods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namespace: 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subjects: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kind: ServiceAccount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my-app-sa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namespace: 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roleRef: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kind: Role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pod-reader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apiGroup: rbac.authorization.k8s.io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RBAC · CLUSTER-WIDE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ClusterRole and ClusterRoleBinding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ClusterRole: read access to nodes (non-namespaced resource)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rbac.authorization.k8s.io/v1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ClusterRole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node-reader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rules: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apiGroups: [""]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resources: ["nodes"]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verbs: ["get", "list"]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ClusterRoleBinding: bind to a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23957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2304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rbac.authorization.k8s.io/v1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ClusterRoleBinding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read-nodes-global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subjects: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kind: User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jane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apiGroup: rbac.authorization.k8s.io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roleRef: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kind: ClusterRole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node-reader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apiGroup: rbac.authorization.k8s.io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RBAC · EXAM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Essential kubectl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Create a Role imperatively (quick in exam)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role pod-reader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--verb=get,list,watch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--resource=pods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--namespace=dev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Bind the Role to a ServiceAccount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92424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92424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56432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create rolebinding read-pods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--role=pod-reader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--serviceaccount=dev:my-app-sa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--namespace=dev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8970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Check permissions for a ServiceAccount (auth can-i)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371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90118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auth can-i list pods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--as=system:serviceaccount:dev:my-app-sa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--namespace=dev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RBAC controls who can do what on which resources. CKAD tests creating Roles, ClusterRoles, RoleBindings and ClusterRoleBindings imperatively, and validating with kubectl auth can-i --as. Know namespace- vs cluster-scope.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Role + RoleBinding for a ServiceAccount, validate with can-i, then a ClusterRole bound two ways.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auth · »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Role: namespace-scoped 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 pod-reader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--verb=get,list,watch --resource=pods -n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RoleBinding: link Role to a ServiceAccount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rolebinding viewer-binding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--role=pod-reader --serviceaccount=dev:viewer -n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Validate with kubectl auth can-i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list pods   -n dev     --as=system:serviceaccount:dev:viewer  # yes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delete pods -n dev     --as=system:serviceaccount:dev:viewer  # no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list pods   -n default --as=system:serviceaccount:dev:viewer  # 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ClusterRole bound cluster-wide vs to one namespace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clusterrole node-reader --verb=get,list --resource=nodes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clusterrolebinding nodes-binding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--clusterrole=node-reader --serviceaccount=dev:nodes-sa   # all namespaces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rolebinding dev-node-reader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--clusterrole=node-reader --serviceaccount=dev:viewer -n dev  # only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Role + RoleBinding = namespace-scoped. ClusterRole + ClusterRoleBinding = cluster-wide. ClusterRole + RoleBinding = the cluster role's verbs limited to one namespace. kubectl auth can-i &lt;verb&gt; &lt;res&gt; --as=&lt;identity&gt; validates without logging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auth can-i list pods -n dev --as=system:serviceaccount:dev:viewer returns yes while delete pods and cross-namespace list return 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Authentication and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Access control for the Kubernetes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API SERVER · REQUEST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Processing a Request to the API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Every client request to the API server passes four sequential phases: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Authentication — who is the caller?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Authorization — is the caller allowed to perform this action?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Admission Control — is the request well-formed and valid?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Validation — schema validation of the requested resource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All four phases must pass for the request to be processed.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API SERVER ·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Request Processing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Authentication: Validates the identity of the caller using a supported strategy, e.g. client certificates or bearer tokens.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Authorization: Determines if the authenticated identity may perform the requested verb + HTTP path. Typically implemented with RBAC.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Admission Controller: Verifies the request is well-formed and may mutate or reject it before processing. Ensures the resource definition is valid.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AUTHENTICATION · KUBECONFIG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Authentication via Credentials in Kubeconfig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The kubeconfig file at $HOME/.kube/config is used by kubectl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35204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3520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clusters: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cluster: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certificate-authority: /home/user/.minikube/ca.crt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server: https://127.0.0.1:58936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minikube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contexts: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cluster: minikube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user: 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current-context: 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users: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user: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client-certificate-data: REDACTED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client-key-data: REDACTED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AUTHENTICATION · KUBECTL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Managing Kubeconfig and Current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View the full kubeconfig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config view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Config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current-context: 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2403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Show and switch the active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79875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79875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43883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config current-context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bmuschko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config use-context johndoe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Switched to context "johndoe".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config current-context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johndoe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EXTENDING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Custom Resource Definitions (CRDs)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Extending the Kubernetes API with custom primitives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Custom Resource Definition (CRD)?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Some use cases with custom requirements cannot be fulfilled with built-in Kubernetes primitives.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CRD allows you to define, create, and persist objects for custom primitives and expose them via the Kubernetes API.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CRDs are combined with controllers to implement custom logic. The combination is called the Operator pattern.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OPERATOR PATTERN · CRD +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Operator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An Operator = CRD + Controller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CRD extends the Kubernetes API with a new object type (schema, validation, versioning).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Controller is a reconciliation loop that watches for CRD instances via the API server and implements the custom business logic.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Operators are deployed as Pods in the cluster and interact with the API server continuously.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Example operators: Prometheus Operator, cert-manager, Kafka Operator.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EXAMPLE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Example CRD — Smoke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Requirement: A web-based application stack deployed via a Deployment. A Service routes traffic to the Pods.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Desired functionality: After deployment, run a quick smoke test against the Service's DNS name. Send the result to an external dashboard.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Goal: Implement the Operator pattern (CRD + controller) for this use case.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Custom Kind: SmokeTest — attributes: service, path, timeout, retries.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SCHEMA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CRD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Defines the schema for the custom SmokeTest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075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075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5116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apiextensions.k8s.io/v1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CustomResourceDefinition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smoketests.stable.bmuschko.com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group: stable.bmuschko.com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versions: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served: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storage: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schema: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openAPIV3Schema: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type: object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properties: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type: object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properties: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service: {type: string}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path:    {type: string}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timeout: {type: integer}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retries: {type: integer}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scope: Namespaced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plural: smoketests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singular: smoketest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kind: SmokeTest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shortNames: [st]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INSTANTIATION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 Resource Object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An instance of the SmokeTest custom kind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stable.bmuschko.com/v1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SmokeTest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backend-smoke-test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service: backend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path: /health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timeout: 600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retries: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KUBECTL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the CRD and Custom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Create the CRD first, then create instances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smoketest-crd.yaml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customresourcedefinition.apiextensions.k8s.io/smoketests.stable.bmuschko.com created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backend-smoke-test.yaml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smoketest.stable.bmuschko.com/backend-smoke-test 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CRD ·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Discovering CRDs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List all installed CRDs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crds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                        CREATED 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smoketests.stable.bmuschko.com      2023-05-04T14:49:40Z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Discover custom resource types via api-resources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api-resources --api-group=stable.bmuschko.com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SHORTNAMES  APIVERSION                  NAMESPACED  KIND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smoketests  st          stable.bmuschko.com/v1      true        SmokeTest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OPERATOR PATTERN ·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Controller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You can CRUD custom resource objects, but no smoke-test logic is initiated without a controller.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 controller acts as a reconciliation process: it polls for new SmokeTest objects via the API server and executes the smoke test, sending results to the external service.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Controllers are typically written in Go or Python using a Kubernetes client library (e.g. client-go, kubernetes-client).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Defining and Interacting with a CRD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EXAM PREP ·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You are not expected to implement a CRD schema yourself. Know how to discover and use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Use kubectl get crds to list installed CRDs, and kubectl api-resources --api-group=&lt;group&gt; to see their types.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Create objects from a CRD schema exactly as you would for built-in resources: kubectl apply -f &lt;manifest&gt;.yaml.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Controller implementations are out-of-scope for the CKAD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Quotas &amp;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Cap namespace usage &amp; per-container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 Resource Consumption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ResourceQuota caps the aggregate resources a namespace can consume (pods, requests, limits).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LimitRange enforces per-container defaults, defaultRequests and maximums.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Without a LimitRange, Pods with no resource block are rejected in a quota-enforced namespace.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describe quota shows Used vs Hard — the primary troubleshooting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5" dirty="0"/>
              <a:t>ResourceQuota</a:t>
            </a:r>
            <a:r>
              <a:rPr spc="-70" dirty="0"/>
              <a:t> </a:t>
            </a:r>
            <a:r>
              <a:rPr spc="-90" dirty="0"/>
              <a:t>YAML</a:t>
            </a:r>
            <a:r>
              <a:rPr spc="-65" dirty="0"/>
              <a:t> </a:t>
            </a:r>
            <a:r>
              <a:rPr spc="85" dirty="0"/>
              <a:t>Manifest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Limits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450" dirty="0">
                <a:solidFill>
                  <a:srgbClr val="666666"/>
                </a:solidFill>
                <a:latin typeface="Arial"/>
                <a:cs typeface="Arial"/>
              </a:rPr>
              <a:t>#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objects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0" dirty="0">
                <a:solidFill>
                  <a:srgbClr val="666666"/>
                </a:solidFill>
                <a:latin typeface="Arial"/>
                <a:cs typeface="Arial"/>
              </a:rPr>
              <a:t>aggregate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container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resource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consumption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891" y="1834275"/>
            <a:ext cx="4708800" cy="4069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6333" y="1898699"/>
            <a:ext cx="4556760" cy="3917527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60020" rIns="0" bIns="0" rtlCol="0">
            <a:spAutoFit/>
          </a:bodyPr>
          <a:lstStyle/>
          <a:p>
            <a:pPr marL="208279" marR="1174115">
              <a:lnSpc>
                <a:spcPts val="1650"/>
              </a:lnSpc>
              <a:spcBef>
                <a:spcPts val="1260"/>
              </a:spcBef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ResourceQuota </a:t>
            </a: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metadata:</a:t>
            </a:r>
            <a:endParaRPr sz="1400">
              <a:latin typeface="Courier New"/>
              <a:cs typeface="Courier New"/>
            </a:endParaRPr>
          </a:p>
          <a:p>
            <a:pPr marL="42164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400" b="1" spc="1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awesome-quota</a:t>
            </a:r>
            <a:endParaRPr sz="1400">
              <a:latin typeface="Courier New"/>
              <a:cs typeface="Courier New"/>
            </a:endParaRPr>
          </a:p>
          <a:p>
            <a:pPr marL="42545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namespace: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team-awesome</a:t>
            </a:r>
            <a:endParaRPr sz="1400">
              <a:latin typeface="Courier New"/>
              <a:cs typeface="Courier New"/>
            </a:endParaRPr>
          </a:p>
          <a:p>
            <a:pPr marL="208279">
              <a:lnSpc>
                <a:spcPts val="1664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304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119500" y="3814100"/>
            <a:ext cx="3821007" cy="17830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1915">
              <a:lnSpc>
                <a:spcPts val="1435"/>
              </a:lnSpc>
            </a:pPr>
            <a:r>
              <a:rPr sz="1400" b="1" spc="-10" dirty="0">
                <a:solidFill>
                  <a:srgbClr val="4618A2"/>
                </a:solidFill>
                <a:latin typeface="Courier New"/>
                <a:cs typeface="Courier New"/>
              </a:rPr>
              <a:t>hard:</a:t>
            </a:r>
            <a:endParaRPr sz="1400">
              <a:latin typeface="Courier New"/>
              <a:cs typeface="Courier New"/>
            </a:endParaRPr>
          </a:p>
          <a:p>
            <a:pPr marL="295275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pods:</a:t>
            </a:r>
            <a:r>
              <a:rPr sz="14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2</a:t>
            </a:r>
            <a:endParaRPr sz="1400">
              <a:latin typeface="Courier New"/>
              <a:cs typeface="Courier New"/>
            </a:endParaRPr>
          </a:p>
          <a:p>
            <a:pPr marL="295275" marR="109220">
              <a:lnSpc>
                <a:spcPts val="1650"/>
              </a:lnSpc>
              <a:spcBef>
                <a:spcPts val="65"/>
              </a:spcBef>
            </a:pP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requests.cpu:</a:t>
            </a:r>
            <a:r>
              <a:rPr sz="1400" b="1" spc="-7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D15E35"/>
                </a:solidFill>
                <a:latin typeface="Courier New"/>
                <a:cs typeface="Courier New"/>
              </a:rPr>
              <a:t>"1"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requests.memory:</a:t>
            </a:r>
            <a:r>
              <a:rPr sz="1400" b="1" spc="-8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1024Mi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limits.cpu:</a:t>
            </a:r>
            <a:r>
              <a:rPr sz="1400" b="1" spc="-6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b="1" spc="-25" dirty="0">
                <a:solidFill>
                  <a:srgbClr val="D15E35"/>
                </a:solidFill>
                <a:latin typeface="Courier New"/>
                <a:cs typeface="Courier New"/>
              </a:rPr>
              <a:t>"4" </a:t>
            </a:r>
            <a:r>
              <a:rPr sz="1400" b="1" dirty="0">
                <a:solidFill>
                  <a:srgbClr val="4618A2"/>
                </a:solidFill>
                <a:latin typeface="Courier New"/>
                <a:cs typeface="Courier New"/>
              </a:rPr>
              <a:t>limits.memory:</a:t>
            </a:r>
            <a:r>
              <a:rPr sz="1400" b="1" spc="-7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4096Mi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75" dirty="0"/>
              <a:t>What</a:t>
            </a:r>
            <a:r>
              <a:rPr spc="-114" dirty="0"/>
              <a:t> </a:t>
            </a:r>
            <a:r>
              <a:rPr dirty="0"/>
              <a:t>is</a:t>
            </a:r>
            <a:r>
              <a:rPr spc="-110" dirty="0"/>
              <a:t> </a:t>
            </a:r>
            <a:r>
              <a:rPr spc="280" dirty="0"/>
              <a:t>a</a:t>
            </a:r>
            <a:r>
              <a:rPr spc="-114" dirty="0"/>
              <a:t> </a:t>
            </a:r>
            <a:r>
              <a:rPr spc="-10" dirty="0"/>
              <a:t>LimitRange?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Constraints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or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defaults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resource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allocations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/>
                <a:cs typeface="Arial"/>
              </a:rPr>
              <a:t>an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object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type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309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00095" y="1813816"/>
            <a:ext cx="10541845" cy="3716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15240" indent="-351790">
              <a:lnSpc>
                <a:spcPct val="113300"/>
              </a:lnSpc>
              <a:spcBef>
                <a:spcPts val="100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Enforces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minimum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maximum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compute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usage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Pod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container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in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namespace.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165100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Enforces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minimum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maximum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storage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request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PersistentVolumeClaim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a </a:t>
            </a:r>
            <a:r>
              <a:rPr sz="1600" spc="-10" dirty="0">
                <a:latin typeface="Arial"/>
                <a:cs typeface="Arial"/>
              </a:rPr>
              <a:t>namespace.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indent="-351155">
              <a:lnSpc>
                <a:spcPct val="1000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Enforces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ratio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request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limit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namespace.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Arial"/>
              <a:cs typeface="Arial"/>
            </a:endParaRPr>
          </a:p>
          <a:p>
            <a:pPr marL="363855" marR="5080" indent="-351790">
              <a:lnSpc>
                <a:spcPct val="113300"/>
              </a:lnSpc>
              <a:spcBef>
                <a:spcPts val="5"/>
              </a:spcBef>
              <a:buChar char="●"/>
              <a:tabLst>
                <a:tab pos="363855" algn="l"/>
              </a:tabLst>
            </a:pPr>
            <a:r>
              <a:rPr sz="1600" dirty="0">
                <a:latin typeface="Arial"/>
                <a:cs typeface="Arial"/>
              </a:rPr>
              <a:t>Set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default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requests/limits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compute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resources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namespace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automatically </a:t>
            </a:r>
            <a:r>
              <a:rPr sz="1600" dirty="0">
                <a:latin typeface="Arial"/>
                <a:cs typeface="Arial"/>
              </a:rPr>
              <a:t>injects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them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into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containers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at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runtime.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QUOTAS &amp;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Quotas &amp;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ResourceQuota caps the total resources used across a namespace; LimitRange enforces per-container defaults and maximums. CKAD tests both — write the YAML, apply them, and understand the rejection error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Apply a ResourceQuota and a LimitRange, watch defaults get injected, then violate the max and the quota.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spec: · k run · for i · » ResourceQuota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ResourceQuota: namespace-wide ceilings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hard: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pods: "5"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requests.cpu: "1"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requests.memory: 1Gi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limits.cpu: "2"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limits.memory: 2Gi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1703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LimitRange: per-container defaults and maximums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01083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01083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165091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limits: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type: Container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default:        {cpu: 200m, memory: 256Mi}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defaultRequest: {cpu: 100m, memory: 128Mi}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max:            {cpu: 500m, memory: 512Mi}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Defaults injected; max enforced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a --image=nginx:1.25 -n team-a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a -n team-a -o jsonpath='{.spec.containers[0].resources}'; echo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a container requesting cpu:1 is rejected: 'maximum cpu per Container is 500m'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Exceed the quota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for i in 1 2 3 4; do k run quota-$i --image=nginx:1.25 -n team-a; done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quota-5 --image=nginx:1.25 -n team-a   # 'exceeded quota: team-a-quota'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quota team-a-quota -n team-a       # Used vs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ResourceQuota limits aggregate usage; exceeding it rejects new Pods. LimitRange enforces per-container min/max/defaults. Without a LimitRange, Pods with no resource block cannot be created in a quota-enforced namespace.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Pod with no resource block gets requests/limits injected by the LimitRange, the 6th Pod is rejected with exceeded quota, and describe quota shows Used vs Hard.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MANAGEMENT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Managing Resources for Objects and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Containers should declare a minimum amount of resources needed (requests) and a maximum allowed (limits).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Application developers should right-size resources with load tests or by monitoring production consumption.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ResourceQuota enforces resource consumption at the namespace level.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LimitRange constrains or defaults resource allocations for individual objects (Pod, PVC).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MANAGEMENT ·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 Units in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CPU is measured in millicores (m).  Example: 600m = 0.6 CPU cores.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Memory is measured in bytes using fixed-point numbers or power-of-two suffixes: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Ki = kibibytes  •  Mi = mebibytes  •  Gi = gibibytes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K = kilobytes   •  M = megabytes   •  G = gigabytes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Example: 256Mi = 268,435,456 bytes.  See the official docs for full details.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REQUESTS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Containers declare a minimum amount of resources via spec.containers[].resources.requests.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 types: CPU, memory, huge pages, ephemeral storage.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scheduler uses requests to decide which node can run the Pod.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If no node has enough capacity → the Pod stays Pending with status PodExceedsFreeCPU or PodExceedsFreeMemory.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REQUESTS ·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Example Scheduling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scheduler finds a node whose available CPU and memory ≥ the Pod's requests.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Example: Pod requests 1 CPU + 256 Mi memory. Node must have at least that available.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Requests do not cap actual usage — they are scheduling guarantees only.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Once scheduled, actual usage can exceed requests (up to the limit).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REQUESTS ·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Requests —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resources.requests.cpu   — minimum CPU in cores or millicores  (e.g. "1" or "500m")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resources.requests.memory — minimum memory in bytes with suffix  (e.g. "256Mi")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resources.requests.ephemeral-storage — minimum local ephemeral storage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resources.requests.hugepages-&lt;size&gt; — huge page allocation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Values are per container, not per Pod.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REQUESTS · DECLARATIVE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Requests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Minimum resource amounts declared for a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679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rate-limiter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business-app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bmuschko/nodejs-business-app:1.0.0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containerPort: 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requests: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memory: "256Mi"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cpu: "1"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LIMITS ·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Containers declare a maximum amount of resources via spec.containers[].resources.limits.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 types: CPU, memory, huge pages, ephemeral storage.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The container runtime enforces limits at runtime. Behaviour when exceeded: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CPU limit exceeded → process is throttled (not killed)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Memory limit exceeded → container may be OOMKilled (Out Of Memory)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LIMITS ·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Limits —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resources.limits.cpu   — maximum CPU in cores or millicores  (e.g. "2" or "1000m")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resources.limits.memory — maximum memory in bytes with suffix  (e.g. "512Mi")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resources.limits.ephemeral-storage — maximum local ephemeral storage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resources.limits.hugepages-&lt;size&gt; — maximum huge pages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Best practice: always set both requests and limits for every container.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LIMITS · DECLARATIVE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Limits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Maximum resource amounts declared for a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679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Pod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rate-limiter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business-app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bmuschko/nodejs-business-app:1.0.0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containerPort: 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limits: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memory: "512Mi"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cpu: "2"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MANAGEMENT · INSPECT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Scheduling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Find the node a Pod was scheduled on, then inspect its resource usage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 rate-limiter -o yaml | grep nodeName: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nodeName: worker-3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node worker-3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...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Non-terminated Pods: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Namespace  Name          CPU Requests  CPU Limits  Memory Requests  Memory Limits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default    rate-limiter  1250m (62%)   0 (0%)      256Mi (6%)       512Mi (13%)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RESOURCE MANAGEMENT · BEST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Resource Requests &amp; Limits — Combined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It is best practice to define both requests and limits for every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20827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2082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1168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name: business-app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image: bmuschko/nodejs-business-app:1.0.0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resources: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requests: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memory: "256Mi"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cpu: "1"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limits: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memory: "512Mi"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cpu: "2"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Defining Container Resource Requests and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3 done — you can observe, configure and secure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 (half day): Services &amp; Networking, then the final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4  (½ 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Services &amp;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Services · Service DNS · Ingress with TLS · NetworkPolicy  (CKAD Domain 5 — 20%)  +  Final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4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So far: design &amp; build (D1), deployment (D2), observability and config &amp; security (D3).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This morning — Domain 5 Services &amp; Networking (20%): how Pods are reached and isolated.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Services and DNS for stable in-cluster addressing; Ingress for HTTP/HTTPS; NetworkPolicy for isolation.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From 1:00 PM — mock-exam practice; the final written assessment starts at 2:00 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Stable virtual IPs &amp; DNS for a set of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Services?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 IPs are ephemeral — a Service gives a stable virtual IP and DNS name in front of matching Pods.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ClusterIP (default) is in-cluster only; NodePort opens a port on every node; LoadBalancer asks the cloud for an external IP.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Service finds its Pods by label selector; the matching set is tracked as EndpointSlices.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Empty Endpoints almost always means a selector/label mismatch — the most common Service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THREE WAYS TO EXPOSE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Choosing a Service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ClusterIP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In-cluster only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Stable virtual IP + DNS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Default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NodePort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Port on every node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30000–32767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Reachable from outside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LoadBalancer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Cloud external IP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Builds on NodePort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•  </a:t>
            </a:r>
            <a:r>
              <a:rPr sz="1400">
                <a:solidFill>
                  <a:srgbClr val="161B26"/>
                </a:solidFill>
                <a:latin typeface="Arial"/>
              </a:rPr>
              <a:t>One Service, public entry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Service</a:t>
            </a:r>
            <a:r>
              <a:rPr spc="75" dirty="0"/>
              <a:t> </a:t>
            </a:r>
            <a:r>
              <a:rPr spc="80" dirty="0"/>
              <a:t>Type </a:t>
            </a:r>
            <a:r>
              <a:rPr spc="90" dirty="0"/>
              <a:t>Inheritance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Services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build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on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top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-1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/>
                <a:cs typeface="Arial"/>
              </a:rPr>
              <a:t>each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/>
                <a:cs typeface="Arial"/>
              </a:rPr>
              <a:t>other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216" y="2026733"/>
            <a:ext cx="7397501" cy="42036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360</a:t>
            </a:fld>
            <a:endParaRPr spc="-25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ClusterIP</a:t>
            </a:r>
            <a:r>
              <a:rPr spc="225" dirty="0"/>
              <a:t> </a:t>
            </a:r>
            <a:r>
              <a:rPr dirty="0"/>
              <a:t>Service</a:t>
            </a:r>
            <a:r>
              <a:rPr spc="229" dirty="0"/>
              <a:t> </a:t>
            </a:r>
            <a:r>
              <a:rPr spc="60" dirty="0"/>
              <a:t>Type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5" dirty="0">
                <a:solidFill>
                  <a:srgbClr val="666666"/>
                </a:solidFill>
                <a:latin typeface="Arial"/>
                <a:cs typeface="Arial"/>
              </a:rPr>
              <a:t>Only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reachable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within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cluster,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e.g. </a:t>
            </a:r>
            <a:r>
              <a:rPr sz="1600" b="0" spc="120" dirty="0">
                <a:solidFill>
                  <a:srgbClr val="666666"/>
                </a:solidFill>
                <a:latin typeface="Arial"/>
                <a:cs typeface="Arial"/>
              </a:rPr>
              <a:t>another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4097" y="2019765"/>
            <a:ext cx="4287732" cy="42089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361</a:t>
            </a:fld>
            <a:endParaRPr spc="-25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50" dirty="0"/>
              <a:t>NodePort</a:t>
            </a:r>
            <a:r>
              <a:rPr spc="85" dirty="0"/>
              <a:t> </a:t>
            </a:r>
            <a:r>
              <a:rPr dirty="0"/>
              <a:t>Service</a:t>
            </a:r>
            <a:r>
              <a:rPr spc="85" dirty="0"/>
              <a:t> </a:t>
            </a:r>
            <a:r>
              <a:rPr spc="60" dirty="0"/>
              <a:t>Type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35" dirty="0">
                <a:solidFill>
                  <a:srgbClr val="666666"/>
                </a:solidFill>
                <a:latin typeface="Arial"/>
                <a:cs typeface="Arial"/>
              </a:rPr>
              <a:t>Can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be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resolved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outside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Kubernetes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cluster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8479" y="2031817"/>
            <a:ext cx="4518973" cy="38756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366</a:t>
            </a:fld>
            <a:endParaRPr spc="-25" dirty="0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5" dirty="0"/>
              <a:t>LoadBalancer</a:t>
            </a:r>
            <a:r>
              <a:rPr spc="95" dirty="0"/>
              <a:t> </a:t>
            </a:r>
            <a:r>
              <a:rPr dirty="0"/>
              <a:t>Service</a:t>
            </a:r>
            <a:r>
              <a:rPr spc="95" dirty="0"/>
              <a:t> </a:t>
            </a:r>
            <a:r>
              <a:rPr spc="60" dirty="0"/>
              <a:t>Type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Routes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traffic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existing,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external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/>
                <a:cs typeface="Arial"/>
              </a:rPr>
              <a:t>load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balancer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8817" y="2037801"/>
            <a:ext cx="3298300" cy="4214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369</a:t>
            </a:fld>
            <a:endParaRPr spc="-25" dirty="0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SERVICES · PORT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Port Mapping — port, targetPort, nodePort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Three port fields: port (Service), targetPort (Pod container), nodePort (Node)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5831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5831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Service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web-svc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type: NodePort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app: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port: 80          # port clients use to reach the Service (ClusterIP)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targetPort: 8080   # port the container listens 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nodePort: 30080    # port opened on every Node (30000-32767)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             # omit nodePort for ClusterIP; not needed for LoadBalancer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3202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Expose a deployment as a Service in one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79492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07949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5143500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expose deployment web --port=80 --target-port=8080 --type=NodePort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svc 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TYPE       CLUSTER-IP    PORT(S)      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web    NodePort   10.96.1.50    80:30080/TCP   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SERVICES ·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 — How Pods Resolve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72800" cy="6858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09728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&lt;service-name&gt;.&lt;namespace&gt;.svc.cluster.local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21945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web-svc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6FEB"/>
                </a:solidFill>
                <a:latin typeface="Arial"/>
              </a:rPr>
              <a:t>service
name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514600"/>
            <a:ext cx="21945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00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0B981"/>
                </a:solidFill>
                <a:latin typeface="Arial"/>
              </a:rPr>
              <a:t>namespace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514600"/>
            <a:ext cx="21945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200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C3AED"/>
                </a:solidFill>
                <a:latin typeface="Arial"/>
              </a:rPr>
              <a:t>resource
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514600"/>
            <a:ext cx="21945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cluster.local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200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cluster
domain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2606040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840480"/>
            <a:ext cx="10972800" cy="19659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Short forms (within same namespace)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297680"/>
            <a:ext cx="10332720" cy="16459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297680"/>
            <a:ext cx="82296" cy="164591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" y="4361688"/>
            <a:ext cx="1000353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From a pod in the SAME namespace — just use the service name: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http://web-svc/api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From a pod in a DIFFERENT namespace — include the namespace: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http://web-svc.production/api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Full FQDN always works: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http://web-svc.production.svc.cluster.local/api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SERVICES · LABEL SELECTOR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Selector Matches Pod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31720"/>
            <a:ext cx="3108960" cy="1458467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82296" cy="1458467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395728"/>
            <a:ext cx="27797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app: backend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tier: api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port: 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targetPort: 8080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3200400"/>
            <a:ext cx="137160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60520" y="28346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182880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9202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Pod A  ✓ Selected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2286000"/>
            <a:ext cx="2560320" cy="7086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228600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8736" y="2350008"/>
            <a:ext cx="223113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app: backend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tier: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114800"/>
            <a:ext cx="2926080" cy="15544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20624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Pod B  ✗ Not Selected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4526280"/>
            <a:ext cx="2560320" cy="521207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4526280"/>
            <a:ext cx="82296" cy="521207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8736" y="4590288"/>
            <a:ext cx="223113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app: frontend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14800" y="2834640"/>
            <a:ext cx="137160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60520" y="25146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0B981"/>
                </a:solidFill>
                <a:latin typeface="Arial"/>
              </a:rPr>
              <a:t>selects &amp;
routes 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2560320"/>
            <a:ext cx="2926080" cy="50292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560320"/>
            <a:ext cx="29260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kubectl get endpoints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15468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Lists the IPs of all matching Pods.
Empty = selector mismatch —
first place to debug!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SERVICES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Service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When to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ClusterIP (default): internal VIP, cluster-only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500">
                <a:solidFill>
                  <a:srgbClr val="161B26"/>
                </a:solidFill>
                <a:latin typeface="Arial"/>
              </a:rPr>
              <a:t>kubectl create service clusterip my-svc --tcp=80:8080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NodePort: extends ClusterIP + opens port 30000-32767 on every node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500">
                <a:solidFill>
                  <a:srgbClr val="161B26"/>
                </a:solidFill>
                <a:latin typeface="Arial"/>
              </a:rPr>
              <a:t>kubectl create service nodeport my-svc --tcp=80:8080 --node-port=30080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LoadBalancer: extends NodePort + provisions cloud LB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ExternalName: DNS CNAME alias to external hostname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Use ClusterIP when only pods inside the cluster need access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Use NodePort for simple external access without a cloud provider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Use LoadBalancer in managed cloud environments (GKE, EKS, AKS)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Headless service (clusterIP: None): no VIP — direct pod DNS records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500">
                <a:solidFill>
                  <a:srgbClr val="161B26"/>
                </a:solidFill>
                <a:latin typeface="Arial"/>
              </a:rPr>
              <a:t>kubectl create service clusterip my-svc --clusterip=None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Check: kubectl get svc -A   |   kubectl describe svc &lt;name&gt;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 Service gives a stable virtual IP and DNS name to a set of Pods. CKAD requires fluency with ClusterIP, NodePort and LoadBalancer types, kubectl expose, endpoint debugging and the selector-mismatch pattern.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Expose a Deployment as ClusterIP, NodePort and LoadBalancer, inspect EndpointSlices, then debug a selector mismatch.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expose · k patch · » ClusterIP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Backend Deployment + ClusterIP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--image=nginx:1.25 --replicas=3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--port=80 --target-port=80 --name=web-cip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svc web-cip | grep -E "IP:|Endpoints:"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NodePort (a port on every node)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--port=80 --target-port=80 --type=NodePort --name=web-np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PORT=$(k get svc web-np -o jsonpath='{.spec.ports[0].nodePort}')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-s http://localhost:$PORT | head -3   # 30000-32767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LoadBalancer + EndpointSlices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--port=80 --type=LoadBalancer --name=web-lb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endpointslices -l kubernetes.io/service-name=web-cip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Debug a selector mismatch (the #1 Service bug)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svc web-cip -p '{"spec":{"selector":{"app":"does-not-exist"}}}'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endpoints web-cip        # empty = no Pod matches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svc web-cip -p '{"spec":{"selector":{"app":"web"}}}'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ClusterIP = in-cluster only; NodePort = a port on every node; LoadBalancer = a cloud LB. Empty Endpoints almost always means the selector does not match Pod labels. EndpointSlices (v1.21+) succeed Endpoints.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Services — ClusterIP, NodePort, LoadBalancer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describe svc web-cip lists three endpoint IPs, the NodePort serves the page on localhost:$PORT, and a bad selector empties the Endpoints until it is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Troubleshooting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Built-in mechanisms for identifying the root cause of a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 SERVICES ·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Checking Service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Identify the Service type and attempt to connect to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service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TYPE       CLUSTER-IP      EXTERNAL-IP  PORT(S)  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echoserver  ClusterIP  10.96.254.0     &lt;none&gt;       8080/TCP   8s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Run a temporary Pod and attempt to reach the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run tmp --image=busybox --restart=Never -it --rm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 wget echoserver:8080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Connecting to echoserver (10.96.254.0:8080)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wget: can't connect to remote host (10.96.254.0:8080): Connection refused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 "tmp" deleted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 SERVICES ·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Verifying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No endpoints = label selector does not match any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endpoints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ENDPOINTS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echoserver  &lt;none&gt;     63s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Correct configuration exposes Pod IP addresses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endpoints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ENDPOINTS                        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echoserver  10.244.0.3:8080,10.244.0.4:8080   63s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 SERVICES ·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Checking Label Selection and Port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Inspect the Service — verify Selector and TargetPort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service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Name:     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Selector:  app=echoserver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Type:      ClusterIP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IP:        10.111.148.223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Port:      8080/TCP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TargetPort: 8080/TCP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Endpoints: 10.244.0.3:8080,10.244.0.4:8080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Compare with Pod labels — they must match the Selector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describe pod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Labels:  app=echoserver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Containers: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echoserver: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Port: 8080/TCP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 SERVICES · 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Checking Network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for NetworkPolicies that may block ingress traffic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networkpolicies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No resources found in default namespace.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If policies exist, inspect them: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networkpolicies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           POD-SELECTOR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default-deny-ingress   &lt;none&gt;        9s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07307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 default-deny-ingress policy blocks ALL ingress — may need an allow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 SERVICES · 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Ensuring Pod Functionality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Check Pod status — even 'Running' may hide container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READY  STATUS        RESTARTS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echoserver  0/1    ErrImagePull  0         2s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After fix: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get pods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NAME        READY  STATUS   RESTARTS  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echoserver  1/1    Running  0         5s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Exec into the Pod or use logs to verify the application is actually serving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logs echoserver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exec -it echoserver -- wget -qO- localhost:8080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Troubleshooting a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EXAM PREP ·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Exam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Service misconfiguration is a common failure. Any misconfiguration prevents traffic from reaching the target Pods.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Common causes: incorrect label selector (Service selector must match Pod labels), wrong port or targetPort assignment.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Use kubectl get endpoints &lt;service&gt; to verify the Service has resolved Pod IP:port pairs.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Check for NetworkPolicies that may block ingress traffic to the Pod.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•  </a:t>
            </a:r>
            <a:r>
              <a:rPr sz="1700">
                <a:solidFill>
                  <a:srgbClr val="161B26"/>
                </a:solidFill>
                <a:latin typeface="Arial"/>
              </a:rPr>
              <a:t>Verify the Pod itself is healthy: check status, logs, and exec a test request from inside the cluster.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How CoreDNS resolves Services and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CLUSTER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Names, Not 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CoreDNS gives every Service a name: &lt;service&gt;.&lt;namespace&gt;.svc.cluster.local.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Within the same namespace the short name resolves via the Pod's search list.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Cross-namespace you need at least &lt;service&gt;.&lt;namespace&gt;; the full FQDN always works.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headless Service (clusterIP: None) returns every Pod IP instead of a single virtual 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0" dirty="0"/>
              <a:t>Discovering</a:t>
            </a:r>
            <a:r>
              <a:rPr spc="-30" dirty="0"/>
              <a:t> </a:t>
            </a:r>
            <a:r>
              <a:rPr spc="130" dirty="0"/>
              <a:t>the</a:t>
            </a:r>
            <a:r>
              <a:rPr spc="-30" dirty="0"/>
              <a:t> </a:t>
            </a:r>
            <a:r>
              <a:rPr dirty="0"/>
              <a:t>Service</a:t>
            </a:r>
            <a:r>
              <a:rPr spc="-25" dirty="0"/>
              <a:t> </a:t>
            </a:r>
            <a:r>
              <a:rPr spc="125" dirty="0"/>
              <a:t>by</a:t>
            </a:r>
            <a:r>
              <a:rPr spc="-30" dirty="0"/>
              <a:t> </a:t>
            </a:r>
            <a:r>
              <a:rPr spc="-45" dirty="0"/>
              <a:t>DNS</a:t>
            </a:r>
            <a:r>
              <a:rPr spc="-30" dirty="0"/>
              <a:t> </a:t>
            </a:r>
            <a:r>
              <a:rPr spc="-10" dirty="0"/>
              <a:t>Lookup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Kubernetes’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/>
                <a:cs typeface="Arial"/>
              </a:rPr>
              <a:t>DNS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75" dirty="0">
                <a:solidFill>
                  <a:srgbClr val="666666"/>
                </a:solidFill>
                <a:latin typeface="Arial"/>
                <a:cs typeface="Arial"/>
              </a:rPr>
              <a:t>maps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cluster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-105" dirty="0">
                <a:solidFill>
                  <a:srgbClr val="666666"/>
                </a:solidFill>
                <a:latin typeface="Arial"/>
                <a:cs typeface="Arial"/>
              </a:rPr>
              <a:t>IP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address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/>
                <a:cs typeface="Arial"/>
              </a:rPr>
              <a:t>Service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7224" y="1814008"/>
            <a:ext cx="9799320" cy="1783080"/>
            <a:chOff x="607224" y="1814008"/>
            <a:chExt cx="9799320" cy="17830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224" y="1814008"/>
              <a:ext cx="9799200" cy="178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8665" y="1878433"/>
              <a:ext cx="9646920" cy="1630680"/>
            </a:xfrm>
            <a:custGeom>
              <a:avLst/>
              <a:gdLst/>
              <a:ahLst/>
              <a:cxnLst/>
              <a:rect l="l" t="t" r="r" b="b"/>
              <a:pathLst>
                <a:path w="7235190" h="1223010">
                  <a:moveTo>
                    <a:pt x="7235099" y="1222499"/>
                  </a:moveTo>
                  <a:lnTo>
                    <a:pt x="0" y="1222499"/>
                  </a:lnTo>
                  <a:lnTo>
                    <a:pt x="0" y="0"/>
                  </a:lnTo>
                  <a:lnTo>
                    <a:pt x="7235099" y="0"/>
                  </a:lnTo>
                  <a:lnTo>
                    <a:pt x="7235099" y="12224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58499" y="2076493"/>
            <a:ext cx="7338907" cy="5452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urier New"/>
                <a:cs typeface="Courier New"/>
              </a:rPr>
              <a:t>$</a:t>
            </a:r>
            <a:r>
              <a:rPr sz="1200" b="1" spc="-65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kubectl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run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dirty="0">
                <a:latin typeface="Courier New"/>
                <a:cs typeface="Courier New"/>
              </a:rPr>
              <a:t>tmp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--</a:t>
            </a:r>
            <a:r>
              <a:rPr sz="1200" b="1" dirty="0">
                <a:latin typeface="Courier New"/>
                <a:cs typeface="Courier New"/>
              </a:rPr>
              <a:t>image=busybox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--</a:t>
            </a:r>
            <a:r>
              <a:rPr sz="1200" b="1" dirty="0">
                <a:latin typeface="Courier New"/>
                <a:cs typeface="Courier New"/>
              </a:rPr>
              <a:t>restart=Never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</a:t>
            </a:r>
            <a:r>
              <a:rPr sz="1200" b="1" dirty="0">
                <a:latin typeface="Courier New"/>
                <a:cs typeface="Courier New"/>
              </a:rPr>
              <a:t>it</a:t>
            </a:r>
            <a:r>
              <a:rPr sz="1200" b="1" spc="-60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--</a:t>
            </a:r>
            <a:r>
              <a:rPr sz="1200" b="1" dirty="0">
                <a:latin typeface="Courier New"/>
                <a:cs typeface="Courier New"/>
              </a:rPr>
              <a:t>rm</a:t>
            </a:r>
            <a:r>
              <a:rPr sz="1200" b="1" spc="-50" dirty="0">
                <a:latin typeface="Courier New"/>
                <a:cs typeface="Courier New"/>
              </a:rPr>
              <a:t> </a:t>
            </a:r>
            <a:r>
              <a:rPr sz="1300" spc="-700" dirty="0">
                <a:latin typeface="Lucida Grande"/>
                <a:cs typeface="Lucida Grande"/>
              </a:rPr>
              <a:t>↵</a:t>
            </a:r>
            <a:endParaRPr sz="1300">
              <a:latin typeface="Lucida Grande"/>
              <a:cs typeface="Lucida Grande"/>
            </a:endParaRPr>
          </a:p>
          <a:p>
            <a:pPr marL="195580">
              <a:lnSpc>
                <a:spcPct val="100000"/>
              </a:lnSpc>
              <a:spcBef>
                <a:spcPts val="20"/>
              </a:spcBef>
            </a:pPr>
            <a:r>
              <a:rPr sz="1200" b="1" spc="-20" dirty="0">
                <a:latin typeface="Courier New"/>
                <a:cs typeface="Courier New"/>
              </a:rPr>
              <a:t>-</a:t>
            </a:r>
            <a:r>
              <a:rPr sz="1200" b="1" dirty="0">
                <a:latin typeface="Courier New"/>
                <a:cs typeface="Courier New"/>
              </a:rPr>
              <a:t>-</a:t>
            </a:r>
            <a:r>
              <a:rPr sz="1200" b="1" spc="-5" dirty="0">
                <a:latin typeface="Courier New"/>
                <a:cs typeface="Courier New"/>
              </a:rPr>
              <a:t> </a:t>
            </a:r>
            <a:r>
              <a:rPr sz="1200" b="1" spc="-20" dirty="0">
                <a:latin typeface="Courier New"/>
                <a:cs typeface="Courier New"/>
              </a:rPr>
              <a:t>wget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9100" y="2361700"/>
            <a:ext cx="5127413" cy="28786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1275">
              <a:lnSpc>
                <a:spcPts val="1435"/>
              </a:lnSpc>
            </a:pPr>
            <a:r>
              <a:rPr sz="1200" b="1" spc="-10" dirty="0">
                <a:latin typeface="Courier New"/>
                <a:cs typeface="Courier New"/>
              </a:rPr>
              <a:t>echoserver.default.svc.cluster.local:8080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499" y="2585171"/>
            <a:ext cx="9055945" cy="519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Connecting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echoserver.default.svc.cluster.local:8080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(10.96.254.0:8080)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5"/>
              </a:lnSpc>
            </a:pPr>
            <a:r>
              <a:rPr sz="1200" spc="-25" dirty="0">
                <a:latin typeface="Courier New"/>
                <a:cs typeface="Courier New"/>
              </a:rPr>
              <a:t>...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94245" y="2982805"/>
            <a:ext cx="2749127" cy="1639147"/>
            <a:chOff x="2794245" y="2982805"/>
            <a:chExt cx="2749127" cy="1639147"/>
          </a:xfrm>
        </p:grpSpPr>
        <p:sp>
          <p:nvSpPr>
            <p:cNvPr id="10" name="object 10"/>
            <p:cNvSpPr/>
            <p:nvPr/>
          </p:nvSpPr>
          <p:spPr>
            <a:xfrm>
              <a:off x="2848899" y="3110905"/>
              <a:ext cx="0" cy="822113"/>
            </a:xfrm>
            <a:custGeom>
              <a:avLst/>
              <a:gdLst/>
              <a:ahLst/>
              <a:cxnLst/>
              <a:rect l="l" t="t" r="r" b="b"/>
              <a:pathLst>
                <a:path h="616585">
                  <a:moveTo>
                    <a:pt x="0" y="616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4245" y="2982939"/>
              <a:ext cx="109307" cy="1406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62009" y="3110772"/>
              <a:ext cx="0" cy="1498600"/>
            </a:xfrm>
            <a:custGeom>
              <a:avLst/>
              <a:gdLst/>
              <a:ahLst/>
              <a:cxnLst/>
              <a:rect l="l" t="t" r="r" b="b"/>
              <a:pathLst>
                <a:path h="1123950">
                  <a:moveTo>
                    <a:pt x="0" y="11237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7355" y="2982805"/>
              <a:ext cx="109307" cy="14066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74365" y="3110965"/>
              <a:ext cx="855980" cy="1309792"/>
            </a:xfrm>
            <a:custGeom>
              <a:avLst/>
              <a:gdLst/>
              <a:ahLst/>
              <a:cxnLst/>
              <a:rect l="l" t="t" r="r" b="b"/>
              <a:pathLst>
                <a:path w="641985" h="982345">
                  <a:moveTo>
                    <a:pt x="641699" y="981899"/>
                  </a:moveTo>
                  <a:lnTo>
                    <a:pt x="0" y="9818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711" y="2982999"/>
              <a:ext cx="109308" cy="14066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107695" y="3983957"/>
            <a:ext cx="1483360" cy="3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Service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name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12943" y="4088041"/>
            <a:ext cx="3869267" cy="905087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743075">
              <a:lnSpc>
                <a:spcPct val="100000"/>
              </a:lnSpc>
              <a:spcBef>
                <a:spcPts val="990"/>
              </a:spcBef>
            </a:pPr>
            <a:r>
              <a:rPr sz="1400" dirty="0">
                <a:latin typeface="Arial"/>
                <a:cs typeface="Arial"/>
              </a:rPr>
              <a:t>Resource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type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spc="-10" dirty="0">
                <a:latin typeface="Arial"/>
                <a:cs typeface="Arial"/>
              </a:rPr>
              <a:t>Namespace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75081" y="2983097"/>
            <a:ext cx="1180253" cy="966047"/>
            <a:chOff x="5775081" y="2983097"/>
            <a:chExt cx="1180253" cy="966047"/>
          </a:xfrm>
        </p:grpSpPr>
        <p:sp>
          <p:nvSpPr>
            <p:cNvPr id="19" name="object 19"/>
            <p:cNvSpPr/>
            <p:nvPr/>
          </p:nvSpPr>
          <p:spPr>
            <a:xfrm>
              <a:off x="5829735" y="3111063"/>
              <a:ext cx="1112520" cy="825500"/>
            </a:xfrm>
            <a:custGeom>
              <a:avLst/>
              <a:gdLst/>
              <a:ahLst/>
              <a:cxnLst/>
              <a:rect l="l" t="t" r="r" b="b"/>
              <a:pathLst>
                <a:path w="834389" h="619125">
                  <a:moveTo>
                    <a:pt x="834073" y="618602"/>
                  </a:moveTo>
                  <a:lnTo>
                    <a:pt x="0" y="618602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5081" y="2983097"/>
              <a:ext cx="109305" cy="14096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056508" y="3754551"/>
            <a:ext cx="2269067" cy="3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Cluster-specific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suffix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365</a:t>
            </a:fld>
            <a:endParaRPr spc="-25" dirty="0"/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SERVICE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 DNS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CoreDNS gives every Service a stable DNS name: &lt;service&gt;.&lt;namespace&gt;.svc.cluster.local. CKAD tests cross-namespace resolution, Pod DNS records, headless Services, and reading /etc/resolv.conf to understand ndots:5.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Resolve a Service by short name and FQDN, cross namespaces, read a Pod DNS record and /etc/resolv.conf, then a headless Service.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-n · nslookup web · cat /etc/resolv.conf · » FQDN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Resolve from the same namespace (short name)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-n app run client --image=busybox --restart=Never -it --rm --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sh -c 'nslookup web; wget -qO- web | head -3'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Resolve from a different namespace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web              # fails cross-namespace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web.app          # works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web.app.svc.cluster.local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Pod DNS record and resolv.conf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A-record: &lt;dashed-ip&gt;.&lt;namespace&gt;.pod.cluster.local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cat /etc/resolv.conf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search app.svc.cluster.local svc.cluster.local cluster.local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ndots:5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Headless Service returns all Pod 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-n app create service clusterip headless --clusterip="None" --tcp=80:80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nslookup headless.app    # returns every Pod IP, not one VIP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FQDN = &lt;service&gt;.&lt;namespace&gt;.svc.cluster.local. Short names resolve via the search list within the namespace; cross-namespace needs &lt;service&gt;.&lt;namespace&gt;. ndots:5 is why short names check the search list before an absolute lookup. Headless (clusterIP: None) returns per-Pod 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DNS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nslookup web works in-namespace but needs web.app cross-namespace, and the headless Service resolves to all backing Pod 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Ingress &amp; TLS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Layer-7 HTTP/HTTPS routing into the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L7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Entry Point, Many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Ingress defines host- and path-based HTTP/HTTPS rules that forward to backend Services.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An Ingress controller (e.g. ingress-nginx) must be running; ingressClassName selects 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TLS terminates at the controller — tls.secretName points at a kubernetes.io/tls Secret.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pathType: Prefix matches a path and everything below it; Exact requires an exact match.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apiVersion is networking.k8s.io/v1 (extensions/v1beta1 was removed in 1.22).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Ingress</a:t>
            </a:r>
            <a:r>
              <a:rPr spc="75" dirty="0"/>
              <a:t> </a:t>
            </a:r>
            <a:r>
              <a:rPr spc="50" dirty="0"/>
              <a:t>Traffic</a:t>
            </a:r>
            <a:r>
              <a:rPr spc="80" dirty="0"/>
              <a:t> </a:t>
            </a:r>
            <a:r>
              <a:rPr spc="40" dirty="0"/>
              <a:t>Routing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The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context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/>
                <a:cs typeface="Arial"/>
              </a:rPr>
              <a:t>path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is </a:t>
            </a:r>
            <a:r>
              <a:rPr sz="1600" b="0" spc="190" dirty="0">
                <a:solidFill>
                  <a:srgbClr val="666666"/>
                </a:solidFill>
                <a:latin typeface="Arial"/>
                <a:cs typeface="Arial"/>
              </a:rPr>
              <a:t>mapped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/>
                <a:cs typeface="Arial"/>
              </a:rPr>
              <a:t>backend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(Service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80" dirty="0">
                <a:solidFill>
                  <a:srgbClr val="666666"/>
                </a:solidFill>
                <a:latin typeface="Arial"/>
                <a:cs typeface="Arial"/>
              </a:rPr>
              <a:t>name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sz="1600" b="0" spc="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/>
                <a:cs typeface="Arial"/>
              </a:rPr>
              <a:t>port)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5367" y="4836627"/>
            <a:ext cx="745067" cy="237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Courier New"/>
                <a:cs typeface="Courier New"/>
              </a:rPr>
              <a:t>/health</a:t>
            </a:r>
            <a:endParaRPr sz="10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831" y="2199200"/>
            <a:ext cx="10653067" cy="34239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385</a:t>
            </a:fld>
            <a:endParaRPr spc="-25" dirty="0"/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INGRESS ·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Ingress? Services vs Ingress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Without Ingress (Services 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With 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One Service = one IP/port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LoadBalancer Service = one cloud LB per service (expensive)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No SSL/TLS termination at Service level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No host/path-based routing with Services alone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Many services = many public IPs to manage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Single entry point for all HTTP(S) traffic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L7 routing: route by hostname or URL path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500">
                <a:solidFill>
                  <a:srgbClr val="161B26"/>
                </a:solidFill>
                <a:latin typeface="Arial"/>
              </a:rPr>
              <a:t>example.com/api  →  api-service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500">
                <a:solidFill>
                  <a:srgbClr val="161B26"/>
                </a:solidFill>
                <a:latin typeface="Arial"/>
              </a:rPr>
              <a:t>example.com/web  →  web-service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TLS termination: one cert handles all services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Requires an IngressController (nginx, traefik, AWS ALB…)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INGRESS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— L7 Routing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600200" cy="10058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Internet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12801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HTTPS :443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2743200"/>
            <a:ext cx="914400" cy="0"/>
          </a:xfrm>
          <a:prstGeom prst="line">
            <a:avLst/>
          </a:prstGeom>
          <a:ln w="25400">
            <a:solidFill>
              <a:srgbClr val="F59E0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71800" y="201168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031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Ingress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450592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Reads Ingress rules,
terminates TLS,
proxies requests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32120" y="2743200"/>
            <a:ext cx="86868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32120" y="242316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691640"/>
            <a:ext cx="5212080" cy="41148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7830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Ingress Rules  (host + path → service)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14884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148840"/>
            <a:ext cx="47548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/api  →  api-service:8080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278892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788920"/>
            <a:ext cx="47548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/web  →  web-service:80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342900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429000"/>
            <a:ext cx="47548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admin.example.com  →  admin-service:9000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71800" y="3977639"/>
            <a:ext cx="2560320" cy="50292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977639"/>
            <a:ext cx="25603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1F6FEB"/>
                </a:solidFill>
                <a:latin typeface="Arial"/>
              </a:rPr>
              <a:t>TLS terminates here — upstream is plain HTTP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INGRESS · DECLARATIVE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YAML —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Path-based routing for two services on the same 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44577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4457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366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Ingress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app-ingress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annotations: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nginx.ingress.kubernetes.io/rewrite-target: 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ingressClassName: nginx          # which IngressController to use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hosts: [example.com]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secretName: tls-secret          # kubectl create secret tls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rules: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host: example.com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http: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paths: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- path: /api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pathType: Prefix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backend: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service: {name: api-svc, port: {number: 8080}}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- path: /web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pathType: Prefix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backend: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service: {name: web-svc, port: {number: 80}}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INGRESS · INGRESSCLASS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IngressClass and IngressController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An IngressController is a running Pod (e.g. nginx, traefik) that reads Ingress rules and configures its proxy.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An IngressClass links an Ingress resource to a specific IngressController.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700">
                <a:solidFill>
                  <a:srgbClr val="161B26"/>
                </a:solidFill>
                <a:latin typeface="Arial"/>
              </a:rPr>
              <a:t>spec.ingressClassName: nginx  →  handled by the nginx IngressController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If only one IngressClass exists it can be marked as default (isDefaultClass: true).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Check available classes:  kubectl get ingressclass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CKAD exam: IngressClass is usually pre-configured — just reference it in your Ingress spec.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•  </a:t>
            </a:r>
            <a:r>
              <a:rPr sz="1800">
                <a:solidFill>
                  <a:srgbClr val="161B26"/>
                </a:solidFill>
                <a:latin typeface="Arial"/>
              </a:rPr>
              <a:t>Troubleshoot:  kubectl describe ingress &lt;name&gt;  — check Events for routing errors.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INGRESS &amp; 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Ingress &amp; TLS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An Ingress provides Layer-7 HTTP/HTTPS routing: hostname and path rules forwarding to backend Services. CKAD tests installing a controller, TLS Secrets, host routing and path-based routing with pathType.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ingress-nginx, create a TLS Secret, write a host+TLS Ingress, test HTTPS, then add a path-based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apiVersion: networking.k8s.io/v1 · curl -k · » Ingress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Backend Service + TLS Secret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deployment web --image=hashicorp/http-echo --replicas=2 -- -text=hello-ingress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expose deployment web --port=5678 --target-port=5678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tls demo-tls --cert=tls.crt --key=tls.key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Ingress with TLS and host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Ingress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 {name: demo}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ingressClassName: nginx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hosts: [demo.local]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secretName: demo-tls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rules: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host: demo.local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http: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paths: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- path: /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pathType: Prefix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backend: {service: {name: web, port: {number: 5678}}}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Test HTTPS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-k --resolve demo.local:$HTTPS_PORT:127.0.0.1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https://demo.local:$HTTPS_PORT/        # hello-ingress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Add path-based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add a second rule: path /v2 -&gt; service v2:5678 (pathType: Prefix)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curl -k --resolve demo.local:$HTTPS_PORT:127.0.0.1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https://demo.local:$HTTPS_PORT/v2       # hello-v2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Ingress apiVersion is networking.k8s.io/v1. ingressClassName selects the controller; tls.secretName must point at a kubernetes.io/tls Secret; pathType: Prefix matches a path and everything below it. --resolve + -k let curl test without real DNS or a valid cert.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Ingress with TLS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curl https://demo.local:$HTTPS_PORT/ returns hello-ingress over TLS, and the /v2 path returns hello-v2 after the second rule is added.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Allow-list Pod-to-Pod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NETWORK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Restrict the Default Open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By default every Pod can talk to every other Pod — NetworkPolicies allow-list specific traffic.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Default-deny: podSelector: {} with policyTypes:[Ingress] and no ingress rules blocks all inbound.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Allow by podSelector (Pods by label) or namespaceSelector (whole namespaces) in from/to.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Egress works the same way — the classic exam pattern is 'deny all egress except DNS (port 53)'.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Policies are additive: multiple policies combine with logical OR on their allow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80" dirty="0"/>
              <a:t>Example</a:t>
            </a:r>
            <a:r>
              <a:rPr spc="-80" dirty="0"/>
              <a:t> </a:t>
            </a:r>
            <a:r>
              <a:rPr spc="80" dirty="0"/>
              <a:t>Network</a:t>
            </a:r>
            <a:r>
              <a:rPr spc="-80" dirty="0"/>
              <a:t> </a:t>
            </a:r>
            <a:r>
              <a:rPr spc="-10" dirty="0"/>
              <a:t>Policy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/>
                <a:cs typeface="Arial"/>
              </a:rPr>
              <a:t>Restricting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access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/>
                <a:cs typeface="Arial"/>
              </a:rPr>
              <a:t>payment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/>
                <a:cs typeface="Arial"/>
              </a:rPr>
              <a:t>processor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/>
                <a:cs typeface="Arial"/>
              </a:rPr>
              <a:t>Pod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/>
                <a:cs typeface="Arial"/>
              </a:rPr>
              <a:t>from</a:t>
            </a:r>
            <a:r>
              <a:rPr sz="1600" b="0" spc="-1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/>
                <a:cs typeface="Arial"/>
              </a:rPr>
              <a:t>other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30" dirty="0">
                <a:solidFill>
                  <a:srgbClr val="666666"/>
                </a:solidFill>
                <a:latin typeface="Arial"/>
                <a:cs typeface="Arial"/>
              </a:rPr>
              <a:t>Pods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000" y="2972367"/>
            <a:ext cx="10013928" cy="16253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401</a:t>
            </a:fld>
            <a:endParaRPr spc="-25" dirty="0"/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0" dirty="0"/>
              <a:t>Default</a:t>
            </a:r>
            <a:r>
              <a:rPr spc="-90" dirty="0"/>
              <a:t> </a:t>
            </a:r>
            <a:r>
              <a:rPr spc="85" dirty="0"/>
              <a:t>Deny</a:t>
            </a:r>
            <a:r>
              <a:rPr spc="-85" dirty="0"/>
              <a:t> </a:t>
            </a:r>
            <a:r>
              <a:rPr spc="80" dirty="0"/>
              <a:t>Network</a:t>
            </a:r>
            <a:r>
              <a:rPr spc="-85" dirty="0"/>
              <a:t> </a:t>
            </a:r>
            <a:r>
              <a:rPr spc="-10" dirty="0"/>
              <a:t>Policies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0" dirty="0">
                <a:solidFill>
                  <a:srgbClr val="666666"/>
                </a:solidFill>
                <a:latin typeface="Arial"/>
                <a:cs typeface="Arial"/>
              </a:rPr>
              <a:t>Network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/>
                <a:cs typeface="Arial"/>
              </a:rPr>
              <a:t>policies</a:t>
            </a:r>
            <a:r>
              <a:rPr sz="1600" b="0" spc="-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/>
                <a:cs typeface="Arial"/>
              </a:rPr>
              <a:t>are</a:t>
            </a:r>
            <a:r>
              <a:rPr sz="1600" b="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/>
                <a:cs typeface="Arial"/>
              </a:rPr>
              <a:t>additive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4891193" cy="3081020"/>
            <a:chOff x="645157" y="1890741"/>
            <a:chExt cx="4891193" cy="30810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157" y="1890741"/>
              <a:ext cx="4891200" cy="3080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4738793" cy="2928620"/>
            </a:xfrm>
            <a:custGeom>
              <a:avLst/>
              <a:gdLst/>
              <a:ahLst/>
              <a:cxnLst/>
              <a:rect l="l" t="t" r="r" b="b"/>
              <a:pathLst>
                <a:path w="3554095" h="2196465">
                  <a:moveTo>
                    <a:pt x="3554099" y="2196299"/>
                  </a:moveTo>
                  <a:lnTo>
                    <a:pt x="0" y="2196299"/>
                  </a:lnTo>
                  <a:lnTo>
                    <a:pt x="0" y="0"/>
                  </a:lnTo>
                  <a:lnTo>
                    <a:pt x="3554099" y="0"/>
                  </a:lnTo>
                  <a:lnTo>
                    <a:pt x="3554099" y="21962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48565" y="2153227"/>
            <a:ext cx="4260427" cy="136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apiVersion:</a:t>
            </a:r>
            <a:r>
              <a:rPr sz="1300" b="1" spc="-5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networking.k8s.io/v1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kind:</a:t>
            </a:r>
            <a:r>
              <a:rPr sz="1300" b="1" spc="-25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NetworkPolicy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metadata:</a:t>
            </a:r>
            <a:endParaRPr sz="1300">
              <a:latin typeface="Courier New"/>
              <a:cs typeface="Courier New"/>
            </a:endParaRPr>
          </a:p>
          <a:p>
            <a:pPr marL="210820">
              <a:lnSpc>
                <a:spcPct val="100000"/>
              </a:lnSpc>
              <a:spcBef>
                <a:spcPts val="15"/>
              </a:spcBef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name:</a:t>
            </a:r>
            <a:r>
              <a:rPr sz="1300" b="1" spc="4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default-deny-</a:t>
            </a:r>
            <a:r>
              <a:rPr sz="1300" spc="-25" dirty="0">
                <a:latin typeface="Courier New"/>
                <a:cs typeface="Courier New"/>
              </a:rPr>
              <a:t>all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spec: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4433" y="3538300"/>
            <a:ext cx="2106507" cy="2844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5880">
              <a:lnSpc>
                <a:spcPts val="1355"/>
              </a:lnSpc>
            </a:pPr>
            <a:r>
              <a:rPr sz="1300" b="1" dirty="0">
                <a:solidFill>
                  <a:srgbClr val="4618A2"/>
                </a:solidFill>
                <a:latin typeface="Courier New"/>
                <a:cs typeface="Courier New"/>
              </a:rPr>
              <a:t>podSelector:</a:t>
            </a:r>
            <a:r>
              <a:rPr sz="1300" b="1" spc="-60" dirty="0">
                <a:solidFill>
                  <a:srgbClr val="4618A2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{}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2727" y="3753428"/>
            <a:ext cx="1618827" cy="2980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4618A2"/>
                </a:solidFill>
                <a:latin typeface="Courier New"/>
                <a:cs typeface="Courier New"/>
              </a:rPr>
              <a:t>policyTypes: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4432" y="4085899"/>
            <a:ext cx="1424940" cy="534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2729" indent="-196850">
              <a:lnSpc>
                <a:spcPts val="1270"/>
              </a:lnSpc>
              <a:buChar char="-"/>
              <a:tabLst>
                <a:tab pos="252729" algn="l"/>
              </a:tabLst>
            </a:pPr>
            <a:r>
              <a:rPr sz="1300" spc="-10" dirty="0">
                <a:latin typeface="Courier New"/>
                <a:cs typeface="Courier New"/>
              </a:rPr>
              <a:t>Ingress</a:t>
            </a:r>
            <a:endParaRPr sz="1300">
              <a:latin typeface="Courier New"/>
              <a:cs typeface="Courier New"/>
            </a:endParaRPr>
          </a:p>
          <a:p>
            <a:pPr marL="252729" indent="-196850">
              <a:lnSpc>
                <a:spcPct val="100000"/>
              </a:lnSpc>
              <a:spcBef>
                <a:spcPts val="15"/>
              </a:spcBef>
              <a:buChar char="-"/>
              <a:tabLst>
                <a:tab pos="252729" algn="l"/>
              </a:tabLst>
            </a:pPr>
            <a:r>
              <a:rPr sz="1300" spc="-10" dirty="0">
                <a:latin typeface="Courier New"/>
                <a:cs typeface="Courier New"/>
              </a:rPr>
              <a:t>Egress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14912" y="3625645"/>
            <a:ext cx="4441613" cy="2256367"/>
            <a:chOff x="1814912" y="3625645"/>
            <a:chExt cx="4441613" cy="2256367"/>
          </a:xfrm>
        </p:grpSpPr>
        <p:sp>
          <p:nvSpPr>
            <p:cNvPr id="11" name="object 11"/>
            <p:cNvSpPr/>
            <p:nvPr/>
          </p:nvSpPr>
          <p:spPr>
            <a:xfrm>
              <a:off x="3573232" y="3680299"/>
              <a:ext cx="2683933" cy="0"/>
            </a:xfrm>
            <a:custGeom>
              <a:avLst/>
              <a:gdLst/>
              <a:ahLst/>
              <a:cxnLst/>
              <a:rect l="l" t="t" r="r" b="b"/>
              <a:pathLst>
                <a:path w="2012950">
                  <a:moveTo>
                    <a:pt x="2012399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5265" y="3625645"/>
              <a:ext cx="140667" cy="10930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69565" y="4955799"/>
              <a:ext cx="882227" cy="913553"/>
            </a:xfrm>
            <a:custGeom>
              <a:avLst/>
              <a:gdLst/>
              <a:ahLst/>
              <a:cxnLst/>
              <a:rect l="l" t="t" r="r" b="b"/>
              <a:pathLst>
                <a:path w="661669" h="685164">
                  <a:moveTo>
                    <a:pt x="661199" y="684899"/>
                  </a:moveTo>
                  <a:lnTo>
                    <a:pt x="0" y="6848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4912" y="4827832"/>
              <a:ext cx="109307" cy="14066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464080" y="3369184"/>
            <a:ext cx="1970193" cy="5977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Selects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all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Pods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namespace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405</a:t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2943213" y="5543285"/>
            <a:ext cx="2076027" cy="5977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Applies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incoming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outgoing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traffic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NETWORKPOLICY · DEFAULT 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Default: All Pods Can Communicate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155680" cy="429768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Namespace (no NetworkPolicy)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6459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frontend
:3000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331720"/>
            <a:ext cx="16459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backend
:8080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331720"/>
            <a:ext cx="16459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database
:5432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331720"/>
            <a:ext cx="16459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cache
:6379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2706624"/>
            <a:ext cx="640080.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200400.0" y="2779776"/>
            <a:ext cx="640080.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0" y="2706624"/>
            <a:ext cx="640080.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126480.0" y="2779776"/>
            <a:ext cx="640080.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0" y="2706624"/>
            <a:ext cx="502920.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915400.0" y="2779776"/>
            <a:ext cx="502920.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0" y="3246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any pod  ↔  any pod  ↔  any 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663440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663440"/>
            <a:ext cx="106984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F59E0B"/>
                </a:solidFill>
                <a:latin typeface="Arial"/>
              </a:rPr>
              <a:t>Without NetworkPolicy: every Pod can reach every other Pod on any port — no isolation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NETWORKPOLICY · INGRESS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 — Restrict Ingress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155680" cy="31089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Namespace: production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860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6459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untrusted
Pod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578608"/>
            <a:ext cx="1371600" cy="164592"/>
          </a:xfrm>
          <a:prstGeom prst="roundRect">
            <a:avLst>
              <a:gd name="adj" fmla="val 6000"/>
            </a:avLst>
          </a:prstGeom>
          <a:solidFill>
            <a:srgbClr val="FFDDDD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C0000"/>
                </a:solidFill>
                <a:latin typeface="Arial"/>
              </a:rPr>
              <a:t>✗ blocked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228600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286000"/>
            <a:ext cx="182880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database
(protected)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2860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286000"/>
            <a:ext cx="16459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backend
Pod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23560" y="2679192"/>
            <a:ext cx="123444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0" y="242316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✓ allowed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846320"/>
            <a:ext cx="1097280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846320"/>
            <a:ext cx="82296" cy="183337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910328"/>
            <a:ext cx="1064361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NetworkPolicy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 {matchLabels: {app: database}}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 [Ingress]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podSelector: {matchLabels: {role: backend}}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port: 5432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NETWORKPOLICY · EGRESS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 — Restrict Egress Traffic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Allow backend to reach only the database (port 5432) — block everything else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42702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4270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178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apiVersion: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kind: NetworkPolicy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metadata: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name: backend-egress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namespace: production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matchLabels: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role: backend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Egress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to: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podSelector: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matchLabels: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  app: database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protocol: TCP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port: 5432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ports:                   # allow DNS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protocol: UDP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port: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NETWORKPOLICY ·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Default-deny ingress: select all pods, no ingress rules → blocks all incoming traffic.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500">
                <a:solidFill>
                  <a:srgbClr val="161B26"/>
                </a:solidFill>
                <a:latin typeface="Arial"/>
              </a:rPr>
              <a:t>kind: NetworkPolicy  spec: podSelector: {}  policyTypes: [Ingress]  ingress: []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Default-deny egress: select all pods, no egress rules → blocks all outgoing traffic.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/>
              </a:rPr>
              <a:t>   –  </a:t>
            </a:r>
            <a:r>
              <a:rPr sz="1500">
                <a:solidFill>
                  <a:srgbClr val="161B26"/>
                </a:solidFill>
                <a:latin typeface="Arial"/>
              </a:rPr>
              <a:t>kind: NetworkPolicy  spec: podSelector: {}  policyTypes: [Egress]  egress: []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Always allow DNS (port 53 UDP) in egress rules, or pods cannot resolve service names.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namespaceSelector: target all pods in a specific namespace (e.g. monitoring).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ipBlock: allow/deny traffic to/from external CIDRs (e.g. 192.168.0.0/16).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CKAD · Certified Kubernetes Application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4 · NETWORKPOLICY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NetworkPolicy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By default every Pod can talk to every other Pod. NetworkPolicies allow-list specific sources and destinations. CKAD regularly includes a NetworkPolicy question — you must write a default-deny and a selective-allow policy from scratch.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Apply default-deny ingress, a selective podSelector allow, an egress DNS-only lockdown, then a cross-namespace allow.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spec: · ingress: · » Default-deny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Default deny: block all ingress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Ingress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Selective allow: only role=allowed reaches the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matchLabels: {app: backend}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 [Ingress]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podSelector: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  matchLabels: {role: allowed}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{protocol: TCP, port: 5678}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Egress lockdown: allow DNS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podSelector: {matchLabels: {role: blocked}}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policyTypes: [Egress]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to: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- namespaceSelector: {}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podSelector: {matchLabels: {k8s-app: kube-dns}}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ports: [{protocol: UDP, port: 53}, {protocol: TCP, port: 53}]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Cross-namespace allow (namespaceSelector)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88535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88535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52543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ingress: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namespaceSelector: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  matchLabels: {purpose: trusted}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Default-deny = podSelector: {} + policyTypes: [Ingress] with no ingress list. podSelector in from matches Pods by label in the same namespace; namespaceSelector matches whole namespaces. Policies are additive — multiple policies combine with logical 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the allow policy, client-ok (role=allowed) reaches the backend while client-bad stays blocked, proving the NetworkPolicy is enforced.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All five CKAD domains 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Design &amp; build · Deployment · Observability · Config &amp; Security · Services &amp; Networking.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Mock-Exam Practice — from 1:00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Practise on killer.sh / Killercoda before the graded assessment · ask questions freely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Mock-Exam Practice (1:00 PM)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Warm-up before the graded assessment — work hands-on questions across all five domains.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Use killer.sh and Killercoda; rehearse the alias k, $do dry-run and kubectl explain workflow.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Time yourself and flag weak areas — the real CKAD is 2 hours, 100% hands-on.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Trainer is available for questions; the final assessment begins at 2:00 PM.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Take the Online CKAD Practice Exams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29200" cy="44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Reinforce all five CKAD domains with realistic, exam-style questions before exam day.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3 full practice exams · 65 questions · 120-minute timer · 66% pass mark — aligned to CNCF CKAD v1.35.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Practice mode reveals the answer and a full explanation after each question; Exam mode mirrors the real timed test.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•  </a:t>
            </a:r>
            <a:r>
              <a:rPr sz="1500">
                <a:solidFill>
                  <a:srgbClr val="161B26"/>
                </a:solidFill>
                <a:latin typeface="Arial"/>
              </a:rPr>
              <a:t>Start free with the practice teaser — no credit card required; sign in to unlock the full bundle.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 up and practise at: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exams.tertiaryinfotech.com/practice-exams/linuxfoundation/linuxfoundation-ckad</a:t>
            </a:r>
          </a:p>
        </p:txBody>
      </p:sp>
      <p:pic>
        <p:nvPicPr>
          <p:cNvPr id="8" name="Practice exam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60500"/>
            <a:ext cx="5943600" cy="41790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fld id="{6F3A1B22-9A4C-4E7B-AC10-1D2E3F405160}" type="slidenum">
              <a:rPr sz="900" b="1">
                <a:solidFill>
                  <a:srgbClr val="5B6372"/>
                </a:solidFill>
                <a:latin typeface="Arial"/>
              </a:rPr>
              <a:t>340</a:t>
            </a:fld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Final Assessment — from 2:00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Written / MCQ on the LMS · open book · covers all five domains and the hands-on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/ MCQ assessment on the LMS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1:00 PM; final assessment from 2:00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CKAD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/ MCQ assessment.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_b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_b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_br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_b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br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c_br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 — and good luck with the CKAD exam!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Keep practising on killer.sh and Killercoda; the exam is 2 hours, 100% hands-on.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